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513892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57200"/>
            <a:ext cx="8046720" cy="2011680"/>
          </a:xfrm>
          <a:prstGeom prst="rect">
            <a:avLst/>
          </a:prstGeom>
          <a:solidFill>
            <a:srgbClr val="0074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94360"/>
            <a:ext cx="7772400" cy="1828800"/>
          </a:xfrm>
          <a:prstGeom prst="rect">
            <a:avLst/>
          </a:prstGeom>
          <a:noFill/>
        </p:spPr>
        <p:txBody>
          <a:bodyPr wrap="square" lIns="45720" rIns="45720" tIns="18288" bIns="18288" anchor="t">
            <a:spAutoFit/>
          </a:bodyPr>
          <a:lstStyle/>
          <a:p>
            <a:pPr algn="l"/>
            <a:r>
              <a:rPr sz="2800" b="1" i="0">
                <a:solidFill>
                  <a:srgbClr val="FFFFFF"/>
                </a:solidFill>
                <a:latin typeface="Calibri"/>
              </a:rPr>
              <a:t>JEPA-Drift</a:t>
            </a:r>
          </a:p>
          <a:p>
            <a:pPr algn="l"/>
            <a:r>
              <a:rPr sz="2800" b="1" i="0">
                <a:solidFill>
                  <a:srgbClr val="FFFFFF"/>
                </a:solidFill>
                <a:latin typeface="Calibri"/>
              </a:rPr>
              <a:t>Escaping the Sharpe Ceiling</a:t>
            </a:r>
          </a:p>
          <a:p>
            <a:pPr algn="l"/>
            <a:r>
              <a:rPr sz="2600" b="1" i="0">
                <a:solidFill>
                  <a:srgbClr val="FFFFFF"/>
                </a:solidFill>
                <a:latin typeface="Calibri"/>
              </a:rPr>
              <a:t>of Sequential Drift Detection</a:t>
            </a:r>
          </a:p>
          <a:p>
            <a:pPr algn="l"/>
            <a:r>
              <a:rPr sz="800" b="0" i="0">
                <a:solidFill>
                  <a:srgbClr val="FFFFFF"/>
                </a:solidFill>
                <a:latin typeface="Calibri"/>
              </a:rPr>
              <a:t/>
            </a:r>
          </a:p>
          <a:p>
            <a:pPr algn="l"/>
            <a:r>
              <a:rPr sz="1600" b="0" i="1">
                <a:solidFill>
                  <a:srgbClr val="FFFFFF"/>
                </a:solidFill>
                <a:latin typeface="Calibri"/>
              </a:rPr>
              <a:t>through Latent Information Concentration</a:t>
            </a:r>
          </a:p>
        </p:txBody>
      </p:sp>
      <p:sp>
        <p:nvSpPr>
          <p:cNvPr id="4" name="Rectangle 3"/>
          <p:cNvSpPr/>
          <p:nvPr/>
        </p:nvSpPr>
        <p:spPr>
          <a:xfrm>
            <a:off x="548640" y="2560320"/>
            <a:ext cx="8046720" cy="54864"/>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2743200"/>
            <a:ext cx="9144000" cy="1645920"/>
          </a:xfrm>
          <a:prstGeom prst="rect">
            <a:avLst/>
          </a:prstGeom>
          <a:solidFill>
            <a:srgbClr val="3B6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834640"/>
            <a:ext cx="8046720" cy="420624"/>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871216"/>
            <a:ext cx="7863840" cy="347472"/>
          </a:xfrm>
          <a:prstGeom prst="rect">
            <a:avLst/>
          </a:prstGeom>
          <a:noFill/>
        </p:spPr>
        <p:txBody>
          <a:bodyPr wrap="square" lIns="45720" rIns="45720" tIns="18288" bIns="18288" anchor="ctr">
            <a:spAutoFit/>
          </a:bodyPr>
          <a:lstStyle/>
          <a:p>
            <a:pPr algn="l"/>
            <a:r>
              <a:rPr sz="1400" b="1" i="0">
                <a:solidFill>
                  <a:srgbClr val="FFFFFF"/>
                </a:solidFill>
                <a:latin typeface="Calibri"/>
              </a:rPr>
              <a:t>Point hebdo du lundi 12/10/2026 — Article C : l'idée du nouvel article</a:t>
            </a:r>
          </a:p>
        </p:txBody>
      </p:sp>
      <p:sp>
        <p:nvSpPr>
          <p:cNvPr id="8" name="TextBox 7"/>
          <p:cNvSpPr txBox="1"/>
          <p:nvPr/>
        </p:nvSpPr>
        <p:spPr>
          <a:xfrm>
            <a:off x="640080" y="3310128"/>
            <a:ext cx="7863840" cy="347472"/>
          </a:xfrm>
          <a:prstGeom prst="rect">
            <a:avLst/>
          </a:prstGeom>
          <a:noFill/>
        </p:spPr>
        <p:txBody>
          <a:bodyPr wrap="square" lIns="45720" rIns="45720" tIns="18288" bIns="18288" anchor="ctr">
            <a:spAutoFit/>
          </a:bodyPr>
          <a:lstStyle/>
          <a:p>
            <a:pPr algn="l"/>
            <a:r>
              <a:rPr sz="1200" b="0" i="0">
                <a:solidFill>
                  <a:srgbClr val="FFFFFF"/>
                </a:solidFill>
                <a:latin typeface="Calibri"/>
              </a:rPr>
              <a:t>R. Minato — suite de « The Whitening Advantage » (Article B, soumis à KDD 2027)</a:t>
            </a:r>
          </a:p>
        </p:txBody>
      </p:sp>
      <p:sp>
        <p:nvSpPr>
          <p:cNvPr id="9" name="TextBox 8"/>
          <p:cNvSpPr txBox="1"/>
          <p:nvPr/>
        </p:nvSpPr>
        <p:spPr>
          <a:xfrm>
            <a:off x="8229600" y="4800600"/>
            <a:ext cx="731520" cy="274320"/>
          </a:xfrm>
          <a:prstGeom prst="rect">
            <a:avLst/>
          </a:prstGeom>
          <a:noFill/>
        </p:spPr>
        <p:txBody>
          <a:bodyPr wrap="square" lIns="45720" rIns="45720" tIns="18288" bIns="18288" anchor="t">
            <a:spAutoFit/>
          </a:bodyPr>
          <a:lstStyle/>
          <a:p>
            <a:pPr algn="r"/>
            <a:r>
              <a:rPr sz="900" b="0" i="0">
                <a:solidFill>
                  <a:srgbClr val="FFFFFF"/>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Le point de départ : le plancher de Sharpe</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2</a:t>
            </a:r>
          </a:p>
        </p:txBody>
      </p:sp>
      <p:sp>
        <p:nvSpPr>
          <p:cNvPr id="5" name="Rectangle 4"/>
          <p:cNvSpPr/>
          <p:nvPr/>
        </p:nvSpPr>
        <p:spPr>
          <a:xfrm>
            <a:off x="8138160" y="64008"/>
            <a:ext cx="868680" cy="24688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38160" y="64008"/>
            <a:ext cx="868680" cy="246888"/>
          </a:xfrm>
          <a:prstGeom prst="rect">
            <a:avLst/>
          </a:prstGeom>
          <a:noFill/>
        </p:spPr>
        <p:txBody>
          <a:bodyPr wrap="square" lIns="45720" rIns="45720" tIns="18288" bIns="18288" anchor="ctr">
            <a:spAutoFit/>
          </a:bodyPr>
          <a:lstStyle/>
          <a:p>
            <a:pPr algn="ctr"/>
            <a:r>
              <a:rPr sz="800" b="1" i="0">
                <a:solidFill>
                  <a:srgbClr val="FFFFFF"/>
                </a:solidFill>
                <a:latin typeface="Calibri"/>
              </a:rPr>
              <a:t>CONSTAT</a:t>
            </a:r>
          </a:p>
        </p:txBody>
      </p:sp>
      <p:sp>
        <p:nvSpPr>
          <p:cNvPr id="7" name="Rectangle 6"/>
          <p:cNvSpPr/>
          <p:nvPr/>
        </p:nvSpPr>
        <p:spPr>
          <a:xfrm>
            <a:off x="274320" y="685800"/>
            <a:ext cx="4069080" cy="320040"/>
          </a:xfrm>
          <a:prstGeom prst="rect">
            <a:avLst/>
          </a:prstGeom>
          <a:solidFill>
            <a:srgbClr val="FF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85800"/>
            <a:ext cx="4069080" cy="320040"/>
          </a:xfrm>
          <a:prstGeom prst="rect">
            <a:avLst/>
          </a:prstGeom>
          <a:noFill/>
        </p:spPr>
        <p:txBody>
          <a:bodyPr wrap="square" lIns="45720" rIns="45720" tIns="18288" bIns="18288" anchor="ctr">
            <a:spAutoFit/>
          </a:bodyPr>
          <a:lstStyle/>
          <a:p>
            <a:pPr algn="l"/>
            <a:r>
              <a:rPr sz="1000" b="1" i="0">
                <a:solidFill>
                  <a:srgbClr val="C0392B"/>
                </a:solidFill>
                <a:latin typeface="Calibri"/>
              </a:rPr>
              <a:t>  Détecter une dérive, c'est accumuler des preuves</a:t>
            </a:r>
          </a:p>
        </p:txBody>
      </p:sp>
      <p:sp>
        <p:nvSpPr>
          <p:cNvPr id="9" name="TextBox 8"/>
          <p:cNvSpPr txBox="1"/>
          <p:nvPr/>
        </p:nvSpPr>
        <p:spPr>
          <a:xfrm>
            <a:off x="320040" y="1097280"/>
            <a:ext cx="4023360" cy="1371600"/>
          </a:xfrm>
          <a:prstGeom prst="rect">
            <a:avLst/>
          </a:prstGeom>
          <a:noFill/>
        </p:spPr>
        <p:txBody>
          <a:bodyPr wrap="square" lIns="45720" rIns="45720" tIns="18288" bIns="18288" anchor="t">
            <a:spAutoFit/>
          </a:bodyPr>
          <a:lstStyle/>
          <a:p>
            <a:pPr algn="l"/>
            <a:r>
              <a:rPr sz="900" b="0" i="0">
                <a:solidFill>
                  <a:srgbClr val="5D6D7E"/>
                </a:solidFill>
                <a:latin typeface="Calibri"/>
              </a:rPr>
              <a:t>• Chaque jour apporte un peu de preuve qu'une dérive a commencé. On la mesure par la divergence de Kullback-Leibler (KL) entre la loi des rendements avant et après la rupture.</a:t>
            </a:r>
          </a:p>
          <a:p>
            <a:pPr algn="l"/>
            <a:r>
              <a:rPr sz="900" b="0" i="0">
                <a:solidFill>
                  <a:srgbClr val="5D6D7E"/>
                </a:solidFill>
                <a:latin typeface="Calibri"/>
              </a:rPr>
              <a:t>• Un détecteur conclut quand la preuve cumulée franchit un seuil. Le délai moyen de détection (ADD) vaut donc, au mieux, seuil ÷ preuve quotidienne.</a:t>
            </a:r>
          </a:p>
          <a:p>
            <a:pPr algn="l"/>
            <a:r>
              <a:rPr sz="900" b="0" i="0">
                <a:solidFill>
                  <a:srgbClr val="5D6D7E"/>
                </a:solidFill>
                <a:latin typeface="Calibri"/>
              </a:rPr>
              <a:t>• Le seuil traduit la tolérance aux fausses alarmes : ln(1/α₀), où α₀ = 1/ARL₀ et ARL₀ est le nombre moyen de jours entre deux fausses alarmes.</a:t>
            </a:r>
          </a:p>
          <a:p>
            <a:pPr algn="l"/>
            <a:r>
              <a:rPr sz="900" b="0" i="0">
                <a:solidFill>
                  <a:srgbClr val="5D6D7E"/>
                </a:solidFill>
                <a:latin typeface="Calibri"/>
              </a:rPr>
              <a:t>• Pour une petite dérive μ de la moyenne journalière, à volatilité σ, la preuve quotidienne vaut μ²/(2σ²) : la moitié du carré du Sharpe journalier μ/σ.</a:t>
            </a:r>
          </a:p>
        </p:txBody>
      </p:sp>
      <p:sp>
        <p:nvSpPr>
          <p:cNvPr id="10" name="Rectangle 9"/>
          <p:cNvSpPr/>
          <p:nvPr/>
        </p:nvSpPr>
        <p:spPr>
          <a:xfrm>
            <a:off x="4800600" y="685800"/>
            <a:ext cx="4069080" cy="320040"/>
          </a:xfrm>
          <a:prstGeom prst="rect">
            <a:avLst/>
          </a:prstGeom>
          <a:solidFill>
            <a:srgbClr val="E8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00600" y="685800"/>
            <a:ext cx="4069080" cy="320040"/>
          </a:xfrm>
          <a:prstGeom prst="rect">
            <a:avLst/>
          </a:prstGeom>
          <a:noFill/>
        </p:spPr>
        <p:txBody>
          <a:bodyPr wrap="square" lIns="45720" rIns="45720" tIns="18288" bIns="18288" anchor="ctr">
            <a:spAutoFit/>
          </a:bodyPr>
          <a:lstStyle/>
          <a:p>
            <a:pPr algn="l"/>
            <a:r>
              <a:rPr sz="1000" b="1" i="0">
                <a:solidFill>
                  <a:srgbClr val="27AE60"/>
                </a:solidFill>
                <a:latin typeface="Calibri"/>
              </a:rPr>
              <a:t>  Ce que cela coûte en jours</a:t>
            </a:r>
          </a:p>
        </p:txBody>
      </p:sp>
      <p:sp>
        <p:nvSpPr>
          <p:cNvPr id="12" name="TextBox 11"/>
          <p:cNvSpPr txBox="1"/>
          <p:nvPr/>
        </p:nvSpPr>
        <p:spPr>
          <a:xfrm>
            <a:off x="4846320" y="1097280"/>
            <a:ext cx="4023360" cy="1645920"/>
          </a:xfrm>
          <a:prstGeom prst="rect">
            <a:avLst/>
          </a:prstGeom>
          <a:noFill/>
        </p:spPr>
        <p:txBody>
          <a:bodyPr wrap="square" lIns="45720" rIns="45720" tIns="18288" bIns="18288" anchor="t">
            <a:spAutoFit/>
          </a:bodyPr>
          <a:lstStyle/>
          <a:p>
            <a:pPr algn="l"/>
            <a:r>
              <a:rPr sz="900" b="0" i="0">
                <a:solidFill>
                  <a:srgbClr val="5D6D7E"/>
                </a:solidFill>
                <a:latin typeface="Calibri"/>
              </a:rPr>
              <a:t>• En annualisant (252 jours ; SR annuel = √252 · μ/σ), la preuve quotidienne vaut SR²/504.</a:t>
            </a:r>
          </a:p>
          <a:p>
            <a:pPr algn="l"/>
            <a:r>
              <a:rPr sz="900" b="0" i="0">
                <a:solidFill>
                  <a:srgbClr val="5D6D7E"/>
                </a:solidFill>
                <a:latin typeface="Calibri"/>
              </a:rPr>
              <a:t>• SR = 1, une fausse alarme par an (ARL₀ = 252) : au moins 2 800 jours, soit 11 ans. SR = 0,5 : 44 ans.</a:t>
            </a:r>
          </a:p>
          <a:p>
            <a:pPr algn="l"/>
            <a:r>
              <a:rPr sz="900" b="0" i="0">
                <a:solidFill>
                  <a:srgbClr val="5D6D7E"/>
                </a:solidFill>
                <a:latin typeface="Calibri"/>
              </a:rPr>
              <a:t>• Avec une fausse alarme par mois (ARL₀ = 20), SR = 1 coûte encore 1 500 jours, soit 6 ans.</a:t>
            </a:r>
          </a:p>
          <a:p>
            <a:pPr algn="l"/>
            <a:r>
              <a:rPr sz="900" b="0" i="0">
                <a:solidFill>
                  <a:srgbClr val="5D6D7E"/>
                </a:solidFill>
                <a:latin typeface="Calibri"/>
              </a:rPr>
              <a:t>• Sur 66 phases haussières et baissières datées (4 ETF, 2000–2025) : 80 % durent moins que leur plancher même avec une fausse alarme par mois ; 97 % avec une fausse alarme par an.</a:t>
            </a:r>
          </a:p>
          <a:p>
            <a:pPr algn="l"/>
            <a:r>
              <a:rPr sz="900" b="0" i="0">
                <a:solidFill>
                  <a:srgbClr val="5D6D7E"/>
                </a:solidFill>
                <a:latin typeface="Calibri"/>
              </a:rPr>
              <a:t>• Sur une série seule, aucun algorithme n'y échappe : il manque de l'information, pas de la méthode.</a:t>
            </a:r>
          </a:p>
        </p:txBody>
      </p:sp>
      <p:sp>
        <p:nvSpPr>
          <p:cNvPr id="13" name="Rectangle 12"/>
          <p:cNvSpPr/>
          <p:nvPr/>
        </p:nvSpPr>
        <p:spPr>
          <a:xfrm>
            <a:off x="274320" y="3017520"/>
            <a:ext cx="8595360" cy="128016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3017520"/>
            <a:ext cx="8595360" cy="274320"/>
          </a:xfrm>
          <a:prstGeom prst="rect">
            <a:avLst/>
          </a:prstGeom>
          <a:noFill/>
        </p:spPr>
        <p:txBody>
          <a:bodyPr wrap="square" lIns="45720" rIns="45720" tIns="18288" bIns="18288" anchor="ctr">
            <a:spAutoFit/>
          </a:bodyPr>
          <a:lstStyle/>
          <a:p>
            <a:pPr algn="l"/>
            <a:r>
              <a:rPr sz="1000" b="1" i="0">
                <a:solidFill>
                  <a:srgbClr val="00748C"/>
                </a:solidFill>
                <a:latin typeface="Calibri"/>
              </a:rPr>
              <a:t>  Le plancher de Sharpe (Article B)</a:t>
            </a:r>
          </a:p>
        </p:txBody>
      </p:sp>
      <p:sp>
        <p:nvSpPr>
          <p:cNvPr id="15" name="TextBox 14"/>
          <p:cNvSpPr txBox="1"/>
          <p:nvPr/>
        </p:nvSpPr>
        <p:spPr>
          <a:xfrm>
            <a:off x="365760" y="3337560"/>
            <a:ext cx="8412480" cy="914400"/>
          </a:xfrm>
          <a:prstGeom prst="rect">
            <a:avLst/>
          </a:prstGeom>
          <a:noFill/>
        </p:spPr>
        <p:txBody>
          <a:bodyPr wrap="square" lIns="45720" rIns="45720" tIns="18288" bIns="18288" anchor="t">
            <a:spAutoFit/>
          </a:bodyPr>
          <a:lstStyle/>
          <a:p>
            <a:pPr algn="l"/>
            <a:r>
              <a:rPr sz="900" b="0" i="1">
                <a:solidFill>
                  <a:srgbClr val="2D3748"/>
                </a:solidFill>
                <a:latin typeface="Calibri"/>
              </a:rPr>
              <a:t>ADD_min ≥ 504 · ln(1/α₀) / SR²  (jours de bourse)</a:t>
            </a:r>
          </a:p>
          <a:p>
            <a:pPr algn="l"/>
            <a:r>
              <a:rPr sz="400" b="0" i="0">
                <a:solidFill>
                  <a:srgbClr val="2D3748"/>
                </a:solidFill>
                <a:latin typeface="Calibri"/>
              </a:rPr>
              <a:t/>
            </a:r>
          </a:p>
          <a:p>
            <a:pPr algn="l"/>
            <a:r>
              <a:rPr sz="900" b="0" i="0">
                <a:solidFill>
                  <a:srgbClr val="5D6D7E"/>
                </a:solidFill>
                <a:latin typeface="Calibri"/>
              </a:rPr>
              <a:t>• Diviser le Sharpe par deux multiplie le délai par quatre.</a:t>
            </a:r>
          </a:p>
        </p:txBody>
      </p:sp>
      <p:sp>
        <p:nvSpPr>
          <p:cNvPr id="16" name="TextBox 15"/>
          <p:cNvSpPr txBox="1"/>
          <p:nvPr/>
        </p:nvSpPr>
        <p:spPr>
          <a:xfrm>
            <a:off x="457200" y="4901184"/>
            <a:ext cx="7315200" cy="237744"/>
          </a:xfrm>
          <a:prstGeom prst="rect">
            <a:avLst/>
          </a:prstGeom>
          <a:noFill/>
        </p:spPr>
        <p:txBody>
          <a:bodyPr wrap="square" lIns="45720" rIns="45720" tIns="18288" bIns="18288" anchor="t">
            <a:spAutoFit/>
          </a:bodyPr>
          <a:lstStyle/>
          <a:p>
            <a:pPr algn="l"/>
            <a:r>
              <a:rPr sz="800" b="0" i="0">
                <a:solidFill>
                  <a:srgbClr val="8A9BB0"/>
                </a:solidFill>
                <a:latin typeface="Calibri"/>
              </a:rPr>
              <a:t>Lorden (1971) · Lai (1998) · Tartakovsky et al. (2014) · Pagan &amp; Sossounov (2003)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Additionner des actifs corrélés ne suffit pas</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3</a:t>
            </a:r>
          </a:p>
        </p:txBody>
      </p:sp>
      <p:sp>
        <p:nvSpPr>
          <p:cNvPr id="5" name="Rectangle 4"/>
          <p:cNvSpPr/>
          <p:nvPr/>
        </p:nvSpPr>
        <p:spPr>
          <a:xfrm>
            <a:off x="8138160" y="64008"/>
            <a:ext cx="868680" cy="24688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38160" y="64008"/>
            <a:ext cx="868680" cy="246888"/>
          </a:xfrm>
          <a:prstGeom prst="rect">
            <a:avLst/>
          </a:prstGeom>
          <a:noFill/>
        </p:spPr>
        <p:txBody>
          <a:bodyPr wrap="square" lIns="45720" rIns="45720" tIns="18288" bIns="18288" anchor="ctr">
            <a:spAutoFit/>
          </a:bodyPr>
          <a:lstStyle/>
          <a:p>
            <a:pPr algn="ctr"/>
            <a:r>
              <a:rPr sz="800" b="1" i="0">
                <a:solidFill>
                  <a:srgbClr val="FFFFFF"/>
                </a:solidFill>
                <a:latin typeface="Calibri"/>
              </a:rPr>
              <a:t>CONSTAT</a:t>
            </a:r>
          </a:p>
        </p:txBody>
      </p:sp>
      <p:sp>
        <p:nvSpPr>
          <p:cNvPr id="7" name="Rectangle 6"/>
          <p:cNvSpPr/>
          <p:nvPr/>
        </p:nvSpPr>
        <p:spPr>
          <a:xfrm>
            <a:off x="274320" y="685800"/>
            <a:ext cx="4069080" cy="320040"/>
          </a:xfrm>
          <a:prstGeom prst="rect">
            <a:avLst/>
          </a:prstGeom>
          <a:solidFill>
            <a:srgbClr val="FF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85800"/>
            <a:ext cx="4069080" cy="320040"/>
          </a:xfrm>
          <a:prstGeom prst="rect">
            <a:avLst/>
          </a:prstGeom>
          <a:noFill/>
        </p:spPr>
        <p:txBody>
          <a:bodyPr wrap="square" lIns="45720" rIns="45720" tIns="18288" bIns="18288" anchor="ctr">
            <a:spAutoFit/>
          </a:bodyPr>
          <a:lstStyle/>
          <a:p>
            <a:pPr algn="l"/>
            <a:r>
              <a:rPr sz="1000" b="1" i="0">
                <a:solidFill>
                  <a:srgbClr val="C0392B"/>
                </a:solidFill>
                <a:latin typeface="Calibri"/>
              </a:rPr>
              <a:t>  Le pooling : additionner les signaux de K actifs</a:t>
            </a:r>
          </a:p>
        </p:txBody>
      </p:sp>
      <p:sp>
        <p:nvSpPr>
          <p:cNvPr id="9" name="TextBox 8"/>
          <p:cNvSpPr txBox="1"/>
          <p:nvPr/>
        </p:nvSpPr>
        <p:spPr>
          <a:xfrm>
            <a:off x="320040" y="1097280"/>
            <a:ext cx="4023360" cy="1371600"/>
          </a:xfrm>
          <a:prstGeom prst="rect">
            <a:avLst/>
          </a:prstGeom>
          <a:noFill/>
        </p:spPr>
        <p:txBody>
          <a:bodyPr wrap="square" lIns="45720" rIns="45720" tIns="18288" bIns="18288" anchor="t">
            <a:spAutoFit/>
          </a:bodyPr>
          <a:lstStyle/>
          <a:p>
            <a:pPr algn="l"/>
            <a:r>
              <a:rPr sz="900" b="0" i="0">
                <a:solidFill>
                  <a:srgbClr val="5D6D7E"/>
                </a:solidFill>
                <a:latin typeface="Calibri"/>
              </a:rPr>
              <a:t>• Idée naturelle : surveiller K actions à la fois et additionner leurs signaux.</a:t>
            </a:r>
          </a:p>
          <a:p>
            <a:pPr algn="l"/>
            <a:r>
              <a:rPr sz="900" b="0" i="0">
                <a:solidFill>
                  <a:srgbClr val="5D6D7E"/>
                </a:solidFill>
                <a:latin typeface="Calibri"/>
              </a:rPr>
              <a:t>• Avec K séries indépendantes, la preuve quotidienne serait multipliée par K.</a:t>
            </a:r>
          </a:p>
          <a:p>
            <a:pPr algn="l"/>
            <a:r>
              <a:rPr sz="900" b="0" i="0">
                <a:solidFill>
                  <a:srgbClr val="5D6D7E"/>
                </a:solidFill>
                <a:latin typeface="Calibri"/>
              </a:rPr>
              <a:t>• Sur 97 actions américaines (2005–2025), les signes des rendements sont corrélés : ρ̂ ≈ 0,26. Le panel vaut K_eff ≈ 1/ρ̂ ≈ 3,8 actions indépendantes, quel que soit K.</a:t>
            </a:r>
          </a:p>
          <a:p>
            <a:pPr algn="l"/>
            <a:r>
              <a:rPr sz="900" b="0" i="0">
                <a:solidFill>
                  <a:srgbClr val="5D6D7E"/>
                </a:solidFill>
                <a:latin typeface="Calibri"/>
              </a:rPr>
              <a:t>• Mesuré : le budget de détection ne baisse que d'un facteur 2, la limite √K_eff, et plafonne dès K ≈ 20.</a:t>
            </a:r>
          </a:p>
          <a:p>
            <a:pPr algn="l"/>
            <a:r>
              <a:rPr sz="900" b="0" i="0">
                <a:solidFill>
                  <a:srgbClr val="5D6D7E"/>
                </a:solidFill>
                <a:latin typeface="Calibri"/>
              </a:rPr>
              <a:t>• Supposer l'indépendance fait grimper les fausses alarmes vers 100 % dès K = 40 ; un bootstrap sur fenêtres réelles tient les 5 %.</a:t>
            </a:r>
          </a:p>
          <a:p>
            <a:pPr algn="l"/>
            <a:r>
              <a:rPr sz="900" b="0" i="0">
                <a:solidFill>
                  <a:srgbClr val="5D6D7E"/>
                </a:solidFill>
                <a:latin typeface="Calibri"/>
              </a:rPr>
              <a:t>• Le pooling ne regarde qu'une direction, la moyenne du panel, c'est-à-dire le marché : le mur s'élargit, il ne tombe pas.</a:t>
            </a:r>
          </a:p>
        </p:txBody>
      </p:sp>
      <p:sp>
        <p:nvSpPr>
          <p:cNvPr id="10" name="Rectangle 9"/>
          <p:cNvSpPr/>
          <p:nvPr/>
        </p:nvSpPr>
        <p:spPr>
          <a:xfrm>
            <a:off x="4800600" y="685800"/>
            <a:ext cx="4069080" cy="320040"/>
          </a:xfrm>
          <a:prstGeom prst="rect">
            <a:avLst/>
          </a:prstGeom>
          <a:solidFill>
            <a:srgbClr val="E8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00600" y="685800"/>
            <a:ext cx="4069080" cy="320040"/>
          </a:xfrm>
          <a:prstGeom prst="rect">
            <a:avLst/>
          </a:prstGeom>
          <a:noFill/>
        </p:spPr>
        <p:txBody>
          <a:bodyPr wrap="square" lIns="45720" rIns="45720" tIns="18288" bIns="18288" anchor="ctr">
            <a:spAutoFit/>
          </a:bodyPr>
          <a:lstStyle/>
          <a:p>
            <a:pPr algn="l"/>
            <a:r>
              <a:rPr sz="1000" b="1" i="0">
                <a:solidFill>
                  <a:srgbClr val="27AE60"/>
                </a:solidFill>
                <a:latin typeface="Calibri"/>
              </a:rPr>
              <a:t>  Mesure réelle (Article B, Fig. 30)</a:t>
            </a:r>
          </a:p>
        </p:txBody>
      </p:sp>
      <p:pic>
        <p:nvPicPr>
          <p:cNvPr id="12" name="Picture 11" descr="Fig30_RealCrossSectional_Escape_UPDATED.png"/>
          <p:cNvPicPr>
            <a:picLocks noChangeAspect="1"/>
          </p:cNvPicPr>
          <p:nvPr/>
        </p:nvPicPr>
        <p:blipFill>
          <a:blip r:embed="rId2"/>
          <a:stretch>
            <a:fillRect/>
          </a:stretch>
        </p:blipFill>
        <p:spPr>
          <a:xfrm>
            <a:off x="4800600" y="1051560"/>
            <a:ext cx="4069080" cy="1695450"/>
          </a:xfrm>
          <a:prstGeom prst="rect">
            <a:avLst/>
          </a:prstGeom>
        </p:spPr>
      </p:pic>
      <p:sp>
        <p:nvSpPr>
          <p:cNvPr id="13" name="Rectangle 12"/>
          <p:cNvSpPr/>
          <p:nvPr/>
        </p:nvSpPr>
        <p:spPr>
          <a:xfrm>
            <a:off x="274320" y="3017520"/>
            <a:ext cx="8595360" cy="128016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3017520"/>
            <a:ext cx="8595360" cy="274320"/>
          </a:xfrm>
          <a:prstGeom prst="rect">
            <a:avLst/>
          </a:prstGeom>
          <a:noFill/>
        </p:spPr>
        <p:txBody>
          <a:bodyPr wrap="square" lIns="45720" rIns="45720" tIns="18288" bIns="18288" anchor="ctr">
            <a:spAutoFit/>
          </a:bodyPr>
          <a:lstStyle/>
          <a:p>
            <a:pPr algn="l"/>
            <a:r>
              <a:rPr sz="1000" b="1" i="0">
                <a:solidFill>
                  <a:srgbClr val="00748C"/>
                </a:solidFill>
                <a:latin typeface="Calibri"/>
              </a:rPr>
              <a:t>  Pourquoi ça plafonne</a:t>
            </a:r>
          </a:p>
        </p:txBody>
      </p:sp>
      <p:sp>
        <p:nvSpPr>
          <p:cNvPr id="15" name="TextBox 14"/>
          <p:cNvSpPr txBox="1"/>
          <p:nvPr/>
        </p:nvSpPr>
        <p:spPr>
          <a:xfrm>
            <a:off x="365760" y="3337560"/>
            <a:ext cx="8412480" cy="914400"/>
          </a:xfrm>
          <a:prstGeom prst="rect">
            <a:avLst/>
          </a:prstGeom>
          <a:noFill/>
        </p:spPr>
        <p:txBody>
          <a:bodyPr wrap="square" lIns="45720" rIns="45720" tIns="18288" bIns="18288" anchor="t">
            <a:spAutoFit/>
          </a:bodyPr>
          <a:lstStyle/>
          <a:p>
            <a:pPr algn="l"/>
            <a:r>
              <a:rPr sz="900" b="0" i="1">
                <a:solidFill>
                  <a:srgbClr val="2D3748"/>
                </a:solidFill>
                <a:latin typeface="Calibri"/>
              </a:rPr>
              <a:t>Var(moyenne de K actifs) = σ² · (ρ + (1 − ρ)/K)  ;  K_eff = K / (1 + (K − 1)·ρ) → 1/ρ ≈ 3,8</a:t>
            </a:r>
          </a:p>
          <a:p>
            <a:pPr algn="l"/>
            <a:r>
              <a:rPr sz="400" b="0" i="0">
                <a:solidFill>
                  <a:srgbClr val="2D3748"/>
                </a:solidFill>
                <a:latin typeface="Calibri"/>
              </a:rPr>
              <a:t/>
            </a:r>
          </a:p>
          <a:p>
            <a:pPr algn="l"/>
            <a:r>
              <a:rPr sz="900" b="0" i="0">
                <a:solidFill>
                  <a:srgbClr val="5D6D7E"/>
                </a:solidFill>
                <a:latin typeface="Calibri"/>
              </a:rPr>
              <a:t>• ρ : corrélation moyenne entre deux flux surveillés, ici les signes. La part commune ne se diversifie jamais.</a:t>
            </a:r>
          </a:p>
        </p:txBody>
      </p:sp>
      <p:sp>
        <p:nvSpPr>
          <p:cNvPr id="16" name="TextBox 15"/>
          <p:cNvSpPr txBox="1"/>
          <p:nvPr/>
        </p:nvSpPr>
        <p:spPr>
          <a:xfrm>
            <a:off x="457200" y="4901184"/>
            <a:ext cx="7315200" cy="237744"/>
          </a:xfrm>
          <a:prstGeom prst="rect">
            <a:avLst/>
          </a:prstGeom>
          <a:noFill/>
        </p:spPr>
        <p:txBody>
          <a:bodyPr wrap="square" lIns="45720" rIns="45720" tIns="18288" bIns="18288" anchor="t">
            <a:spAutoFit/>
          </a:bodyPr>
          <a:lstStyle/>
          <a:p>
            <a:pPr algn="l"/>
            <a:r>
              <a:rPr sz="800" b="0" i="0">
                <a:solidFill>
                  <a:srgbClr val="8A9BB0"/>
                </a:solidFill>
                <a:latin typeface="Calibri"/>
              </a:rPr>
              <a:t>Article B, Fig. 30 · 97 actions US survivantes, 2005–2025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L'idée : chercher la dérive là où le marché ne fait pas de bruit</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4</a:t>
            </a:r>
          </a:p>
        </p:txBody>
      </p:sp>
      <p:sp>
        <p:nvSpPr>
          <p:cNvPr id="5" name="Rectangle 4"/>
          <p:cNvSpPr/>
          <p:nvPr/>
        </p:nvSpPr>
        <p:spPr>
          <a:xfrm>
            <a:off x="8138160" y="64008"/>
            <a:ext cx="822960" cy="24688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38160" y="64008"/>
            <a:ext cx="822960" cy="246888"/>
          </a:xfrm>
          <a:prstGeom prst="rect">
            <a:avLst/>
          </a:prstGeom>
          <a:noFill/>
        </p:spPr>
        <p:txBody>
          <a:bodyPr wrap="square" lIns="45720" rIns="45720" tIns="18288" bIns="18288" anchor="ctr">
            <a:spAutoFit/>
          </a:bodyPr>
          <a:lstStyle/>
          <a:p>
            <a:pPr algn="ctr"/>
            <a:r>
              <a:rPr sz="800" b="1" i="0">
                <a:solidFill>
                  <a:srgbClr val="FFFFFF"/>
                </a:solidFill>
                <a:latin typeface="Calibri"/>
              </a:rPr>
              <a:t>IDÉE</a:t>
            </a:r>
          </a:p>
        </p:txBody>
      </p:sp>
      <p:sp>
        <p:nvSpPr>
          <p:cNvPr id="7" name="Rectangle 6"/>
          <p:cNvSpPr/>
          <p:nvPr/>
        </p:nvSpPr>
        <p:spPr>
          <a:xfrm>
            <a:off x="274320" y="685800"/>
            <a:ext cx="4069080" cy="320040"/>
          </a:xfrm>
          <a:prstGeom prst="rect">
            <a:avLst/>
          </a:prstGeom>
          <a:solidFill>
            <a:srgbClr val="FF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85800"/>
            <a:ext cx="4069080" cy="320040"/>
          </a:xfrm>
          <a:prstGeom prst="rect">
            <a:avLst/>
          </a:prstGeom>
          <a:noFill/>
        </p:spPr>
        <p:txBody>
          <a:bodyPr wrap="square" lIns="45720" rIns="45720" tIns="18288" bIns="18288" anchor="ctr">
            <a:spAutoFit/>
          </a:bodyPr>
          <a:lstStyle/>
          <a:p>
            <a:pPr algn="l"/>
            <a:r>
              <a:rPr sz="1000" b="1" i="0">
                <a:solidFill>
                  <a:srgbClr val="C0392B"/>
                </a:solidFill>
                <a:latin typeface="Calibri"/>
              </a:rPr>
              <a:t>  Ce qui noie la dérive : le mode de marché</a:t>
            </a:r>
          </a:p>
        </p:txBody>
      </p:sp>
      <p:sp>
        <p:nvSpPr>
          <p:cNvPr id="9" name="TextBox 8"/>
          <p:cNvSpPr txBox="1"/>
          <p:nvPr/>
        </p:nvSpPr>
        <p:spPr>
          <a:xfrm>
            <a:off x="320040" y="1097280"/>
            <a:ext cx="4023360" cy="1371600"/>
          </a:xfrm>
          <a:prstGeom prst="rect">
            <a:avLst/>
          </a:prstGeom>
          <a:noFill/>
        </p:spPr>
        <p:txBody>
          <a:bodyPr wrap="square" lIns="45720" rIns="45720" tIns="18288" bIns="18288" anchor="t">
            <a:spAutoFit/>
          </a:bodyPr>
          <a:lstStyle/>
          <a:p>
            <a:pPr algn="l"/>
            <a:r>
              <a:rPr sz="900" b="0" i="0">
                <a:solidFill>
                  <a:srgbClr val="5D6D7E"/>
                </a:solidFill>
                <a:latin typeface="Calibri"/>
              </a:rPr>
              <a:t>• On surveille N actifs à la fois : chaque jour, un vecteur de N rendements.</a:t>
            </a:r>
          </a:p>
          <a:p>
            <a:pPr algn="l"/>
            <a:r>
              <a:rPr sz="900" b="0" i="0">
                <a:solidFill>
                  <a:srgbClr val="5D6D7E"/>
                </a:solidFill>
                <a:latin typeface="Calibri"/>
              </a:rPr>
              <a:t>• Sa covariance Σ se découpe en directions orthogonales v₁, …, v_N (composantes principales), de variances λ₁ ≥ … ≥ λ_N.</a:t>
            </a:r>
          </a:p>
          <a:p>
            <a:pPr algn="l"/>
            <a:r>
              <a:rPr sz="900" b="0" i="0">
                <a:solidFill>
                  <a:srgbClr val="5D6D7E"/>
                </a:solidFill>
                <a:latin typeface="Calibri"/>
              </a:rPr>
              <a:t>• La première, le marché, porte 36 à 40 % de la variance de nos panels S&amp;P 500, davantage en crise.</a:t>
            </a:r>
          </a:p>
          <a:p>
            <a:pPr algn="l"/>
            <a:r>
              <a:rPr sz="900" b="0" i="0">
                <a:solidFill>
                  <a:srgbClr val="5D6D7E"/>
                </a:solidFill>
                <a:latin typeface="Calibri"/>
              </a:rPr>
              <a:t>• Une dérive logée dans cette direction se heurte à tout ce bruit : c'est le sort du pooling.</a:t>
            </a:r>
          </a:p>
        </p:txBody>
      </p:sp>
      <p:sp>
        <p:nvSpPr>
          <p:cNvPr id="10" name="Rectangle 9"/>
          <p:cNvSpPr/>
          <p:nvPr/>
        </p:nvSpPr>
        <p:spPr>
          <a:xfrm>
            <a:off x="4800600" y="685800"/>
            <a:ext cx="4069080" cy="320040"/>
          </a:xfrm>
          <a:prstGeom prst="rect">
            <a:avLst/>
          </a:prstGeom>
          <a:solidFill>
            <a:srgbClr val="E8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00600" y="685800"/>
            <a:ext cx="4069080" cy="320040"/>
          </a:xfrm>
          <a:prstGeom prst="rect">
            <a:avLst/>
          </a:prstGeom>
          <a:noFill/>
        </p:spPr>
        <p:txBody>
          <a:bodyPr wrap="square" lIns="45720" rIns="45720" tIns="18288" bIns="18288" anchor="ctr">
            <a:spAutoFit/>
          </a:bodyPr>
          <a:lstStyle/>
          <a:p>
            <a:pPr algn="l"/>
            <a:r>
              <a:rPr sz="1000" b="1" i="0">
                <a:solidFill>
                  <a:srgbClr val="27AE60"/>
                </a:solidFill>
                <a:latin typeface="Calibri"/>
              </a:rPr>
              <a:t>  Où se loge l'information</a:t>
            </a:r>
          </a:p>
        </p:txBody>
      </p:sp>
      <p:sp>
        <p:nvSpPr>
          <p:cNvPr id="12" name="TextBox 11"/>
          <p:cNvSpPr txBox="1"/>
          <p:nvPr/>
        </p:nvSpPr>
        <p:spPr>
          <a:xfrm>
            <a:off x="4846320" y="1097280"/>
            <a:ext cx="4023360" cy="1645920"/>
          </a:xfrm>
          <a:prstGeom prst="rect">
            <a:avLst/>
          </a:prstGeom>
          <a:noFill/>
        </p:spPr>
        <p:txBody>
          <a:bodyPr wrap="square" lIns="45720" rIns="45720" tIns="18288" bIns="18288" anchor="t">
            <a:spAutoFit/>
          </a:bodyPr>
          <a:lstStyle/>
          <a:p>
            <a:pPr algn="l"/>
            <a:r>
              <a:rPr sz="900" b="0" i="0">
                <a:solidFill>
                  <a:srgbClr val="5D6D7E"/>
                </a:solidFill>
                <a:latin typeface="Calibri"/>
              </a:rPr>
              <a:t>• Une dérive Δμ, déplacement du vecteur des moyennes, apporte dans chaque direction une preuve égale à (part de Δμ dans cette direction)² ÷ variance de la direction.</a:t>
            </a:r>
          </a:p>
          <a:p>
            <a:pPr algn="l"/>
            <a:r>
              <a:rPr sz="900" b="0" i="0">
                <a:solidFill>
                  <a:srgbClr val="5D6D7E"/>
                </a:solidFill>
                <a:latin typeface="Calibri"/>
              </a:rPr>
              <a:t>• À taille égale, une dérive dans une direction calme pèse bien plus qu'une dérive alignée sur le marché.</a:t>
            </a:r>
          </a:p>
          <a:p>
            <a:pPr algn="l"/>
            <a:r>
              <a:rPr sz="900" b="0" i="0">
                <a:solidFill>
                  <a:srgbClr val="5D6D7E"/>
                </a:solidFill>
                <a:latin typeface="Calibri"/>
              </a:rPr>
              <a:t>• Projeter ne crée aucune information (inégalité de traitement des données) : on retire le bruit qui la masquait.</a:t>
            </a:r>
          </a:p>
          <a:p>
            <a:pPr algn="l"/>
            <a:r>
              <a:rPr sz="900" b="0" i="0">
                <a:solidFill>
                  <a:srgbClr val="5D6D7E"/>
                </a:solidFill>
                <a:latin typeface="Calibri"/>
              </a:rPr>
              <a:t>• Si la dérive touche beaucoup de titres dans des directions calmes, les preuves s'additionnent : le gain peut croître avec le nombre de titres au lieu de plafonner.</a:t>
            </a:r>
          </a:p>
        </p:txBody>
      </p:sp>
      <p:sp>
        <p:nvSpPr>
          <p:cNvPr id="13" name="Rectangle 12"/>
          <p:cNvSpPr/>
          <p:nvPr/>
        </p:nvSpPr>
        <p:spPr>
          <a:xfrm>
            <a:off x="274320" y="3017520"/>
            <a:ext cx="8595360" cy="128016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3017520"/>
            <a:ext cx="8595360" cy="274320"/>
          </a:xfrm>
          <a:prstGeom prst="rect">
            <a:avLst/>
          </a:prstGeom>
          <a:noFill/>
        </p:spPr>
        <p:txBody>
          <a:bodyPr wrap="square" lIns="45720" rIns="45720" tIns="18288" bIns="18288" anchor="ctr">
            <a:spAutoFit/>
          </a:bodyPr>
          <a:lstStyle/>
          <a:p>
            <a:pPr algn="l"/>
            <a:r>
              <a:rPr sz="1000" b="1" i="0">
                <a:solidFill>
                  <a:srgbClr val="00748C"/>
                </a:solidFill>
                <a:latin typeface="Calibri"/>
              </a:rPr>
              <a:t>  La preuve quotidienne, direction par direction</a:t>
            </a:r>
          </a:p>
        </p:txBody>
      </p:sp>
      <p:sp>
        <p:nvSpPr>
          <p:cNvPr id="15" name="TextBox 14"/>
          <p:cNvSpPr txBox="1"/>
          <p:nvPr/>
        </p:nvSpPr>
        <p:spPr>
          <a:xfrm>
            <a:off x="365760" y="3337560"/>
            <a:ext cx="8412480" cy="914400"/>
          </a:xfrm>
          <a:prstGeom prst="rect">
            <a:avLst/>
          </a:prstGeom>
          <a:noFill/>
        </p:spPr>
        <p:txBody>
          <a:bodyPr wrap="square" lIns="45720" rIns="45720" tIns="18288" bIns="18288" anchor="t">
            <a:spAutoFit/>
          </a:bodyPr>
          <a:lstStyle/>
          <a:p>
            <a:pPr algn="l"/>
            <a:r>
              <a:rPr sz="900" b="0" i="1">
                <a:solidFill>
                  <a:srgbClr val="2D3748"/>
                </a:solidFill>
                <a:latin typeface="Calibri"/>
              </a:rPr>
              <a:t>KL = ½ · Σ_k (v_kᵀ Δμ)² / λ_k</a:t>
            </a:r>
          </a:p>
          <a:p>
            <a:pPr algn="l"/>
            <a:r>
              <a:rPr sz="400" b="0" i="0">
                <a:solidFill>
                  <a:srgbClr val="2D3748"/>
                </a:solidFill>
                <a:latin typeface="Calibri"/>
              </a:rPr>
              <a:t/>
            </a:r>
          </a:p>
          <a:p>
            <a:pPr algn="l"/>
            <a:r>
              <a:rPr sz="900" b="0" i="0">
                <a:solidFill>
                  <a:srgbClr val="5D6D7E"/>
                </a:solidFill>
                <a:latin typeface="Calibri"/>
              </a:rPr>
              <a:t>• Chaque direction pèse en 1/λ_k : à dérive égale, une direction dix fois plus calme pèse dix fois plus.</a:t>
            </a:r>
          </a:p>
        </p:txBody>
      </p:sp>
      <p:sp>
        <p:nvSpPr>
          <p:cNvPr id="16" name="TextBox 15"/>
          <p:cNvSpPr txBox="1"/>
          <p:nvPr/>
        </p:nvSpPr>
        <p:spPr>
          <a:xfrm>
            <a:off x="457200" y="4901184"/>
            <a:ext cx="7315200" cy="237744"/>
          </a:xfrm>
          <a:prstGeom prst="rect">
            <a:avLst/>
          </a:prstGeom>
          <a:noFill/>
        </p:spPr>
        <p:txBody>
          <a:bodyPr wrap="square" lIns="45720" rIns="45720" tIns="18288" bIns="18288" anchor="t">
            <a:spAutoFit/>
          </a:bodyPr>
          <a:lstStyle/>
          <a:p>
            <a:pPr algn="l"/>
            <a:r>
              <a:rPr sz="800" b="0" i="0">
                <a:solidFill>
                  <a:srgbClr val="8A9BB0"/>
                </a:solidFill>
                <a:latin typeface="Calibri"/>
              </a:rPr>
              <a:t>Kullback (1959) · Cover &amp; Thomas (2006) · Alouadi &amp; Lehalle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Deux façons de construire l'espace latent</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5</a:t>
            </a:r>
          </a:p>
        </p:txBody>
      </p:sp>
      <p:sp>
        <p:nvSpPr>
          <p:cNvPr id="5" name="Rectangle 4"/>
          <p:cNvSpPr/>
          <p:nvPr/>
        </p:nvSpPr>
        <p:spPr>
          <a:xfrm>
            <a:off x="8138160" y="64008"/>
            <a:ext cx="914400" cy="24688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38160" y="64008"/>
            <a:ext cx="914400" cy="246888"/>
          </a:xfrm>
          <a:prstGeom prst="rect">
            <a:avLst/>
          </a:prstGeom>
          <a:noFill/>
        </p:spPr>
        <p:txBody>
          <a:bodyPr wrap="square" lIns="45720" rIns="45720" tIns="18288" bIns="18288" anchor="ctr">
            <a:spAutoFit/>
          </a:bodyPr>
          <a:lstStyle/>
          <a:p>
            <a:pPr algn="ctr"/>
            <a:r>
              <a:rPr sz="800" b="1" i="0">
                <a:solidFill>
                  <a:srgbClr val="FFFFFF"/>
                </a:solidFill>
                <a:latin typeface="Calibri"/>
              </a:rPr>
              <a:t>MÉTHODE</a:t>
            </a:r>
          </a:p>
        </p:txBody>
      </p:sp>
      <p:sp>
        <p:nvSpPr>
          <p:cNvPr id="7" name="Rectangle 6"/>
          <p:cNvSpPr/>
          <p:nvPr/>
        </p:nvSpPr>
        <p:spPr>
          <a:xfrm>
            <a:off x="274320" y="685800"/>
            <a:ext cx="4069080" cy="320040"/>
          </a:xfrm>
          <a:prstGeom prst="rect">
            <a:avLst/>
          </a:prstGeom>
          <a:solidFill>
            <a:srgbClr val="FF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85800"/>
            <a:ext cx="4069080" cy="320040"/>
          </a:xfrm>
          <a:prstGeom prst="rect">
            <a:avLst/>
          </a:prstGeom>
          <a:noFill/>
        </p:spPr>
        <p:txBody>
          <a:bodyPr wrap="square" lIns="45720" rIns="45720" tIns="18288" bIns="18288" anchor="ctr">
            <a:spAutoFit/>
          </a:bodyPr>
          <a:lstStyle/>
          <a:p>
            <a:pPr algn="l"/>
            <a:r>
              <a:rPr sz="1000" b="1" i="0">
                <a:solidFill>
                  <a:srgbClr val="C0392B"/>
                </a:solidFill>
                <a:latin typeface="Calibri"/>
              </a:rPr>
              <a:t>  Référence linéaire : PCA-orthogonal</a:t>
            </a:r>
          </a:p>
        </p:txBody>
      </p:sp>
      <p:sp>
        <p:nvSpPr>
          <p:cNvPr id="9" name="TextBox 8"/>
          <p:cNvSpPr txBox="1"/>
          <p:nvPr/>
        </p:nvSpPr>
        <p:spPr>
          <a:xfrm>
            <a:off x="365760" y="1051560"/>
            <a:ext cx="3977640" cy="1280160"/>
          </a:xfrm>
          <a:prstGeom prst="rect">
            <a:avLst/>
          </a:prstGeom>
          <a:noFill/>
        </p:spPr>
        <p:txBody>
          <a:bodyPr wrap="square" lIns="45720" rIns="45720" tIns="18288" bIns="18288" anchor="t">
            <a:spAutoFit/>
          </a:bodyPr>
          <a:lstStyle/>
          <a:p>
            <a:pPr algn="l"/>
            <a:r>
              <a:rPr sz="900" b="0" i="0">
                <a:solidFill>
                  <a:srgbClr val="5D6D7E"/>
                </a:solidFill>
                <a:latin typeface="Calibri"/>
              </a:rPr>
              <a:t>• On calcule les composantes principales (PCA) du panel sur une fenêtre passée.</a:t>
            </a:r>
          </a:p>
          <a:p>
            <a:pPr algn="l"/>
            <a:r>
              <a:rPr sz="900" b="0" i="0">
                <a:solidFill>
                  <a:srgbClr val="5D6D7E"/>
                </a:solidFill>
                <a:latin typeface="Calibri"/>
              </a:rPr>
              <a:t>• On écarte la première, le marché, et on surveille les directions restantes.</a:t>
            </a:r>
          </a:p>
          <a:p>
            <a:pPr algn="l"/>
            <a:r>
              <a:rPr sz="900" b="0" i="0">
                <a:solidFill>
                  <a:srgbClr val="5D6D7E"/>
                </a:solidFill>
                <a:latin typeface="Calibri"/>
              </a:rPr>
              <a:t>• Linéaire, interprétable, rapide : c'est la référence à battre.</a:t>
            </a:r>
          </a:p>
          <a:p>
            <a:pPr algn="l"/>
            <a:r>
              <a:rPr sz="900" b="0" i="0">
                <a:solidFill>
                  <a:srgbClr val="5D6D7E"/>
                </a:solidFill>
                <a:latin typeface="Calibri"/>
              </a:rPr>
              <a:t>• Limite : directions fixes, choisies pour leur variance et non pour la dérive ; aveugle aux effets non linéaires (queues épaisses, volatilité commune).</a:t>
            </a:r>
          </a:p>
        </p:txBody>
      </p:sp>
      <p:sp>
        <p:nvSpPr>
          <p:cNvPr id="10" name="Rectangle 9"/>
          <p:cNvSpPr/>
          <p:nvPr/>
        </p:nvSpPr>
        <p:spPr>
          <a:xfrm>
            <a:off x="4800600" y="685800"/>
            <a:ext cx="4069080" cy="320040"/>
          </a:xfrm>
          <a:prstGeom prst="rect">
            <a:avLst/>
          </a:prstGeom>
          <a:solidFill>
            <a:srgbClr val="E8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00600" y="685800"/>
            <a:ext cx="4069080" cy="320040"/>
          </a:xfrm>
          <a:prstGeom prst="rect">
            <a:avLst/>
          </a:prstGeom>
          <a:noFill/>
        </p:spPr>
        <p:txBody>
          <a:bodyPr wrap="square" lIns="45720" rIns="45720" tIns="18288" bIns="18288" anchor="ctr">
            <a:spAutoFit/>
          </a:bodyPr>
          <a:lstStyle/>
          <a:p>
            <a:pPr algn="l"/>
            <a:r>
              <a:rPr sz="1000" b="1" i="0">
                <a:solidFill>
                  <a:srgbClr val="27AE60"/>
                </a:solidFill>
                <a:latin typeface="Calibri"/>
              </a:rPr>
              <a:t>  Représentation apprise : JEPA</a:t>
            </a:r>
          </a:p>
        </p:txBody>
      </p:sp>
      <p:sp>
        <p:nvSpPr>
          <p:cNvPr id="12" name="TextBox 11"/>
          <p:cNvSpPr txBox="1"/>
          <p:nvPr/>
        </p:nvSpPr>
        <p:spPr>
          <a:xfrm>
            <a:off x="4892040" y="1051560"/>
            <a:ext cx="3977640" cy="1280160"/>
          </a:xfrm>
          <a:prstGeom prst="rect">
            <a:avLst/>
          </a:prstGeom>
          <a:noFill/>
        </p:spPr>
        <p:txBody>
          <a:bodyPr wrap="square" lIns="45720" rIns="45720" tIns="18288" bIns="18288" anchor="t">
            <a:spAutoFit/>
          </a:bodyPr>
          <a:lstStyle/>
          <a:p>
            <a:pPr algn="l"/>
            <a:r>
              <a:rPr sz="900" b="0" i="0">
                <a:solidFill>
                  <a:srgbClr val="5D6D7E"/>
                </a:solidFill>
                <a:latin typeface="Calibri"/>
              </a:rPr>
              <a:t>• JEPA (Joint-Embedding Predictive Architecture) : on masque une partie des actifs, et un réseau prédit leur représentation à partir des autres, sans reconstruire les données brutes.</a:t>
            </a:r>
          </a:p>
          <a:p>
            <a:pPr algn="l"/>
            <a:r>
              <a:rPr sz="900" b="0" i="0">
                <a:solidFill>
                  <a:srgbClr val="5D6D7E"/>
                </a:solidFill>
                <a:latin typeface="Calibri"/>
              </a:rPr>
              <a:t>• T-JEPA pour les données tabulaires ; CA-T-JEPA (cross-asset) pour la coupe d'actions, chaque actif devenant un jeton décrit par ses caractéristiques.</a:t>
            </a:r>
          </a:p>
          <a:p>
            <a:pPr algn="l"/>
            <a:r>
              <a:rPr sz="900" b="0" i="0">
                <a:solidFill>
                  <a:srgbClr val="5D6D7E"/>
                </a:solidFill>
                <a:latin typeface="Calibri"/>
              </a:rPr>
              <a:t>• Prédire dans l'espace latent favorise les directions prévisibles plutôt que les plus variables (démontré pour des réseaux linéaires profonds).</a:t>
            </a:r>
          </a:p>
          <a:p>
            <a:pPr algn="l"/>
            <a:r>
              <a:rPr sz="900" b="0" i="0">
                <a:solidFill>
                  <a:srgbClr val="5D6D7E"/>
                </a:solidFill>
                <a:latin typeface="Calibri"/>
              </a:rPr>
              <a:t>• Ce qu'il ne verra pas : une dérive propre à un seul titre, imprévisible depuis les autres.</a:t>
            </a:r>
          </a:p>
        </p:txBody>
      </p:sp>
      <p:sp>
        <p:nvSpPr>
          <p:cNvPr id="13" name="Rectangle 12"/>
          <p:cNvSpPr/>
          <p:nvPr/>
        </p:nvSpPr>
        <p:spPr>
          <a:xfrm>
            <a:off x="274320" y="2514600"/>
            <a:ext cx="8595360" cy="32004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2514600"/>
            <a:ext cx="8595360" cy="320040"/>
          </a:xfrm>
          <a:prstGeom prst="rect">
            <a:avLst/>
          </a:prstGeom>
          <a:noFill/>
        </p:spPr>
        <p:txBody>
          <a:bodyPr wrap="square" lIns="45720" rIns="45720" tIns="18288" bIns="18288" anchor="ctr">
            <a:spAutoFit/>
          </a:bodyPr>
          <a:lstStyle/>
          <a:p>
            <a:pPr algn="l"/>
            <a:r>
              <a:rPr sz="1000" b="1" i="0">
                <a:solidFill>
                  <a:srgbClr val="00748C"/>
                </a:solidFill>
                <a:latin typeface="Calibri"/>
              </a:rPr>
              <a:t>  Une comparaison à armes égales</a:t>
            </a:r>
          </a:p>
        </p:txBody>
      </p:sp>
      <p:sp>
        <p:nvSpPr>
          <p:cNvPr id="15" name="Rectangle 14"/>
          <p:cNvSpPr/>
          <p:nvPr/>
        </p:nvSpPr>
        <p:spPr>
          <a:xfrm>
            <a:off x="365760" y="2926080"/>
            <a:ext cx="54864" cy="41148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926080"/>
            <a:ext cx="8321040" cy="411480"/>
          </a:xfrm>
          <a:prstGeom prst="rect">
            <a:avLst/>
          </a:prstGeom>
          <a:noFill/>
        </p:spPr>
        <p:txBody>
          <a:bodyPr wrap="square" lIns="45720" rIns="45720" tIns="18288" bIns="18288" anchor="ctr">
            <a:spAutoFit/>
          </a:bodyPr>
          <a:lstStyle/>
          <a:p>
            <a:pPr algn="l"/>
            <a:r>
              <a:rPr sz="1000" b="1" i="0">
                <a:solidFill>
                  <a:srgbClr val="2980B9"/>
                </a:solidFill>
                <a:latin typeface="Calibri"/>
              </a:rPr>
              <a:t>Même moniteur  </a:t>
            </a:r>
            <a:r>
              <a:rPr sz="900" b="0" i="0">
                <a:solidFill>
                  <a:srgbClr val="2C3E50"/>
                </a:solidFill>
                <a:latin typeface="Calibri"/>
              </a:rPr>
              <a:t>(surveillance séquentielle)  — </a:t>
            </a:r>
            <a:r>
              <a:rPr sz="900" b="0" i="0">
                <a:solidFill>
                  <a:srgbClr val="5D6D7E"/>
                </a:solidFill>
                <a:latin typeface="Calibri"/>
              </a:rPr>
              <a:t>les deux espaces alimentent les mêmes détecteurs, calibrés de la même façon.</a:t>
            </a:r>
          </a:p>
        </p:txBody>
      </p:sp>
      <p:sp>
        <p:nvSpPr>
          <p:cNvPr id="17" name="Rectangle 16"/>
          <p:cNvSpPr/>
          <p:nvPr/>
        </p:nvSpPr>
        <p:spPr>
          <a:xfrm>
            <a:off x="365760" y="3429000"/>
            <a:ext cx="54864" cy="41148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429000"/>
            <a:ext cx="8321040" cy="411480"/>
          </a:xfrm>
          <a:prstGeom prst="rect">
            <a:avLst/>
          </a:prstGeom>
          <a:noFill/>
        </p:spPr>
        <p:txBody>
          <a:bodyPr wrap="square" lIns="45720" rIns="45720" tIns="18288" bIns="18288" anchor="ctr">
            <a:spAutoFit/>
          </a:bodyPr>
          <a:lstStyle/>
          <a:p>
            <a:pPr algn="l"/>
            <a:r>
              <a:rPr sz="1000" b="1" i="0">
                <a:solidFill>
                  <a:srgbClr val="2980B9"/>
                </a:solidFill>
                <a:latin typeface="Calibri"/>
              </a:rPr>
              <a:t>Même dimension  </a:t>
            </a:r>
            <a:r>
              <a:rPr sz="900" b="0" i="0">
                <a:solidFill>
                  <a:srgbClr val="2C3E50"/>
                </a:solidFill>
                <a:latin typeface="Calibri"/>
              </a:rPr>
              <a:t>(espace compact)  — </a:t>
            </a:r>
            <a:r>
              <a:rPr sz="900" b="0" i="0">
                <a:solidFill>
                  <a:srgbClr val="5D6D7E"/>
                </a:solidFill>
                <a:latin typeface="Calibri"/>
              </a:rPr>
              <a:t>quelques dimensions seulement : chaque dimension surveillée ajoute son propre bruit.</a:t>
            </a:r>
          </a:p>
        </p:txBody>
      </p:sp>
      <p:sp>
        <p:nvSpPr>
          <p:cNvPr id="19" name="Rectangle 18"/>
          <p:cNvSpPr/>
          <p:nvPr/>
        </p:nvSpPr>
        <p:spPr>
          <a:xfrm>
            <a:off x="365760" y="3931920"/>
            <a:ext cx="54864" cy="41148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931920"/>
            <a:ext cx="8321040" cy="411480"/>
          </a:xfrm>
          <a:prstGeom prst="rect">
            <a:avLst/>
          </a:prstGeom>
          <a:noFill/>
        </p:spPr>
        <p:txBody>
          <a:bodyPr wrap="square" lIns="45720" rIns="45720" tIns="18288" bIns="18288" anchor="ctr">
            <a:spAutoFit/>
          </a:bodyPr>
          <a:lstStyle/>
          <a:p>
            <a:pPr algn="l"/>
            <a:r>
              <a:rPr sz="1000" b="1" i="0">
                <a:solidFill>
                  <a:srgbClr val="2980B9"/>
                </a:solidFill>
                <a:latin typeface="Calibri"/>
              </a:rPr>
              <a:t>Même bruit de fond  </a:t>
            </a:r>
            <a:r>
              <a:rPr sz="900" b="0" i="0">
                <a:solidFill>
                  <a:srgbClr val="2C3E50"/>
                </a:solidFill>
                <a:latin typeface="Calibri"/>
              </a:rPr>
              <a:t>(données réelles)  — </a:t>
            </a:r>
            <a:r>
              <a:rPr sz="900" b="0" i="0">
                <a:solidFill>
                  <a:srgbClr val="5D6D7E"/>
                </a:solidFill>
                <a:latin typeface="Calibri"/>
              </a:rPr>
              <a:t>mêmes panels, mêmes dérives injectées, mêmes dates de rupture.</a:t>
            </a:r>
          </a:p>
        </p:txBody>
      </p:sp>
      <p:sp>
        <p:nvSpPr>
          <p:cNvPr id="21" name="Rectangle 20"/>
          <p:cNvSpPr/>
          <p:nvPr/>
        </p:nvSpPr>
        <p:spPr>
          <a:xfrm>
            <a:off x="274320" y="4370832"/>
            <a:ext cx="8595360" cy="292608"/>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4370832"/>
            <a:ext cx="8503920" cy="292608"/>
          </a:xfrm>
          <a:prstGeom prst="rect">
            <a:avLst/>
          </a:prstGeom>
          <a:noFill/>
        </p:spPr>
        <p:txBody>
          <a:bodyPr wrap="square" lIns="45720" rIns="45720" tIns="18288" bIns="18288" anchor="ctr">
            <a:spAutoFit/>
          </a:bodyPr>
          <a:lstStyle/>
          <a:p>
            <a:pPr algn="l"/>
            <a:r>
              <a:rPr sz="1000" b="1" i="0">
                <a:solidFill>
                  <a:srgbClr val="E08000"/>
                </a:solidFill>
                <a:latin typeface="Calibri"/>
              </a:rPr>
              <a:t>★ À dimension égale, la représentation apprise retient-elle plus d'information de dérive que la projection linéaire ?</a:t>
            </a:r>
          </a:p>
        </p:txBody>
      </p:sp>
      <p:sp>
        <p:nvSpPr>
          <p:cNvPr id="23" name="TextBox 22"/>
          <p:cNvSpPr txBox="1"/>
          <p:nvPr/>
        </p:nvSpPr>
        <p:spPr>
          <a:xfrm>
            <a:off x="457200" y="4901184"/>
            <a:ext cx="7315200" cy="237744"/>
          </a:xfrm>
          <a:prstGeom prst="rect">
            <a:avLst/>
          </a:prstGeom>
          <a:noFill/>
        </p:spPr>
        <p:txBody>
          <a:bodyPr wrap="square" lIns="45720" rIns="45720" tIns="18288" bIns="18288" anchor="t">
            <a:spAutoFit/>
          </a:bodyPr>
          <a:lstStyle/>
          <a:p>
            <a:pPr algn="l"/>
            <a:r>
              <a:rPr sz="800" b="0" i="0">
                <a:solidFill>
                  <a:srgbClr val="8A9BB0"/>
                </a:solidFill>
                <a:latin typeface="Calibri"/>
              </a:rPr>
              <a:t>Assran et al. (2023) · Thimonier et al. (2025) · Littwin et al. (2024)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Ce qui existe, et ce qui manque</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6</a:t>
            </a:r>
          </a:p>
        </p:txBody>
      </p:sp>
      <p:sp>
        <p:nvSpPr>
          <p:cNvPr id="5" name="Rectangle 4"/>
          <p:cNvSpPr/>
          <p:nvPr/>
        </p:nvSpPr>
        <p:spPr>
          <a:xfrm>
            <a:off x="8138160" y="64008"/>
            <a:ext cx="914400" cy="24688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38160" y="64008"/>
            <a:ext cx="914400" cy="246888"/>
          </a:xfrm>
          <a:prstGeom prst="rect">
            <a:avLst/>
          </a:prstGeom>
          <a:noFill/>
        </p:spPr>
        <p:txBody>
          <a:bodyPr wrap="square" lIns="45720" rIns="45720" tIns="18288" bIns="18288" anchor="ctr">
            <a:spAutoFit/>
          </a:bodyPr>
          <a:lstStyle/>
          <a:p>
            <a:pPr algn="ctr"/>
            <a:r>
              <a:rPr sz="800" b="1" i="0">
                <a:solidFill>
                  <a:srgbClr val="FFFFFF"/>
                </a:solidFill>
                <a:latin typeface="Calibri"/>
              </a:rPr>
              <a:t>ANALYSE</a:t>
            </a:r>
          </a:p>
        </p:txBody>
      </p:sp>
      <p:sp>
        <p:nvSpPr>
          <p:cNvPr id="7" name="Rectangle 6"/>
          <p:cNvSpPr/>
          <p:nvPr/>
        </p:nvSpPr>
        <p:spPr>
          <a:xfrm>
            <a:off x="274320" y="685800"/>
            <a:ext cx="8595360" cy="32004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85800"/>
            <a:ext cx="2011680" cy="320040"/>
          </a:xfrm>
          <a:prstGeom prst="rect">
            <a:avLst/>
          </a:prstGeom>
          <a:noFill/>
        </p:spPr>
        <p:txBody>
          <a:bodyPr wrap="square" lIns="45720" rIns="45720" tIns="18288" bIns="18288" anchor="ctr">
            <a:spAutoFit/>
          </a:bodyPr>
          <a:lstStyle/>
          <a:p>
            <a:pPr algn="ctr"/>
            <a:r>
              <a:rPr sz="1000" b="1" i="0">
                <a:solidFill>
                  <a:srgbClr val="FFFFFF"/>
                </a:solidFill>
                <a:latin typeface="Calibri"/>
              </a:rPr>
              <a:t>Méthode</a:t>
            </a:r>
          </a:p>
        </p:txBody>
      </p:sp>
      <p:sp>
        <p:nvSpPr>
          <p:cNvPr id="9" name="TextBox 8"/>
          <p:cNvSpPr txBox="1"/>
          <p:nvPr/>
        </p:nvSpPr>
        <p:spPr>
          <a:xfrm>
            <a:off x="2286000" y="685800"/>
            <a:ext cx="1280160" cy="320040"/>
          </a:xfrm>
          <a:prstGeom prst="rect">
            <a:avLst/>
          </a:prstGeom>
          <a:noFill/>
        </p:spPr>
        <p:txBody>
          <a:bodyPr wrap="square" lIns="45720" rIns="45720" tIns="18288" bIns="18288" anchor="ctr">
            <a:spAutoFit/>
          </a:bodyPr>
          <a:lstStyle/>
          <a:p>
            <a:pPr algn="ctr"/>
            <a:r>
              <a:rPr sz="1000" b="1" i="0">
                <a:solidFill>
                  <a:srgbClr val="FFFFFF"/>
                </a:solidFill>
                <a:latin typeface="Calibri"/>
              </a:rPr>
              <a:t>Représentation</a:t>
            </a:r>
          </a:p>
        </p:txBody>
      </p:sp>
      <p:sp>
        <p:nvSpPr>
          <p:cNvPr id="10" name="TextBox 9"/>
          <p:cNvSpPr txBox="1"/>
          <p:nvPr/>
        </p:nvSpPr>
        <p:spPr>
          <a:xfrm>
            <a:off x="3566160" y="685800"/>
            <a:ext cx="1417320" cy="320040"/>
          </a:xfrm>
          <a:prstGeom prst="rect">
            <a:avLst/>
          </a:prstGeom>
          <a:noFill/>
        </p:spPr>
        <p:txBody>
          <a:bodyPr wrap="square" lIns="45720" rIns="45720" tIns="18288" bIns="18288" anchor="ctr">
            <a:spAutoFit/>
          </a:bodyPr>
          <a:lstStyle/>
          <a:p>
            <a:pPr algn="ctr"/>
            <a:r>
              <a:rPr sz="1000" b="1" i="0">
                <a:solidFill>
                  <a:srgbClr val="FFFFFF"/>
                </a:solidFill>
                <a:latin typeface="Calibri"/>
              </a:rPr>
              <a:t>Objectif</a:t>
            </a:r>
          </a:p>
        </p:txBody>
      </p:sp>
      <p:sp>
        <p:nvSpPr>
          <p:cNvPr id="11" name="TextBox 10"/>
          <p:cNvSpPr txBox="1"/>
          <p:nvPr/>
        </p:nvSpPr>
        <p:spPr>
          <a:xfrm>
            <a:off x="4983480" y="685800"/>
            <a:ext cx="1417320" cy="320040"/>
          </a:xfrm>
          <a:prstGeom prst="rect">
            <a:avLst/>
          </a:prstGeom>
          <a:noFill/>
        </p:spPr>
        <p:txBody>
          <a:bodyPr wrap="square" lIns="45720" rIns="45720" tIns="18288" bIns="18288" anchor="ctr">
            <a:spAutoFit/>
          </a:bodyPr>
          <a:lstStyle/>
          <a:p>
            <a:pPr algn="ctr"/>
            <a:r>
              <a:rPr sz="1000" b="1" i="0">
                <a:solidFill>
                  <a:srgbClr val="FFFFFF"/>
                </a:solidFill>
                <a:latin typeface="Calibri"/>
              </a:rPr>
              <a:t>Détection séquentielle</a:t>
            </a:r>
          </a:p>
        </p:txBody>
      </p:sp>
      <p:sp>
        <p:nvSpPr>
          <p:cNvPr id="12" name="TextBox 11"/>
          <p:cNvSpPr txBox="1"/>
          <p:nvPr/>
        </p:nvSpPr>
        <p:spPr>
          <a:xfrm>
            <a:off x="6400800" y="685800"/>
            <a:ext cx="2468880" cy="320040"/>
          </a:xfrm>
          <a:prstGeom prst="rect">
            <a:avLst/>
          </a:prstGeom>
          <a:noFill/>
        </p:spPr>
        <p:txBody>
          <a:bodyPr wrap="square" lIns="45720" rIns="45720" tIns="18288" bIns="18288" anchor="ctr">
            <a:spAutoFit/>
          </a:bodyPr>
          <a:lstStyle/>
          <a:p>
            <a:pPr algn="ctr"/>
            <a:r>
              <a:rPr sz="1000" b="1" i="0">
                <a:solidFill>
                  <a:srgbClr val="FFFFFF"/>
                </a:solidFill>
                <a:latin typeface="Calibri"/>
              </a:rPr>
              <a:t>Limite pour notre question</a:t>
            </a:r>
          </a:p>
        </p:txBody>
      </p:sp>
      <p:sp>
        <p:nvSpPr>
          <p:cNvPr id="13" name="Rectangle 12"/>
          <p:cNvSpPr/>
          <p:nvPr/>
        </p:nvSpPr>
        <p:spPr>
          <a:xfrm>
            <a:off x="274320" y="1005840"/>
            <a:ext cx="8595360" cy="292608"/>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1005840"/>
            <a:ext cx="2011680" cy="292608"/>
          </a:xfrm>
          <a:prstGeom prst="rect">
            <a:avLst/>
          </a:prstGeom>
          <a:noFill/>
        </p:spPr>
        <p:txBody>
          <a:bodyPr wrap="square" lIns="45720" rIns="45720" tIns="18288" bIns="18288" anchor="ctr">
            <a:spAutoFit/>
          </a:bodyPr>
          <a:lstStyle/>
          <a:p>
            <a:pPr algn="l"/>
            <a:r>
              <a:rPr sz="900" b="1" i="0">
                <a:solidFill>
                  <a:srgbClr val="2980B9"/>
                </a:solidFill>
                <a:latin typeface="Calibri"/>
              </a:rPr>
              <a:t>PCA / Sparse PCA</a:t>
            </a:r>
          </a:p>
        </p:txBody>
      </p:sp>
      <p:sp>
        <p:nvSpPr>
          <p:cNvPr id="15" name="TextBox 14"/>
          <p:cNvSpPr txBox="1"/>
          <p:nvPr/>
        </p:nvSpPr>
        <p:spPr>
          <a:xfrm>
            <a:off x="2286000" y="1005840"/>
            <a:ext cx="128016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Linéaire</a:t>
            </a:r>
          </a:p>
        </p:txBody>
      </p:sp>
      <p:sp>
        <p:nvSpPr>
          <p:cNvPr id="16" name="TextBox 15"/>
          <p:cNvSpPr txBox="1"/>
          <p:nvPr/>
        </p:nvSpPr>
        <p:spPr>
          <a:xfrm>
            <a:off x="3566160" y="1005840"/>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Variance</a:t>
            </a:r>
          </a:p>
        </p:txBody>
      </p:sp>
      <p:sp>
        <p:nvSpPr>
          <p:cNvPr id="17" name="TextBox 16"/>
          <p:cNvSpPr txBox="1"/>
          <p:nvPr/>
        </p:nvSpPr>
        <p:spPr>
          <a:xfrm>
            <a:off x="4983480" y="1005840"/>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Non</a:t>
            </a:r>
          </a:p>
        </p:txBody>
      </p:sp>
      <p:sp>
        <p:nvSpPr>
          <p:cNvPr id="18" name="TextBox 17"/>
          <p:cNvSpPr txBox="1"/>
          <p:nvPr/>
        </p:nvSpPr>
        <p:spPr>
          <a:xfrm>
            <a:off x="6400800" y="1005840"/>
            <a:ext cx="2468880" cy="292608"/>
          </a:xfrm>
          <a:prstGeom prst="rect">
            <a:avLst/>
          </a:prstGeom>
          <a:noFill/>
        </p:spPr>
        <p:txBody>
          <a:bodyPr wrap="square" lIns="45720" rIns="45720" tIns="18288" bIns="18288" anchor="ctr">
            <a:spAutoFit/>
          </a:bodyPr>
          <a:lstStyle/>
          <a:p>
            <a:pPr algn="l"/>
            <a:r>
              <a:rPr sz="900" b="0" i="1">
                <a:solidFill>
                  <a:srgbClr val="5D6D7E"/>
                </a:solidFill>
                <a:latin typeface="Calibri"/>
              </a:rPr>
              <a:t>Facteurs statiques, non économiques</a:t>
            </a:r>
          </a:p>
        </p:txBody>
      </p:sp>
      <p:sp>
        <p:nvSpPr>
          <p:cNvPr id="19" name="Rectangle 18"/>
          <p:cNvSpPr/>
          <p:nvPr/>
        </p:nvSpPr>
        <p:spPr>
          <a:xfrm>
            <a:off x="274320" y="1298448"/>
            <a:ext cx="8595360" cy="292608"/>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1298448"/>
            <a:ext cx="2011680" cy="292608"/>
          </a:xfrm>
          <a:prstGeom prst="rect">
            <a:avLst/>
          </a:prstGeom>
          <a:noFill/>
        </p:spPr>
        <p:txBody>
          <a:bodyPr wrap="square" lIns="45720" rIns="45720" tIns="18288" bIns="18288" anchor="ctr">
            <a:spAutoFit/>
          </a:bodyPr>
          <a:lstStyle/>
          <a:p>
            <a:pPr algn="l"/>
            <a:r>
              <a:rPr sz="900" b="1" i="0">
                <a:solidFill>
                  <a:srgbClr val="2980B9"/>
                </a:solidFill>
                <a:latin typeface="Calibri"/>
              </a:rPr>
              <a:t>IPCA (2019)</a:t>
            </a:r>
          </a:p>
        </p:txBody>
      </p:sp>
      <p:sp>
        <p:nvSpPr>
          <p:cNvPr id="21" name="TextBox 20"/>
          <p:cNvSpPr txBox="1"/>
          <p:nvPr/>
        </p:nvSpPr>
        <p:spPr>
          <a:xfrm>
            <a:off x="2286000" y="1298448"/>
            <a:ext cx="128016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Linéaire, caract.</a:t>
            </a:r>
          </a:p>
        </p:txBody>
      </p:sp>
      <p:sp>
        <p:nvSpPr>
          <p:cNvPr id="22" name="TextBox 21"/>
          <p:cNvSpPr txBox="1"/>
          <p:nvPr/>
        </p:nvSpPr>
        <p:spPr>
          <a:xfrm>
            <a:off x="3566160" y="1298448"/>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Valorisation</a:t>
            </a:r>
          </a:p>
        </p:txBody>
      </p:sp>
      <p:sp>
        <p:nvSpPr>
          <p:cNvPr id="23" name="TextBox 22"/>
          <p:cNvSpPr txBox="1"/>
          <p:nvPr/>
        </p:nvSpPr>
        <p:spPr>
          <a:xfrm>
            <a:off x="4983480" y="1298448"/>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Non</a:t>
            </a:r>
          </a:p>
        </p:txBody>
      </p:sp>
      <p:sp>
        <p:nvSpPr>
          <p:cNvPr id="24" name="TextBox 23"/>
          <p:cNvSpPr txBox="1"/>
          <p:nvPr/>
        </p:nvSpPr>
        <p:spPr>
          <a:xfrm>
            <a:off x="6400800" y="1298448"/>
            <a:ext cx="2468880" cy="292608"/>
          </a:xfrm>
          <a:prstGeom prst="rect">
            <a:avLst/>
          </a:prstGeom>
          <a:noFill/>
        </p:spPr>
        <p:txBody>
          <a:bodyPr wrap="square" lIns="45720" rIns="45720" tIns="18288" bIns="18288" anchor="ctr">
            <a:spAutoFit/>
          </a:bodyPr>
          <a:lstStyle/>
          <a:p>
            <a:pPr algn="l"/>
            <a:r>
              <a:rPr sz="900" b="0" i="1">
                <a:solidFill>
                  <a:srgbClr val="5D6D7E"/>
                </a:solidFill>
                <a:latin typeface="Calibri"/>
              </a:rPr>
              <a:t>Lien linéaire caract. → expositions</a:t>
            </a:r>
          </a:p>
        </p:txBody>
      </p:sp>
      <p:sp>
        <p:nvSpPr>
          <p:cNvPr id="25" name="Rectangle 24"/>
          <p:cNvSpPr/>
          <p:nvPr/>
        </p:nvSpPr>
        <p:spPr>
          <a:xfrm>
            <a:off x="274320" y="1591056"/>
            <a:ext cx="8595360" cy="292608"/>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 y="1591056"/>
            <a:ext cx="2011680" cy="292608"/>
          </a:xfrm>
          <a:prstGeom prst="rect">
            <a:avLst/>
          </a:prstGeom>
          <a:noFill/>
        </p:spPr>
        <p:txBody>
          <a:bodyPr wrap="square" lIns="45720" rIns="45720" tIns="18288" bIns="18288" anchor="ctr">
            <a:spAutoFit/>
          </a:bodyPr>
          <a:lstStyle/>
          <a:p>
            <a:pPr algn="l"/>
            <a:r>
              <a:rPr sz="900" b="1" i="0">
                <a:solidFill>
                  <a:srgbClr val="2980B9"/>
                </a:solidFill>
                <a:latin typeface="Calibri"/>
              </a:rPr>
              <a:t>GKX (2021)</a:t>
            </a:r>
          </a:p>
        </p:txBody>
      </p:sp>
      <p:sp>
        <p:nvSpPr>
          <p:cNvPr id="27" name="TextBox 26"/>
          <p:cNvSpPr txBox="1"/>
          <p:nvPr/>
        </p:nvSpPr>
        <p:spPr>
          <a:xfrm>
            <a:off x="2286000" y="1591056"/>
            <a:ext cx="128016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Non linéaire</a:t>
            </a:r>
          </a:p>
        </p:txBody>
      </p:sp>
      <p:sp>
        <p:nvSpPr>
          <p:cNvPr id="28" name="TextBox 27"/>
          <p:cNvSpPr txBox="1"/>
          <p:nvPr/>
        </p:nvSpPr>
        <p:spPr>
          <a:xfrm>
            <a:off x="3566160" y="1591056"/>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Valorisation</a:t>
            </a:r>
          </a:p>
        </p:txBody>
      </p:sp>
      <p:sp>
        <p:nvSpPr>
          <p:cNvPr id="29" name="TextBox 28"/>
          <p:cNvSpPr txBox="1"/>
          <p:nvPr/>
        </p:nvSpPr>
        <p:spPr>
          <a:xfrm>
            <a:off x="4983480" y="1591056"/>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Non</a:t>
            </a:r>
          </a:p>
        </p:txBody>
      </p:sp>
      <p:sp>
        <p:nvSpPr>
          <p:cNvPr id="30" name="TextBox 29"/>
          <p:cNvSpPr txBox="1"/>
          <p:nvPr/>
        </p:nvSpPr>
        <p:spPr>
          <a:xfrm>
            <a:off x="6400800" y="1591056"/>
            <a:ext cx="2468880" cy="292608"/>
          </a:xfrm>
          <a:prstGeom prst="rect">
            <a:avLst/>
          </a:prstGeom>
          <a:noFill/>
        </p:spPr>
        <p:txBody>
          <a:bodyPr wrap="square" lIns="45720" rIns="45720" tIns="18288" bIns="18288" anchor="ctr">
            <a:spAutoFit/>
          </a:bodyPr>
          <a:lstStyle/>
          <a:p>
            <a:pPr algn="l"/>
            <a:r>
              <a:rPr sz="900" b="0" i="1">
                <a:solidFill>
                  <a:srgbClr val="5D6D7E"/>
                </a:solidFill>
                <a:latin typeface="Calibri"/>
              </a:rPr>
              <a:t>Latent opaque, visé pour le pricing</a:t>
            </a:r>
          </a:p>
        </p:txBody>
      </p:sp>
      <p:sp>
        <p:nvSpPr>
          <p:cNvPr id="31" name="Rectangle 30"/>
          <p:cNvSpPr/>
          <p:nvPr/>
        </p:nvSpPr>
        <p:spPr>
          <a:xfrm>
            <a:off x="274320" y="1883664"/>
            <a:ext cx="8595360" cy="292608"/>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 y="1883664"/>
            <a:ext cx="2011680" cy="292608"/>
          </a:xfrm>
          <a:prstGeom prst="rect">
            <a:avLst/>
          </a:prstGeom>
          <a:noFill/>
        </p:spPr>
        <p:txBody>
          <a:bodyPr wrap="square" lIns="45720" rIns="45720" tIns="18288" bIns="18288" anchor="ctr">
            <a:spAutoFit/>
          </a:bodyPr>
          <a:lstStyle/>
          <a:p>
            <a:pPr algn="l"/>
            <a:r>
              <a:rPr sz="900" b="1" i="0">
                <a:solidFill>
                  <a:srgbClr val="2980B9"/>
                </a:solidFill>
                <a:latin typeface="Calibri"/>
              </a:rPr>
              <a:t>CD-DFM (2026)</a:t>
            </a:r>
          </a:p>
        </p:txBody>
      </p:sp>
      <p:sp>
        <p:nvSpPr>
          <p:cNvPr id="33" name="TextBox 32"/>
          <p:cNvSpPr txBox="1"/>
          <p:nvPr/>
        </p:nvSpPr>
        <p:spPr>
          <a:xfrm>
            <a:off x="2286000" y="1883664"/>
            <a:ext cx="128016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Non lin., caract.</a:t>
            </a:r>
          </a:p>
        </p:txBody>
      </p:sp>
      <p:sp>
        <p:nvSpPr>
          <p:cNvPr id="34" name="TextBox 33"/>
          <p:cNvSpPr txBox="1"/>
          <p:nvPr/>
        </p:nvSpPr>
        <p:spPr>
          <a:xfrm>
            <a:off x="3566160" y="1883664"/>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Covariance future</a:t>
            </a:r>
          </a:p>
        </p:txBody>
      </p:sp>
      <p:sp>
        <p:nvSpPr>
          <p:cNvPr id="35" name="TextBox 34"/>
          <p:cNvSpPr txBox="1"/>
          <p:nvPr/>
        </p:nvSpPr>
        <p:spPr>
          <a:xfrm>
            <a:off x="4983480" y="1883664"/>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Non</a:t>
            </a:r>
          </a:p>
        </p:txBody>
      </p:sp>
      <p:sp>
        <p:nvSpPr>
          <p:cNvPr id="36" name="TextBox 35"/>
          <p:cNvSpPr txBox="1"/>
          <p:nvPr/>
        </p:nvSpPr>
        <p:spPr>
          <a:xfrm>
            <a:off x="6400800" y="1883664"/>
            <a:ext cx="2468880" cy="292608"/>
          </a:xfrm>
          <a:prstGeom prst="rect">
            <a:avLst/>
          </a:prstGeom>
          <a:noFill/>
        </p:spPr>
        <p:txBody>
          <a:bodyPr wrap="square" lIns="45720" rIns="45720" tIns="18288" bIns="18288" anchor="ctr">
            <a:spAutoFit/>
          </a:bodyPr>
          <a:lstStyle/>
          <a:p>
            <a:pPr algn="l"/>
            <a:r>
              <a:rPr sz="900" b="0" i="1">
                <a:solidFill>
                  <a:srgbClr val="5D6D7E"/>
                </a:solidFill>
                <a:latin typeface="Calibri"/>
              </a:rPr>
              <a:t>Visé pour le risque, pas la dérive</a:t>
            </a:r>
          </a:p>
        </p:txBody>
      </p:sp>
      <p:sp>
        <p:nvSpPr>
          <p:cNvPr id="37" name="Rectangle 36"/>
          <p:cNvSpPr/>
          <p:nvPr/>
        </p:nvSpPr>
        <p:spPr>
          <a:xfrm>
            <a:off x="274320" y="2176272"/>
            <a:ext cx="8595360" cy="292608"/>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0040" y="2176272"/>
            <a:ext cx="2011680" cy="292608"/>
          </a:xfrm>
          <a:prstGeom prst="rect">
            <a:avLst/>
          </a:prstGeom>
          <a:noFill/>
        </p:spPr>
        <p:txBody>
          <a:bodyPr wrap="square" lIns="45720" rIns="45720" tIns="18288" bIns="18288" anchor="ctr">
            <a:spAutoFit/>
          </a:bodyPr>
          <a:lstStyle/>
          <a:p>
            <a:pPr algn="l"/>
            <a:r>
              <a:rPr sz="900" b="1" i="0">
                <a:solidFill>
                  <a:srgbClr val="2980B9"/>
                </a:solidFill>
                <a:latin typeface="Calibri"/>
              </a:rPr>
              <a:t>T-JEPA (2025)</a:t>
            </a:r>
          </a:p>
        </p:txBody>
      </p:sp>
      <p:sp>
        <p:nvSpPr>
          <p:cNvPr id="39" name="TextBox 38"/>
          <p:cNvSpPr txBox="1"/>
          <p:nvPr/>
        </p:nvSpPr>
        <p:spPr>
          <a:xfrm>
            <a:off x="2286000" y="2176272"/>
            <a:ext cx="128016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Non lin., JEPA</a:t>
            </a:r>
          </a:p>
        </p:txBody>
      </p:sp>
      <p:sp>
        <p:nvSpPr>
          <p:cNvPr id="40" name="TextBox 39"/>
          <p:cNvSpPr txBox="1"/>
          <p:nvPr/>
        </p:nvSpPr>
        <p:spPr>
          <a:xfrm>
            <a:off x="3566160" y="2176272"/>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Représentation</a:t>
            </a:r>
          </a:p>
        </p:txBody>
      </p:sp>
      <p:sp>
        <p:nvSpPr>
          <p:cNvPr id="41" name="TextBox 40"/>
          <p:cNvSpPr txBox="1"/>
          <p:nvPr/>
        </p:nvSpPr>
        <p:spPr>
          <a:xfrm>
            <a:off x="4983480" y="2176272"/>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Non</a:t>
            </a:r>
          </a:p>
        </p:txBody>
      </p:sp>
      <p:sp>
        <p:nvSpPr>
          <p:cNvPr id="42" name="TextBox 41"/>
          <p:cNvSpPr txBox="1"/>
          <p:nvPr/>
        </p:nvSpPr>
        <p:spPr>
          <a:xfrm>
            <a:off x="6400800" y="2176272"/>
            <a:ext cx="2468880" cy="292608"/>
          </a:xfrm>
          <a:prstGeom prst="rect">
            <a:avLst/>
          </a:prstGeom>
          <a:noFill/>
        </p:spPr>
        <p:txBody>
          <a:bodyPr wrap="square" lIns="45720" rIns="45720" tIns="18288" bIns="18288" anchor="ctr">
            <a:spAutoFit/>
          </a:bodyPr>
          <a:lstStyle/>
          <a:p>
            <a:pPr algn="l"/>
            <a:r>
              <a:rPr sz="900" b="0" i="1">
                <a:solidFill>
                  <a:srgbClr val="5D6D7E"/>
                </a:solidFill>
                <a:latin typeface="Calibri"/>
              </a:rPr>
              <a:t>Jamais testé en détection</a:t>
            </a:r>
          </a:p>
        </p:txBody>
      </p:sp>
      <p:sp>
        <p:nvSpPr>
          <p:cNvPr id="43" name="Rectangle 42"/>
          <p:cNvSpPr/>
          <p:nvPr/>
        </p:nvSpPr>
        <p:spPr>
          <a:xfrm>
            <a:off x="274320" y="2468880"/>
            <a:ext cx="8595360" cy="292608"/>
          </a:xfrm>
          <a:prstGeom prst="rect">
            <a:avLst/>
          </a:prstGeom>
          <a:solidFill>
            <a:srgbClr val="E8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0040" y="2468880"/>
            <a:ext cx="2011680" cy="292608"/>
          </a:xfrm>
          <a:prstGeom prst="rect">
            <a:avLst/>
          </a:prstGeom>
          <a:noFill/>
        </p:spPr>
        <p:txBody>
          <a:bodyPr wrap="square" lIns="45720" rIns="45720" tIns="18288" bIns="18288" anchor="ctr">
            <a:spAutoFit/>
          </a:bodyPr>
          <a:lstStyle/>
          <a:p>
            <a:pPr algn="l"/>
            <a:r>
              <a:rPr sz="900" b="1" i="0">
                <a:solidFill>
                  <a:srgbClr val="27AE60"/>
                </a:solidFill>
                <a:latin typeface="Calibri"/>
              </a:rPr>
              <a:t>Notre approche</a:t>
            </a:r>
          </a:p>
        </p:txBody>
      </p:sp>
      <p:sp>
        <p:nvSpPr>
          <p:cNvPr id="45" name="TextBox 44"/>
          <p:cNvSpPr txBox="1"/>
          <p:nvPr/>
        </p:nvSpPr>
        <p:spPr>
          <a:xfrm>
            <a:off x="2286000" y="2468880"/>
            <a:ext cx="128016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JEPA, compact</a:t>
            </a:r>
          </a:p>
        </p:txBody>
      </p:sp>
      <p:sp>
        <p:nvSpPr>
          <p:cNvPr id="46" name="TextBox 45"/>
          <p:cNvSpPr txBox="1"/>
          <p:nvPr/>
        </p:nvSpPr>
        <p:spPr>
          <a:xfrm>
            <a:off x="3566160" y="2468880"/>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Détection de dérive</a:t>
            </a:r>
          </a:p>
        </p:txBody>
      </p:sp>
      <p:sp>
        <p:nvSpPr>
          <p:cNvPr id="47" name="TextBox 46"/>
          <p:cNvSpPr txBox="1"/>
          <p:nvPr/>
        </p:nvSpPr>
        <p:spPr>
          <a:xfrm>
            <a:off x="4983480" y="2468880"/>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Oui, calibrée</a:t>
            </a:r>
          </a:p>
        </p:txBody>
      </p:sp>
      <p:sp>
        <p:nvSpPr>
          <p:cNvPr id="48" name="TextBox 47"/>
          <p:cNvSpPr txBox="1"/>
          <p:nvPr/>
        </p:nvSpPr>
        <p:spPr>
          <a:xfrm>
            <a:off x="6400800" y="2468880"/>
            <a:ext cx="2468880" cy="292608"/>
          </a:xfrm>
          <a:prstGeom prst="rect">
            <a:avLst/>
          </a:prstGeom>
          <a:noFill/>
        </p:spPr>
        <p:txBody>
          <a:bodyPr wrap="square" lIns="45720" rIns="45720" tIns="18288" bIns="18288" anchor="ctr">
            <a:spAutoFit/>
          </a:bodyPr>
          <a:lstStyle/>
          <a:p>
            <a:pPr algn="l"/>
            <a:r>
              <a:rPr sz="900" b="0" i="1">
                <a:solidFill>
                  <a:srgbClr val="5D6D7E"/>
                </a:solidFill>
                <a:latin typeface="Calibri"/>
              </a:rPr>
              <a:t>—</a:t>
            </a:r>
          </a:p>
        </p:txBody>
      </p:sp>
      <p:sp>
        <p:nvSpPr>
          <p:cNvPr id="49" name="Rectangle 48"/>
          <p:cNvSpPr/>
          <p:nvPr/>
        </p:nvSpPr>
        <p:spPr>
          <a:xfrm>
            <a:off x="274320" y="2834640"/>
            <a:ext cx="8595360" cy="292608"/>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4320" y="2834640"/>
            <a:ext cx="8595360" cy="292608"/>
          </a:xfrm>
          <a:prstGeom prst="rect">
            <a:avLst/>
          </a:prstGeom>
          <a:noFill/>
        </p:spPr>
        <p:txBody>
          <a:bodyPr wrap="square" lIns="45720" rIns="45720" tIns="18288" bIns="18288" anchor="ctr">
            <a:spAutoFit/>
          </a:bodyPr>
          <a:lstStyle/>
          <a:p>
            <a:pPr algn="l"/>
            <a:r>
              <a:rPr sz="1000" b="1" i="0">
                <a:solidFill>
                  <a:srgbClr val="E08000"/>
                </a:solidFill>
                <a:latin typeface="Calibri"/>
              </a:rPr>
              <a:t>  Lecture : ce qui est nouveau, et ce qui ne l'est pas</a:t>
            </a:r>
          </a:p>
        </p:txBody>
      </p:sp>
      <p:sp>
        <p:nvSpPr>
          <p:cNvPr id="51" name="TextBox 50"/>
          <p:cNvSpPr txBox="1"/>
          <p:nvPr/>
        </p:nvSpPr>
        <p:spPr>
          <a:xfrm>
            <a:off x="320040" y="3200400"/>
            <a:ext cx="8503920" cy="1508760"/>
          </a:xfrm>
          <a:prstGeom prst="rect">
            <a:avLst/>
          </a:prstGeom>
          <a:noFill/>
        </p:spPr>
        <p:txBody>
          <a:bodyPr wrap="square" lIns="45720" rIns="45720" tIns="18288" bIns="18288" anchor="t">
            <a:spAutoFit/>
          </a:bodyPr>
          <a:lstStyle/>
          <a:p>
            <a:pPr algn="l"/>
            <a:r>
              <a:rPr sz="900" b="0" i="0">
                <a:solidFill>
                  <a:srgbClr val="5D6D7E"/>
                </a:solidFill>
                <a:latin typeface="Calibri"/>
              </a:rPr>
              <a:t>• Déjà connu : les changements de distribution ressortent davantage dans les composantes de faible variance d'une PCA (Kuncheva &amp; Faithfull, 2014 ; Qahtan et al., 2015). Ce n'est pas notre revendication.</a:t>
            </a:r>
          </a:p>
          <a:p>
            <a:pPr algn="l"/>
            <a:r>
              <a:rPr sz="900" b="0" i="0">
                <a:solidFill>
                  <a:srgbClr val="5D6D7E"/>
                </a:solidFill>
                <a:latin typeface="Calibri"/>
              </a:rPr>
              <a:t>• Nouveau : une borne de délai dans l'espace latent, qui prolonge le plancher de Sharpe et chiffre ce qu'un espace latent peut gagner.</a:t>
            </a:r>
          </a:p>
          <a:p>
            <a:pPr algn="l"/>
            <a:r>
              <a:rPr sz="900" b="0" i="0">
                <a:solidFill>
                  <a:srgbClr val="5D6D7E"/>
                </a:solidFill>
                <a:latin typeface="Calibri"/>
              </a:rPr>
              <a:t>• Nouveau : une calibration exacte des moniteurs latents, valable quelle que soit la volatilité.</a:t>
            </a:r>
          </a:p>
          <a:p>
            <a:pPr algn="l"/>
            <a:r>
              <a:rPr sz="900" b="0" i="0">
                <a:solidFill>
                  <a:srgbClr val="5D6D7E"/>
                </a:solidFill>
                <a:latin typeface="Calibri"/>
              </a:rPr>
              <a:t>• Nouveau : une représentation apprise jugée contre ces références, à dimension et à fausses alarmes égales.</a:t>
            </a:r>
          </a:p>
          <a:p>
            <a:pPr algn="l"/>
            <a:r>
              <a:rPr sz="900" b="1" i="0">
                <a:solidFill>
                  <a:srgbClr val="27AE60"/>
                </a:solidFill>
                <a:latin typeface="Calibri"/>
              </a:rPr>
              <a:t>• ★ Au-delà de la finance : toute surveillance de capteurs corrélés (fraude, réseaux, industrie) bute sur le même mur.</a:t>
            </a:r>
          </a:p>
        </p:txBody>
      </p:sp>
      <p:sp>
        <p:nvSpPr>
          <p:cNvPr id="52" name="TextBox 51"/>
          <p:cNvSpPr txBox="1"/>
          <p:nvPr/>
        </p:nvSpPr>
        <p:spPr>
          <a:xfrm>
            <a:off x="457200" y="4901184"/>
            <a:ext cx="7315200" cy="237744"/>
          </a:xfrm>
          <a:prstGeom prst="rect">
            <a:avLst/>
          </a:prstGeom>
          <a:noFill/>
        </p:spPr>
        <p:txBody>
          <a:bodyPr wrap="square" lIns="45720" rIns="45720" tIns="18288" bIns="18288" anchor="t">
            <a:spAutoFit/>
          </a:bodyPr>
          <a:lstStyle/>
          <a:p>
            <a:pPr algn="l"/>
            <a:r>
              <a:rPr sz="800" b="0" i="0">
                <a:solidFill>
                  <a:srgbClr val="8A9BB0"/>
                </a:solidFill>
                <a:latin typeface="Calibri"/>
              </a:rPr>
              <a:t>Kelly et al. (2019) · Gu et al. (2021) · Alouadi &amp; Lehalle (2026) · Thimonier et al. (2025) · Kuncheva &amp; Faithfull (2014) · Qahtan et al. (2015)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Les grandes étapes</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7</a:t>
            </a:r>
          </a:p>
        </p:txBody>
      </p:sp>
      <p:sp>
        <p:nvSpPr>
          <p:cNvPr id="5" name="Rectangle 4"/>
          <p:cNvSpPr/>
          <p:nvPr/>
        </p:nvSpPr>
        <p:spPr>
          <a:xfrm>
            <a:off x="8138160" y="64008"/>
            <a:ext cx="868680" cy="246888"/>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38160" y="64008"/>
            <a:ext cx="868680" cy="246888"/>
          </a:xfrm>
          <a:prstGeom prst="rect">
            <a:avLst/>
          </a:prstGeom>
          <a:noFill/>
        </p:spPr>
        <p:txBody>
          <a:bodyPr wrap="square" lIns="45720" rIns="45720" tIns="18288" bIns="18288" anchor="ctr">
            <a:spAutoFit/>
          </a:bodyPr>
          <a:lstStyle/>
          <a:p>
            <a:pPr algn="ctr"/>
            <a:r>
              <a:rPr sz="800" b="1" i="0">
                <a:solidFill>
                  <a:srgbClr val="FFFFFF"/>
                </a:solidFill>
                <a:latin typeface="Calibri"/>
              </a:rPr>
              <a:t>ÉTAPES</a:t>
            </a:r>
          </a:p>
        </p:txBody>
      </p:sp>
      <p:sp>
        <p:nvSpPr>
          <p:cNvPr id="7" name="Rectangle 6"/>
          <p:cNvSpPr/>
          <p:nvPr/>
        </p:nvSpPr>
        <p:spPr>
          <a:xfrm>
            <a:off x="365760" y="731520"/>
            <a:ext cx="54864" cy="41148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731520"/>
            <a:ext cx="8321040" cy="411480"/>
          </a:xfrm>
          <a:prstGeom prst="rect">
            <a:avLst/>
          </a:prstGeom>
          <a:noFill/>
        </p:spPr>
        <p:txBody>
          <a:bodyPr wrap="square" lIns="45720" rIns="45720" tIns="18288" bIns="18288" anchor="ctr">
            <a:spAutoFit/>
          </a:bodyPr>
          <a:lstStyle/>
          <a:p>
            <a:pPr algn="l"/>
            <a:r>
              <a:rPr sz="1000" b="1" i="0">
                <a:solidFill>
                  <a:srgbClr val="2980B9"/>
                </a:solidFill>
                <a:latin typeface="Calibri"/>
              </a:rPr>
              <a:t>Étape 1  </a:t>
            </a:r>
            <a:r>
              <a:rPr sz="900" b="0" i="0">
                <a:solidFill>
                  <a:srgbClr val="2C3E50"/>
                </a:solidFill>
                <a:latin typeface="Calibri"/>
              </a:rPr>
              <a:t>(Théorie)  — </a:t>
            </a:r>
            <a:r>
              <a:rPr sz="900" b="0" i="0">
                <a:solidFill>
                  <a:srgbClr val="5D6D7E"/>
                </a:solidFill>
                <a:latin typeface="Calibri"/>
              </a:rPr>
              <a:t>Borne de délai dans l'espace latent, concentration de l'information, taxe dimensionnelle.</a:t>
            </a:r>
          </a:p>
        </p:txBody>
      </p:sp>
      <p:sp>
        <p:nvSpPr>
          <p:cNvPr id="9" name="Rectangle 8"/>
          <p:cNvSpPr/>
          <p:nvPr/>
        </p:nvSpPr>
        <p:spPr>
          <a:xfrm>
            <a:off x="365760" y="1261872"/>
            <a:ext cx="54864" cy="41148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261872"/>
            <a:ext cx="8321040" cy="411480"/>
          </a:xfrm>
          <a:prstGeom prst="rect">
            <a:avLst/>
          </a:prstGeom>
          <a:noFill/>
        </p:spPr>
        <p:txBody>
          <a:bodyPr wrap="square" lIns="45720" rIns="45720" tIns="18288" bIns="18288" anchor="ctr">
            <a:spAutoFit/>
          </a:bodyPr>
          <a:lstStyle/>
          <a:p>
            <a:pPr algn="l"/>
            <a:r>
              <a:rPr sz="1000" b="1" i="0">
                <a:solidFill>
                  <a:srgbClr val="2980B9"/>
                </a:solidFill>
                <a:latin typeface="Calibri"/>
              </a:rPr>
              <a:t>Étape 2  </a:t>
            </a:r>
            <a:r>
              <a:rPr sz="900" b="0" i="0">
                <a:solidFill>
                  <a:srgbClr val="2C3E50"/>
                </a:solidFill>
                <a:latin typeface="Calibri"/>
              </a:rPr>
              <a:t>(Audit des données)  — </a:t>
            </a:r>
            <a:r>
              <a:rPr sz="900" b="0" i="0">
                <a:solidFill>
                  <a:srgbClr val="5D6D7E"/>
                </a:solidFill>
                <a:latin typeface="Calibri"/>
              </a:rPr>
              <a:t>Vérifier que l'information de dérive existe dans les panels financiers réels, et où elle se loge.</a:t>
            </a:r>
          </a:p>
        </p:txBody>
      </p:sp>
      <p:sp>
        <p:nvSpPr>
          <p:cNvPr id="11" name="Rectangle 10"/>
          <p:cNvSpPr/>
          <p:nvPr/>
        </p:nvSpPr>
        <p:spPr>
          <a:xfrm>
            <a:off x="365760" y="1792224"/>
            <a:ext cx="54864" cy="41148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792224"/>
            <a:ext cx="8321040" cy="411480"/>
          </a:xfrm>
          <a:prstGeom prst="rect">
            <a:avLst/>
          </a:prstGeom>
          <a:noFill/>
        </p:spPr>
        <p:txBody>
          <a:bodyPr wrap="square" lIns="45720" rIns="45720" tIns="18288" bIns="18288" anchor="ctr">
            <a:spAutoFit/>
          </a:bodyPr>
          <a:lstStyle/>
          <a:p>
            <a:pPr algn="l"/>
            <a:r>
              <a:rPr sz="1000" b="1" i="0">
                <a:solidFill>
                  <a:srgbClr val="2980B9"/>
                </a:solidFill>
                <a:latin typeface="Calibri"/>
              </a:rPr>
              <a:t>Étape 3  </a:t>
            </a:r>
            <a:r>
              <a:rPr sz="900" b="0" i="0">
                <a:solidFill>
                  <a:srgbClr val="2C3E50"/>
                </a:solidFill>
                <a:latin typeface="Calibri"/>
              </a:rPr>
              <a:t>(Pile de surveillance)  — </a:t>
            </a:r>
            <a:r>
              <a:rPr sz="900" b="0" i="0">
                <a:solidFill>
                  <a:srgbClr val="5D6D7E"/>
                </a:solidFill>
                <a:latin typeface="Calibri"/>
              </a:rPr>
              <a:t>Moniteurs séquentiels à calibration exacte, quelle que soit la volatilité.</a:t>
            </a:r>
          </a:p>
        </p:txBody>
      </p:sp>
      <p:sp>
        <p:nvSpPr>
          <p:cNvPr id="13" name="Rectangle 12"/>
          <p:cNvSpPr/>
          <p:nvPr/>
        </p:nvSpPr>
        <p:spPr>
          <a:xfrm>
            <a:off x="365760" y="2322576"/>
            <a:ext cx="54864" cy="41148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322576"/>
            <a:ext cx="8321040" cy="411480"/>
          </a:xfrm>
          <a:prstGeom prst="rect">
            <a:avLst/>
          </a:prstGeom>
          <a:noFill/>
        </p:spPr>
        <p:txBody>
          <a:bodyPr wrap="square" lIns="45720" rIns="45720" tIns="18288" bIns="18288" anchor="ctr">
            <a:spAutoFit/>
          </a:bodyPr>
          <a:lstStyle/>
          <a:p>
            <a:pPr algn="l"/>
            <a:r>
              <a:rPr sz="1000" b="1" i="0">
                <a:solidFill>
                  <a:srgbClr val="2980B9"/>
                </a:solidFill>
                <a:latin typeface="Calibri"/>
              </a:rPr>
              <a:t>Étape 4  </a:t>
            </a:r>
            <a:r>
              <a:rPr sz="900" b="0" i="0">
                <a:solidFill>
                  <a:srgbClr val="2C3E50"/>
                </a:solidFill>
                <a:latin typeface="Calibri"/>
              </a:rPr>
              <a:t>(Référence linéaire)  — </a:t>
            </a:r>
            <a:r>
              <a:rPr sz="900" b="0" i="0">
                <a:solidFill>
                  <a:srgbClr val="5D6D7E"/>
                </a:solidFill>
                <a:latin typeface="Calibri"/>
              </a:rPr>
              <a:t>Benchmark PCA-orthogonal sur bruit de fond réel.</a:t>
            </a:r>
          </a:p>
        </p:txBody>
      </p:sp>
      <p:sp>
        <p:nvSpPr>
          <p:cNvPr id="15" name="Rectangle 14"/>
          <p:cNvSpPr/>
          <p:nvPr/>
        </p:nvSpPr>
        <p:spPr>
          <a:xfrm>
            <a:off x="365760" y="2852928"/>
            <a:ext cx="54864" cy="41148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852928"/>
            <a:ext cx="8321040" cy="411480"/>
          </a:xfrm>
          <a:prstGeom prst="rect">
            <a:avLst/>
          </a:prstGeom>
          <a:noFill/>
        </p:spPr>
        <p:txBody>
          <a:bodyPr wrap="square" lIns="45720" rIns="45720" tIns="18288" bIns="18288" anchor="ctr">
            <a:spAutoFit/>
          </a:bodyPr>
          <a:lstStyle/>
          <a:p>
            <a:pPr algn="l"/>
            <a:r>
              <a:rPr sz="1000" b="1" i="0">
                <a:solidFill>
                  <a:srgbClr val="2980B9"/>
                </a:solidFill>
                <a:latin typeface="Calibri"/>
              </a:rPr>
              <a:t>Étape 5  </a:t>
            </a:r>
            <a:r>
              <a:rPr sz="900" b="0" i="0">
                <a:solidFill>
                  <a:srgbClr val="2C3E50"/>
                </a:solidFill>
                <a:latin typeface="Calibri"/>
              </a:rPr>
              <a:t>(Représentations JEPA)  — </a:t>
            </a:r>
            <a:r>
              <a:rPr sz="900" b="0" i="0">
                <a:solidFill>
                  <a:srgbClr val="5D6D7E"/>
                </a:solidFill>
                <a:latin typeface="Calibri"/>
              </a:rPr>
              <a:t>Pré-entraînement et contrôle de la qualité de l'espace latent.</a:t>
            </a:r>
          </a:p>
        </p:txBody>
      </p:sp>
      <p:sp>
        <p:nvSpPr>
          <p:cNvPr id="17" name="Rectangle 16"/>
          <p:cNvSpPr/>
          <p:nvPr/>
        </p:nvSpPr>
        <p:spPr>
          <a:xfrm>
            <a:off x="365760" y="3383280"/>
            <a:ext cx="54864" cy="41148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383280"/>
            <a:ext cx="8321040" cy="411480"/>
          </a:xfrm>
          <a:prstGeom prst="rect">
            <a:avLst/>
          </a:prstGeom>
          <a:noFill/>
        </p:spPr>
        <p:txBody>
          <a:bodyPr wrap="square" lIns="45720" rIns="45720" tIns="18288" bIns="18288" anchor="ctr">
            <a:spAutoFit/>
          </a:bodyPr>
          <a:lstStyle/>
          <a:p>
            <a:pPr algn="l"/>
            <a:r>
              <a:rPr sz="1000" b="1" i="0">
                <a:solidFill>
                  <a:srgbClr val="2980B9"/>
                </a:solidFill>
                <a:latin typeface="Calibri"/>
              </a:rPr>
              <a:t>Étape 6  </a:t>
            </a:r>
            <a:r>
              <a:rPr sz="900" b="0" i="0">
                <a:solidFill>
                  <a:srgbClr val="2C3E50"/>
                </a:solidFill>
                <a:latin typeface="Calibri"/>
              </a:rPr>
              <a:t>(Confrontation)  — </a:t>
            </a:r>
            <a:r>
              <a:rPr sz="900" b="0" i="0">
                <a:solidFill>
                  <a:srgbClr val="5D6D7E"/>
                </a:solidFill>
                <a:latin typeface="Calibri"/>
              </a:rPr>
              <a:t>JEPA contre PCA-orthogonal, sur données réelles et semi-synthétiques.</a:t>
            </a:r>
          </a:p>
        </p:txBody>
      </p:sp>
      <p:sp>
        <p:nvSpPr>
          <p:cNvPr id="19" name="Rectangle 18"/>
          <p:cNvSpPr/>
          <p:nvPr/>
        </p:nvSpPr>
        <p:spPr>
          <a:xfrm>
            <a:off x="365760" y="3913631"/>
            <a:ext cx="54864" cy="41148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913631"/>
            <a:ext cx="8321040" cy="411480"/>
          </a:xfrm>
          <a:prstGeom prst="rect">
            <a:avLst/>
          </a:prstGeom>
          <a:noFill/>
        </p:spPr>
        <p:txBody>
          <a:bodyPr wrap="square" lIns="45720" rIns="45720" tIns="18288" bIns="18288" anchor="ctr">
            <a:spAutoFit/>
          </a:bodyPr>
          <a:lstStyle/>
          <a:p>
            <a:pPr algn="l"/>
            <a:r>
              <a:rPr sz="1000" b="1" i="0">
                <a:solidFill>
                  <a:srgbClr val="2980B9"/>
                </a:solidFill>
                <a:latin typeface="Calibri"/>
              </a:rPr>
              <a:t>Étape 7  </a:t>
            </a:r>
            <a:r>
              <a:rPr sz="900" b="0" i="0">
                <a:solidFill>
                  <a:srgbClr val="2C3E50"/>
                </a:solidFill>
                <a:latin typeface="Calibri"/>
              </a:rPr>
              <a:t>(Second domaine et rédaction)  — </a:t>
            </a:r>
            <a:r>
              <a:rPr sz="900" b="0" i="0">
                <a:solidFill>
                  <a:srgbClr val="5D6D7E"/>
                </a:solidFill>
                <a:latin typeface="Calibri"/>
              </a:rPr>
              <a:t>Validation sur la fraude bancaire, puis rédaction.</a:t>
            </a:r>
          </a:p>
        </p:txBody>
      </p:sp>
      <p:sp>
        <p:nvSpPr>
          <p:cNvPr id="21" name="Rectangle 20"/>
          <p:cNvSpPr/>
          <p:nvPr/>
        </p:nvSpPr>
        <p:spPr>
          <a:xfrm>
            <a:off x="274320" y="4434840"/>
            <a:ext cx="8595360" cy="292608"/>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4434840"/>
            <a:ext cx="8503920" cy="292608"/>
          </a:xfrm>
          <a:prstGeom prst="rect">
            <a:avLst/>
          </a:prstGeom>
          <a:noFill/>
        </p:spPr>
        <p:txBody>
          <a:bodyPr wrap="square" lIns="45720" rIns="45720" tIns="18288" bIns="18288" anchor="ctr">
            <a:spAutoFit/>
          </a:bodyPr>
          <a:lstStyle/>
          <a:p>
            <a:pPr algn="l"/>
            <a:r>
              <a:rPr sz="1000" b="1" i="0">
                <a:solidFill>
                  <a:srgbClr val="E08000"/>
                </a:solidFill>
                <a:latin typeface="Calibri"/>
              </a:rPr>
              <a:t>★ Sans moniteurs calibrés, aucun gain d'espace latent ne se mesure : la surveillance passe avant JEPA.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Données et protocole de dérive</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8</a:t>
            </a:r>
          </a:p>
        </p:txBody>
      </p:sp>
      <p:sp>
        <p:nvSpPr>
          <p:cNvPr id="5" name="Rectangle 4"/>
          <p:cNvSpPr/>
          <p:nvPr/>
        </p:nvSpPr>
        <p:spPr>
          <a:xfrm>
            <a:off x="8138160" y="64008"/>
            <a:ext cx="1005840" cy="24688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38160" y="64008"/>
            <a:ext cx="1005840" cy="246888"/>
          </a:xfrm>
          <a:prstGeom prst="rect">
            <a:avLst/>
          </a:prstGeom>
          <a:noFill/>
        </p:spPr>
        <p:txBody>
          <a:bodyPr wrap="square" lIns="45720" rIns="45720" tIns="18288" bIns="18288" anchor="ctr">
            <a:spAutoFit/>
          </a:bodyPr>
          <a:lstStyle/>
          <a:p>
            <a:pPr algn="ctr"/>
            <a:r>
              <a:rPr sz="800" b="1" i="0">
                <a:solidFill>
                  <a:srgbClr val="FFFFFF"/>
                </a:solidFill>
                <a:latin typeface="Calibri"/>
              </a:rPr>
              <a:t>PROTOCOLE</a:t>
            </a:r>
          </a:p>
        </p:txBody>
      </p:sp>
      <p:sp>
        <p:nvSpPr>
          <p:cNvPr id="7" name="Rectangle 6"/>
          <p:cNvSpPr/>
          <p:nvPr/>
        </p:nvSpPr>
        <p:spPr>
          <a:xfrm>
            <a:off x="274320" y="685800"/>
            <a:ext cx="8595360" cy="32004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85800"/>
            <a:ext cx="2011680" cy="320040"/>
          </a:xfrm>
          <a:prstGeom prst="rect">
            <a:avLst/>
          </a:prstGeom>
          <a:noFill/>
        </p:spPr>
        <p:txBody>
          <a:bodyPr wrap="square" lIns="45720" rIns="45720" tIns="18288" bIns="18288" anchor="ctr">
            <a:spAutoFit/>
          </a:bodyPr>
          <a:lstStyle/>
          <a:p>
            <a:pPr algn="ctr"/>
            <a:r>
              <a:rPr sz="1000" b="1" i="0">
                <a:solidFill>
                  <a:srgbClr val="FFFFFF"/>
                </a:solidFill>
                <a:latin typeface="Calibri"/>
              </a:rPr>
              <a:t>Jeu de données</a:t>
            </a:r>
          </a:p>
        </p:txBody>
      </p:sp>
      <p:sp>
        <p:nvSpPr>
          <p:cNvPr id="9" name="TextBox 8"/>
          <p:cNvSpPr txBox="1"/>
          <p:nvPr/>
        </p:nvSpPr>
        <p:spPr>
          <a:xfrm>
            <a:off x="2286000" y="685800"/>
            <a:ext cx="1280160" cy="320040"/>
          </a:xfrm>
          <a:prstGeom prst="rect">
            <a:avLst/>
          </a:prstGeom>
          <a:noFill/>
        </p:spPr>
        <p:txBody>
          <a:bodyPr wrap="square" lIns="45720" rIns="45720" tIns="18288" bIns="18288" anchor="ctr">
            <a:spAutoFit/>
          </a:bodyPr>
          <a:lstStyle/>
          <a:p>
            <a:pPr algn="ctr"/>
            <a:r>
              <a:rPr sz="1000" b="1" i="0">
                <a:solidFill>
                  <a:srgbClr val="FFFFFF"/>
                </a:solidFill>
                <a:latin typeface="Calibri"/>
              </a:rPr>
              <a:t>Domaine</a:t>
            </a:r>
          </a:p>
        </p:txBody>
      </p:sp>
      <p:sp>
        <p:nvSpPr>
          <p:cNvPr id="10" name="TextBox 9"/>
          <p:cNvSpPr txBox="1"/>
          <p:nvPr/>
        </p:nvSpPr>
        <p:spPr>
          <a:xfrm>
            <a:off x="3566160" y="685800"/>
            <a:ext cx="1417320" cy="320040"/>
          </a:xfrm>
          <a:prstGeom prst="rect">
            <a:avLst/>
          </a:prstGeom>
          <a:noFill/>
        </p:spPr>
        <p:txBody>
          <a:bodyPr wrap="square" lIns="45720" rIns="45720" tIns="18288" bIns="18288" anchor="ctr">
            <a:spAutoFit/>
          </a:bodyPr>
          <a:lstStyle/>
          <a:p>
            <a:pPr algn="ctr"/>
            <a:r>
              <a:rPr sz="1000" b="1" i="0">
                <a:solidFill>
                  <a:srgbClr val="FFFFFF"/>
                </a:solidFill>
                <a:latin typeface="Calibri"/>
              </a:rPr>
              <a:t>Taille</a:t>
            </a:r>
          </a:p>
        </p:txBody>
      </p:sp>
      <p:sp>
        <p:nvSpPr>
          <p:cNvPr id="11" name="TextBox 10"/>
          <p:cNvSpPr txBox="1"/>
          <p:nvPr/>
        </p:nvSpPr>
        <p:spPr>
          <a:xfrm>
            <a:off x="4983480" y="685800"/>
            <a:ext cx="1417320" cy="320040"/>
          </a:xfrm>
          <a:prstGeom prst="rect">
            <a:avLst/>
          </a:prstGeom>
          <a:noFill/>
        </p:spPr>
        <p:txBody>
          <a:bodyPr wrap="square" lIns="45720" rIns="45720" tIns="18288" bIns="18288" anchor="ctr">
            <a:spAutoFit/>
          </a:bodyPr>
          <a:lstStyle/>
          <a:p>
            <a:pPr algn="ctr"/>
            <a:r>
              <a:rPr sz="1000" b="1" i="0">
                <a:solidFill>
                  <a:srgbClr val="FFFFFF"/>
                </a:solidFill>
                <a:latin typeface="Calibri"/>
              </a:rPr>
              <a:t>Dérives</a:t>
            </a:r>
          </a:p>
        </p:txBody>
      </p:sp>
      <p:sp>
        <p:nvSpPr>
          <p:cNvPr id="12" name="TextBox 11"/>
          <p:cNvSpPr txBox="1"/>
          <p:nvPr/>
        </p:nvSpPr>
        <p:spPr>
          <a:xfrm>
            <a:off x="6400800" y="685800"/>
            <a:ext cx="2468880" cy="320040"/>
          </a:xfrm>
          <a:prstGeom prst="rect">
            <a:avLst/>
          </a:prstGeom>
          <a:noFill/>
        </p:spPr>
        <p:txBody>
          <a:bodyPr wrap="square" lIns="45720" rIns="45720" tIns="18288" bIns="18288" anchor="ctr">
            <a:spAutoFit/>
          </a:bodyPr>
          <a:lstStyle/>
          <a:p>
            <a:pPr algn="ctr"/>
            <a:r>
              <a:rPr sz="1000" b="1" i="0">
                <a:solidFill>
                  <a:srgbClr val="FFFFFF"/>
                </a:solidFill>
                <a:latin typeface="Calibri"/>
              </a:rPr>
              <a:t>Rôle</a:t>
            </a:r>
          </a:p>
        </p:txBody>
      </p:sp>
      <p:sp>
        <p:nvSpPr>
          <p:cNvPr id="13" name="Rectangle 12"/>
          <p:cNvSpPr/>
          <p:nvPr/>
        </p:nvSpPr>
        <p:spPr>
          <a:xfrm>
            <a:off x="274320" y="1005840"/>
            <a:ext cx="8595360" cy="292608"/>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1005840"/>
            <a:ext cx="2011680" cy="292608"/>
          </a:xfrm>
          <a:prstGeom prst="rect">
            <a:avLst/>
          </a:prstGeom>
          <a:noFill/>
        </p:spPr>
        <p:txBody>
          <a:bodyPr wrap="square" lIns="45720" rIns="45720" tIns="18288" bIns="18288" anchor="ctr">
            <a:spAutoFit/>
          </a:bodyPr>
          <a:lstStyle/>
          <a:p>
            <a:pPr algn="l"/>
            <a:r>
              <a:rPr sz="900" b="1" i="0">
                <a:solidFill>
                  <a:srgbClr val="2980B9"/>
                </a:solidFill>
                <a:latin typeface="Calibri"/>
              </a:rPr>
              <a:t>Simulations</a:t>
            </a:r>
          </a:p>
        </p:txBody>
      </p:sp>
      <p:sp>
        <p:nvSpPr>
          <p:cNvPr id="15" name="TextBox 14"/>
          <p:cNvSpPr txBox="1"/>
          <p:nvPr/>
        </p:nvSpPr>
        <p:spPr>
          <a:xfrm>
            <a:off x="2286000" y="1005840"/>
            <a:ext cx="128016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Contrôle</a:t>
            </a:r>
          </a:p>
        </p:txBody>
      </p:sp>
      <p:sp>
        <p:nvSpPr>
          <p:cNvPr id="16" name="TextBox 15"/>
          <p:cNvSpPr txBox="1"/>
          <p:nvPr/>
        </p:nvSpPr>
        <p:spPr>
          <a:xfrm>
            <a:off x="3566160" y="1005840"/>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Illimitée</a:t>
            </a:r>
          </a:p>
        </p:txBody>
      </p:sp>
      <p:sp>
        <p:nvSpPr>
          <p:cNvPr id="17" name="TextBox 16"/>
          <p:cNvSpPr txBox="1"/>
          <p:nvPr/>
        </p:nvSpPr>
        <p:spPr>
          <a:xfrm>
            <a:off x="4983480" y="1005840"/>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Injectées</a:t>
            </a:r>
          </a:p>
        </p:txBody>
      </p:sp>
      <p:sp>
        <p:nvSpPr>
          <p:cNvPr id="18" name="TextBox 17"/>
          <p:cNvSpPr txBox="1"/>
          <p:nvPr/>
        </p:nvSpPr>
        <p:spPr>
          <a:xfrm>
            <a:off x="6400800" y="1005840"/>
            <a:ext cx="2468880" cy="292608"/>
          </a:xfrm>
          <a:prstGeom prst="rect">
            <a:avLst/>
          </a:prstGeom>
          <a:noFill/>
        </p:spPr>
        <p:txBody>
          <a:bodyPr wrap="square" lIns="45720" rIns="45720" tIns="18288" bIns="18288" anchor="ctr">
            <a:spAutoFit/>
          </a:bodyPr>
          <a:lstStyle/>
          <a:p>
            <a:pPr algn="l"/>
            <a:r>
              <a:rPr sz="900" b="0" i="1">
                <a:solidFill>
                  <a:srgbClr val="5D6D7E"/>
                </a:solidFill>
                <a:latin typeface="Calibri"/>
              </a:rPr>
              <a:t>Vérifier les bornes</a:t>
            </a:r>
          </a:p>
        </p:txBody>
      </p:sp>
      <p:sp>
        <p:nvSpPr>
          <p:cNvPr id="19" name="Rectangle 18"/>
          <p:cNvSpPr/>
          <p:nvPr/>
        </p:nvSpPr>
        <p:spPr>
          <a:xfrm>
            <a:off x="274320" y="1298448"/>
            <a:ext cx="8595360" cy="292608"/>
          </a:xfrm>
          <a:prstGeom prst="rect">
            <a:avLst/>
          </a:prstGeom>
          <a:solidFill>
            <a:srgbClr val="E8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1298448"/>
            <a:ext cx="2011680" cy="292608"/>
          </a:xfrm>
          <a:prstGeom prst="rect">
            <a:avLst/>
          </a:prstGeom>
          <a:noFill/>
        </p:spPr>
        <p:txBody>
          <a:bodyPr wrap="square" lIns="45720" rIns="45720" tIns="18288" bIns="18288" anchor="ctr">
            <a:spAutoFit/>
          </a:bodyPr>
          <a:lstStyle/>
          <a:p>
            <a:pPr algn="l"/>
            <a:r>
              <a:rPr sz="900" b="1" i="0">
                <a:solidFill>
                  <a:srgbClr val="27AE60"/>
                </a:solidFill>
                <a:latin typeface="Calibri"/>
              </a:rPr>
              <a:t>S&amp;P 500</a:t>
            </a:r>
          </a:p>
        </p:txBody>
      </p:sp>
      <p:sp>
        <p:nvSpPr>
          <p:cNvPr id="21" name="TextBox 20"/>
          <p:cNvSpPr txBox="1"/>
          <p:nvPr/>
        </p:nvSpPr>
        <p:spPr>
          <a:xfrm>
            <a:off x="2286000" y="1298448"/>
            <a:ext cx="128016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Actions US</a:t>
            </a:r>
          </a:p>
        </p:txBody>
      </p:sp>
      <p:sp>
        <p:nvSpPr>
          <p:cNvPr id="22" name="TextBox 21"/>
          <p:cNvSpPr txBox="1"/>
          <p:nvPr/>
        </p:nvSpPr>
        <p:spPr>
          <a:xfrm>
            <a:off x="3566160" y="1298448"/>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239–500 titres</a:t>
            </a:r>
          </a:p>
        </p:txBody>
      </p:sp>
      <p:sp>
        <p:nvSpPr>
          <p:cNvPr id="23" name="TextBox 22"/>
          <p:cNvSpPr txBox="1"/>
          <p:nvPr/>
        </p:nvSpPr>
        <p:spPr>
          <a:xfrm>
            <a:off x="4983480" y="1298448"/>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Réelles + injectées</a:t>
            </a:r>
          </a:p>
        </p:txBody>
      </p:sp>
      <p:sp>
        <p:nvSpPr>
          <p:cNvPr id="24" name="TextBox 23"/>
          <p:cNvSpPr txBox="1"/>
          <p:nvPr/>
        </p:nvSpPr>
        <p:spPr>
          <a:xfrm>
            <a:off x="6400800" y="1298448"/>
            <a:ext cx="2468880" cy="292608"/>
          </a:xfrm>
          <a:prstGeom prst="rect">
            <a:avLst/>
          </a:prstGeom>
          <a:noFill/>
        </p:spPr>
        <p:txBody>
          <a:bodyPr wrap="square" lIns="45720" rIns="45720" tIns="18288" bIns="18288" anchor="ctr">
            <a:spAutoFit/>
          </a:bodyPr>
          <a:lstStyle/>
          <a:p>
            <a:pPr algn="l"/>
            <a:r>
              <a:rPr sz="900" b="0" i="1">
                <a:solidFill>
                  <a:srgbClr val="5D6D7E"/>
                </a:solidFill>
                <a:latin typeface="Calibri"/>
              </a:rPr>
              <a:t>Domaine principal</a:t>
            </a:r>
          </a:p>
        </p:txBody>
      </p:sp>
      <p:sp>
        <p:nvSpPr>
          <p:cNvPr id="25" name="Rectangle 24"/>
          <p:cNvSpPr/>
          <p:nvPr/>
        </p:nvSpPr>
        <p:spPr>
          <a:xfrm>
            <a:off x="274320" y="1591056"/>
            <a:ext cx="8595360" cy="292608"/>
          </a:xfrm>
          <a:prstGeom prst="rect">
            <a:avLst/>
          </a:prstGeom>
          <a:solidFill>
            <a:srgbClr val="E8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 y="1591056"/>
            <a:ext cx="2011680" cy="292608"/>
          </a:xfrm>
          <a:prstGeom prst="rect">
            <a:avLst/>
          </a:prstGeom>
          <a:noFill/>
        </p:spPr>
        <p:txBody>
          <a:bodyPr wrap="square" lIns="45720" rIns="45720" tIns="18288" bIns="18288" anchor="ctr">
            <a:spAutoFit/>
          </a:bodyPr>
          <a:lstStyle/>
          <a:p>
            <a:pPr algn="l"/>
            <a:r>
              <a:rPr sz="900" b="1" i="0">
                <a:solidFill>
                  <a:srgbClr val="27AE60"/>
                </a:solidFill>
                <a:latin typeface="Calibri"/>
              </a:rPr>
              <a:t>EUROFIDAI</a:t>
            </a:r>
          </a:p>
        </p:txBody>
      </p:sp>
      <p:sp>
        <p:nvSpPr>
          <p:cNvPr id="27" name="TextBox 26"/>
          <p:cNvSpPr txBox="1"/>
          <p:nvPr/>
        </p:nvSpPr>
        <p:spPr>
          <a:xfrm>
            <a:off x="2286000" y="1591056"/>
            <a:ext cx="128016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Actions Europe</a:t>
            </a:r>
          </a:p>
        </p:txBody>
      </p:sp>
      <p:sp>
        <p:nvSpPr>
          <p:cNvPr id="28" name="TextBox 27"/>
          <p:cNvSpPr txBox="1"/>
          <p:nvPr/>
        </p:nvSpPr>
        <p:spPr>
          <a:xfrm>
            <a:off x="3566160" y="1591056"/>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Panel N × T</a:t>
            </a:r>
          </a:p>
        </p:txBody>
      </p:sp>
      <p:sp>
        <p:nvSpPr>
          <p:cNvPr id="29" name="TextBox 28"/>
          <p:cNvSpPr txBox="1"/>
          <p:nvPr/>
        </p:nvSpPr>
        <p:spPr>
          <a:xfrm>
            <a:off x="4983480" y="1591056"/>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Réelles + injectées</a:t>
            </a:r>
          </a:p>
        </p:txBody>
      </p:sp>
      <p:sp>
        <p:nvSpPr>
          <p:cNvPr id="30" name="TextBox 29"/>
          <p:cNvSpPr txBox="1"/>
          <p:nvPr/>
        </p:nvSpPr>
        <p:spPr>
          <a:xfrm>
            <a:off x="6400800" y="1591056"/>
            <a:ext cx="2468880" cy="292608"/>
          </a:xfrm>
          <a:prstGeom prst="rect">
            <a:avLst/>
          </a:prstGeom>
          <a:noFill/>
        </p:spPr>
        <p:txBody>
          <a:bodyPr wrap="square" lIns="45720" rIns="45720" tIns="18288" bIns="18288" anchor="ctr">
            <a:spAutoFit/>
          </a:bodyPr>
          <a:lstStyle/>
          <a:p>
            <a:pPr algn="l"/>
            <a:r>
              <a:rPr sz="900" b="0" i="1">
                <a:solidFill>
                  <a:srgbClr val="5D6D7E"/>
                </a:solidFill>
                <a:latin typeface="Calibri"/>
              </a:rPr>
              <a:t>Grands N, sans survivants</a:t>
            </a:r>
          </a:p>
        </p:txBody>
      </p:sp>
      <p:sp>
        <p:nvSpPr>
          <p:cNvPr id="31" name="Rectangle 30"/>
          <p:cNvSpPr/>
          <p:nvPr/>
        </p:nvSpPr>
        <p:spPr>
          <a:xfrm>
            <a:off x="274320" y="1883664"/>
            <a:ext cx="8595360" cy="292608"/>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 y="1883664"/>
            <a:ext cx="2011680" cy="292608"/>
          </a:xfrm>
          <a:prstGeom prst="rect">
            <a:avLst/>
          </a:prstGeom>
          <a:noFill/>
        </p:spPr>
        <p:txBody>
          <a:bodyPr wrap="square" lIns="45720" rIns="45720" tIns="18288" bIns="18288" anchor="ctr">
            <a:spAutoFit/>
          </a:bodyPr>
          <a:lstStyle/>
          <a:p>
            <a:pPr algn="l"/>
            <a:r>
              <a:rPr sz="900" b="1" i="0">
                <a:solidFill>
                  <a:srgbClr val="2980B9"/>
                </a:solidFill>
                <a:latin typeface="Calibri"/>
              </a:rPr>
              <a:t>BAF (fraude)</a:t>
            </a:r>
          </a:p>
        </p:txBody>
      </p:sp>
      <p:sp>
        <p:nvSpPr>
          <p:cNvPr id="33" name="TextBox 32"/>
          <p:cNvSpPr txBox="1"/>
          <p:nvPr/>
        </p:nvSpPr>
        <p:spPr>
          <a:xfrm>
            <a:off x="2286000" y="1883664"/>
            <a:ext cx="128016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Comptes bancaires</a:t>
            </a:r>
          </a:p>
        </p:txBody>
      </p:sp>
      <p:sp>
        <p:nvSpPr>
          <p:cNvPr id="34" name="TextBox 33"/>
          <p:cNvSpPr txBox="1"/>
          <p:nvPr/>
        </p:nvSpPr>
        <p:spPr>
          <a:xfrm>
            <a:off x="3566160" y="1883664"/>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 1 M demandes</a:t>
            </a:r>
          </a:p>
        </p:txBody>
      </p:sp>
      <p:sp>
        <p:nvSpPr>
          <p:cNvPr id="35" name="TextBox 34"/>
          <p:cNvSpPr txBox="1"/>
          <p:nvPr/>
        </p:nvSpPr>
        <p:spPr>
          <a:xfrm>
            <a:off x="4983480" y="1883664"/>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Mensuelles</a:t>
            </a:r>
          </a:p>
        </p:txBody>
      </p:sp>
      <p:sp>
        <p:nvSpPr>
          <p:cNvPr id="36" name="TextBox 35"/>
          <p:cNvSpPr txBox="1"/>
          <p:nvPr/>
        </p:nvSpPr>
        <p:spPr>
          <a:xfrm>
            <a:off x="6400800" y="1883664"/>
            <a:ext cx="2468880" cy="292608"/>
          </a:xfrm>
          <a:prstGeom prst="rect">
            <a:avLst/>
          </a:prstGeom>
          <a:noFill/>
        </p:spPr>
        <p:txBody>
          <a:bodyPr wrap="square" lIns="45720" rIns="45720" tIns="18288" bIns="18288" anchor="ctr">
            <a:spAutoFit/>
          </a:bodyPr>
          <a:lstStyle/>
          <a:p>
            <a:pPr algn="l"/>
            <a:r>
              <a:rPr sz="900" b="0" i="1">
                <a:solidFill>
                  <a:srgbClr val="5D6D7E"/>
                </a:solidFill>
                <a:latin typeface="Calibri"/>
              </a:rPr>
              <a:t>Second domaine</a:t>
            </a:r>
          </a:p>
        </p:txBody>
      </p:sp>
      <p:sp>
        <p:nvSpPr>
          <p:cNvPr id="37" name="Rectangle 36"/>
          <p:cNvSpPr/>
          <p:nvPr/>
        </p:nvSpPr>
        <p:spPr>
          <a:xfrm>
            <a:off x="274320" y="2176272"/>
            <a:ext cx="8595360" cy="292608"/>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0040" y="2176272"/>
            <a:ext cx="2011680" cy="292608"/>
          </a:xfrm>
          <a:prstGeom prst="rect">
            <a:avLst/>
          </a:prstGeom>
          <a:noFill/>
        </p:spPr>
        <p:txBody>
          <a:bodyPr wrap="square" lIns="45720" rIns="45720" tIns="18288" bIns="18288" anchor="ctr">
            <a:spAutoFit/>
          </a:bodyPr>
          <a:lstStyle/>
          <a:p>
            <a:pPr algn="l"/>
            <a:r>
              <a:rPr sz="900" b="1" i="0">
                <a:solidFill>
                  <a:srgbClr val="2980B9"/>
                </a:solidFill>
                <a:latin typeface="Calibri"/>
              </a:rPr>
              <a:t>Électricité / IoT</a:t>
            </a:r>
          </a:p>
        </p:txBody>
      </p:sp>
      <p:sp>
        <p:nvSpPr>
          <p:cNvPr id="39" name="TextBox 38"/>
          <p:cNvSpPr txBox="1"/>
          <p:nvPr/>
        </p:nvSpPr>
        <p:spPr>
          <a:xfrm>
            <a:off x="2286000" y="2176272"/>
            <a:ext cx="128016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Énergie, capteurs</a:t>
            </a:r>
          </a:p>
        </p:txBody>
      </p:sp>
      <p:sp>
        <p:nvSpPr>
          <p:cNvPr id="40" name="TextBox 39"/>
          <p:cNvSpPr txBox="1"/>
          <p:nvPr/>
        </p:nvSpPr>
        <p:spPr>
          <a:xfrm>
            <a:off x="3566160" y="2176272"/>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a:t>
            </a:r>
          </a:p>
        </p:txBody>
      </p:sp>
      <p:sp>
        <p:nvSpPr>
          <p:cNvPr id="41" name="TextBox 40"/>
          <p:cNvSpPr txBox="1"/>
          <p:nvPr/>
        </p:nvSpPr>
        <p:spPr>
          <a:xfrm>
            <a:off x="4983480" y="2176272"/>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Réelles</a:t>
            </a:r>
          </a:p>
        </p:txBody>
      </p:sp>
      <p:sp>
        <p:nvSpPr>
          <p:cNvPr id="42" name="TextBox 41"/>
          <p:cNvSpPr txBox="1"/>
          <p:nvPr/>
        </p:nvSpPr>
        <p:spPr>
          <a:xfrm>
            <a:off x="6400800" y="2176272"/>
            <a:ext cx="2468880" cy="292608"/>
          </a:xfrm>
          <a:prstGeom prst="rect">
            <a:avLst/>
          </a:prstGeom>
          <a:noFill/>
        </p:spPr>
        <p:txBody>
          <a:bodyPr wrap="square" lIns="45720" rIns="45720" tIns="18288" bIns="18288" anchor="ctr">
            <a:spAutoFit/>
          </a:bodyPr>
          <a:lstStyle/>
          <a:p>
            <a:pPr algn="l"/>
            <a:r>
              <a:rPr sz="900" b="0" i="1">
                <a:solidFill>
                  <a:srgbClr val="5D6D7E"/>
                </a:solidFill>
                <a:latin typeface="Calibri"/>
              </a:rPr>
              <a:t>Option hors finance</a:t>
            </a:r>
          </a:p>
        </p:txBody>
      </p:sp>
      <p:sp>
        <p:nvSpPr>
          <p:cNvPr id="43" name="Rectangle 42"/>
          <p:cNvSpPr/>
          <p:nvPr/>
        </p:nvSpPr>
        <p:spPr>
          <a:xfrm>
            <a:off x="274320" y="2834640"/>
            <a:ext cx="8595360" cy="292608"/>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4320" y="2834640"/>
            <a:ext cx="8595360" cy="292608"/>
          </a:xfrm>
          <a:prstGeom prst="rect">
            <a:avLst/>
          </a:prstGeom>
          <a:noFill/>
        </p:spPr>
        <p:txBody>
          <a:bodyPr wrap="square" lIns="45720" rIns="45720" tIns="18288" bIns="18288" anchor="ctr">
            <a:spAutoFit/>
          </a:bodyPr>
          <a:lstStyle/>
          <a:p>
            <a:pPr algn="l"/>
            <a:r>
              <a:rPr sz="1000" b="1" i="0">
                <a:solidFill>
                  <a:srgbClr val="E08000"/>
                </a:solidFill>
                <a:latin typeface="Calibri"/>
              </a:rPr>
              <a:t>  Protocole : des dérives à date connue sur un bruit de fond réel</a:t>
            </a:r>
          </a:p>
        </p:txBody>
      </p:sp>
      <p:sp>
        <p:nvSpPr>
          <p:cNvPr id="45" name="TextBox 44"/>
          <p:cNvSpPr txBox="1"/>
          <p:nvPr/>
        </p:nvSpPr>
        <p:spPr>
          <a:xfrm>
            <a:off x="320040" y="3200400"/>
            <a:ext cx="8503920" cy="1508760"/>
          </a:xfrm>
          <a:prstGeom prst="rect">
            <a:avLst/>
          </a:prstGeom>
          <a:noFill/>
        </p:spPr>
        <p:txBody>
          <a:bodyPr wrap="square" lIns="45720" rIns="45720" tIns="18288" bIns="18288" anchor="t">
            <a:spAutoFit/>
          </a:bodyPr>
          <a:lstStyle/>
          <a:p>
            <a:pPr algn="l"/>
            <a:r>
              <a:rPr sz="900" b="0" i="0">
                <a:solidFill>
                  <a:srgbClr val="5D6D7E"/>
                </a:solidFill>
                <a:latin typeface="Calibri"/>
              </a:rPr>
              <a:t>• Bruit de fond 100 % réel ; on injecte des dérives contrôlées (translations de moyenne, rotations de facteurs) à une date de rupture connue : le délai se mesure exactement.</a:t>
            </a:r>
          </a:p>
          <a:p>
            <a:pPr algn="l"/>
            <a:r>
              <a:rPr sz="900" b="0" i="0">
                <a:solidFill>
                  <a:srgbClr val="5D6D7E"/>
                </a:solidFill>
                <a:latin typeface="Calibri"/>
              </a:rPr>
              <a:t>• Fond neutralisé : on inverse au hasard le signe de journées entières de la coupe. Volatilité et corrélations réelles restent, toute dérive réelle disparaît. On obtient autant de trajectoires sans dérive que nécessaire pour compter les fausses alarmes.</a:t>
            </a:r>
          </a:p>
          <a:p>
            <a:pPr algn="l"/>
            <a:r>
              <a:rPr sz="900" b="0" i="0">
                <a:solidFill>
                  <a:srgbClr val="5D6D7E"/>
                </a:solidFill>
                <a:latin typeface="Calibri"/>
              </a:rPr>
              <a:t>• Mesure : délai moyen de détection (ADD) à fréquence de fausses alarmes fixée (ARL₀), comparé au plancher de Sharpe et au pooling.</a:t>
            </a:r>
          </a:p>
          <a:p>
            <a:pPr algn="l"/>
            <a:r>
              <a:rPr sz="900" b="0" i="0">
                <a:solidFill>
                  <a:srgbClr val="5D6D7E"/>
                </a:solidFill>
                <a:latin typeface="Calibri"/>
              </a:rPr>
              <a:t>• Validation réelle : phases haussières et baissières datées a posteriori (Pagan &amp; Sossounov, 2003). BAF est synthétique, généré à partir d'un jeu réel anonymisé de fraude à l'ouverture de compte.</a:t>
            </a:r>
          </a:p>
        </p:txBody>
      </p:sp>
      <p:sp>
        <p:nvSpPr>
          <p:cNvPr id="46" name="TextBox 45"/>
          <p:cNvSpPr txBox="1"/>
          <p:nvPr/>
        </p:nvSpPr>
        <p:spPr>
          <a:xfrm>
            <a:off x="457200" y="4901184"/>
            <a:ext cx="7315200" cy="237744"/>
          </a:xfrm>
          <a:prstGeom prst="rect">
            <a:avLst/>
          </a:prstGeom>
          <a:noFill/>
        </p:spPr>
        <p:txBody>
          <a:bodyPr wrap="square" lIns="45720" rIns="45720" tIns="18288" bIns="18288" anchor="t">
            <a:spAutoFit/>
          </a:bodyPr>
          <a:lstStyle/>
          <a:p>
            <a:pPr algn="l"/>
            <a:r>
              <a:rPr sz="800" b="0" i="0">
                <a:solidFill>
                  <a:srgbClr val="8A9BB0"/>
                </a:solidFill>
                <a:latin typeface="Calibri"/>
              </a:rPr>
              <a:t>Jesus et al. (2022) · Pagan &amp; Sossounov (2003) · Article 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Conférences cibles, par échéance</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9</a:t>
            </a:r>
          </a:p>
        </p:txBody>
      </p:sp>
      <p:sp>
        <p:nvSpPr>
          <p:cNvPr id="5" name="Rectangle 4"/>
          <p:cNvSpPr/>
          <p:nvPr/>
        </p:nvSpPr>
        <p:spPr>
          <a:xfrm>
            <a:off x="8138160" y="64008"/>
            <a:ext cx="914400" cy="24688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38160" y="64008"/>
            <a:ext cx="914400" cy="246888"/>
          </a:xfrm>
          <a:prstGeom prst="rect">
            <a:avLst/>
          </a:prstGeom>
          <a:noFill/>
        </p:spPr>
        <p:txBody>
          <a:bodyPr wrap="square" lIns="45720" rIns="45720" tIns="18288" bIns="18288" anchor="ctr">
            <a:spAutoFit/>
          </a:bodyPr>
          <a:lstStyle/>
          <a:p>
            <a:pPr algn="ctr"/>
            <a:r>
              <a:rPr sz="800" b="1" i="0">
                <a:solidFill>
                  <a:srgbClr val="FFFFFF"/>
                </a:solidFill>
                <a:latin typeface="Calibri"/>
              </a:rPr>
              <a:t>ANALYSE</a:t>
            </a:r>
          </a:p>
        </p:txBody>
      </p:sp>
      <p:sp>
        <p:nvSpPr>
          <p:cNvPr id="7" name="Rectangle 6"/>
          <p:cNvSpPr/>
          <p:nvPr/>
        </p:nvSpPr>
        <p:spPr>
          <a:xfrm>
            <a:off x="274320" y="685800"/>
            <a:ext cx="8595360" cy="32004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85800"/>
            <a:ext cx="2011680" cy="320040"/>
          </a:xfrm>
          <a:prstGeom prst="rect">
            <a:avLst/>
          </a:prstGeom>
          <a:noFill/>
        </p:spPr>
        <p:txBody>
          <a:bodyPr wrap="square" lIns="45720" rIns="45720" tIns="18288" bIns="18288" anchor="ctr">
            <a:spAutoFit/>
          </a:bodyPr>
          <a:lstStyle/>
          <a:p>
            <a:pPr algn="ctr"/>
            <a:r>
              <a:rPr sz="1000" b="1" i="0">
                <a:solidFill>
                  <a:srgbClr val="FFFFFF"/>
                </a:solidFill>
                <a:latin typeface="Calibri"/>
              </a:rPr>
              <a:t>Conférence</a:t>
            </a:r>
          </a:p>
        </p:txBody>
      </p:sp>
      <p:sp>
        <p:nvSpPr>
          <p:cNvPr id="9" name="TextBox 8"/>
          <p:cNvSpPr txBox="1"/>
          <p:nvPr/>
        </p:nvSpPr>
        <p:spPr>
          <a:xfrm>
            <a:off x="2286000" y="685800"/>
            <a:ext cx="1280160" cy="320040"/>
          </a:xfrm>
          <a:prstGeom prst="rect">
            <a:avLst/>
          </a:prstGeom>
          <a:noFill/>
        </p:spPr>
        <p:txBody>
          <a:bodyPr wrap="square" lIns="45720" rIns="45720" tIns="18288" bIns="18288" anchor="ctr">
            <a:spAutoFit/>
          </a:bodyPr>
          <a:lstStyle/>
          <a:p>
            <a:pPr algn="ctr"/>
            <a:r>
              <a:rPr sz="1000" b="1" i="0">
                <a:solidFill>
                  <a:srgbClr val="FFFFFF"/>
                </a:solidFill>
                <a:latin typeface="Calibri"/>
              </a:rPr>
              <a:t>Rang</a:t>
            </a:r>
          </a:p>
        </p:txBody>
      </p:sp>
      <p:sp>
        <p:nvSpPr>
          <p:cNvPr id="10" name="TextBox 9"/>
          <p:cNvSpPr txBox="1"/>
          <p:nvPr/>
        </p:nvSpPr>
        <p:spPr>
          <a:xfrm>
            <a:off x="3566160" y="685800"/>
            <a:ext cx="1417320" cy="320040"/>
          </a:xfrm>
          <a:prstGeom prst="rect">
            <a:avLst/>
          </a:prstGeom>
          <a:noFill/>
        </p:spPr>
        <p:txBody>
          <a:bodyPr wrap="square" lIns="45720" rIns="45720" tIns="18288" bIns="18288" anchor="ctr">
            <a:spAutoFit/>
          </a:bodyPr>
          <a:lstStyle/>
          <a:p>
            <a:pPr algn="ctr"/>
            <a:r>
              <a:rPr sz="1000" b="1" i="0">
                <a:solidFill>
                  <a:srgbClr val="FFFFFF"/>
                </a:solidFill>
                <a:latin typeface="Calibri"/>
              </a:rPr>
              <a:t>Échéance (est.)</a:t>
            </a:r>
          </a:p>
        </p:txBody>
      </p:sp>
      <p:sp>
        <p:nvSpPr>
          <p:cNvPr id="11" name="TextBox 10"/>
          <p:cNvSpPr txBox="1"/>
          <p:nvPr/>
        </p:nvSpPr>
        <p:spPr>
          <a:xfrm>
            <a:off x="4983480" y="685800"/>
            <a:ext cx="1417320" cy="320040"/>
          </a:xfrm>
          <a:prstGeom prst="rect">
            <a:avLst/>
          </a:prstGeom>
          <a:noFill/>
        </p:spPr>
        <p:txBody>
          <a:bodyPr wrap="square" lIns="45720" rIns="45720" tIns="18288" bIns="18288" anchor="ctr">
            <a:spAutoFit/>
          </a:bodyPr>
          <a:lstStyle/>
          <a:p>
            <a:pPr algn="ctr"/>
            <a:r>
              <a:rPr sz="1000" b="1" i="0">
                <a:solidFill>
                  <a:srgbClr val="FFFFFF"/>
                </a:solidFill>
                <a:latin typeface="Calibri"/>
              </a:rPr>
              <a:t>Adéquation</a:t>
            </a:r>
          </a:p>
        </p:txBody>
      </p:sp>
      <p:sp>
        <p:nvSpPr>
          <p:cNvPr id="12" name="TextBox 11"/>
          <p:cNvSpPr txBox="1"/>
          <p:nvPr/>
        </p:nvSpPr>
        <p:spPr>
          <a:xfrm>
            <a:off x="6400800" y="685800"/>
            <a:ext cx="2468880" cy="320040"/>
          </a:xfrm>
          <a:prstGeom prst="rect">
            <a:avLst/>
          </a:prstGeom>
          <a:noFill/>
        </p:spPr>
        <p:txBody>
          <a:bodyPr wrap="square" lIns="45720" rIns="45720" tIns="18288" bIns="18288" anchor="ctr">
            <a:spAutoFit/>
          </a:bodyPr>
          <a:lstStyle/>
          <a:p>
            <a:pPr algn="ctr"/>
            <a:r>
              <a:rPr sz="1000" b="1" i="0">
                <a:solidFill>
                  <a:srgbClr val="FFFFFF"/>
                </a:solidFill>
                <a:latin typeface="Calibri"/>
              </a:rPr>
              <a:t>Rôle</a:t>
            </a:r>
          </a:p>
        </p:txBody>
      </p:sp>
      <p:sp>
        <p:nvSpPr>
          <p:cNvPr id="13" name="Rectangle 12"/>
          <p:cNvSpPr/>
          <p:nvPr/>
        </p:nvSpPr>
        <p:spPr>
          <a:xfrm>
            <a:off x="274320" y="1005840"/>
            <a:ext cx="8595360" cy="292608"/>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1005840"/>
            <a:ext cx="2011680" cy="292608"/>
          </a:xfrm>
          <a:prstGeom prst="rect">
            <a:avLst/>
          </a:prstGeom>
          <a:noFill/>
        </p:spPr>
        <p:txBody>
          <a:bodyPr wrap="square" lIns="45720" rIns="45720" tIns="18288" bIns="18288" anchor="ctr">
            <a:spAutoFit/>
          </a:bodyPr>
          <a:lstStyle/>
          <a:p>
            <a:pPr algn="l"/>
            <a:r>
              <a:rPr sz="900" b="1" i="0">
                <a:solidFill>
                  <a:srgbClr val="E08000"/>
                </a:solidFill>
                <a:latin typeface="Calibri"/>
              </a:rPr>
              <a:t>FINEC 2027 (Lancaster)</a:t>
            </a:r>
          </a:p>
        </p:txBody>
      </p:sp>
      <p:sp>
        <p:nvSpPr>
          <p:cNvPr id="15" name="TextBox 14"/>
          <p:cNvSpPr txBox="1"/>
          <p:nvPr/>
        </p:nvSpPr>
        <p:spPr>
          <a:xfrm>
            <a:off x="2286000" y="1005840"/>
            <a:ext cx="128016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Finance*</a:t>
            </a:r>
          </a:p>
        </p:txBody>
      </p:sp>
      <p:sp>
        <p:nvSpPr>
          <p:cNvPr id="16" name="TextBox 15"/>
          <p:cNvSpPr txBox="1"/>
          <p:nvPr/>
        </p:nvSpPr>
        <p:spPr>
          <a:xfrm>
            <a:off x="3566160" y="1005840"/>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1er déc. 2026</a:t>
            </a:r>
          </a:p>
        </p:txBody>
      </p:sp>
      <p:sp>
        <p:nvSpPr>
          <p:cNvPr id="17" name="TextBox 16"/>
          <p:cNvSpPr txBox="1"/>
          <p:nvPr/>
        </p:nvSpPr>
        <p:spPr>
          <a:xfrm>
            <a:off x="4983480" y="1005840"/>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a:t>
            </a:r>
          </a:p>
        </p:txBody>
      </p:sp>
      <p:sp>
        <p:nvSpPr>
          <p:cNvPr id="18" name="TextBox 17"/>
          <p:cNvSpPr txBox="1"/>
          <p:nvPr/>
        </p:nvSpPr>
        <p:spPr>
          <a:xfrm>
            <a:off x="6400800" y="1005840"/>
            <a:ext cx="2468880" cy="292608"/>
          </a:xfrm>
          <a:prstGeom prst="rect">
            <a:avLst/>
          </a:prstGeom>
          <a:noFill/>
        </p:spPr>
        <p:txBody>
          <a:bodyPr wrap="square" lIns="45720" rIns="45720" tIns="18288" bIns="18288" anchor="ctr">
            <a:spAutoFit/>
          </a:bodyPr>
          <a:lstStyle/>
          <a:p>
            <a:pPr algn="l"/>
            <a:r>
              <a:rPr sz="900" b="0" i="1">
                <a:solidFill>
                  <a:srgbClr val="5D6D7E"/>
                </a:solidFill>
                <a:latin typeface="Calibri"/>
              </a:rPr>
              <a:t>Premiers retours d'économètres</a:t>
            </a:r>
          </a:p>
        </p:txBody>
      </p:sp>
      <p:sp>
        <p:nvSpPr>
          <p:cNvPr id="19" name="Rectangle 18"/>
          <p:cNvSpPr/>
          <p:nvPr/>
        </p:nvSpPr>
        <p:spPr>
          <a:xfrm>
            <a:off x="274320" y="1298448"/>
            <a:ext cx="8595360" cy="292608"/>
          </a:xfrm>
          <a:prstGeom prst="rect">
            <a:avLst/>
          </a:prstGeom>
          <a:solidFill>
            <a:srgbClr val="E8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1298448"/>
            <a:ext cx="2011680" cy="292608"/>
          </a:xfrm>
          <a:prstGeom prst="rect">
            <a:avLst/>
          </a:prstGeom>
          <a:noFill/>
        </p:spPr>
        <p:txBody>
          <a:bodyPr wrap="square" lIns="45720" rIns="45720" tIns="18288" bIns="18288" anchor="ctr">
            <a:spAutoFit/>
          </a:bodyPr>
          <a:lstStyle/>
          <a:p>
            <a:pPr algn="l"/>
            <a:r>
              <a:rPr sz="900" b="1" i="0">
                <a:solidFill>
                  <a:srgbClr val="27AE60"/>
                </a:solidFill>
                <a:latin typeface="Calibri"/>
              </a:rPr>
              <a:t>ICML 2027</a:t>
            </a:r>
          </a:p>
        </p:txBody>
      </p:sp>
      <p:sp>
        <p:nvSpPr>
          <p:cNvPr id="21" name="TextBox 20"/>
          <p:cNvSpPr txBox="1"/>
          <p:nvPr/>
        </p:nvSpPr>
        <p:spPr>
          <a:xfrm>
            <a:off x="2286000" y="1298448"/>
            <a:ext cx="128016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A*</a:t>
            </a:r>
          </a:p>
        </p:txBody>
      </p:sp>
      <p:sp>
        <p:nvSpPr>
          <p:cNvPr id="22" name="TextBox 21"/>
          <p:cNvSpPr txBox="1"/>
          <p:nvPr/>
        </p:nvSpPr>
        <p:spPr>
          <a:xfrm>
            <a:off x="3566160" y="1298448"/>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22 janv. 2027</a:t>
            </a:r>
          </a:p>
        </p:txBody>
      </p:sp>
      <p:sp>
        <p:nvSpPr>
          <p:cNvPr id="23" name="TextBox 22"/>
          <p:cNvSpPr txBox="1"/>
          <p:nvPr/>
        </p:nvSpPr>
        <p:spPr>
          <a:xfrm>
            <a:off x="4983480" y="1298448"/>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a:t>
            </a:r>
          </a:p>
        </p:txBody>
      </p:sp>
      <p:sp>
        <p:nvSpPr>
          <p:cNvPr id="24" name="TextBox 23"/>
          <p:cNvSpPr txBox="1"/>
          <p:nvPr/>
        </p:nvSpPr>
        <p:spPr>
          <a:xfrm>
            <a:off x="6400800" y="1298448"/>
            <a:ext cx="2468880" cy="292608"/>
          </a:xfrm>
          <a:prstGeom prst="rect">
            <a:avLst/>
          </a:prstGeom>
          <a:noFill/>
        </p:spPr>
        <p:txBody>
          <a:bodyPr wrap="square" lIns="45720" rIns="45720" tIns="18288" bIns="18288" anchor="ctr">
            <a:spAutoFit/>
          </a:bodyPr>
          <a:lstStyle/>
          <a:p>
            <a:pPr algn="l"/>
            <a:r>
              <a:rPr sz="900" b="0" i="1">
                <a:solidFill>
                  <a:srgbClr val="5D6D7E"/>
                </a:solidFill>
                <a:latin typeface="Calibri"/>
              </a:rPr>
              <a:t>Cible principale</a:t>
            </a:r>
          </a:p>
        </p:txBody>
      </p:sp>
      <p:sp>
        <p:nvSpPr>
          <p:cNvPr id="25" name="Rectangle 24"/>
          <p:cNvSpPr/>
          <p:nvPr/>
        </p:nvSpPr>
        <p:spPr>
          <a:xfrm>
            <a:off x="274320" y="1591056"/>
            <a:ext cx="8595360" cy="292608"/>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 y="1591056"/>
            <a:ext cx="2011680" cy="292608"/>
          </a:xfrm>
          <a:prstGeom prst="rect">
            <a:avLst/>
          </a:prstGeom>
          <a:noFill/>
        </p:spPr>
        <p:txBody>
          <a:bodyPr wrap="square" lIns="45720" rIns="45720" tIns="18288" bIns="18288" anchor="ctr">
            <a:spAutoFit/>
          </a:bodyPr>
          <a:lstStyle/>
          <a:p>
            <a:pPr algn="l"/>
            <a:r>
              <a:rPr sz="900" b="1" i="0">
                <a:solidFill>
                  <a:srgbClr val="E08000"/>
                </a:solidFill>
                <a:latin typeface="Calibri"/>
              </a:rPr>
              <a:t>SoFiE 2027</a:t>
            </a:r>
          </a:p>
        </p:txBody>
      </p:sp>
      <p:sp>
        <p:nvSpPr>
          <p:cNvPr id="27" name="TextBox 26"/>
          <p:cNvSpPr txBox="1"/>
          <p:nvPr/>
        </p:nvSpPr>
        <p:spPr>
          <a:xfrm>
            <a:off x="2286000" y="1591056"/>
            <a:ext cx="128016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Finance*</a:t>
            </a:r>
          </a:p>
        </p:txBody>
      </p:sp>
      <p:sp>
        <p:nvSpPr>
          <p:cNvPr id="28" name="TextBox 27"/>
          <p:cNvSpPr txBox="1"/>
          <p:nvPr/>
        </p:nvSpPr>
        <p:spPr>
          <a:xfrm>
            <a:off x="3566160" y="1591056"/>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 fin janv. 2027</a:t>
            </a:r>
          </a:p>
        </p:txBody>
      </p:sp>
      <p:sp>
        <p:nvSpPr>
          <p:cNvPr id="29" name="TextBox 28"/>
          <p:cNvSpPr txBox="1"/>
          <p:nvPr/>
        </p:nvSpPr>
        <p:spPr>
          <a:xfrm>
            <a:off x="4983480" y="1591056"/>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a:t>
            </a:r>
          </a:p>
        </p:txBody>
      </p:sp>
      <p:sp>
        <p:nvSpPr>
          <p:cNvPr id="30" name="TextBox 29"/>
          <p:cNvSpPr txBox="1"/>
          <p:nvPr/>
        </p:nvSpPr>
        <p:spPr>
          <a:xfrm>
            <a:off x="6400800" y="1591056"/>
            <a:ext cx="2468880" cy="292608"/>
          </a:xfrm>
          <a:prstGeom prst="rect">
            <a:avLst/>
          </a:prstGeom>
          <a:noFill/>
        </p:spPr>
        <p:txBody>
          <a:bodyPr wrap="square" lIns="45720" rIns="45720" tIns="18288" bIns="18288" anchor="ctr">
            <a:spAutoFit/>
          </a:bodyPr>
          <a:lstStyle/>
          <a:p>
            <a:pPr algn="l"/>
            <a:r>
              <a:rPr sz="900" b="0" i="1">
                <a:solidFill>
                  <a:srgbClr val="5D6D7E"/>
                </a:solidFill>
                <a:latin typeface="Calibri"/>
              </a:rPr>
              <a:t>Visibilité en économétrie</a:t>
            </a:r>
          </a:p>
        </p:txBody>
      </p:sp>
      <p:sp>
        <p:nvSpPr>
          <p:cNvPr id="31" name="Rectangle 30"/>
          <p:cNvSpPr/>
          <p:nvPr/>
        </p:nvSpPr>
        <p:spPr>
          <a:xfrm>
            <a:off x="274320" y="1883664"/>
            <a:ext cx="8595360" cy="292608"/>
          </a:xfrm>
          <a:prstGeom prst="rect">
            <a:avLst/>
          </a:prstGeom>
          <a:solidFill>
            <a:srgbClr val="E8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 y="1883664"/>
            <a:ext cx="2011680" cy="292608"/>
          </a:xfrm>
          <a:prstGeom prst="rect">
            <a:avLst/>
          </a:prstGeom>
          <a:noFill/>
        </p:spPr>
        <p:txBody>
          <a:bodyPr wrap="square" lIns="45720" rIns="45720" tIns="18288" bIns="18288" anchor="ctr">
            <a:spAutoFit/>
          </a:bodyPr>
          <a:lstStyle/>
          <a:p>
            <a:pPr algn="l"/>
            <a:r>
              <a:rPr sz="900" b="1" i="0">
                <a:solidFill>
                  <a:srgbClr val="27AE60"/>
                </a:solidFill>
                <a:latin typeface="Calibri"/>
              </a:rPr>
              <a:t>UAI 2027</a:t>
            </a:r>
          </a:p>
        </p:txBody>
      </p:sp>
      <p:sp>
        <p:nvSpPr>
          <p:cNvPr id="33" name="TextBox 32"/>
          <p:cNvSpPr txBox="1"/>
          <p:nvPr/>
        </p:nvSpPr>
        <p:spPr>
          <a:xfrm>
            <a:off x="2286000" y="1883664"/>
            <a:ext cx="128016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A</a:t>
            </a:r>
          </a:p>
        </p:txBody>
      </p:sp>
      <p:sp>
        <p:nvSpPr>
          <p:cNvPr id="34" name="TextBox 33"/>
          <p:cNvSpPr txBox="1"/>
          <p:nvPr/>
        </p:nvSpPr>
        <p:spPr>
          <a:xfrm>
            <a:off x="3566160" y="1883664"/>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 12 févr. 2027</a:t>
            </a:r>
          </a:p>
        </p:txBody>
      </p:sp>
      <p:sp>
        <p:nvSpPr>
          <p:cNvPr id="35" name="TextBox 34"/>
          <p:cNvSpPr txBox="1"/>
          <p:nvPr/>
        </p:nvSpPr>
        <p:spPr>
          <a:xfrm>
            <a:off x="4983480" y="1883664"/>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a:t>
            </a:r>
          </a:p>
        </p:txBody>
      </p:sp>
      <p:sp>
        <p:nvSpPr>
          <p:cNvPr id="36" name="TextBox 35"/>
          <p:cNvSpPr txBox="1"/>
          <p:nvPr/>
        </p:nvSpPr>
        <p:spPr>
          <a:xfrm>
            <a:off x="6400800" y="1883664"/>
            <a:ext cx="2468880" cy="292608"/>
          </a:xfrm>
          <a:prstGeom prst="rect">
            <a:avLst/>
          </a:prstGeom>
          <a:noFill/>
        </p:spPr>
        <p:txBody>
          <a:bodyPr wrap="square" lIns="45720" rIns="45720" tIns="18288" bIns="18288" anchor="ctr">
            <a:spAutoFit/>
          </a:bodyPr>
          <a:lstStyle/>
          <a:p>
            <a:pPr algn="l"/>
            <a:r>
              <a:rPr sz="900" b="0" i="1">
                <a:solidFill>
                  <a:srgbClr val="5D6D7E"/>
                </a:solidFill>
                <a:latin typeface="Calibri"/>
              </a:rPr>
              <a:t>Repli si janvier glisse</a:t>
            </a:r>
          </a:p>
        </p:txBody>
      </p:sp>
      <p:sp>
        <p:nvSpPr>
          <p:cNvPr id="37" name="Rectangle 36"/>
          <p:cNvSpPr/>
          <p:nvPr/>
        </p:nvSpPr>
        <p:spPr>
          <a:xfrm>
            <a:off x="274320" y="2176272"/>
            <a:ext cx="8595360" cy="292608"/>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0040" y="2176272"/>
            <a:ext cx="2011680" cy="292608"/>
          </a:xfrm>
          <a:prstGeom prst="rect">
            <a:avLst/>
          </a:prstGeom>
          <a:noFill/>
        </p:spPr>
        <p:txBody>
          <a:bodyPr wrap="square" lIns="45720" rIns="45720" tIns="18288" bIns="18288" anchor="ctr">
            <a:spAutoFit/>
          </a:bodyPr>
          <a:lstStyle/>
          <a:p>
            <a:pPr algn="l"/>
            <a:r>
              <a:rPr sz="900" b="1" i="0">
                <a:solidFill>
                  <a:srgbClr val="2980B9"/>
                </a:solidFill>
                <a:latin typeface="Calibri"/>
              </a:rPr>
              <a:t>ICLR 2027 (ateliers)</a:t>
            </a:r>
          </a:p>
        </p:txBody>
      </p:sp>
      <p:sp>
        <p:nvSpPr>
          <p:cNvPr id="39" name="TextBox 38"/>
          <p:cNvSpPr txBox="1"/>
          <p:nvPr/>
        </p:nvSpPr>
        <p:spPr>
          <a:xfrm>
            <a:off x="2286000" y="2176272"/>
            <a:ext cx="128016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Workshop</a:t>
            </a:r>
          </a:p>
        </p:txBody>
      </p:sp>
      <p:sp>
        <p:nvSpPr>
          <p:cNvPr id="40" name="TextBox 39"/>
          <p:cNvSpPr txBox="1"/>
          <p:nvPr/>
        </p:nvSpPr>
        <p:spPr>
          <a:xfrm>
            <a:off x="3566160" y="2176272"/>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 févr. 2027</a:t>
            </a:r>
          </a:p>
        </p:txBody>
      </p:sp>
      <p:sp>
        <p:nvSpPr>
          <p:cNvPr id="41" name="TextBox 40"/>
          <p:cNvSpPr txBox="1"/>
          <p:nvPr/>
        </p:nvSpPr>
        <p:spPr>
          <a:xfrm>
            <a:off x="4983480" y="2176272"/>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a:t>
            </a:r>
          </a:p>
        </p:txBody>
      </p:sp>
      <p:sp>
        <p:nvSpPr>
          <p:cNvPr id="42" name="TextBox 41"/>
          <p:cNvSpPr txBox="1"/>
          <p:nvPr/>
        </p:nvSpPr>
        <p:spPr>
          <a:xfrm>
            <a:off x="6400800" y="2176272"/>
            <a:ext cx="2468880" cy="292608"/>
          </a:xfrm>
          <a:prstGeom prst="rect">
            <a:avLst/>
          </a:prstGeom>
          <a:noFill/>
        </p:spPr>
        <p:txBody>
          <a:bodyPr wrap="square" lIns="45720" rIns="45720" tIns="18288" bIns="18288" anchor="ctr">
            <a:spAutoFit/>
          </a:bodyPr>
          <a:lstStyle/>
          <a:p>
            <a:pPr algn="l"/>
            <a:r>
              <a:rPr sz="900" b="0" i="1">
                <a:solidFill>
                  <a:srgbClr val="5D6D7E"/>
                </a:solidFill>
                <a:latin typeface="Calibri"/>
              </a:rPr>
              <a:t>Visibilité ML</a:t>
            </a:r>
          </a:p>
        </p:txBody>
      </p:sp>
      <p:sp>
        <p:nvSpPr>
          <p:cNvPr id="43" name="Rectangle 42"/>
          <p:cNvSpPr/>
          <p:nvPr/>
        </p:nvSpPr>
        <p:spPr>
          <a:xfrm>
            <a:off x="274320" y="2468880"/>
            <a:ext cx="8595360" cy="292608"/>
          </a:xfrm>
          <a:prstGeom prst="rect">
            <a:avLst/>
          </a:prstGeom>
          <a:solidFill>
            <a:srgbClr val="E8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0040" y="2468880"/>
            <a:ext cx="2011680" cy="292608"/>
          </a:xfrm>
          <a:prstGeom prst="rect">
            <a:avLst/>
          </a:prstGeom>
          <a:noFill/>
        </p:spPr>
        <p:txBody>
          <a:bodyPr wrap="square" lIns="45720" rIns="45720" tIns="18288" bIns="18288" anchor="ctr">
            <a:spAutoFit/>
          </a:bodyPr>
          <a:lstStyle/>
          <a:p>
            <a:pPr algn="l"/>
            <a:r>
              <a:rPr sz="900" b="1" i="0">
                <a:solidFill>
                  <a:srgbClr val="27AE60"/>
                </a:solidFill>
                <a:latin typeface="Calibri"/>
              </a:rPr>
              <a:t>NeurIPS 2027</a:t>
            </a:r>
          </a:p>
        </p:txBody>
      </p:sp>
      <p:sp>
        <p:nvSpPr>
          <p:cNvPr id="45" name="TextBox 44"/>
          <p:cNvSpPr txBox="1"/>
          <p:nvPr/>
        </p:nvSpPr>
        <p:spPr>
          <a:xfrm>
            <a:off x="2286000" y="2468880"/>
            <a:ext cx="128016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A*</a:t>
            </a:r>
          </a:p>
        </p:txBody>
      </p:sp>
      <p:sp>
        <p:nvSpPr>
          <p:cNvPr id="46" name="TextBox 45"/>
          <p:cNvSpPr txBox="1"/>
          <p:nvPr/>
        </p:nvSpPr>
        <p:spPr>
          <a:xfrm>
            <a:off x="3566160" y="2468880"/>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 mi-mai 2027</a:t>
            </a:r>
          </a:p>
        </p:txBody>
      </p:sp>
      <p:sp>
        <p:nvSpPr>
          <p:cNvPr id="47" name="TextBox 46"/>
          <p:cNvSpPr txBox="1"/>
          <p:nvPr/>
        </p:nvSpPr>
        <p:spPr>
          <a:xfrm>
            <a:off x="4983480" y="2468880"/>
            <a:ext cx="1417320" cy="292608"/>
          </a:xfrm>
          <a:prstGeom prst="rect">
            <a:avLst/>
          </a:prstGeom>
          <a:noFill/>
        </p:spPr>
        <p:txBody>
          <a:bodyPr wrap="square" lIns="45720" rIns="45720" tIns="18288" bIns="18288" anchor="ctr">
            <a:spAutoFit/>
          </a:bodyPr>
          <a:lstStyle/>
          <a:p>
            <a:pPr algn="ctr"/>
            <a:r>
              <a:rPr sz="900" b="0" i="0">
                <a:solidFill>
                  <a:srgbClr val="2C3E50"/>
                </a:solidFill>
                <a:latin typeface="Calibri"/>
              </a:rPr>
              <a:t>★★★</a:t>
            </a:r>
          </a:p>
        </p:txBody>
      </p:sp>
      <p:sp>
        <p:nvSpPr>
          <p:cNvPr id="48" name="TextBox 47"/>
          <p:cNvSpPr txBox="1"/>
          <p:nvPr/>
        </p:nvSpPr>
        <p:spPr>
          <a:xfrm>
            <a:off x="6400800" y="2468880"/>
            <a:ext cx="2468880" cy="292608"/>
          </a:xfrm>
          <a:prstGeom prst="rect">
            <a:avLst/>
          </a:prstGeom>
          <a:noFill/>
        </p:spPr>
        <p:txBody>
          <a:bodyPr wrap="square" lIns="45720" rIns="45720" tIns="18288" bIns="18288" anchor="ctr">
            <a:spAutoFit/>
          </a:bodyPr>
          <a:lstStyle/>
          <a:p>
            <a:pPr algn="l"/>
            <a:r>
              <a:rPr sz="900" b="0" i="1">
                <a:solidFill>
                  <a:srgbClr val="5D6D7E"/>
                </a:solidFill>
                <a:latin typeface="Calibri"/>
              </a:rPr>
              <a:t>Repli après décision ICML</a:t>
            </a:r>
          </a:p>
        </p:txBody>
      </p:sp>
      <p:sp>
        <p:nvSpPr>
          <p:cNvPr id="49" name="Rectangle 48"/>
          <p:cNvSpPr/>
          <p:nvPr/>
        </p:nvSpPr>
        <p:spPr>
          <a:xfrm>
            <a:off x="274320" y="2834640"/>
            <a:ext cx="8595360" cy="292608"/>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4320" y="2834640"/>
            <a:ext cx="8595360" cy="292608"/>
          </a:xfrm>
          <a:prstGeom prst="rect">
            <a:avLst/>
          </a:prstGeom>
          <a:noFill/>
        </p:spPr>
        <p:txBody>
          <a:bodyPr wrap="square" lIns="45720" rIns="45720" tIns="18288" bIns="18288" anchor="ctr">
            <a:spAutoFit/>
          </a:bodyPr>
          <a:lstStyle/>
          <a:p>
            <a:pPr algn="l"/>
            <a:r>
              <a:rPr sz="1000" b="1" i="0">
                <a:solidFill>
                  <a:srgbClr val="E08000"/>
                </a:solidFill>
                <a:latin typeface="Calibri"/>
              </a:rPr>
              <a:t>  Lecture stratégique</a:t>
            </a:r>
          </a:p>
        </p:txBody>
      </p:sp>
      <p:sp>
        <p:nvSpPr>
          <p:cNvPr id="51" name="TextBox 50"/>
          <p:cNvSpPr txBox="1"/>
          <p:nvPr/>
        </p:nvSpPr>
        <p:spPr>
          <a:xfrm>
            <a:off x="320040" y="3200400"/>
            <a:ext cx="8503920" cy="1508760"/>
          </a:xfrm>
          <a:prstGeom prst="rect">
            <a:avLst/>
          </a:prstGeom>
          <a:noFill/>
        </p:spPr>
        <p:txBody>
          <a:bodyPr wrap="square" lIns="45720" rIns="45720" tIns="18288" bIns="18288" anchor="t">
            <a:spAutoFit/>
          </a:bodyPr>
          <a:lstStyle/>
          <a:p>
            <a:pPr algn="l"/>
            <a:r>
              <a:rPr sz="900" b="0" i="0">
                <a:solidFill>
                  <a:srgbClr val="5D6D7E"/>
                </a:solidFill>
                <a:latin typeface="Calibri"/>
              </a:rPr>
              <a:t>• Écartées : KDD 2027 (cycle 2) et ECML-PKDD 2027, voies possibles de l'Article B ; IJCAI 2027 (11 janv.), exclusive avec ICML ; ICAIF 2027 (≈ août), hors fenêtre.</a:t>
            </a:r>
          </a:p>
          <a:p>
            <a:pPr algn="l"/>
            <a:r>
              <a:rPr sz="900" b="0" i="0">
                <a:solidFill>
                  <a:srgbClr val="5D6D7E"/>
                </a:solidFill>
                <a:latin typeface="Calibri"/>
              </a:rPr>
              <a:t>• Filets : ECAI 2027 (14 avr., A), ICDM 2027 (≈ début juin, A*), CIKM et DSAA 2027 (≈ fin mai).</a:t>
            </a:r>
          </a:p>
          <a:p>
            <a:pPr algn="l"/>
            <a:r>
              <a:rPr sz="900" b="0" i="0">
                <a:solidFill>
                  <a:srgbClr val="5D6D7E"/>
                </a:solidFill>
                <a:latin typeface="Calibri"/>
              </a:rPr>
              <a:t>• * Conférences de finance sans actes : compatibles avec une relecture ICML en cours, règle à confirmer dans l'appel ICML 2027.</a:t>
            </a:r>
          </a:p>
          <a:p>
            <a:pPr algn="l"/>
            <a:r>
              <a:rPr sz="900" b="1" i="0">
                <a:solidFill>
                  <a:srgbClr val="27AE60"/>
                </a:solidFill>
                <a:latin typeface="Calibri"/>
              </a:rPr>
              <a:t>• ★ Si ICML refuse, les décisions tombent avant l'échéance NeurIPS : on resoumet avec les relectures.</a:t>
            </a:r>
          </a:p>
        </p:txBody>
      </p:sp>
      <p:sp>
        <p:nvSpPr>
          <p:cNvPr id="52" name="TextBox 51"/>
          <p:cNvSpPr txBox="1"/>
          <p:nvPr/>
        </p:nvSpPr>
        <p:spPr>
          <a:xfrm>
            <a:off x="457200" y="4901184"/>
            <a:ext cx="7315200" cy="237744"/>
          </a:xfrm>
          <a:prstGeom prst="rect">
            <a:avLst/>
          </a:prstGeom>
          <a:noFill/>
        </p:spPr>
        <p:txBody>
          <a:bodyPr wrap="square" lIns="45720" rIns="45720" tIns="18288" bIns="18288" anchor="t">
            <a:spAutoFit/>
          </a:bodyPr>
          <a:lstStyle/>
          <a:p>
            <a:pPr algn="l"/>
            <a:r>
              <a:rPr sz="800" b="0" i="0">
                <a:solidFill>
                  <a:srgbClr val="8A9BB0"/>
                </a:solidFill>
                <a:latin typeface="Calibri"/>
              </a:rPr>
              <a:t>Rangs CORE · ★★★ viser · ★★ option · est. = estimée d'après l'édition 2026 · * sans actes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Prochaines étapes</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10</a:t>
            </a:r>
          </a:p>
        </p:txBody>
      </p:sp>
      <p:sp>
        <p:nvSpPr>
          <p:cNvPr id="5" name="Rectangle 4"/>
          <p:cNvSpPr/>
          <p:nvPr/>
        </p:nvSpPr>
        <p:spPr>
          <a:xfrm>
            <a:off x="8138160" y="64008"/>
            <a:ext cx="914400" cy="24688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38160" y="64008"/>
            <a:ext cx="914400" cy="246888"/>
          </a:xfrm>
          <a:prstGeom prst="rect">
            <a:avLst/>
          </a:prstGeom>
          <a:noFill/>
        </p:spPr>
        <p:txBody>
          <a:bodyPr wrap="square" lIns="45720" rIns="45720" tIns="18288" bIns="18288" anchor="ctr">
            <a:spAutoFit/>
          </a:bodyPr>
          <a:lstStyle/>
          <a:p>
            <a:pPr algn="ctr"/>
            <a:r>
              <a:rPr sz="800" b="1" i="0">
                <a:solidFill>
                  <a:srgbClr val="FFFFFF"/>
                </a:solidFill>
                <a:latin typeface="Calibri"/>
              </a:rPr>
              <a:t>ACTIONS</a:t>
            </a:r>
          </a:p>
        </p:txBody>
      </p:sp>
      <p:sp>
        <p:nvSpPr>
          <p:cNvPr id="7" name="Rectangle 6"/>
          <p:cNvSpPr/>
          <p:nvPr/>
        </p:nvSpPr>
        <p:spPr>
          <a:xfrm>
            <a:off x="274320" y="685800"/>
            <a:ext cx="8595360" cy="32004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85800"/>
            <a:ext cx="8595360" cy="320040"/>
          </a:xfrm>
          <a:prstGeom prst="rect">
            <a:avLst/>
          </a:prstGeom>
          <a:noFill/>
        </p:spPr>
        <p:txBody>
          <a:bodyPr wrap="square" lIns="45720" rIns="45720" tIns="18288" bIns="18288" anchor="ctr">
            <a:spAutoFit/>
          </a:bodyPr>
          <a:lstStyle/>
          <a:p>
            <a:pPr algn="l"/>
            <a:r>
              <a:rPr sz="1100" b="1" i="0">
                <a:solidFill>
                  <a:srgbClr val="00748C"/>
                </a:solidFill>
                <a:latin typeface="Calibri"/>
              </a:rPr>
              <a:t>  D'ici deux semaines : un premier test qui peut réfuter l'idée</a:t>
            </a:r>
          </a:p>
        </p:txBody>
      </p:sp>
      <p:sp>
        <p:nvSpPr>
          <p:cNvPr id="9" name="Rectangle 8"/>
          <p:cNvSpPr/>
          <p:nvPr/>
        </p:nvSpPr>
        <p:spPr>
          <a:xfrm>
            <a:off x="365760" y="1188720"/>
            <a:ext cx="54864" cy="59436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170432"/>
            <a:ext cx="8229600" cy="256032"/>
          </a:xfrm>
          <a:prstGeom prst="rect">
            <a:avLst/>
          </a:prstGeom>
          <a:noFill/>
        </p:spPr>
        <p:txBody>
          <a:bodyPr wrap="square" lIns="45720" rIns="45720" tIns="18288" bIns="18288" anchor="t">
            <a:spAutoFit/>
          </a:bodyPr>
          <a:lstStyle/>
          <a:p>
            <a:pPr algn="l"/>
            <a:r>
              <a:rPr sz="1000" b="1" i="0">
                <a:solidFill>
                  <a:srgbClr val="2C3E50"/>
                </a:solidFill>
                <a:latin typeface="Calibri"/>
              </a:rPr>
              <a:t>Écrire la théorie</a:t>
            </a:r>
          </a:p>
        </p:txBody>
      </p:sp>
      <p:sp>
        <p:nvSpPr>
          <p:cNvPr id="11" name="TextBox 10"/>
          <p:cNvSpPr txBox="1"/>
          <p:nvPr/>
        </p:nvSpPr>
        <p:spPr>
          <a:xfrm>
            <a:off x="594360" y="1426464"/>
            <a:ext cx="8229600" cy="411480"/>
          </a:xfrm>
          <a:prstGeom prst="rect">
            <a:avLst/>
          </a:prstGeom>
          <a:noFill/>
        </p:spPr>
        <p:txBody>
          <a:bodyPr wrap="square" lIns="45720" rIns="45720" tIns="18288" bIns="18288" anchor="t">
            <a:spAutoFit/>
          </a:bodyPr>
          <a:lstStyle/>
          <a:p>
            <a:pPr algn="l"/>
            <a:r>
              <a:rPr sz="900" b="0" i="0">
                <a:solidFill>
                  <a:srgbClr val="5D6D7E"/>
                </a:solidFill>
                <a:latin typeface="Calibri"/>
              </a:rPr>
              <a:t>Borne de délai dans l'espace latent et calibration exacte des moniteurs latents ; chaque borne vérifiée par simulation.</a:t>
            </a:r>
          </a:p>
        </p:txBody>
      </p:sp>
      <p:sp>
        <p:nvSpPr>
          <p:cNvPr id="12" name="Rectangle 11"/>
          <p:cNvSpPr/>
          <p:nvPr/>
        </p:nvSpPr>
        <p:spPr>
          <a:xfrm>
            <a:off x="365760" y="1965960"/>
            <a:ext cx="54864" cy="59436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947672"/>
            <a:ext cx="8229600" cy="256032"/>
          </a:xfrm>
          <a:prstGeom prst="rect">
            <a:avLst/>
          </a:prstGeom>
          <a:noFill/>
        </p:spPr>
        <p:txBody>
          <a:bodyPr wrap="square" lIns="45720" rIns="45720" tIns="18288" bIns="18288" anchor="t">
            <a:spAutoFit/>
          </a:bodyPr>
          <a:lstStyle/>
          <a:p>
            <a:pPr algn="l"/>
            <a:r>
              <a:rPr sz="1000" b="1" i="0">
                <a:solidFill>
                  <a:srgbClr val="2C3E50"/>
                </a:solidFill>
                <a:latin typeface="Calibri"/>
              </a:rPr>
              <a:t>Auditer le panel S&amp;P 500</a:t>
            </a:r>
          </a:p>
        </p:txBody>
      </p:sp>
      <p:sp>
        <p:nvSpPr>
          <p:cNvPr id="14" name="TextBox 13"/>
          <p:cNvSpPr txBox="1"/>
          <p:nvPr/>
        </p:nvSpPr>
        <p:spPr>
          <a:xfrm>
            <a:off x="594360" y="2203704"/>
            <a:ext cx="8229600" cy="411480"/>
          </a:xfrm>
          <a:prstGeom prst="rect">
            <a:avLst/>
          </a:prstGeom>
          <a:noFill/>
        </p:spPr>
        <p:txBody>
          <a:bodyPr wrap="square" lIns="45720" rIns="45720" tIns="18288" bIns="18288" anchor="t">
            <a:spAutoFit/>
          </a:bodyPr>
          <a:lstStyle/>
          <a:p>
            <a:pPr algn="l"/>
            <a:r>
              <a:rPr sz="900" b="0" i="0">
                <a:solidFill>
                  <a:srgbClr val="5D6D7E"/>
                </a:solidFill>
                <a:latin typeface="Calibri"/>
              </a:rPr>
              <a:t>Part de variance du marché, corrélations, et information de dérive des régimes passés, direction par direction.</a:t>
            </a:r>
          </a:p>
        </p:txBody>
      </p:sp>
      <p:sp>
        <p:nvSpPr>
          <p:cNvPr id="15" name="Rectangle 14"/>
          <p:cNvSpPr/>
          <p:nvPr/>
        </p:nvSpPr>
        <p:spPr>
          <a:xfrm>
            <a:off x="365760" y="2743200"/>
            <a:ext cx="54864" cy="594360"/>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724912"/>
            <a:ext cx="8229600" cy="256032"/>
          </a:xfrm>
          <a:prstGeom prst="rect">
            <a:avLst/>
          </a:prstGeom>
          <a:noFill/>
        </p:spPr>
        <p:txBody>
          <a:bodyPr wrap="square" lIns="45720" rIns="45720" tIns="18288" bIns="18288" anchor="t">
            <a:spAutoFit/>
          </a:bodyPr>
          <a:lstStyle/>
          <a:p>
            <a:pPr algn="l"/>
            <a:r>
              <a:rPr sz="1000" b="1" i="0">
                <a:solidFill>
                  <a:srgbClr val="2C3E50"/>
                </a:solidFill>
                <a:latin typeface="Calibri"/>
              </a:rPr>
              <a:t>Construire moniteurs et références</a:t>
            </a:r>
          </a:p>
        </p:txBody>
      </p:sp>
      <p:sp>
        <p:nvSpPr>
          <p:cNvPr id="17" name="TextBox 16"/>
          <p:cNvSpPr txBox="1"/>
          <p:nvPr/>
        </p:nvSpPr>
        <p:spPr>
          <a:xfrm>
            <a:off x="594360" y="2980944"/>
            <a:ext cx="8229600" cy="411480"/>
          </a:xfrm>
          <a:prstGeom prst="rect">
            <a:avLst/>
          </a:prstGeom>
          <a:noFill/>
        </p:spPr>
        <p:txBody>
          <a:bodyPr wrap="square" lIns="45720" rIns="45720" tIns="18288" bIns="18288" anchor="t">
            <a:spAutoFit/>
          </a:bodyPr>
          <a:lstStyle/>
          <a:p>
            <a:pPr algn="l"/>
            <a:r>
              <a:rPr sz="900" b="0" i="0">
                <a:solidFill>
                  <a:srgbClr val="5D6D7E"/>
                </a:solidFill>
                <a:latin typeface="Calibri"/>
              </a:rPr>
              <a:t>Surveillance univariée, pooling et PCA-orthogonal, branchés sur la même pile de détection.</a:t>
            </a:r>
          </a:p>
        </p:txBody>
      </p:sp>
      <p:sp>
        <p:nvSpPr>
          <p:cNvPr id="18" name="Rectangle 17"/>
          <p:cNvSpPr/>
          <p:nvPr/>
        </p:nvSpPr>
        <p:spPr>
          <a:xfrm>
            <a:off x="365760" y="3520439"/>
            <a:ext cx="54864" cy="5943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502151"/>
            <a:ext cx="8229600" cy="256032"/>
          </a:xfrm>
          <a:prstGeom prst="rect">
            <a:avLst/>
          </a:prstGeom>
          <a:noFill/>
        </p:spPr>
        <p:txBody>
          <a:bodyPr wrap="square" lIns="45720" rIns="45720" tIns="18288" bIns="18288" anchor="t">
            <a:spAutoFit/>
          </a:bodyPr>
          <a:lstStyle/>
          <a:p>
            <a:pPr algn="l"/>
            <a:r>
              <a:rPr sz="1000" b="1" i="0">
                <a:solidFill>
                  <a:srgbClr val="2C3E50"/>
                </a:solidFill>
                <a:latin typeface="Calibri"/>
              </a:rPr>
              <a:t>Premier test d'échappement</a:t>
            </a:r>
          </a:p>
        </p:txBody>
      </p:sp>
      <p:sp>
        <p:nvSpPr>
          <p:cNvPr id="20" name="TextBox 19"/>
          <p:cNvSpPr txBox="1"/>
          <p:nvPr/>
        </p:nvSpPr>
        <p:spPr>
          <a:xfrm>
            <a:off x="594360" y="3758183"/>
            <a:ext cx="8229600" cy="411480"/>
          </a:xfrm>
          <a:prstGeom prst="rect">
            <a:avLst/>
          </a:prstGeom>
          <a:noFill/>
        </p:spPr>
        <p:txBody>
          <a:bodyPr wrap="square" lIns="45720" rIns="45720" tIns="18288" bIns="18288" anchor="t">
            <a:spAutoFit/>
          </a:bodyPr>
          <a:lstStyle/>
          <a:p>
            <a:pPr algn="l"/>
            <a:r>
              <a:rPr sz="900" b="0" i="0">
                <a:solidFill>
                  <a:srgbClr val="5D6D7E"/>
                </a:solidFill>
                <a:latin typeface="Calibri"/>
              </a:rPr>
              <a:t>Sur bruit de fond réel neutralisé, le gain doit continuer de croître avec le nombre d'actifs là où le pooling plafonne. Sinon, l'idée est à revoir.</a:t>
            </a:r>
          </a:p>
        </p:txBody>
      </p:sp>
      <p:sp>
        <p:nvSpPr>
          <p:cNvPr id="21" name="TextBox 20"/>
          <p:cNvSpPr txBox="1"/>
          <p:nvPr/>
        </p:nvSpPr>
        <p:spPr>
          <a:xfrm>
            <a:off x="457200" y="4901184"/>
            <a:ext cx="7315200" cy="237744"/>
          </a:xfrm>
          <a:prstGeom prst="rect">
            <a:avLst/>
          </a:prstGeom>
          <a:noFill/>
        </p:spPr>
        <p:txBody>
          <a:bodyPr wrap="square" lIns="45720" rIns="45720" tIns="18288" bIns="18288" anchor="t">
            <a:spAutoFit/>
          </a:bodyPr>
          <a:lstStyle/>
          <a:p>
            <a:pPr algn="l"/>
            <a:r>
              <a:rPr sz="800" b="0" i="0">
                <a:solidFill>
                  <a:srgbClr val="8A9BB0"/>
                </a:solidFill>
                <a:latin typeface="Calibri"/>
              </a:rPr>
              <a:t>Article B (The Whitening Advantage) · Pagan &amp; Sossounov (2003)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371600"/>
            <a:ext cx="9144000" cy="237744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1691640"/>
            <a:ext cx="1371600" cy="1371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91640"/>
            <a:ext cx="1371600" cy="1371600"/>
          </a:xfrm>
          <a:prstGeom prst="rect">
            <a:avLst/>
          </a:prstGeom>
          <a:noFill/>
        </p:spPr>
        <p:txBody>
          <a:bodyPr wrap="square" lIns="45720" rIns="45720" tIns="18288" bIns="18288" anchor="ctr">
            <a:spAutoFit/>
          </a:bodyPr>
          <a:lstStyle/>
          <a:p>
            <a:pPr algn="ctr"/>
            <a:r>
              <a:rPr sz="4200" b="1" i="0">
                <a:solidFill>
                  <a:srgbClr val="FFFFFF"/>
                </a:solidFill>
                <a:latin typeface="Calibri"/>
              </a:rPr>
              <a:t>?</a:t>
            </a:r>
          </a:p>
        </p:txBody>
      </p:sp>
      <p:sp>
        <p:nvSpPr>
          <p:cNvPr id="5" name="TextBox 4"/>
          <p:cNvSpPr txBox="1"/>
          <p:nvPr/>
        </p:nvSpPr>
        <p:spPr>
          <a:xfrm>
            <a:off x="2926080" y="1737360"/>
            <a:ext cx="5486400" cy="914400"/>
          </a:xfrm>
          <a:prstGeom prst="rect">
            <a:avLst/>
          </a:prstGeom>
          <a:noFill/>
        </p:spPr>
        <p:txBody>
          <a:bodyPr wrap="square" lIns="45720" rIns="45720" tIns="18288" bIns="18288" anchor="t">
            <a:spAutoFit/>
          </a:bodyPr>
          <a:lstStyle/>
          <a:p>
            <a:pPr algn="l"/>
            <a:r>
              <a:rPr sz="2400" b="1" i="0">
                <a:solidFill>
                  <a:srgbClr val="FFFFFF"/>
                </a:solidFill>
                <a:latin typeface="Calibri"/>
              </a:rPr>
              <a:t>Questions &amp;</a:t>
            </a:r>
          </a:p>
          <a:p>
            <a:pPr algn="l"/>
            <a:r>
              <a:rPr sz="2400" b="1" i="0">
                <a:solidFill>
                  <a:srgbClr val="FFFFFF"/>
                </a:solidFill>
                <a:latin typeface="Calibri"/>
              </a:rPr>
              <a:t>discussion</a:t>
            </a:r>
          </a:p>
        </p:txBody>
      </p:sp>
      <p:sp>
        <p:nvSpPr>
          <p:cNvPr id="6" name="TextBox 5"/>
          <p:cNvSpPr txBox="1"/>
          <p:nvPr/>
        </p:nvSpPr>
        <p:spPr>
          <a:xfrm>
            <a:off x="2926080" y="2743200"/>
            <a:ext cx="5486400" cy="731520"/>
          </a:xfrm>
          <a:prstGeom prst="rect">
            <a:avLst/>
          </a:prstGeom>
          <a:noFill/>
        </p:spPr>
        <p:txBody>
          <a:bodyPr wrap="square" lIns="45720" rIns="45720" tIns="18288" bIns="18288" anchor="t">
            <a:spAutoFit/>
          </a:bodyPr>
          <a:lstStyle/>
          <a:p>
            <a:pPr algn="l"/>
            <a:r>
              <a:rPr sz="1200" b="0" i="0">
                <a:solidFill>
                  <a:srgbClr val="D5DBDB"/>
                </a:solidFill>
                <a:latin typeface="Calibri"/>
              </a:rPr>
              <a:t>Contact : R. Minato · Code : dépôt public à venir, anonymisé pendant la relecture</a:t>
            </a:r>
          </a:p>
        </p:txBody>
      </p:sp>
      <p:sp>
        <p:nvSpPr>
          <p:cNvPr id="7" name="TextBox 6"/>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772400" cy="457200"/>
          </a:xfrm>
          <a:prstGeom prst="rect">
            <a:avLst/>
          </a:prstGeom>
          <a:noFill/>
        </p:spPr>
        <p:txBody>
          <a:bodyPr wrap="square" lIns="45720" rIns="45720" tIns="18288" bIns="18288" anchor="ctr">
            <a:spAutoFit/>
          </a:bodyPr>
          <a:lstStyle/>
          <a:p>
            <a:pPr algn="l"/>
            <a:r>
              <a:rPr sz="1700" b="1" i="0">
                <a:solidFill>
                  <a:srgbClr val="FFFFFF"/>
                </a:solidFill>
                <a:latin typeface="Calibri"/>
              </a:rPr>
              <a:t>Annexe : d'où vient le plancher de Sharpe</a:t>
            </a:r>
          </a:p>
        </p:txBody>
      </p:sp>
      <p:sp>
        <p:nvSpPr>
          <p:cNvPr id="4" name="TextBox 3"/>
          <p:cNvSpPr txBox="1"/>
          <p:nvPr/>
        </p:nvSpPr>
        <p:spPr>
          <a:xfrm>
            <a:off x="8046720" y="4754880"/>
            <a:ext cx="914400" cy="320040"/>
          </a:xfrm>
          <a:prstGeom prst="rect">
            <a:avLst/>
          </a:prstGeom>
          <a:noFill/>
        </p:spPr>
        <p:txBody>
          <a:bodyPr wrap="square" lIns="45720" rIns="45720" tIns="18288" bIns="18288" anchor="t">
            <a:spAutoFit/>
          </a:bodyPr>
          <a:lstStyle/>
          <a:p>
            <a:pPr algn="r"/>
            <a:r>
              <a:rPr sz="900" b="0" i="0">
                <a:solidFill>
                  <a:srgbClr val="5D6D7E"/>
                </a:solidFill>
                <a:latin typeface="Calibri"/>
              </a:rPr>
              <a:t>12</a:t>
            </a:r>
          </a:p>
        </p:txBody>
      </p:sp>
      <p:sp>
        <p:nvSpPr>
          <p:cNvPr id="5" name="Rectangle 4"/>
          <p:cNvSpPr/>
          <p:nvPr/>
        </p:nvSpPr>
        <p:spPr>
          <a:xfrm>
            <a:off x="8138160" y="64008"/>
            <a:ext cx="868680" cy="246888"/>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38160" y="64008"/>
            <a:ext cx="868680" cy="246888"/>
          </a:xfrm>
          <a:prstGeom prst="rect">
            <a:avLst/>
          </a:prstGeom>
          <a:noFill/>
        </p:spPr>
        <p:txBody>
          <a:bodyPr wrap="square" lIns="45720" rIns="45720" tIns="18288" bIns="18288" anchor="ctr">
            <a:spAutoFit/>
          </a:bodyPr>
          <a:lstStyle/>
          <a:p>
            <a:pPr algn="ctr"/>
            <a:r>
              <a:rPr sz="800" b="1" i="0">
                <a:solidFill>
                  <a:srgbClr val="FFFFFF"/>
                </a:solidFill>
                <a:latin typeface="Calibri"/>
              </a:rPr>
              <a:t>ANNEXE</a:t>
            </a:r>
          </a:p>
        </p:txBody>
      </p:sp>
      <p:sp>
        <p:nvSpPr>
          <p:cNvPr id="7" name="Rectangle 6"/>
          <p:cNvSpPr/>
          <p:nvPr/>
        </p:nvSpPr>
        <p:spPr>
          <a:xfrm>
            <a:off x="274320" y="685800"/>
            <a:ext cx="8595360" cy="27432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85800"/>
            <a:ext cx="8595360" cy="274320"/>
          </a:xfrm>
          <a:prstGeom prst="rect">
            <a:avLst/>
          </a:prstGeom>
          <a:noFill/>
        </p:spPr>
        <p:txBody>
          <a:bodyPr wrap="square" lIns="45720" rIns="45720" tIns="18288" bIns="18288" anchor="ctr">
            <a:spAutoFit/>
          </a:bodyPr>
          <a:lstStyle/>
          <a:p>
            <a:pPr algn="l"/>
            <a:r>
              <a:rPr sz="1000" b="1" i="0">
                <a:solidFill>
                  <a:srgbClr val="00748C"/>
                </a:solidFill>
                <a:latin typeface="Calibri"/>
              </a:rPr>
              <a:t>  Quatre lignes, pour une dérive gaussienne de la moyenne</a:t>
            </a:r>
          </a:p>
        </p:txBody>
      </p:sp>
      <p:sp>
        <p:nvSpPr>
          <p:cNvPr id="9" name="TextBox 8"/>
          <p:cNvSpPr txBox="1"/>
          <p:nvPr/>
        </p:nvSpPr>
        <p:spPr>
          <a:xfrm>
            <a:off x="320040" y="1051560"/>
            <a:ext cx="8503920" cy="457200"/>
          </a:xfrm>
          <a:prstGeom prst="rect">
            <a:avLst/>
          </a:prstGeom>
          <a:noFill/>
        </p:spPr>
        <p:txBody>
          <a:bodyPr wrap="square" lIns="45720" rIns="45720" tIns="18288" bIns="18288" anchor="t">
            <a:spAutoFit/>
          </a:bodyPr>
          <a:lstStyle/>
          <a:p>
            <a:pPr algn="l"/>
            <a:r>
              <a:rPr sz="1000" b="1" i="0">
                <a:solidFill>
                  <a:srgbClr val="2C3E50"/>
                </a:solidFill>
                <a:latin typeface="Calibri"/>
              </a:rPr>
              <a:t>1. Preuve quotidienne d'un décalage μ de la moyenne, à volatilité σ :</a:t>
            </a:r>
          </a:p>
          <a:p>
            <a:pPr algn="l"/>
            <a:r>
              <a:rPr sz="900" b="0" i="1">
                <a:solidFill>
                  <a:srgbClr val="2D3748"/>
                </a:solidFill>
                <a:latin typeface="Calibri"/>
              </a:rPr>
              <a:t>KL = μ² / (2σ²) = SR_jour² / 2, avec SR_jour = μ/σ</a:t>
            </a:r>
          </a:p>
        </p:txBody>
      </p:sp>
      <p:sp>
        <p:nvSpPr>
          <p:cNvPr id="10" name="TextBox 9"/>
          <p:cNvSpPr txBox="1"/>
          <p:nvPr/>
        </p:nvSpPr>
        <p:spPr>
          <a:xfrm>
            <a:off x="320040" y="1691640"/>
            <a:ext cx="8503920" cy="457200"/>
          </a:xfrm>
          <a:prstGeom prst="rect">
            <a:avLst/>
          </a:prstGeom>
          <a:noFill/>
        </p:spPr>
        <p:txBody>
          <a:bodyPr wrap="square" lIns="45720" rIns="45720" tIns="18288" bIns="18288" anchor="t">
            <a:spAutoFit/>
          </a:bodyPr>
          <a:lstStyle/>
          <a:p>
            <a:pPr algn="l"/>
            <a:r>
              <a:rPr sz="1000" b="1" i="0">
                <a:solidFill>
                  <a:srgbClr val="2C3E50"/>
                </a:solidFill>
                <a:latin typeface="Calibri"/>
              </a:rPr>
              <a:t>2. Annualisation sur 252 jours de bourse :</a:t>
            </a:r>
          </a:p>
          <a:p>
            <a:pPr algn="l"/>
            <a:r>
              <a:rPr sz="900" b="0" i="1">
                <a:solidFill>
                  <a:srgbClr val="2D3748"/>
                </a:solidFill>
                <a:latin typeface="Calibri"/>
              </a:rPr>
              <a:t>SR = √252 · SR_jour ⇒ KL = SR² / 504</a:t>
            </a:r>
          </a:p>
        </p:txBody>
      </p:sp>
      <p:sp>
        <p:nvSpPr>
          <p:cNvPr id="11" name="TextBox 10"/>
          <p:cNvSpPr txBox="1"/>
          <p:nvPr/>
        </p:nvSpPr>
        <p:spPr>
          <a:xfrm>
            <a:off x="320040" y="2377440"/>
            <a:ext cx="8503920" cy="457200"/>
          </a:xfrm>
          <a:prstGeom prst="rect">
            <a:avLst/>
          </a:prstGeom>
          <a:noFill/>
        </p:spPr>
        <p:txBody>
          <a:bodyPr wrap="square" lIns="45720" rIns="45720" tIns="18288" bIns="18288" anchor="t">
            <a:spAutoFit/>
          </a:bodyPr>
          <a:lstStyle/>
          <a:p>
            <a:pPr algn="l"/>
            <a:r>
              <a:rPr sz="1000" b="1" i="0">
                <a:solidFill>
                  <a:srgbClr val="2C3E50"/>
                </a:solidFill>
                <a:latin typeface="Calibri"/>
              </a:rPr>
              <a:t>3. Borne de la détection la plus rapide, atteinte par le CUSUM ; (1 + o(1)) s'efface quand ARL₀ grandit :</a:t>
            </a:r>
          </a:p>
          <a:p>
            <a:pPr algn="l"/>
            <a:r>
              <a:rPr sz="900" b="0" i="1">
                <a:solidFill>
                  <a:srgbClr val="2D3748"/>
                </a:solidFill>
                <a:latin typeface="Calibri"/>
              </a:rPr>
              <a:t>ADD ≥ ln(ARL₀) / KL · (1 + o(1))</a:t>
            </a:r>
          </a:p>
        </p:txBody>
      </p:sp>
      <p:sp>
        <p:nvSpPr>
          <p:cNvPr id="12" name="TextBox 11"/>
          <p:cNvSpPr txBox="1"/>
          <p:nvPr/>
        </p:nvSpPr>
        <p:spPr>
          <a:xfrm>
            <a:off x="320040" y="3017520"/>
            <a:ext cx="8503920" cy="457200"/>
          </a:xfrm>
          <a:prstGeom prst="rect">
            <a:avLst/>
          </a:prstGeom>
          <a:noFill/>
        </p:spPr>
        <p:txBody>
          <a:bodyPr wrap="square" lIns="45720" rIns="45720" tIns="18288" bIns="18288" anchor="t">
            <a:spAutoFit/>
          </a:bodyPr>
          <a:lstStyle/>
          <a:p>
            <a:pPr algn="l"/>
            <a:r>
              <a:rPr sz="1000" b="1" i="0">
                <a:solidFill>
                  <a:srgbClr val="2C3E50"/>
                </a:solidFill>
                <a:latin typeface="Calibri"/>
              </a:rPr>
              <a:t>4. D'où le plancher, avec α₀ = 1/ARL₀ :</a:t>
            </a:r>
          </a:p>
          <a:p>
            <a:pPr algn="l"/>
            <a:r>
              <a:rPr sz="900" b="0" i="1">
                <a:solidFill>
                  <a:srgbClr val="2D3748"/>
                </a:solidFill>
                <a:latin typeface="Calibri"/>
              </a:rPr>
              <a:t>ADD_min ≥ 504 · ln(1/α₀) / SR²  □</a:t>
            </a:r>
          </a:p>
        </p:txBody>
      </p:sp>
      <p:sp>
        <p:nvSpPr>
          <p:cNvPr id="13" name="Rectangle 12"/>
          <p:cNvSpPr/>
          <p:nvPr/>
        </p:nvSpPr>
        <p:spPr>
          <a:xfrm>
            <a:off x="274320" y="3703320"/>
            <a:ext cx="8595360" cy="960120"/>
          </a:xfrm>
          <a:prstGeom prst="rect">
            <a:avLst/>
          </a:prstGeom>
          <a:solidFill>
            <a:srgbClr val="FF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3749039"/>
            <a:ext cx="8412480" cy="868680"/>
          </a:xfrm>
          <a:prstGeom prst="rect">
            <a:avLst/>
          </a:prstGeom>
          <a:noFill/>
        </p:spPr>
        <p:txBody>
          <a:bodyPr wrap="square" lIns="45720" rIns="45720" tIns="18288" bIns="18288" anchor="t">
            <a:spAutoFit/>
          </a:bodyPr>
          <a:lstStyle/>
          <a:p>
            <a:pPr algn="l"/>
            <a:r>
              <a:rPr sz="1000" b="1" i="0">
                <a:solidFill>
                  <a:srgbClr val="C0392B"/>
                </a:solidFill>
                <a:latin typeface="Calibri"/>
              </a:rPr>
              <a:t>Portée :</a:t>
            </a:r>
          </a:p>
          <a:p>
            <a:pPr algn="l"/>
            <a:r>
              <a:rPr sz="900" b="0" i="0">
                <a:solidFill>
                  <a:srgbClr val="5D6D7E"/>
                </a:solidFill>
                <a:latin typeface="Calibri"/>
              </a:rPr>
              <a:t>• La borne vise la loi inconditionnelle d'une seule série. Un moniteur qui connaîtrait la volatilité du jour ferait mieux : l'Article B le mesure avec un oracle à anticipation.</a:t>
            </a:r>
          </a:p>
          <a:p>
            <a:pPr algn="l"/>
            <a:r>
              <a:rPr sz="900" b="0" i="0">
                <a:solidFill>
                  <a:srgbClr val="5D6D7E"/>
                </a:solidFill>
                <a:latin typeface="Calibri"/>
              </a:rPr>
              <a:t>• Le moniteur de signe de l'Article B paie un facteur π/2 sous loi gaussienne, en échange d'une calibration exacte.</a:t>
            </a:r>
          </a:p>
          <a:p>
            <a:pPr algn="l"/>
            <a:r>
              <a:rPr sz="900" b="0" i="0">
                <a:solidFill>
                  <a:srgbClr val="5D6D7E"/>
                </a:solidFill>
                <a:latin typeface="Calibri"/>
              </a:rPr>
              <a:t>• En multivarié, SR² devient le carré du Sharpe du portefeuille aligné sur la dérive : sujet de la semaine prochaine.</a:t>
            </a:r>
          </a:p>
        </p:txBody>
      </p:sp>
      <p:sp>
        <p:nvSpPr>
          <p:cNvPr id="15" name="TextBox 14"/>
          <p:cNvSpPr txBox="1"/>
          <p:nvPr/>
        </p:nvSpPr>
        <p:spPr>
          <a:xfrm>
            <a:off x="457200" y="4901184"/>
            <a:ext cx="7315200" cy="237744"/>
          </a:xfrm>
          <a:prstGeom prst="rect">
            <a:avLst/>
          </a:prstGeom>
          <a:noFill/>
        </p:spPr>
        <p:txBody>
          <a:bodyPr wrap="square" lIns="45720" rIns="45720" tIns="18288" bIns="18288" anchor="t">
            <a:spAutoFit/>
          </a:bodyPr>
          <a:lstStyle/>
          <a:p>
            <a:pPr algn="l"/>
            <a:r>
              <a:rPr sz="800" b="0" i="0">
                <a:solidFill>
                  <a:srgbClr val="8A9BB0"/>
                </a:solidFill>
                <a:latin typeface="Calibri"/>
              </a:rPr>
              <a:t>Lorden (1971) · Moustakides (1986) · Lai (1998) · Tartakovsky et al. (2014)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