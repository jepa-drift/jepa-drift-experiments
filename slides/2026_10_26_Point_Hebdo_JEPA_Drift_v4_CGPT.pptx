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parler de classification prédictive si aucune cible externe n'est définie. Les méthodes déjà exécutées sont identifiées dans les slides suivantes.</a:t>
            </a:r>
          </a:p>
          <a:p/>
          <a:p>
            <a:r>
              <a:t>CANONICAL BULLET POINTS</a:t>
            </a:r>
          </a:p>
          <a:p>
            <a:r>
              <a:t>26 octobre 2026. **Question :** à fausses alarmes comparables, quelles transformations d'une coupe journalière d'actions révèlent plus vite une rupture ?</a:t>
            </a:r>
          </a:p>
          <a:p>
            <a:r>
              <a:t>**Acquis :** plafond de l'agrégation corrélée, projections ACP opérationnelles, calibration des signes sous hypothèses, premières expériences sur changements de moyenne et de covariance.</a:t>
            </a:r>
          </a:p>
          <a:p>
            <a:r>
              <a:t>**Inconnu :** l'avantage incrémental d'une représentation JEPA compacte face aux transformations sans réseau.</a:t>
            </a:r>
          </a:p>
          <a:p/>
          <a:p>
            <a:r>
              <a:t>VISUAL SOURCE</a:t>
            </a:r>
          </a:p>
          <a:p>
            <a:r>
              <a:t>Titre au format du template, puis un diagramme sobre et éditable : `rendements journaliers (N actifs) -&gt; représentation figée (d coordonnées) -&gt; détecteurs distincts -&gt; alarmes`. Faire apparaître sous la flèche centrale « information conservée / coût de surveillance ». Pas de chiffres sur la slide de titre.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L'erreur maximale 4,7 % concerne le bras mélange gaussien ; ne pas la présenter comme le maximum de toutes les 46 cellules. Le résultat sur la rotation est censuré à 250 jours et profite du détecteur de référence unilatéral. Cette slide établit la carte des preuves ; la suite explique les traitements.</a:t>
            </a:r>
          </a:p>
          <a:p/>
          <a:p>
            <a:r>
              <a:t>CANONICAL BULLET POINTS</a:t>
            </a:r>
          </a:p>
          <a:p>
            <a:r>
              <a:t>**Résultats expérimentaux : chaque ligne rappelle les données et le pipeline.**</a:t>
            </a:r>
          </a:p>
          <a:p>
            <a:r>
              <a:t>[TABLE]</a:t>
            </a:r>
          </a:p>
          <a:p>
            <a:r>
              <a:t>| Données / pipeline | Configuration | Résultat observé | Réserve |</a:t>
            </a:r>
          </a:p>
          <a:p>
            <a:r>
              <a:t>|---|---|---|---|</a:t>
            </a:r>
          </a:p>
          <a:p>
            <a:r>
              <a:t>| 97 actions historiques ; moyenne de signes corrélés | Corrélation moyenne ≈ 0,26 ; comparaison sur la largeur du panel | Taille équivalente ≈ **3,85** actifs ; gain de dispersion ≈ **1,96×** ; réduction de budget empirique ≈ **2×** | Deux mesures distinctes ; univers historique sélectionné |</a:t>
            </a:r>
          </a:p>
          <a:p>
            <a:r>
              <a:t>| Simulations gaussiennes, Student/GARCH et signes symétrisés ; moniteurs séquentiels | 46 cellules, lectures de délai spécifiées, graines fixées | **46/46** validations ; erreur maximale **4,7 %** sur le bras mélange gaussien | Validation des générateurs et des formules dans leurs domaines |</a:t>
            </a:r>
          </a:p>
          <a:p>
            <a:r>
              <a:t>| Nulls symétriques simulés + journées historiques symétrisées ; projection scalaire impaire, seuil exact | **H = 750 jours**, 317 configurations ; cible exacte **4,3947 %** | Taux moyen observé **4,425 %** | Ne couvre pas les rendements bruts asymétriques |</a:t>
            </a:r>
          </a:p>
          <a:p>
            <a:r>
              <a:t>| Panel simulé corrélé, Student t7 ; rotation de covariance ; énergie ACP vs énergie d'indice | **N = 239**, H = 250 jours, même FPR visée 5 % | Rotation 1er–2e axes : rapports de délais **14,59–105,42** pour une seule composante résiduelle | Exploratoire ; l'indice de référence rate les baisses de variance |</a:t>
            </a:r>
          </a:p>
          <a:p>
            <a:r>
              <a:t>**Résultats théoriques : hypothèse / constat expérimental.**</a:t>
            </a:r>
          </a:p>
          <a:p>
            <a:r>
              <a:t>[TABLE]</a:t>
            </a:r>
          </a:p>
          <a:p>
            <a:r>
              <a:t>| Résultat | Hypothèses exactes | Vérification |</a:t>
            </a:r>
          </a:p>
          <a:p>
            <a:r>
              <a:t>|---|---|---|</a:t>
            </a:r>
          </a:p>
          <a:p>
            <a:r>
              <a:t>| Budget `log(gamma)/I` | Test de preuve démarré au changement, conditions d'arrêt ; `I` = information KL/jour | Accord Monte Carlo ; **pas** borne universelle à ARL fini |</a:t>
            </a:r>
          </a:p>
          <a:p>
            <a:r>
              <a:t>| Signes Bernoulli(1/2) | Symétrie centrale conditionnelle + statistique impaire + pièce aux zéros | Validé sur nulls admissibles ; violé sur chocs asymétriques |</a:t>
            </a:r>
          </a:p>
          <a:p>
            <a:r>
              <a:t>| Coût `M(d,gamma)` du mélange | Vecteur gaussien indépendant et isotrope ; largeur du mélange appariée | Accord sur simulations ; **pas** coût mesuré de JEPA |</a:t>
            </a:r>
          </a:p>
          <a:p/>
          <a:p>
            <a:r>
              <a:t>VISUAL SOURCE</a:t>
            </a:r>
          </a:p>
          <a:p>
            <a:r>
              <a:t>Deux tableaux superposés, premier sur 57 % de la surface, second sur 33 %. Utiliser des colonnes suffisamment larges et, si la lisibilité l'exige, autoriser une scission physique « slide 2 (suite) » sans perdre les configurations. Aucun graphique décoratif.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valeurs brutes sont rang-transformées quotidiennement. La pente de beta utilise une covariance et variance centrées sur les mêmes paires observées, pas une simple corrélation. Les secteurs actuels utilisés comme encodage optionnel ne sont pas historiquement fiables ; exclure de la preuve principale. Un changement de P(X) et un changement de P(Y|X) ne se définissent pas par une liste particulière de caractéristiques.</a:t>
            </a:r>
          </a:p>
          <a:p/>
          <a:p>
            <a:r>
              <a:t>CANONICAL BULLET POINTS</a:t>
            </a:r>
          </a:p>
          <a:p>
            <a:r>
              <a:t>Une observation quotidienne est `r_t` : vecteur de **N log-rendements**. Les panels principaux : **97 actions américaines, 5 154 séances (2005-01-04 → 2025-06-30)** ; **239 actions S&amp;P 500**, sélectionnées parmi les constituants actuels selon la longueur historique, pré-entraînement de 2005 à 2015, calibration et surveillance après.</a:t>
            </a:r>
          </a:p>
          <a:p>
            <a:r>
              <a:t>Quatre **caractéristiques propres à chaque action**, toutes calculées avec des observations **strictement antérieures à t** : `beta_252` (pente des moindres carrés sur le rendement de marché, fenêtre 252 jours, ≥126 paires) ; `vol_63` (écart-type sur 63 jours, ≥2 rendements) ; `mom_12_1` (somme des rendements des jours t−252 à t−22) ; `rev_21` (somme des rendements de t−21 à t−1).</a:t>
            </a:r>
          </a:p>
          <a:p>
            <a:r>
              <a:t>Pour chaque jour, les valeurs disponibles des quatre caractéristiques sont transformées en **rangs transversaux `rang/n_valides − 0,5`** ; valeurs non calculables laissées manquantes, imputées seulement selon la règle de la méthode.</a:t>
            </a:r>
          </a:p>
          <a:p>
            <a:r>
              <a:t>**Portée :** les pipelines de détection ACP sur `r_t` ne consomment **aucune** de ces quatre caractéristiques ; elles interviennent dans la construction de dérives guidées et dans les modèles de représentation conditionnés. Ce ne sont pas les variables exclusives de toute détection de data drift ou concept drift.</a:t>
            </a:r>
          </a:p>
          <a:p/>
          <a:p>
            <a:r>
              <a:t>VISUAL SOURCE</a:t>
            </a:r>
          </a:p>
          <a:p>
            <a:r>
              <a:t>Deux zones fonctionnelles : gauche matrice 97/239 colonnes de rendements ; droite tableau de quatre colonnes « beta / vol / momentum / reversal » avec fenêtres `[t−252,t)`, `[t−63,t)`, `[t−252,t−21)`, `[t−21,t)` (borne supérieure exclue). Les catégories sectorielles statiques ne sont pas requises pour ce tableau.</a:t>
            </a:r>
          </a:p>
          <a:p/>
          <a:p>
            <a:r>
              <a:t>EQUATION SOURCES (StarMath — for manual replacement only)</a:t>
            </a:r>
          </a:p>
          <a:p>
            <a:r>
              <a:t>ASCII: beta_i(t) = Cov(r_i, r_m | [t-252,t)) / Var(r_m | [t-252,t))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inventer les effectifs de prétrain et monitor quand les manifestes exécutables ne sont pas fournis. Sur certaines archives, les indices de lignes des 941 jours diffèrent malgré les mêmes dates ; préférer la jointure par date. Les 239 titres ont été sélectionnés ex post : la surveillance réelle historique est rétrospective.</a:t>
            </a:r>
          </a:p>
          <a:p/>
          <a:p>
            <a:r>
              <a:t>CANONICAL BULLET POINTS</a:t>
            </a:r>
          </a:p>
          <a:p>
            <a:r>
              <a:t>[TABLE]</a:t>
            </a:r>
          </a:p>
          <a:p>
            <a:r>
              <a:t>| Échantillon | Dates nominales | Usage | Observations confirmées |</a:t>
            </a:r>
          </a:p>
          <a:p>
            <a:r>
              <a:t>|---|---|---|---|</a:t>
            </a:r>
          </a:p>
          <a:p>
            <a:r>
              <a:t>| Pré-entraînement | 2005-01-01 → 2015-12-31 | Poids des réseaux proposés ; pas l'ACP classique | Nombre par panel : **non consolidé dans les pièces fournies** |</a:t>
            </a:r>
          </a:p>
          <a:p>
            <a:r>
              <a:t>| Calibration de représentation et des seuils | 2016-01-01 → 2019-12-31, après exclusion de 65 séances après 2016-01-01 | ACP, valeurs propres, axes, échelles, seuil énergie, paramètres des mises | **239 actions : 941 jours, 2016-04-07 → 2019-12-31** |</a:t>
            </a:r>
          </a:p>
          <a:p>
            <a:r>
              <a:t>| Surveillance | Dès 2020 après exclusion de 65 séances | Transformations figées ; injections éventuelles en évaluation | Nombre exact par panel : à lire dans chaque manifeste daté |</a:t>
            </a:r>
          </a:p>
          <a:p>
            <a:r>
              <a:t>Les **65 séances exclues** séparent les usages. La fenêtre de calibration de 941 jours correspond à **941 vecteurs de dimension 239** dans les expériences qui exigent le panel complet ; elle ne correspond pas à 941 trajectoires indépendantes.</a:t>
            </a:r>
          </a:p>
          <a:p>
            <a:r>
              <a:t>**Distinction des pipelines :** ACP = ajustement une fois en calibration ; réseau JEPA prévu = pré-entraînement antérieur, puis sélection/calibration sans réutiliser le test. Certains essais de calibrage nul réemploient des fenêtres du segment de calibration : ce fait limite leur indépendance.</a:t>
            </a:r>
          </a:p>
          <a:p>
            <a:r>
              <a:t>Pour les analyses rétrospectives 97 actions, le panel global documenté contient **5 154 × 97 rendements** ; les dates et effectifs effectifs de chaque segment doivent être relus dans le manifeste, non estimés à partir d'années civiles.</a:t>
            </a:r>
          </a:p>
          <a:p/>
          <a:p>
            <a:r>
              <a:t>VISUAL SOURCE</a:t>
            </a:r>
          </a:p>
          <a:p>
            <a:r>
              <a:t>Frise horizontale sur 2005–2026 avec 3 bandes prétrain/calibration/surveillance, deux hachures de 65 séances, indication `941 jours × 239 actifs` sur la calibration. Sous chaque bande, afficher l'opération réellement réalisée : « apprendre réseau [proposé] », « covariance / ACP / seuils [implémenté] », « signaux/alarme [évalué sur fonds injectés]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grille gaussienne indépendante est de dimension d latente ; le panel t7 corrélé porte 239 actifs. Ne pas déduire « nombre de répétitions = 317 » : ce sont 317 configurations de canaux admises. Les nombres de panneaux de 500 jours sont spécifiques à l'expérience de covariance simulée.</a:t>
            </a:r>
          </a:p>
          <a:p/>
          <a:p>
            <a:r>
              <a:t>CANONICAL BULLET POINTS</a:t>
            </a:r>
          </a:p>
          <a:p>
            <a:r>
              <a:t>[TABLE]</a:t>
            </a:r>
          </a:p>
          <a:p>
            <a:r>
              <a:t>| Fond | Génération / données | Taille documentée | Évaluation |</a:t>
            </a:r>
          </a:p>
          <a:p>
            <a:r>
              <a:t>|---|---|---|---|</a:t>
            </a:r>
          </a:p>
          <a:p>
            <a:r>
              <a:t>| Gaussien multidimensionnel | `z_t` indépendant `N(0, I_d)` ; `d ∈ {1,2,5,10,20,64}` pour la grille des mélanges | **46 configurations au total** avec autres générateurs ; **500 à 2 000 répétitions/cellule** selon le bras | Budget de preuve, délais, contrôle du null |</a:t>
            </a:r>
          </a:p>
          <a:p>
            <a:r>
              <a:t>| Student/GARCH | Innovations Student à **7 degrés de liberté** ; GARCH(1,1) volatilité commune (exemple `alpha=0,08`, `beta=0,90`) | Longueur et dimension variables selon cellule ; pas de taille globale unique | Efficacité signe vs amplitude, pénalité GARCH |</a:t>
            </a:r>
          </a:p>
          <a:p>
            <a:r>
              <a:t>| Panel de covariance simulé | **N=239**, corrélation factorielle **0,40**, Student t7 ; 941 jours pour ajustement d'un panel indépendant | **2 000 panels de calibration + 2 000 panels de test, 500 jours chacun** | Énergie, `H=250/500`, cible `FPR=5 %` |</a:t>
            </a:r>
          </a:p>
          <a:p>
            <a:r>
              <a:t>| Rendements historiques symétrisés | Panel 97 ou 239 actions ; chaque **jour entier** multiplié par un signe ±1 indépendant | Exemple : **941 jours × 239 actions** pour la calibration des expériences covariance ; fenêtres `H=250/500` | Conservation des amplitudes historiques, null rendu symétrique |</a:t>
            </a:r>
          </a:p>
          <a:p>
            <a:r>
              <a:t>| Stress des signes | Gaussien, t3/t4/t5/t7, volatilité asymétrique, retours nuls, chocs communs asymétriques | **317 configurations de canaux admissibles** sur `H=750` ; contrôle i.i.d. sur **20 000** trajectoires | Validité exacte et inflation des fausses alarmes |</a:t>
            </a:r>
          </a:p>
          <a:p>
            <a:r>
              <a:t>**Injections :** moyenne factorielle, moyenne guidée par caractéristiques, translation du marché ; covariance modifiée par amplification ou rotation. La rupture est appliquée aux **rendements**, avant la représentation et sans modifier la période de calibration.</a:t>
            </a:r>
          </a:p>
          <a:p>
            <a:r>
              <a:t>**Jeu « entraînement / validation / test » d'une simulation :** panel indépendant pour ajuster la covariance si requis ; panels indépendants pour choisir le seuil et évaluer l'alarme (cas simulé à 2 000 + 2 000). Dans le fond historique symétrisé, les fenêtres se recouvrent : elles ne sont **pas** des échantillons indépendants.</a:t>
            </a:r>
          </a:p>
          <a:p/>
          <a:p>
            <a:r>
              <a:t>VISUAL SOURCE</a:t>
            </a:r>
          </a:p>
          <a:p>
            <a:r>
              <a:t>Tableau intégral ; bandeau de couleur différent pour les panels entièrement simulés et les données historiques symétrisées. Pas d'illustration générique ni de courbe créée sans données.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L'hypothèse suffit à illustrer le risque, sans prouver que l'entraînement réel amortit toutes les dérives. Les calculs de série géométrique, de budget d'information et du temps fluide sont développés en annexes.</a:t>
            </a:r>
          </a:p>
          <a:p/>
          <a:p>
            <a:r>
              <a:t>CANONICAL BULLET POINTS</a:t>
            </a:r>
          </a:p>
          <a:p>
            <a:r>
              <a:t>**Hypothèse explicite**, non résultat JEPA : après la rupture, un encodeur réappris atténue l'amplitude de la dérive selon une relaxation exponentielle de temps `tau_a` (jours). Dans un modèle de translation gaussienne à covariance fixée, l'information quotidienne `I_t` décroît alors comme **le carré de cette amplitude**.</a:t>
            </a:r>
          </a:p>
          <a:p>
            <a:r>
              <a:t>**Budget discret disponible :** la somme sur les jours peut converger vers `B_total &lt; log(gamma)`, où `gamma` est le seuil de preuve d'un test lancé à la rupture. Un test de preuve valide sous le null ne peut alors franchir ce seuil **avec probabilité 1** ; cela ne signifie pas une probabilité de détection nulle.</a:t>
            </a:r>
          </a:p>
          <a:p>
            <a:r>
              <a:t>**Conséquence expérimentale :** geler les poids de l'encodeur, les axes, les échelles et la calibration pendant la surveillance ; tester l'adaptation continue séparément si elle est envisagée.</a:t>
            </a:r>
          </a:p>
          <a:p/>
          <a:p>
            <a:r>
              <a:t>VISUAL SOURCE</a:t>
            </a:r>
          </a:p>
          <a:p>
            <a:r>
              <a:t>Courbe conceptuelle à deux axes : `I_t` constant (encodeur gelé) vs `I_t` exponentiellement décroissant (adaptation) ; aire cumulée plafonnant sous le seuil dans un cas. Légende « modèle théorique, pas mesure d'un JEPA ». Pas de frise vague.</a:t>
            </a:r>
          </a:p>
          <a:p/>
          <a:p>
            <a:r>
              <a:t>EQUATION SOURCES (StarMath — for manual replacement only)</a:t>
            </a:r>
          </a:p>
          <a:p>
            <a:r>
              <a:t>ASCII: I_t = I_0 * exp[-2*(t-1)/tau_a] ; B_total = I_0 / (1-exp[-2/tau_a])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signaux sont calculables quotidiennement par la même représentation, mais les expériences et seuils ne définissent pas un test familial unique combinant signe et énergie. Un OR des alarmes exigerait une correction de niveau ou une nouvelle calibration jointe. L'énergie utilise une dérive de référence 0,5 dans le code ; le signe exact scalaire une dérive 0,1.</a:t>
            </a:r>
          </a:p>
          <a:p/>
          <a:p>
            <a:r>
              <a:t>CANONICAL BULLET POINTS</a:t>
            </a:r>
          </a:p>
          <a:p>
            <a:r>
              <a:t>**Data drift** : changement de distribution `P(X)` ; ici `X = r_t`, ou son image gelée. **Concept drift supervisé** : changement de `P(Y|X)` pour une cible `Y`. Dans les expériences financières ACP, il n'y a **ni cible supervisée `Y`, ni prédicteur supervisé** : on surveille des changements de **moyenne** ou de **covariance** des rendements.</a:t>
            </a:r>
          </a:p>
          <a:p>
            <a:r>
              <a:t>**Branche localisation :** `r_t -&gt; scores ACP z_k(t) -&gt; bit signe b_k(t) -&gt; détecteur bilatéral par canal -&gt; mélange de preuves des canaux sélectionnés -&gt; une alarme signe`. La composante de marché peut être conservée en canal distinct.</a:t>
            </a:r>
          </a:p>
          <a:p>
            <a:r>
              <a:t>**Branche dispersion :** mêmes rendements et mêmes axes gelés ; `scores z_k(t) -&gt; carrés sur les seules directions résiduelles -&gt; énergie q_t -&gt; CUSUM unilatéral -&gt; une alarme énergie`. **Le détecteur d'énergie n'utilise pas les bits de signe.**</a:t>
            </a:r>
          </a:p>
          <a:p>
            <a:r>
              <a:t>**Statut de la combinaison :** plusieurs **canaux de signes** et plusieurs mises sont effectivement combinés ; les branches « signe » et « énergie » ont été **évaluées séparément**. Pas de règle globale « alarme si l'une des deux alarmes » calibrée et comparée comme détecteur unique dans les résultats fournis.</a:t>
            </a:r>
          </a:p>
          <a:p/>
          <a:p>
            <a:r>
              <a:t>VISUAL SOURCE</a:t>
            </a:r>
          </a:p>
          <a:p>
            <a:r>
              <a:t>Schéma en Y **précis**, origine commune `r_t`, bloc `ACP + échelle gelées (calib)` puis : haut `z_k -&gt; signe -&gt; mélange de e-détecteurs -&gt; alarme localisation` ; bas `z_k^2 (k&gt;=2) -&gt; q_t -&gt; CUSUM énergie -&gt; alarme dispersion`. Deux sorties distinctes sans fusion. Faire apparaître « Data drift des rendements / pas P(Y|X) » au-dessus.</a:t>
            </a:r>
          </a:p>
          <a:p/>
          <a:p>
            <a:r>
              <a:t>EQUATION SOURCES (StarMath — for manual replacement only)</a:t>
            </a:r>
          </a:p>
          <a:p>
            <a:r>
              <a:t>ASCII: q_t = [somme(k dans residuels, z_k(t)^2) - d_R] / sqrt(2*d_R)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retient l'option sans rétrécissement comme ablation. Une covariance positive définie est nécessaire pour diviser par toutes les racines des valeurs propres ; le rétrécissement facilite ce contrôle.</a:t>
            </a:r>
          </a:p>
          <a:p/>
          <a:p>
            <a:r>
              <a:t>CANONICAL BULLET POINTS</a:t>
            </a:r>
          </a:p>
          <a:p>
            <a:r>
              <a:t>**Covariance empirique** : matrice des cofluctuations centrées des rendements sur `T` jours de calibration. Quand `N/T` n'est pas faible, les petites valeurs propres peuvent être instables.</a:t>
            </a:r>
          </a:p>
          <a:p>
            <a:r>
              <a:t>**Ledoit–Wolf (2004)** : remplacer la covariance brute par une moyenne pondérée `Sigma_LW = (1-delta)*Sigma_emp + delta*mu*Id`, avec `mu = trace(Sigma_emp)/N` et `delta` estimé sur les données. Cela réduit le bruit d'estimation ; [Ledoit et Wolf (2004)](https://www.ledoit.net/Well-conditioned2004.pdf).</a:t>
            </a:r>
          </a:p>
          <a:p>
            <a:r>
              <a:t>**ACP réalisée sur `Sigma_LW`** (pas sur la corrélation utilisée pour compter les facteurs). Ses vecteurs propres `v_k` et valeurs propres `lambda_k` définissent `z_k(t)=v_k' r_t/sqrt(lambda_k)`. L'« **échelle historique** » est précisément `sqrt(lambda_k)` estimée sur 2016–2019 et réutilisée sans mise à jour ; sur le test, la variance des `z_k` n'est plus garantie égale à 1.</a:t>
            </a:r>
          </a:p>
          <a:p>
            <a:r>
              <a:t>**Premier vecteur conservé, non supprimé globalement :** score `z_1` = canal marché ; axes `k&gt;=2` = canaux résiduels. La branche **signes** peut sélectionner marché, résiduels ou les deux ; l'**énergie** est agrégée uniquement sur les résiduels.</a:t>
            </a:r>
          </a:p>
          <a:p/>
          <a:p>
            <a:r>
              <a:t>VISUAL SOURCE</a:t>
            </a:r>
          </a:p>
          <a:p>
            <a:r>
              <a:t>Trois éléments seulement : matrice covariance empirique → combinaison avec `mu*Id` → décomposition en `v_1, v_2, ...` et `sqrt(lambda_k)` ; mention « calcul en calibration seulement ». Aucune ellipse non chiffrée.</a:t>
            </a:r>
          </a:p>
          <a:p/>
          <a:p>
            <a:r>
              <a:t>EQUATION SOURCES (StarMath — for manual replacement only)</a:t>
            </a:r>
          </a:p>
          <a:p>
            <a:r>
              <a:t>ASCII: Sigma_LW = (1-delta)*Sigma_emp + delta*mu*Id ; mu = trace(Sigma_emp)/N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lecture exacte signe ne calibre pas un seuil par maximum empirique des 941 jours, elle utilise un calcul de probabilités sous null. Les seuils des moniteurs sont spécifiques à leur statistique ; ils ne sont pas interchangeables. Le seuil d'énergie peut être conservateur ou mal calibré hors du régime de référence. L'existence d'une garantie de type H/gamma n'implique pas que tous les détecteurs soient calibrés à FPR observée égale à 5 %.</a:t>
            </a:r>
          </a:p>
          <a:p/>
          <a:p>
            <a:r>
              <a:t>CANONICAL BULLET POINTS</a:t>
            </a:r>
          </a:p>
          <a:p>
            <a:r>
              <a:t>**Pré-entraînement 2005–2015 :** aucun ajustement ACP standard. **Calibration 2016–2019 :** estimation de `Sigma_LW`, choix des vecteurs `v_k`, valeurs `lambda_k`, base de projection et normalisations ; **aucune réestimation ultérieure** dans les pipelines exécutés.</a:t>
            </a:r>
          </a:p>
          <a:p>
            <a:r>
              <a:t>**Seuil signe, canal scalaire :** sous null de signes équitables, une énumération des états atteignables calcule le niveau exact sur `H=750` ; niveau choisi **0,043947** pour une cible ≤0,05. **Plusieurs canaux :** mélange de e-détecteurs avec seuil de preuve distinct, typiquement `gamma = H/0,05 = 15 000` pour `H=750`.</a:t>
            </a:r>
          </a:p>
          <a:p>
            <a:r>
              <a:t>**Seuil énergie :** règle différente ; sélectionner un seuil sur les maxima de CUSUM d'énergie calculés sur des fenêtres de calibration sans dérive, pour cibler `FPR(H) = 0,05`. Sur **941 jours**, il y a **692 fenêtres chevauchantes de 250 jours** ou **442 de 500 jours** ; le seuil empirique n'est pas un quantile estimé à partir d'autant de répétitions indépendantes.</a:t>
            </a:r>
          </a:p>
          <a:p>
            <a:r>
              <a:t>**Pourquoi FPR(H) ?** Une intervention opérationnelle demande le risque d'**au moins une** fausse alarme sur la période d'observation ; fixer seulement la durée moyenne sans fausse alarme (`ARL0`) ne détermine pas cette probabilité à horizon fixé.</a:t>
            </a:r>
          </a:p>
          <a:p/>
          <a:p>
            <a:r>
              <a:t>VISUAL SOURCE</a:t>
            </a:r>
          </a:p>
          <a:p>
            <a:r>
              <a:t>Pipeline à **trois colonnes verticales datées** : [2005–2015 : rien à ajuster pour ACP] ; [2016–2019 : `Sigma_LW -&gt; v,lambda -&gt; scores de référence -&gt; seuil énergie` + `seuil exact signe / preuve` ] ; [2020+ : `r_t -&gt; v,lambda GELÉS -&gt; signe OU énergie -&gt; deux alarmes séparées`]. Dessiner deux cadenas distincts sur paramètres de représentation et seuils. Utiliser code vert « réel/implémenté ».</a:t>
            </a:r>
          </a:p>
          <a:p/>
          <a:p>
            <a:r>
              <a:t>EQUATION SOURCES (StarMath — for manual replacement only)</a:t>
            </a:r>
          </a:p>
          <a:p>
            <a:r>
              <a:t>ASCII: FPR(H) = P_sans_changement(T_alarme &lt;= H) ; gamma_H = H / alpha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mode résiduel/facteur, le code utilise `K = n_above − 1`, puis sélectionne `PC1..PC(K+1)`. Les modes complets gardent les N axes (énergie sur N−1 résiduels). Un mode queue conserve les petites composantes totalisant au plus 10 % de la variance avec PC1 séparée ; ce sont des ablations, pas les deux valeurs 6 et 11.</a:t>
            </a:r>
          </a:p>
          <a:p/>
          <a:p>
            <a:r>
              <a:t>CANONICAL BULLET POINTS</a:t>
            </a:r>
          </a:p>
          <a:p>
            <a:r>
              <a:t>Pour la sélection du nombre de facteurs, calculer la **corrélation empirique** `R = D^(-1/2) Sigma_emp D^(-1/2)` où `D` contient les variances empiriques des actions ; `R` compare les co-mouvements **sans unité**.</a:t>
            </a:r>
          </a:p>
          <a:p>
            <a:r>
              <a:t>Le repère de [Marčenko et Pastur (1967)](https://www.mathnet.ru/eng/msb4101), pour une matrice standardisée à variables i.i.d. sous hypothèse de bruit, est `lambda_plus = [1 + sqrt(N/T)]^2`. Compter les valeurs propres de `R` strictement supérieures. Le nombre total de facteurs au-dessus du repère inclut le premier axe.</a:t>
            </a:r>
          </a:p>
          <a:p>
            <a:r>
              <a:t>**Résultat sur les fenêtres de calibration :** 97 actions → **6 scores = marché + 5 résiduels** ; 239 actions → **11 scores = marché + 10 résiduels**. Après comptage, **les vecteurs et échelles sont pris dans la covariance Ledoit–Wolf**, non dans `R`.</a:t>
            </a:r>
          </a:p>
          <a:p>
            <a:r>
              <a:t>**Limite :** l'échantillon financier dépendant, hétéroscédastique et à queues lourdes ne satisfait pas exactement le null i.i.d. de Marčenko–Pastur. La règle identifie des facteurs saillants, **pas** les axes maximisant la KL de changements futurs.</a:t>
            </a:r>
          </a:p>
          <a:p/>
          <a:p>
            <a:r>
              <a:t>VISUAL SOURCE</a:t>
            </a:r>
          </a:p>
          <a:p>
            <a:r>
              <a:t>Tableau 2 lignes : `97 | 6 = 1+5` et `239 | 11 = 1+10`. À droite arbre algorithmique « variances et corrélations → compter k au-dessus de lambda_plus → covariance régularisée → k vecteurs principaux, marché séparé » ; pas de faux spectre empirique.</a:t>
            </a:r>
          </a:p>
          <a:p/>
          <a:p>
            <a:r>
              <a:t>EQUATION SOURCES (StarMath — for manual replacement only)</a:t>
            </a:r>
          </a:p>
          <a:p>
            <a:r>
              <a:t>ASCII: R = D^(-1/2)*Sigma_emp*D^(-1/2) ; lambda_plus = [1+sqrt(N/T)]^2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délais 15/373/446 sont fournis pour une configuration F2 forte ; ne pas les requalifier de moyennes universelles ou de résultats JEPA. La KL n'est pas directement estimée de manière non paramétrique dans chaque composante sur le test. Ne pas confondre l'ordre par variance et l'ordre par information des changements.</a:t>
            </a:r>
          </a:p>
          <a:p/>
          <a:p>
            <a:r>
              <a:t>CANONICAL BULLET POINTS</a:t>
            </a:r>
          </a:p>
          <a:p>
            <a:r>
              <a:t>**Définition générale :** divergence de Kullback–Leibler `KL(P1||P0) = E_P1[log(p1(X)/p0(X))]`, pour deux lois comparables avant/après changement. Elle mesure en nats l'information moyenne permettant de les distinguer. Une projection ne l'augmente pas : [Cover et Thomas (2006)](https://onlinelibrary.wiley.com/doi/book/10.1002/047174882X).</a:t>
            </a:r>
          </a:p>
          <a:p>
            <a:r>
              <a:t>**Modèle gaussien de localisation** sur la même covariance `Sigma` : `I_full = Delta' Sigma^(-1) Delta / 2`. Sur l'axe ACP `v_k` de variance `lambda_k`, `I_k = (v_k' Delta)^2 / (2 lambda_k)` ; l'information des axes retenus se somme **si le modèle gaussien et les vrais axes propres s'appliquent**.</a:t>
            </a:r>
          </a:p>
          <a:p>
            <a:r>
              <a:t>**Pipeline évalué :** ACP fixe de calibration → **marché `z_1` surveillé séparément** / `z_2..z_(K+1)` surveillance résiduelle → signe (moyenne) ou énergie (covariance). Les simulations injectent des translations et rotations aux rendements **avant** cette transformation ; l'oracle connaît la direction injectée.</a:t>
            </a:r>
          </a:p>
          <a:p>
            <a:r>
              <a:t>**Déjà réalisé :** informations nominales des injections et potentiels directionnels sous modèle, plus délais mesurés. Exemple à déplacement de moyenne de Sharpe 8 : oracle **15 j**, détecteur ACP signes **373 j**, degré zéro signes **446 j** dans une configuration donnée ; **pas encore de profil validé de `I_k` cumulés sur tous les axes et toutes les alternatives réelles.**</a:t>
            </a:r>
          </a:p>
          <a:p/>
          <a:p>
            <a:r>
              <a:t>VISUAL SOURCE</a:t>
            </a:r>
          </a:p>
          <a:p>
            <a:r>
              <a:t>Aucune figure. Deux cadres uniquement : gauche « définition et information » ; droite « représentation/calibration → deux détecteurs + résultats ». Ne pas utiliser de dessin d'ellipse ni de métaphore.</a:t>
            </a:r>
          </a:p>
          <a:p/>
          <a:p>
            <a:r>
              <a:t>EQUATION SOURCES (StarMath — for manual replacement only)</a:t>
            </a:r>
          </a:p>
          <a:p>
            <a:r>
              <a:t>ASCII: KL(P1||P0) = E_P1[log(p1(X)/p0(X))] ; I_k = (v_k' * Delta)^2 / (2*lambda_k)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niveau calculé est une probabilité théorique du treillis sous null exact, **non un niveau empirique estimé sur les 941 jours**. L'expérience Student/GARCH n'est pas une preuve sur rendements financiers bruts. Les chocs `w` ne correspondent pas aux données 100 % réelles : ce sont des nulls synthétiques invalides. Les 317 lignes partagent des configurations et ne sont pas 317 observations indépendantes. Le risque pour plusieurs canaux agrégés n'est pas celui de chaque ligne scalaire.</a:t>
            </a:r>
          </a:p>
          <a:p/>
          <a:p>
            <a:r>
              <a:t>CANONICAL BULLET POINTS</a:t>
            </a:r>
          </a:p>
          <a:p>
            <a:r>
              <a:t>**Pipeline commun de lecture :** `r_t` (synthétique ou journée réelle symétrisée) → projection scalaire **impaire** `g(-r)=-g(r)` (composante ACP fixée ou rendement d'un actif) → bit positif/négatif ; zéros départagés par pièce indépendante → CUSUM de signes **bilatéral** ; seuil exact du treillis pour `H=750`. Le niveau **calibré calculé** sous Bernoulli(1/2) vaut **4,3947 %**, inférieur à la cible nominale 5 % du fait des seuils discrets.</a:t>
            </a:r>
          </a:p>
          <a:p>
            <a:r>
              <a:t>[TABLE]</a:t>
            </a:r>
          </a:p>
          <a:p>
            <a:r>
              <a:t>| Données et construction | Pipeline / comparateur | FPR calibrée | FPR observée sur H=750 | Lecture |</a:t>
            </a:r>
          </a:p>
          <a:p>
            <a:r>
              <a:t>|---|---|---:|---:|---|</a:t>
            </a:r>
          </a:p>
          <a:p>
            <a:r>
              <a:t>| Nulls symétriques : Student, GARCH avec asymétrie de variance, zéros, fonds historiques retournés jour par jour ; **317 configurations scalaires** | Projections ACP ou rendements unitaires ; recentrage théorique `q=0,5` | **4,3947 %** | **4,425 %** (moyenne ; 3/317 hors zone binomiale 99 %) | Concordance moyenne sous les hypothèses |</a:t>
            </a:r>
          </a:p>
          <a:p>
            <a:r>
              <a:t>| Fonds **entièrement simulé** : choc asymétrique commun d'intensité `w=0,25` / générateur témoin identique mais symétrique | Canal marché de l'ACP, seuil **inchangé** | **4,3947 %** sous null symétrique | **9,20 % / 4,80 %** (témoin) | Le choc brise la symétrie ; inflation +4,4 points |</a:t>
            </a:r>
          </a:p>
          <a:p>
            <a:r>
              <a:t>| Même générateur, `w=0,50` / témoin symétrique apparié | Canal marché, seuil **inchangé** | **4,3947 %** sous null symétrique | **39,15 % / 4,45 %** (témoin) | Inflation +34,7 points, sans dérive voulue |</a:t>
            </a:r>
          </a:p>
          <a:p>
            <a:r>
              <a:t>| Fonds symétriques, mais fréquence des signes **estimée** sur 941 jours de calibration (`q_hat`) | CUSUM recentré sur `q_hat` plutôt que `q=0,5` | **4,3947 % seulement si q connu**, pas pour `q_hat` aléatoire | **5,9–7,75 %** (canal marché) | Le recentrage estimé **ne conserve pas** l'exactitude |</a:t>
            </a:r>
          </a:p>
          <a:p/>
          <a:p>
            <a:r>
              <a:t>VISUAL SOURCE</a:t>
            </a:r>
          </a:p>
          <a:p>
            <a:r>
              <a:t>Tableau seul, quatre lignes, sans graphique. Si impossible à lire en 16:9, scinder physiquement la slide 12 en « configuration » puis « taux », en conservant la relation de chaque ligne.</a:t>
            </a:r>
          </a:p>
          <a:p/>
          <a:p>
            <a:r>
              <a:t>EQUATION SOURCES (StarMath — for manual replacement only)</a:t>
            </a:r>
          </a:p>
          <a:p>
            <a:r>
              <a:t>ASCII: P0(b_t=1 | F_(t-1)) = 1/2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0,945 / 3,53 / 7,06 correspondent aux informations de conception et non à des angles. Le contrôle PC2–PC3 donne des taux proches du null, ce qui empêche une évaluation de puissance positive, pas une impossibilité mathématique de détection. Les fenêtres d'un fond historique symétrisé de 941 jours sont aussi étudiées séparément : 692/442 fenêtres H=250/500 **chevauchantes**, seuils conservateurs et non une deuxième validation indépendante. Les grands rapports du tableau viennent du fond synthétique indépendant uniquement.</a:t>
            </a:r>
          </a:p>
          <a:p/>
          <a:p>
            <a:r>
              <a:t>CANONICAL BULLET POINTS</a:t>
            </a:r>
          </a:p>
          <a:p>
            <a:r>
              <a:t>**Protocole spécifique :** `N=239` actifs **entièrement simulés**, corrélation commune `0,40`, innovations Student `t7`. Ajustement indépendant **941 jours** ; **2 000 trajectoires de 500 jours pour choisir les seuils et 2 000 pour le test** ; horizon principal **H=250**, cible **FPR 5 %**. Représentation ACP gelée, puis **énergie résiduelle** et CUSUM de hausse.</a:t>
            </a:r>
          </a:p>
          <a:p>
            <a:r>
              <a:t>**Comparateur historique :** indice équipondéré `m_t = moyenne_i(r_i,t)` ; détecteur unilatéral sur **l'énergie de cet indice**, `m_t^2` standardisé sur son null. Il teste si une rotation de covariance devient visible par l'indice seul, face à une représentation orthogonale.</a:t>
            </a:r>
          </a:p>
          <a:p>
            <a:r>
              <a:t>[TABLE]</a:t>
            </a:r>
          </a:p>
          <a:p>
            <a:r>
              <a:t>| Transformation injectée après le seuil de rupture | Statistique ACP testée | FPR test hors dérive | Résultat de détection H=250 |</a:t>
            </a:r>
          </a:p>
          <a:p>
            <a:r>
              <a:t>|---|---|---|---|</a:t>
            </a:r>
          </a:p>
          <a:p>
            <a:r>
              <a:t>| Rotation entre axe marché et 2e axe, **15° / 30° / 45°** ; KL gaussienne nominale correspondante **0,945 / 3,53 / 7,06 nat/jour** | **1 seul axe résiduel** ; PC1 conservé séparément, mais exclu du total énergie | Référence et ACP calibrées vers 5 % sur null simulé | Rapport de délais restreints **14,59 / 67,71 / 105,42** ; taux détecté ACP = 100 % |</a:t>
            </a:r>
          </a:p>
          <a:p>
            <a:r>
              <a:t>| Rotation 2e–3e axes (contrôle négatif) | Même capteur | Comparaison au FPR propre de chaque méthode | Taux de détection **au niveau du null** ; pas de gain discernable |</a:t>
            </a:r>
          </a:p>
          <a:p>
            <a:r>
              <a:t>| Amplification sur axes 2–4 avec facteurs de variance `r=1,25 / 1,50 / 2,00` | Même capteur | Identique | Rapports **1,031 / 1,066 / 1,161** ; résultat non concluant |</a:t>
            </a:r>
          </a:p>
          <a:p>
            <a:r>
              <a:t>**Amplitudes confirmées par le protocole :** rotations de **15°, 30°, 45°** (dans cet ordre) et informations nominales correspondantes **0,945 / 3,53 / 7,06 nat/jour** ; elles décrivent la construction d'un **fond simulé** et non un angle estimé sur les marchés.</a:t>
            </a:r>
          </a:p>
          <a:p>
            <a:r>
              <a:t>**Message :** une différence de délais peut révéler un angle mort du comparateur. La rotation marché–axe 2 **abaisse la variance de l'indice** ; son CUSUM unilatéral d'augmentation déclenche moins souvent que sous le null. Des trajectoires non détectées comptent **250 jours** dans le délai restreint.</a:t>
            </a:r>
          </a:p>
          <a:p/>
          <a:p>
            <a:r>
              <a:t>VISUAL SOURCE</a:t>
            </a:r>
          </a:p>
          <a:p>
            <a:r>
              <a:t>Tableau seul, sans ellipse ou figure conceptuelle. Possibilité d'une seconde page « slide 13 (suite) » si nécessaire ; garder la calibration et les hypothèses sur la première page.</a:t>
            </a:r>
          </a:p>
          <a:p/>
          <a:p>
            <a:r>
              <a:t>EQUATION SOURCES (StarMath — for manual replacement only)</a:t>
            </a:r>
          </a:p>
          <a:p>
            <a:r>
              <a:t>ASCII: G_250 = moyenne[min(T_indice,250)] / moyenne[min(T_ACP,250)]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mise, la médiane historique de ||p|| sert d'échelle, et une estimation EWMA prédictible de ||p|| est réactualisée *après* observation ; la mise du jour utilise la valeur antérieure, donc aucune fuite temporelle. Le retrait du marché et la normalisation se font instantanément sur la coupe du jour, tandis que `b,U` restent historiques. Toute comparaison avec l'énergie ACP doit éviter d'utiliser des coordonnées normalisées en amplitude lorsque l'objectif est de détecter une hausse globale de variance.</a:t>
            </a:r>
          </a:p>
          <a:p/>
          <a:p>
            <a:r>
              <a:t>CANONICAL BULLET POINTS</a:t>
            </a:r>
          </a:p>
          <a:p>
            <a:r>
              <a:t>**Entrée :** vecteur de rendements `r_t` d'un jour réel ou simulé ; `b` = premier vecteur propre ACP de longueur 1 (marché), gelé ; `U` = matrice dont les colonnes sont les directions résiduelles ACP choisies, gelées. Le résidu `p_t` est orthogonal à `b` ; on le divise par sa **norme euclidienne** `||p_t||`.</a:t>
            </a:r>
          </a:p>
          <a:p>
            <a:r>
              <a:t>**Sortie impaire normalisée :** `z_t = U' p_t / ||p_t||`. Si `||p_t||=0`, convention `z_t=0`. Le canal pair séparé contient `||p_t||` : il porte l'amplitude supprimée de la direction normalisée.</a:t>
            </a:r>
          </a:p>
          <a:p>
            <a:r>
              <a:t>**Ce qui est effectivement surveillé :** variantes de détecteurs **de signes** sur `z_t` avec mélanges de mises. La division par une norme positive **ne change aucun signe** : elle ne peut améliorer un détecteur reposant **exclusivement sur ces mêmes signes** sans changement de mise ou de règle de test.</a:t>
            </a:r>
          </a:p>
          <a:p>
            <a:r>
              <a:t>**Mises adaptatives de la variante testée :** le montant de mise du jour dépend d'une moyenne mobile de **normes résiduelles passées**, demi-vie 20 jours, plafonnée à 0,5. Ce mécanisme peut expliquer un gain ; ce n'est pas l'ACP ni un nouveau détecteur d'énergie. La normalisation **n'est pas** la formule du capteur d'énergie ACP : ce dernier utilise les scores **non divisés par `||p_t||`**.</a:t>
            </a:r>
          </a:p>
          <a:p/>
          <a:p>
            <a:r>
              <a:t>VISUAL SOURCE</a:t>
            </a:r>
          </a:p>
          <a:p>
            <a:r>
              <a:t>Aucun schéma décoratif. Boîtes de texte « résidu normalisé / signes » et « norme résiduelle / magnitude » avec flèches explicites vers leurs usages, accompagnées de la formule ASCII.</a:t>
            </a:r>
          </a:p>
          <a:p/>
          <a:p>
            <a:r>
              <a:t>EQUATION SOURCES (StarMath — for manual replacement only)</a:t>
            </a:r>
          </a:p>
          <a:p>
            <a:r>
              <a:t>ASCII: p_t = r_t - b*(b'*r_t) ; z_t = U'*p_t / ||p_t|| (si ||p_t||&gt;0)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`V(16)` est supérieur à `V(8)` de peu pour cette construction et pour ces valeurs sélectionnées ; l'optimum global sur tous les entiers d n'a pas été certifié dans cette table. L'espérance de croissance ne donne pas l'espérance exacte du temps de premier franchissement. La formule dérive d'un mélange gaussien de rapports de vraisemblance sous un null isotrope, et non d'une approximation de diffusion brownienne.</a:t>
            </a:r>
          </a:p>
          <a:p/>
          <a:p>
            <a:r>
              <a:t>CANONICAL BULLET POINTS</a:t>
            </a:r>
          </a:p>
          <a:p>
            <a:r>
              <a:t>**Ce n'est pas une expérience ACP, JEPA ou pooling sur rendements réels.** Modèle pédagogique : observations **gaussiennes indépendantes**, covariance identité dans l'espace représenté, dérive de moyenne inconnue, mélange de moyennes candidates de variance adaptée, `gamma=504`, **500 coordonnées initiales**.</a:t>
            </a:r>
          </a:p>
          <a:p>
            <a:r>
              <a:t>On **suppose**, uniquement pour chiffrer l'information retenue, une suite décroissante d'information par direction `q_k = 1/k`, k de 1 à 500. `I(d)=somme_(k&lt;=d) q_k` ; `r(d)=I(d)/I(500)` ; le coût `M(d,504)` est obtenu en résolvant l'équation de preuve mélangée, non par simulation financière.</a:t>
            </a:r>
          </a:p>
          <a:p>
            <a:r>
              <a:t>**Objectif construit pour ce modèle** : `V(d)=r(d)/M(d,504)` ; il mesure une **vitesse fluide normalisée**, ce n'est pas un critère statistique universel de choix de dimension. La dimension maximisant V sur les valeurs calculées dépend du spectre `q_k`, pas de celui de la covariance seul.</a:t>
            </a:r>
          </a:p>
          <a:p>
            <a:r>
              <a:t>[TABLE]</a:t>
            </a:r>
          </a:p>
          <a:p>
            <a:r>
              <a:t>| d | Information `r(d)` conservée | Coût `M(d,504)` | Objectif `V(d)=r/M` |</a:t>
            </a:r>
          </a:p>
          <a:p>
            <a:r>
              <a:t>|---:|---:|---:|---:|</a:t>
            </a:r>
          </a:p>
          <a:p>
            <a:r>
              <a:t>| 1 | 0,1472 | 1,2239 | 0,1203 |</a:t>
            </a:r>
          </a:p>
          <a:p>
            <a:r>
              <a:t>| 4 | 0,3067 | 1,5696 | 0,1954 |</a:t>
            </a:r>
          </a:p>
          <a:p>
            <a:r>
              <a:t>| 8 | 0,4001 | 1,8785 | 0,2130 |</a:t>
            </a:r>
          </a:p>
          <a:p>
            <a:r>
              <a:t>| 16 | 0,4977 | 2,3290 | 0,2137 |</a:t>
            </a:r>
          </a:p>
          <a:p>
            <a:r>
              <a:t>| 500 | 1,0000 | 9,6427 | 0,1037 |</a:t>
            </a:r>
          </a:p>
          <a:p/>
          <a:p>
            <a:r>
              <a:t>VISUAL SOURCE</a:t>
            </a:r>
          </a:p>
          <a:p>
            <a:r>
              <a:t>Tableau seul, avec en-tête « DONNÉES THÉORIQUES CONSTRUITES : q_k=1/k ». Souligner visuellement le fait que le coût croît et que l'information également ; ne pas mettre un marqueur « optimum financier » sur 16.</a:t>
            </a:r>
          </a:p>
          <a:p/>
          <a:p>
            <a:r>
              <a:t>EQUATION SOURCES (StarMath — for manual replacement only)</a:t>
            </a:r>
          </a:p>
          <a:p>
            <a:r>
              <a:t>ASCII: V(d) = [I(d)/I(500)] / M(d,504) ; x_d = ln(504) + (d/2)*ln(1+2*x_d/d) ; M(d,504) = x_d/ln(504)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coût affine, H_d=q_(d+1)(a+cd)−cI(d), et H_(d+1)−H_d=(q_(d+2)−q_(d+1))(a+c(d+1))&lt;0. Pour un dictionnaire de K atomes, le budget approximatif est `(log gamma+log K)/(I cos^2 angle)` sous correspondance idéale d'amplitude ; ne pas confondre avec le mélange isotrope de la slide 15. Annexe pour les calculs.</a:t>
            </a:r>
          </a:p>
          <a:p/>
          <a:p>
            <a:r>
              <a:t>CANONICAL BULLET POINTS</a:t>
            </a:r>
          </a:p>
          <a:p>
            <a:r>
              <a:t>**Setup :** une représentation ordonnée d'axes fixes (par exemple ACP avec les axes `v_k` de la covariance de référence) ; changement de moyenne **gaussien de covariance inchangée** `Delta`; `q_(d+1)` est la KL supplémentaire de l'axe `d+1`, `I(d)=somme_(k&lt;=d)q_k`. Un JEPA entraîné séparément pour chaque d ne garantit **pas** des sous-espaces emboîtés : appliquer ce résultat à JEPA exige une autre construction.</a:t>
            </a:r>
          </a:p>
          <a:p>
            <a:r>
              <a:t>Pour un **coût positif quelconque** `C(d)` de surveillance, maximiser `V(d)=I(d)/C(d)` donne exactement le critère marginal affiché. Avec **coût affine illustratif `C(d)=a+c*d`**, `a,c&gt;0`, et `q_k` strictement décroissants, le signe de l'accroissement de V ne change qu'une fois : l'optimum se situe au croisement.</a:t>
            </a:r>
          </a:p>
          <a:p>
            <a:r>
              <a:t>**Statut :** résultat analytique conditionnel. Aucune expérience fournie ne donne le profil complet `q_k` et `V(d)` sur les 97 ou 239 actions, ni sur un JEPA entraîné. Les candidats JEPA **2, 4, 8, 16** ne sont pas une plage optimale démontrée.</a:t>
            </a:r>
          </a:p>
          <a:p>
            <a:r>
              <a:t>**Alternative théorique distincte :** un dictionnaire fixe de directions augmente sa couverture, mais paie un coût `log(K)` pour `K` directions et une perte d'information `cos(angle)^2` si son meilleur atome est mal aligné. Cette approximation suppose un décalage gaussien et des atomes fixés avant test ; ce n'est pas une correction empirique automatique des marchés non gaussiens.</a:t>
            </a:r>
          </a:p>
          <a:p/>
          <a:p>
            <a:r>
              <a:t>VISUAL SOURCE</a:t>
            </a:r>
          </a:p>
          <a:p>
            <a:r>
              <a:t>Aucun visuel. Afficher les définitions, le critère et le statut en colonnes typographiques sobres.</a:t>
            </a:r>
          </a:p>
          <a:p/>
          <a:p>
            <a:r>
              <a:t>EQUATION SOURCES (StarMath — for manual replacement only)</a:t>
            </a:r>
          </a:p>
          <a:p>
            <a:r>
              <a:t>ASCII: V(d+1)&gt;V(d) &lt;=&gt; q_(d+1) &gt; I(d)*[C(d+1)/C(d)-1]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classes sectorielles statiques ne doivent pas être utilisées comme vérité point-in-time tant que leur historique n'est pas certifié. Les cibles peuvent être construites pendant le pré-entraînement parce que le rendement masqué existe hors du contexte. Arrêt de gradient sur la branche cible ; poids EMA mis à jour entre itérations d'entraînement.</a:t>
            </a:r>
          </a:p>
          <a:p/>
          <a:p>
            <a:r>
              <a:t>CANONICAL BULLET POINTS</a:t>
            </a:r>
          </a:p>
          <a:p>
            <a:r>
              <a:t>**Pourquoi transversal ?** Le signal recherché peut être dans les relations entre **N actions au même jour**, invisibles dans un rendement isolé. Le prétexte principal prédit les **représentations des actifs cachés à la date t**, pas le rendement du jour t+1. Le prétexte temporel à t+1 est une **ablation distincte**.</a:t>
            </a:r>
          </a:p>
          <a:p>
            <a:r>
              <a:t>**Modèle prévu :** jeton par actif ; encodeur à **2–4 couches d'attention**, largeur interne **64**, **4 têtes d'attention**, moins d'**1 M paramètres** ; encodeur de contexte et encodeur cible à paramètres moyennés exponentiellement (EMA) ; prédicteur à perte quadratique des représentations cachées. [Thimonier et al. (2025)](https://proceedings.iclr.cc/paper_files/paper/2025/hash/93f01c8d9b355d7bbe3f353b44ccde66-Abstract-Conference.html).</a:t>
            </a:r>
          </a:p>
          <a:p>
            <a:r>
              <a:t>**Actions visibles** : rendement quotidien `r_i,t / s_i` (échelle `s_i` estimée en prétrain) **et** quatre caractéristiques **ex ante** `beta_252`, `vol_63`, `mom_12_1`, `rev_21` transformées en rangs. **Actions masquées** : **les mêmes quatre caractéristiques seulement**, jamais `r_i,t`; leurs rendements ne servent qu'au calcul de la cible/loss, isolé du contexte.</a:t>
            </a:r>
          </a:p>
          <a:p>
            <a:r>
              <a:t>**Sortie de surveillance (proposée) :** un vecteur quotidien compact de dimension `d∈{2,4,8,16}`, deux têtes par parité, sans ACP terminale dans la variante principale ; l'ancienne option JEPA→ACP reste une ablation. Toutes les variables sont **quotidiennes** ; les fenêtres 63/252 jours servent au calcul retardé des caractéristiques, non à fournir au modèle une séquence brute de 252 jours.</a:t>
            </a:r>
          </a:p>
          <a:p/>
          <a:p>
            <a:r>
              <a:t>VISUAL SOURCE</a:t>
            </a:r>
          </a:p>
          <a:p>
            <a:r>
              <a:t>**Schéma architectural central détaillé** : tableau d'entrée `actions visibles : [r/s, beta, vol, mom, rev]` / `actions masquées : [beta, vol, mom, rev]` ; premier passe dans « encodeur contexte », second dans « prédicteur conditionnel aux visibles », branche séparée « rendement masqué → encodeur cible EMA → représentation cible », convergence sur « erreur quadratique », sortie « bottleneck d → tête signe / tête énergie ». Hachurer le rendement masqué côté contexte ; ne pas afficher comme méthode exécutée.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terme variance seul est prévu initialement ; les contraintes de covariance et marché ajoutées dans l'architecture révisée restent ablations. Ne pas affirmer que le masquage sectoriel a été exécuté. Le marché reste surveillé par un canal séparé après entraînement.</a:t>
            </a:r>
          </a:p>
          <a:p/>
          <a:p>
            <a:r>
              <a:t>CANONICAL BULLET POINTS</a:t>
            </a:r>
          </a:p>
          <a:p>
            <a:r>
              <a:t>**Masquage principal proposé :** chaque journée, cacher aléatoirement **30–50 %** des rendements des actifs ; garder leurs caractéristiques ex ante. Un masquage sectoriel est une ablation uniquement si les secteurs sont historiquement datés.</a:t>
            </a:r>
          </a:p>
          <a:p>
            <a:r>
              <a:t>**Fuite à éviter :** si une moyenne ou un facteur de marché est estimé d'abord avec les rendements de **toutes** les actions, même les résidus visibles contiennent les rendements masqués. Deux variantes licites : pas de neutralisation préalable, ou neutralisation du contexte avec **seules les actions visibles**.</a:t>
            </a:r>
          </a:p>
          <a:p>
            <a:r>
              <a:t>**Anti-effondrement proposé** : pénalité de variance sur les sorties **quotidiennes**, calculée par dimension au sein d'un lot de `B` journées. [Bardes, Ponce et LeCun (2022)](https://arxiv.org/abs/2105.04906) donnent le principe VICReg ; l'application à la tête surveillée et la régularisation de covariance sont des décisions **à tester**.</a:t>
            </a:r>
          </a:p>
          <a:p>
            <a:r>
              <a:t>**Test d'identifiabilité du prétexte :** si les rendements idiosyncratiques sont conditionnellement indépendants après retrait du facteur, leur prédiction transversale quadratique optimale est zéro ; une faible perte JEPA ne signifie pas conservation des futurs changements.</a:t>
            </a:r>
          </a:p>
          <a:p/>
          <a:p>
            <a:r>
              <a:t>VISUAL SOURCE</a:t>
            </a:r>
          </a:p>
          <a:p>
            <a:r>
              <a:t>Deux petits pipelines rigoureux « **FAUX** : marché(toutes actions) → masquer » / « **LICITE** : masquer → facteur(uniquement visibles) → prédire cachés ». Sous eux, schéma de variance par jours `B x d` (pénalité sur les journées, pas seulement entre actifs).</a:t>
            </a:r>
          </a:p>
          <a:p/>
          <a:p>
            <a:r>
              <a:t>EQUATION SOURCES (StarMath — for manual replacement only)</a:t>
            </a:r>
          </a:p>
          <a:p>
            <a:r>
              <a:t>ASCII: L_var = (1/d)*somme(j=1..d, max(0,1-sd_batch(Z_j))^2)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l'ACP actuelle, les axes sont ajustés sur calibration, pas sur 2005–2015 ; si plusieurs configurations JEPA sont choisies sur la même période que les seuils, imposer une sous-calibration indépendante ou une procédure emboîtée. Les quatre caractéristiques ne sont pas exclusives de tous les flux concept/data drift ; la tâche précise est de détecter des changements de distribution des rendements.</a:t>
            </a:r>
          </a:p>
          <a:p/>
          <a:p>
            <a:r>
              <a:t>CANONICAL BULLET POINTS</a:t>
            </a:r>
          </a:p>
          <a:p>
            <a:r>
              <a:t>**Réel, prétrain (2005–2015) :** apprendre les poids JEPA sur coupes quotidiennes des **239 actions** et les quatre caractéristiques antérieures ; contrôler la loss de prédiction et les variances des **sorties quotidiennes**. **Calib (2016–2019) :** choisir parmi `d={2,4,8,16}`, variantes de masques et de sorties selon une règle **préspécifiée** (information sur injections de validation et FPR sans dérive), puis fixer la variante admissible.</a:t>
            </a:r>
          </a:p>
          <a:p>
            <a:r>
              <a:t>**Calib statistique distincte du choix si nécessaire :** sous trajectoires sans dérive de la même famille, fixer **un seuil pour les signes** et **un autre pour l'énergie**, chacun à `FPR(H) &lt;= 0,05` ou avec borne annoncée ; pas d'OR non calibré. Figer modèle, normalisations, directions éventuelles et seuils **avant** le test.</a:t>
            </a:r>
          </a:p>
          <a:p>
            <a:r>
              <a:t>**Test réel symétrisé et synthétique :** sur les **mêmes fonds et mêmes dates de rupture**, injecter la moyenne factorielle, la moyenne guidée par les caractéristiques, ou une rotation/déformation de covariance **dans les rendements**. Comparer JEPA à ACP et degré zéro. Les expériences JEPA ne disposent **pas encore** de résultats vérifiés.</a:t>
            </a:r>
          </a:p>
          <a:p>
            <a:r>
              <a:t>**Mesures à publier pour chaque méthode/configuration :** `FPR(H)` mesurée, fraction de trajectoires détectées avant H, **RMST(H)** (moyenne des délais plafonnés à H), rapport apparié, intervalle d'incertitude et nombre de trajectoires. La préservation de KL est évaluée séparément du délai.</a:t>
            </a:r>
          </a:p>
          <a:p/>
          <a:p>
            <a:r>
              <a:t>VISUAL SOURCE</a:t>
            </a:r>
          </a:p>
          <a:p>
            <a:r>
              <a:t>**Trois voies parallèles** adossées à un axe de périodes : voie `ACP` (fit **calib**→ scores/signaux→ alarmes **test**) ; voie `degré zéro` (fit **calib**→ direction normalisée/mises→ alarmes **test**) ; voie `JEPA` (poids **prétrain**→ modèle/dimension **validation**→ seuils **calib indépendante**→ sorties/signaux→ alarmes **test**). Une entrée commune « fond réel/synthétique → injections identiques AVANT projection » connecte les trois voies en zone test. Réseau JEPA en pointillé pour signifier non exécuté.</a:t>
            </a:r>
          </a:p>
          <a:p/>
          <a:p>
            <a:r>
              <a:t>EQUATION SOURCES (StarMath — for manual replacement only)</a:t>
            </a:r>
          </a:p>
          <a:p>
            <a:r>
              <a:t>ASCII: G_H = E[min(T_reference,H)] / E[min(T_methode,H)]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critère d'évaluation envisagé de ratio ≥1,25 sur au moins deux familles de rupture exige des intervalles et la prise en compte de comparaisons multiples. Le statut final du réseau doit être indiqué comme non évalué à cette date.</a:t>
            </a:r>
          </a:p>
          <a:p/>
          <a:p>
            <a:r>
              <a:t>CANONICAL BULLET POINTS</a:t>
            </a:r>
          </a:p>
          <a:p>
            <a:r>
              <a:t>[TABLE]</a:t>
            </a:r>
          </a:p>
          <a:p>
            <a:r>
              <a:t>| Objet | Acquis quantitatif / théorique | Limite à lever |</a:t>
            </a:r>
          </a:p>
          <a:p>
            <a:r>
              <a:t>|---|---|---|</a:t>
            </a:r>
          </a:p>
          <a:p>
            <a:r>
              <a:t>| Budget univarié gaussien | `I = SR^2/504` nat/jour ; budget moyen de preuve `&gt;= 504*ln(gamma)/SR^2` | À distinguer du délai sous contrainte ARL0 finie |</a:t>
            </a:r>
          </a:p>
          <a:p>
            <a:r>
              <a:t>| Moyenne des actions corrélées | `rho≈0,26` ; **plateau de dispersion≈1,96×** | Ne borne pas un détecteur multivarié |</a:t>
            </a:r>
          </a:p>
          <a:p>
            <a:r>
              <a:t>| Modèle ACP et tests de signe | **6 axes** (97 actifs), **11** (239) ; null symétrique : 4,425 % vs 4,3947 % calibré | Régime brut asymétrique ; fausses alarmes hors hypothèse |</a:t>
            </a:r>
          </a:p>
          <a:p>
            <a:r>
              <a:t>| Détection de covariance | Rotation marché–axe 2 : **14,59–105,42** en délais plafonnés sur fond simulé | Référence énergie unilatérale défavorable ; contrôle négatif sans gain |</a:t>
            </a:r>
          </a:p>
          <a:p>
            <a:r>
              <a:t>| Coût information/dimension | Mélange isotrope : `M(4,504)=1,57`, `M(500,504)=9,64` | Information de dérive retenue par dimension **non mesurée** sur JEPA |</a:t>
            </a:r>
          </a:p>
          <a:p>
            <a:r>
              <a:t>| JEPA transversal compact | Architecture spécifiée, options 2/4/8/16 | **Aucun gain JEPA exécuté et confirmé** |</a:t>
            </a:r>
          </a:p>
          <a:p>
            <a:r>
              <a:t>**Décision :** d'abord caractériser `I_k` et `I(d)` pour les mêmes injections ; ensuite comparer, à **FPR(H)** équivalente, le meilleur contrôle simple et la meilleure version JEPA **choisie avant test**. Pas de promesse de gain, pas de plage optimale annoncée.</a:t>
            </a:r>
          </a:p>
          <a:p/>
          <a:p>
            <a:r>
              <a:t>VISUAL SOURCE</a:t>
            </a:r>
          </a:p>
          <a:p>
            <a:r>
              <a:t>Tableau seul, sans slogan ni diagramme final. Associer dans une colonne « acquis » la couleur verte aux résultats validés et dans « limites » l'orange aux questions ouvertes. Le message doit rester lisible sans les notes.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rho=0, le gain croît comme sqrt(K) et n'a pas de plateau fini ; la condition rho&gt;0 est donc essentielle.</a:t>
            </a:r>
          </a:p>
          <a:p/>
          <a:p>
            <a:r>
              <a:t>CANONICAL BULLET POINTS</a:t>
            </a:r>
          </a:p>
          <a:p>
            <a:r>
              <a:t>Hypothèses : `K` actifs, signaux centrés `s_i` de variance commune `s2 &gt; 0`, corrélation paire à paire `rho` avec `0 &lt; rho &lt; 1`. Moyenne `m = somme_i s_i / K`.</a:t>
            </a:r>
          </a:p>
          <a:p>
            <a:r>
              <a:t>Développer `Var(somme_i s_i)` : `K` termes diagonaux de variance `s2`, et `K(K−1)` covariances hors diagonale `rho*s2`. Puis diviser par `K^2`.</a:t>
            </a:r>
          </a:p>
          <a:p>
            <a:r>
              <a:t>Définir `K_eff` par `Var(m)=s2/K_eff`. Le gain d'écart-type d'une moyenne sur un signal est `sqrt(K_eff)` si la moyenne porte le même déplacement moyen que chaque série. Limite quand `K→∞` : `K_eff→1/rho` ; pour `rho=0,26`, `1/rho=3,846` et `sqrt(1/rho)=1,961`.</a:t>
            </a:r>
          </a:p>
          <a:p>
            <a:r>
              <a:t>La réduction empirique de budget voisine de 2 n'est **pas** une conséquence algébrique de cette variance : elle utilise un détecteur et une expérience historique distincts.</a:t>
            </a:r>
          </a:p>
          <a:p/>
          <a:p>
            <a:r>
              <a:t>VISUAL SOURCE</a:t>
            </a:r>
          </a:p>
          <a:p>
            <a:r>
              <a:t>Calculs alignés en quatre lignes avec encadré séparé « variance vs délai ». Rien d'autre.</a:t>
            </a:r>
          </a:p>
          <a:p/>
          <a:p>
            <a:r>
              <a:t>EQUATION SOURCES (StarMath — for manual replacement only)</a:t>
            </a:r>
          </a:p>
          <a:p>
            <a:r>
              <a:t>ASCII: Var(m) = [K*s2 + K*(K-1)*rho*s2]/K^2 = s2*[rho+(1-rho)/K]</a:t>
            </a:r>
          </a:p>
          <a:p>
            <a:r>
              <a:t>ASCII: K_eff = K/[1+(K-1)*rho] ; lim(K_eff)=1/rho ; lim(gain_sd)=1/sqrt(rho)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L'égalité approchée est obtenue par un rapport de vraisemblance ajusté à la dérive, hors dépassement de barrière. Ici `I_t` est la KL conditionnelle quotidienne.</a:t>
            </a:r>
          </a:p>
          <a:p/>
          <a:p>
            <a:r>
              <a:t>CANONICAL BULLET POINTS</a:t>
            </a:r>
          </a:p>
          <a:p>
            <a:r>
              <a:t>Hypothèses : `E_n` surmartingale de test positive sous `P0`, `E_0&lt;=1`, seuil de preuve `gamma&gt;1`, démarrage du test au changement. Sous `P1`, supposer les lois absolument continues et l'arrêt `T = inf{n:E_n&gt;=gamma}` intégrable, avec conditions d'arrêt nécessaires.</a:t>
            </a:r>
          </a:p>
          <a:p>
            <a:r>
              <a:t>Définir le rapport de vraisemblance `Lambda_n=exp(somme_(t&lt;=n) ell_t)`, où `ell_t=log[p1(x_t|passe)/p0(x_t|passe)]`. Par changement de mesure, `R_n=E_n/Lambda_n` est une surmartingale positive sous `P1`.</a:t>
            </a:r>
          </a:p>
          <a:p>
            <a:r>
              <a:t>Arrêt optionnel : `E1[R_T]&lt;=1`. Jensen : `E1[log R_T]&lt;=log E1[R_T]&lt;=0`. Comme `log E_T &gt;= log gamma`, alors `log gamma &lt;= E1[log Lambda_T] = E1[somme_(t&lt;=T) I_t]` (identité de Wald conditionnelle).</a:t>
            </a:r>
          </a:p>
          <a:p>
            <a:r>
              <a:t>Si `I_t=I` constant, `E1[T] &gt;= log(gamma)/I`. Pour un changement de moyenne gaussien scalaire de Sharpe annuel `SR` sur 252 jours, `I=SR^2/504`.</a:t>
            </a:r>
          </a:p>
          <a:p/>
          <a:p>
            <a:r>
              <a:t>VISUAL SOURCE</a:t>
            </a:r>
          </a:p>
          <a:p>
            <a:r>
              <a:t>Chaîne de preuve `surmartingale P0 -&gt; ratio sous P1 -&gt; arrêt + Jensen -&gt; budget` ; notes d'hypothèses visibles.</a:t>
            </a:r>
          </a:p>
          <a:p/>
          <a:p>
            <a:r>
              <a:t>EQUATION SOURCES (StarMath — for manual replacement only)</a:t>
            </a:r>
          </a:p>
          <a:p>
            <a:r>
              <a:t>ASCII: log(gamma) &lt;= E1[log(E_T)] &lt;= E1[log(Lambda_T)] = E1[somme(t&lt;=T,I_t)]</a:t>
            </a:r>
          </a:p>
          <a:p>
            <a:r>
              <a:t>ASCII: E1[T] &gt;= log(gamma)/I = 504*log(gamma)/SR^2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annexe prolonge uniquement la distinction déjà indiquée. Les chiffres proviennent d'une simulation validée, et non des rendements financiers.</a:t>
            </a:r>
          </a:p>
          <a:p/>
          <a:p>
            <a:r>
              <a:t>CANONICAL BULLET POINTS</a:t>
            </a:r>
          </a:p>
          <a:p>
            <a:r>
              <a:t>À information quotidienne `I=SR^2/504`, trois procédures **distinctes** sont considérées dans les simulations déjà résumées par les **46/46 cellules validées** : test lancé au changement, e-détecteur à seuil de preuve et CUSUM réglé par sa durée moyenne sans rupture.</a:t>
            </a:r>
          </a:p>
          <a:p>
            <a:r>
              <a:t>Ces trois lectures utilisent **des mécanismes de seuil différents**. La formule `log(gamma)/I` borne le budget moyen d'un test démarré au changement ; la loi du temps d'arrêt et la calibration CUSUM déterminent les autres délais. Les chiffres d'ajustement détaillés restent dans les résultats sources et ne sont pas introduits ici comme nouvel acquis.</a:t>
            </a:r>
          </a:p>
          <a:p>
            <a:r>
              <a:t>Les formules brutes `log(gamma)/I` sont une information de comparaison, pas un délai universel lorsque gamma est un ARL fini. [Lorden (1971)](https://doi.org/10.1214/aoms/1177693055) et [Moustakides (1986)](https://www.jstor.org/stable/2241476) fixent les objectifs de détection séquentielle ; la lecture par surmartingale relève d'un autre contrat.</a:t>
            </a:r>
          </a:p>
          <a:p/>
          <a:p>
            <a:r>
              <a:t>VISUAL SOURCE</a:t>
            </a:r>
          </a:p>
          <a:p>
            <a:r>
              <a:t>Tableau de trois lignes : procédure, critère, mesure, prévision. Aucun « exact » sur l'approximation brownienne.</a:t>
            </a:r>
          </a:p>
          <a:p/>
          <a:p>
            <a:r>
              <a:t>EQUATION SOURCES (StarMath — for manual replacement only)</a:t>
            </a:r>
          </a:p>
          <a:p>
            <a:r>
              <a:t>ASCII: I = SR^2/(2*252) ; tau_evidence = log(gamma)/I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obtenir `ARL0_brownian = gamma`, résoudre numériquement `exp(h)-h-1 = gamma*I` ; alors insérer `h` dans ADD. La correction de dépassement de barrière est une question distincte de discrétisation.</a:t>
            </a:r>
          </a:p>
          <a:p/>
          <a:p>
            <a:r>
              <a:t>CANONICAL BULLET POINTS</a:t>
            </a:r>
          </a:p>
          <a:p>
            <a:r>
              <a:t>Modèle : incréments de log-vraisemblance gaussienne de moyenne `+I` après la rupture et `−I` avant ; variance `2I` dans les deux régimes. Remplacer la marche de CUSUM par une diffusion de variance instantanée `2I`, réfléchie à zéro, arrêtée en `h&gt;0`.</a:t>
            </a:r>
          </a:p>
          <a:p>
            <a:r>
              <a:t>Soit `v_mu(y)` le temps moyen restant pour atteindre `h` à partir de `y`, avec dérive `mu=+I` ou `−I`. Son équation rétrograde est `I*v''+mu*v'=-1`, et ses bords sont `v'(0)=0` (réflexion), `v(h)=0` (arrêt).</a:t>
            </a:r>
          </a:p>
          <a:p>
            <a:r>
              <a:t>Pour `mu=+I`, résoudre `v''+v'=-1/I`. Avec `v'(0)=0`, `v'(y)=[exp(-y)-1]/I`. Intégrer puis imposer `v(h)=0` pour obtenir `v(0)=[h-1+exp(-h)]/I`.</a:t>
            </a:r>
          </a:p>
          <a:p>
            <a:r>
              <a:t>Pour `mu=−I`, résoudre `v''−v'=-1/I`. Avec `v'(0)=0`, `v'(y)=[1-exp(y)]/I`. Intégrer puis `v(h)=0` : `v(0)=[exp(h)-h-1]/I`.</a:t>
            </a:r>
          </a:p>
          <a:p/>
          <a:p>
            <a:r>
              <a:t>VISUAL SOURCE</a:t>
            </a:r>
          </a:p>
          <a:p>
            <a:r>
              <a:t>Deux colonnes de calcul P1 / P0, quatre lignes chacune. Pas de graphique.</a:t>
            </a:r>
          </a:p>
          <a:p/>
          <a:p>
            <a:r>
              <a:t>EQUATION SOURCES (StarMath — for manual replacement only)</a:t>
            </a:r>
          </a:p>
          <a:p>
            <a:r>
              <a:t>ASCII: I*v_mu''(y) + mu*v_mu'(y) = -1 ; v_mu'(0)=0 ; v_mu(h)=0</a:t>
            </a:r>
          </a:p>
          <a:p>
            <a:r>
              <a:t>ASCII: ADD_brownian = [h-1+exp(-h)]/I ; ARL0_brownian = [exp(h)-h-1]/I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caractéristiques sont des entrées candidates pour des modèles conditionnels et pour les dérives injectées guidées ; elles n'assignent pas une cible Y ni ne définissent à elles seules un concept drift.</a:t>
            </a:r>
          </a:p>
          <a:p/>
          <a:p>
            <a:r>
              <a:t>CANONICAL BULLET POINTS</a:t>
            </a:r>
          </a:p>
          <a:p>
            <a:r>
              <a:t>Au jour `t`, utiliser uniquement les journées `s&lt;t` où les observations sont disponibles. `m_s` est la moyenne de marché des titres disponibles au jour `s`; `r_i,s` est le rendement de l'action `i`.</a:t>
            </a:r>
          </a:p>
          <a:p>
            <a:r>
              <a:t>`beta_i,t` est la pente OLS `Cov_252(r_i,m)/Var_252(m)` sur les observations appariées des 252 jours précédents (minimum 126). `vol_i,t` est l'écart-type empirique sur les 63 derniers jours disponibles (minimum deux observations).</a:t>
            </a:r>
          </a:p>
          <a:p>
            <a:r>
              <a:t>`mom_i,t` additionne les rendements `s=t−252,...,t−22` ; `rev_i,t` additionne `s=t−21,...,t−1`. Les indices sont des jours de bourse, pas des mois civils exacts.</a:t>
            </a:r>
          </a:p>
          <a:p>
            <a:r>
              <a:t>Au jour t, chaque caractéristique brute est convertie en `rang_t(i) / n_t − 0,5`, parmi les `n_t` actions pour lesquelles cette caractéristique est définie. Les ex æquo ont le rang moyen et les valeurs manquantes restent manquantes.</a:t>
            </a:r>
          </a:p>
          <a:p/>
          <a:p>
            <a:r>
              <a:t>VISUAL SOURCE</a:t>
            </a:r>
          </a:p>
          <a:p>
            <a:r>
              <a:t>Frises de fenêtres relatives à t pour chaque caractéristique. Pas d'exemple de performance.</a:t>
            </a:r>
          </a:p>
          <a:p/>
          <a:p>
            <a:r>
              <a:t>EQUATION SOURCES (StarMath — for manual replacement only)</a:t>
            </a:r>
          </a:p>
          <a:p>
            <a:r>
              <a:t>ASCII: vol_i(t) = sqrt[somme(s dans W63,(r_i(s)-moyenne_W63(r_i))^2)/nombre(W63)]</a:t>
            </a:r>
          </a:p>
          <a:p>
            <a:r>
              <a:t>ASCII: mom_i(t) = somme(s=t-252..t-22, r_i(s)) ; rev_i(t) = somme(s=t-21..t-1, r_i(s))</a:t>
            </a:r>
          </a:p>
          <a:p>
            <a:r>
              <a:t>ASCII: char_rang_i(t) = rang_t(i)/n_valides(t) - 0.5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la covariance est déjà bien conditionnée, la régularisation peut être faible ; le choix n'implique pas que les données soient indépendantes ou gaussiennes.</a:t>
            </a:r>
          </a:p>
          <a:p/>
          <a:p>
            <a:r>
              <a:t>CANONICAL BULLET POINTS</a:t>
            </a:r>
          </a:p>
          <a:p>
            <a:r>
              <a:t>Pour des rendements `r_1,...,r_T` en dimension `N`, moyenne `r_bar=somme(r_t)/T` et matrice centrée `X_c` de `T` lignes, former `Sigma_emp = X_c'X_c/T`. Elle est positive semi-définie, mais ses petites valeurs propres sont instables si `N/T` est non négligeable.</a:t>
            </a:r>
          </a:p>
          <a:p>
            <a:r>
              <a:t>Cible de rétrécissement `F=mu*I_N`, avec `mu=trace(Sigma_emp)/N`. Combiner `Sigma_LW=(1−delta)*Sigma_emp+delta*F`, `0&lt;=delta&lt;=1`; `delta` est estimé suivant Ledoit–Wolf, plutôt que choisi manuellement dans les expériences principales.</a:t>
            </a:r>
          </a:p>
          <a:p>
            <a:r>
              <a:t>Calculer `Sigma_LW v_k = lambda_k v_k`, normaliser `v_k'v_k=1`, classer `lambda_1&gt;=...&gt;=lambda_N`. Stocker `v_k` et `sqrt(lambda_k)` **une fois**. Sur chaque nouveau jour, `z_k(t)=v_k'r_t/sqrt(lambda_k)`, **sans** réestimer la covariance.</a:t>
            </a:r>
          </a:p>
          <a:p/>
          <a:p>
            <a:r>
              <a:t>VISUAL SOURCE</a:t>
            </a:r>
          </a:p>
          <a:p>
            <a:r>
              <a:t>Trois matrices successives, algèbre sans illustration décorative. Citer [Ledoit et Wolf (2004)](https://www.ledoit.net/Well-conditioned2004.pdf) dans la légende conceptuelle située dans le texte.</a:t>
            </a:r>
          </a:p>
          <a:p/>
          <a:p>
            <a:r>
              <a:t>EQUATION SOURCES (StarMath — for manual replacement only)</a:t>
            </a:r>
          </a:p>
          <a:p>
            <a:r>
              <a:t>ASCII: Sigma_emp = (1/T)*somme(t=1..T,(r_t-r_bar)*(r_t-r_bar)')</a:t>
            </a:r>
          </a:p>
          <a:p>
            <a:r>
              <a:t>ASCII: Sigma_LW = (1-delta)*Sigma_emp + delta*(trace(Sigma_emp)/N)*Id ; z_k(t)=v_k'*r_t/sqrt(lambda_k)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comptage inclut la composante principale de marché ; l'indexation résiduelle commence à la deuxième direction.</a:t>
            </a:r>
          </a:p>
          <a:p/>
          <a:p>
            <a:r>
              <a:t>CANONICAL BULLET POINTS</a:t>
            </a:r>
          </a:p>
          <a:p>
            <a:r>
              <a:t>Partir de `Sigma_emp` et de sa diagonale `D=diag(Sigma_emp)`, avec variances non nulles. Former `R=D^(-1/2)*Sigma_emp*D^(-1/2)`. Chaque diagonale de R vaut 1 ; hors diagonale, l'élément `(i,j)` est la covariance entre actifs i et j divisée par le produit de leurs écarts-types.</a:t>
            </a:r>
          </a:p>
          <a:p>
            <a:r>
              <a:t>Sous un repère de bruit à variables standardisées indépendantes et `N/T` fixé, la borne supérieure asymptotique du spectre de Marčenko–Pastur est `lambda_plus=(1+sqrt(N/T))^2`. Compter `n_above = nombre(lambda_j(R)&gt;lambda_plus)`.</a:t>
            </a:r>
          </a:p>
          <a:p>
            <a:r>
              <a:t>Dans le mode factoriel exécuté, fixer `K_resid=n_above−1` puis sélectionner les `K_resid+1` premières directions de **Sigma_LW**, avec la première comme marché séparé. Avec les fenêtres utilisées, les comptes observés sont 6 et 11 **axes totaux**.</a:t>
            </a:r>
          </a:p>
          <a:p>
            <a:r>
              <a:t>En présence de dépendance temporelle, de t de Student ou de volatilité variable, le seuil théorique de bruit n'est pas calibré exactement : c'est une règle de sélection, non un intervalle de confiance de chaque valeur propre.</a:t>
            </a:r>
          </a:p>
          <a:p/>
          <a:p>
            <a:r>
              <a:t>VISUAL SOURCE</a:t>
            </a:r>
          </a:p>
          <a:p>
            <a:r>
              <a:t>Tableau de quatre étapes avec surlignage des deux matrices distinctes. Pas de courbe inventée.</a:t>
            </a:r>
          </a:p>
          <a:p/>
          <a:p>
            <a:r>
              <a:t>EQUATION SOURCES (StarMath — for manual replacement only)</a:t>
            </a:r>
          </a:p>
          <a:p>
            <a:r>
              <a:t>ASCII: R_ij = Sigma_emp_ij / sqrt(Sigma_emp_ii*Sigma_emp_jj) ; n_above = nombre{lambda_j(R) &gt; (1+sqrt(N/T))^2}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KL complète contient potentiellement davantage que le moniteur de signes, lequel observe une quantification de la projection.</a:t>
            </a:r>
          </a:p>
          <a:p/>
          <a:p>
            <a:r>
              <a:t>CANONICAL BULLET POINTS</a:t>
            </a:r>
          </a:p>
          <a:p>
            <a:r>
              <a:t>Avant rupture, `X~N(0,Sigma)` ; après, `X~N(Delta,Sigma)` ; covariance définie positive **identique**. Le log du quotient des deux densités est `ell(x)=Delta'Sigma^(-1)x−Delta'Sigma^(-1)Delta/2`.</a:t>
            </a:r>
          </a:p>
          <a:p>
            <a:r>
              <a:t>Prendre l'espérance sous la loi après, où `E1[X]=Delta`. On trouve `I_full=E1[ell(X)]=Delta'Sigma^(-1)Delta/2`.</a:t>
            </a:r>
          </a:p>
          <a:p>
            <a:r>
              <a:t>Diagonaliser `Sigma=V diag(lambda_k) V'` ; `V` orthonormale. Alors `Delta'Sigma^(-1)Delta = somme_k (v_k'Delta)^2/lambda_k`. La contribution `I_k=(v_k'Delta)^2/(2lambda_k)` est additive dans **ce** modèle.</a:t>
            </a:r>
          </a:p>
          <a:p>
            <a:r>
              <a:t>Avec axes estimés ou distributions non gaussiennes, cette somme peut ne pas être la KL conjointe du flux projeté ; ne pas présenter une simple dispersion spectrale comme une mesure de KL.</a:t>
            </a:r>
          </a:p>
          <a:p/>
          <a:p>
            <a:r>
              <a:t>VISUAL SOURCE</a:t>
            </a:r>
          </a:p>
          <a:p>
            <a:r>
              <a:t>Preuve algébrique en 3 lignes, sans figure.</a:t>
            </a:r>
          </a:p>
          <a:p/>
          <a:p>
            <a:r>
              <a:t>EQUATION SOURCES (StarMath — for manual replacement only)</a:t>
            </a:r>
          </a:p>
          <a:p>
            <a:r>
              <a:t>ASCII: ell(x) = Delta'*Sigma^(-1)*x - Delta'*Sigma^(-1)*Delta/2</a:t>
            </a:r>
          </a:p>
          <a:p>
            <a:r>
              <a:t>ASCII: I_full = Delta'*Sigma^(-1)*Delta/2 = somme(k=1..N, (v_k'*Delta)^2/(2*lambda_k))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données/variables ex ante doivent être incluses dans l'observation X si le JEPA y a accès ; autrement la comparaison des informations serait déséquilibrée.</a:t>
            </a:r>
          </a:p>
          <a:p/>
          <a:p>
            <a:r>
              <a:t>CANONICAL BULLET POINTS</a:t>
            </a:r>
          </a:p>
          <a:p>
            <a:r>
              <a:t>Soient `P0` et `P1` les lois sur les observations complètes `X` (y compris les caractéristiques si elles sont utilisées). Soit `Z=phi(X)` leur transformation fixe ; les probabilités conditionnelles `Pj(X|Z)` sont supposées bien définies.</a:t>
            </a:r>
          </a:p>
          <a:p>
            <a:r>
              <a:t>Factoriser chaque densité jointe `p_j(x,z)=p_j(z)*p_j(x|z)`. Le log du rapport joint devient la somme des logs du rapport marginal `Z` et conditionnel `X|Z`.</a:t>
            </a:r>
          </a:p>
          <a:p>
            <a:r>
              <a:t>Prendre l'espérance sous P1 : la KL complète se décompose en `KL_Z` plus la moyenne sous P1 des KL conditionnelles non négatives. Donc `KL_Z &lt;= KL_X`. Une projection inversible conserve l'information ; un masquage ou une quantification peut en perdre.</a:t>
            </a:r>
          </a:p>
          <a:p/>
          <a:p>
            <a:r>
              <a:t>VISUAL SOURCE</a:t>
            </a:r>
          </a:p>
          <a:p>
            <a:r>
              <a:t>Deux termes de l'identité côte à côte, « information observée » et « information perdue conditionnellement ».</a:t>
            </a:r>
          </a:p>
          <a:p/>
          <a:p>
            <a:r>
              <a:t>EQUATION SOURCES (StarMath — for manual replacement only)</a:t>
            </a:r>
          </a:p>
          <a:p>
            <a:r>
              <a:t>ASCII: KL(P1_X||P0_X) = KL(P1_Z||P0_Z) + E_(Z~P1)[KL(P1_(X|Z)||P0_(X|Z))] &gt;= KL(P1_Z||P0_Z)</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symétrisation des fonds historiques inverse le signe de toute la coupe au même jour. Elle rend les statistiques impaires équilibrées sans décorréler nécessairement leurs coordonnées.</a:t>
            </a:r>
          </a:p>
          <a:p/>
          <a:p>
            <a:r>
              <a:t>CANONICAL BULLET POINTS</a:t>
            </a:r>
          </a:p>
          <a:p>
            <a:r>
              <a:t>`F_(t-1)` désigne l'information avant le jour t. Supposer `r_t | F_(t-1)` et `−r_t | F_(t-1)` de même loi. Choisir une statistique `g_t` impaire, fixée en fonction du passé ; définir le bit `b_t=1` si `g_t(r_t)&gt;0`, `0` si négatif.</a:t>
            </a:r>
          </a:p>
          <a:p>
            <a:r>
              <a:t>Par symétrie, `P(g&gt;0|F)=P(g&lt;0|F)=(1−p0)/2`, avec `p0=P(g=0|F)`. Au zéro, tirer une pièce Bernoulli(1/2) indépendante, ce qui ajoute `p0/2` à la probabilité de bit positif. Le total vaut 1/2.</a:t>
            </a:r>
          </a:p>
          <a:p>
            <a:r>
              <a:t>Pour tout motif `b_1=c_1,...,b_n=c_n`, utiliser la règle des probabilités conditionnelles successives : la probabilité est `2^(−n)`. C'est l'indépendance temporelle d'**un canal** sous le null, pas entre coordonnées le même jour.</a:t>
            </a:r>
          </a:p>
          <a:p/>
          <a:p>
            <a:r>
              <a:t>VISUAL SOURCE</a:t>
            </a:r>
          </a:p>
          <a:p>
            <a:r>
              <a:t>Preuve à 3 étapes et avertissement « entre axes ≠ dans le temps ».</a:t>
            </a:r>
          </a:p>
          <a:p/>
          <a:p>
            <a:r>
              <a:t>EQUATION SOURCES (StarMath — for manual replacement only)</a:t>
            </a:r>
          </a:p>
          <a:p>
            <a:r>
              <a:t>ASCII: P0(b_t=1 | F_(t-1)) = (1-p0)/2 + p0/2 = 1/2</a:t>
            </a:r>
          </a:p>
          <a:p>
            <a:r>
              <a:t>ASCII: P0(b_1=c_1,...,b_n=c_n) = 2^(-n)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Sous un vrai null symétrique, recentrer sur une fréquence estimée introduit volontairement du bruit dans une quantité connue théoriquement. Le paramètre w est celui du générateur simulé et ne mesure pas une fraction de données réelles.</a:t>
            </a:r>
          </a:p>
          <a:p/>
          <a:p>
            <a:r>
              <a:t>CANONICAL BULLET POINTS</a:t>
            </a:r>
          </a:p>
          <a:p>
            <a:r>
              <a:t>**Treillis exact :** un CUSUM de signes avec mise et incréments discrets possède un nombre fini d'états atteignables sur `H=750`. La récurrence sur ces états donne exactement la probabilité de franchir chaque seuil sous une pièce équitable. Le seuil choisi donne `FPR=0,043947`, juste sous 0,05 ; le palier suivant dépasse le niveau admissible.</a:t>
            </a:r>
          </a:p>
          <a:p>
            <a:r>
              <a:t>**Évaluation du null :** sur chaque répétition, enregistrer l'indicatrice `1{alarme avant H}`. Sa moyenne produit le taux observé. Le test binomial à 99 % porte sur la variabilité des répétitions et sur les hypothèses du générateur, **pas** sur les 941 jours en tant que répétitions.</a:t>
            </a:r>
          </a:p>
          <a:p>
            <a:r>
              <a:t>**Choc asymétrique de simulation** d'intensité `w` modifie la probabilité de signe positif du canal marché ; `w=0,50` déséquilibre la probabilité de signe positif, ce qui peut expliquer une FPR proche de 0,39 même sans changement économique voulu. Le témoin apparié emploie le générateur symétrisé à paramètres comparables.</a:t>
            </a:r>
          </a:p>
          <a:p>
            <a:r>
              <a:t>**Recentrement estimé :** sur la calibration, `q_hat=(somme 1{z_t&gt;0})/941`, puis le moniteur traite `q_hat` comme probabilité de référence. Son erreur n'est pas dans le treillis calculé comme si q était connu ; la calibration devient approximative.</a:t>
            </a:r>
          </a:p>
          <a:p/>
          <a:p>
            <a:r>
              <a:t>VISUAL SOURCE</a:t>
            </a:r>
          </a:p>
          <a:p>
            <a:r>
              <a:t>Petite table « niveau exact / taux observé / hypothèse du null » explicitant leurs rôles.</a:t>
            </a:r>
          </a:p>
          <a:p/>
          <a:p>
            <a:r>
              <a:t>EQUATION SOURCES (StarMath — for manual replacement only)</a:t>
            </a:r>
          </a:p>
          <a:p>
            <a:r>
              <a:t>ASCII: FPR_observee = somme(rep=1..R, 1{T_rep&lt;=H})/R ; q_hat = somme(t=1..941,1{z_t&gt;0})/941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calibration de seuil par maxima historiques réagit aux dépendances et à la volatilité persistante, mais ses fenêtres fortement chevauchantes limitent la précision réelle du niveau.</a:t>
            </a:r>
          </a:p>
          <a:p/>
          <a:p>
            <a:r>
              <a:t>CANONICAL BULLET POINTS</a:t>
            </a:r>
          </a:p>
          <a:p>
            <a:r>
              <a:t>Supposer `Z` gaussien centré à covariance identité en dimension `d_R` sous le null. Alors `S=somme_k Z_k^2` a une loi chi-carré à `d_R` degrés de liberté : `E[S]=d_R` et `Var(S)=2d_R`. L'énergie standardisée est donc `q=(S−d_R)/sqrt(2d_R)`.</a:t>
            </a:r>
          </a:p>
          <a:p>
            <a:r>
              <a:t>Sous alternative de covariance `Sigma1`, l'information complète gaussienne provient du rapport des densités, incluant une trace et un déterminant ; elle peut être positive **sans** que l'énergie dans une direction choisie augmente.</a:t>
            </a:r>
          </a:p>
          <a:p>
            <a:r>
              <a:t>Une rotation orthogonale `R` appliquée à la covariance de référence produit `Sigma1=R Sigma0 R'`. Si deux valeurs propres sont égales, une rotation dans leur sous-espace peut laisser Sigma inchangée ; sinon elle peut changer des variances projetées sans changer le déterminant global.</a:t>
            </a:r>
          </a:p>
          <a:p/>
          <a:p>
            <a:r>
              <a:t>VISUAL SOURCE</a:t>
            </a:r>
          </a:p>
          <a:p>
            <a:r>
              <a:t>Densité gaussienne avant/après sous forme algébrique et réduction en trace/déterminant ; aucun graphique supplémentaire.</a:t>
            </a:r>
          </a:p>
          <a:p/>
          <a:p>
            <a:r>
              <a:t>EQUATION SOURCES (StarMath — for manual replacement only)</a:t>
            </a:r>
          </a:p>
          <a:p>
            <a:r>
              <a:t>ASCII: q = [somme(k=1..d_R,Z_k^2)-d_R] / sqrt(2*d_R)</a:t>
            </a:r>
          </a:p>
          <a:p>
            <a:r>
              <a:t>ASCII: KL_cov = [trace(Sigma0^(-1)*Sigma1) - log(det(Sigma0^(-1)*Sigma1)) - N]/2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intervalles de gain demanderaient une ligne principale dédiée avant d’être ajoutés aux annexes ; les omettre ici. Le statut « niveau sans changement » signifie qu'aucune puissance excédentaire claire n'est estimée, et non un chiffre manquant par omission.</a:t>
            </a:r>
          </a:p>
          <a:p/>
          <a:p>
            <a:r>
              <a:t>CANONICAL BULLET POINTS</a:t>
            </a:r>
          </a:p>
          <a:p>
            <a:r>
              <a:t>Définir `a = (1/N,...,1/N)'` et l'indice du jour `m=a'r`. Sous une covariance `Sigma`, sa variance vaut `a'Sigma a`. Le détecteur de référence surveille la hausse de la dispersion de `m^2`.</a:t>
            </a:r>
          </a:p>
          <a:p>
            <a:r>
              <a:t>Pour une transformation `r_new=M r`, la covariance devient `Sigma_new=M Sigma M'`. Sa projection sur l'indice devient `a'M Sigma M'a`. Si elle **diminue**, le CUSUM conçu uniquement pour une augmentation de `m^2` peut réagir **moins** que sous le null.</a:t>
            </a:r>
          </a:p>
          <a:p>
            <a:r>
              <a:t>Les facteurs de déformation `r=1,25, 1,50, 2,00` sont des **rapports de variance** sur les axes sélectionnés, avec matrice de transformation utilisant `sqrt(r)` ; ils ne sont pas des angles de rotation. Pour les rotations du corps, les angles **15° / 30° / 45°** et les KL nominales correspondantes sont des paramètres de construction, non des mesures empiriques de dérive.</a:t>
            </a:r>
          </a:p>
          <a:p/>
          <a:p>
            <a:r>
              <a:t>VISUAL SOURCE</a:t>
            </a:r>
          </a:p>
          <a:p>
            <a:r>
              <a:t>Calcul explicite puis texte de conclusion, sans ellipse.</a:t>
            </a:r>
          </a:p>
          <a:p/>
          <a:p>
            <a:r>
              <a:t>EQUATION SOURCES (StarMath — for manual replacement only)</a:t>
            </a:r>
          </a:p>
          <a:p>
            <a:r>
              <a:t>ASCII: Var(m) = a'*Sigma*a ; Var(m_new)=a'*M*Sigma*M'*a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la norme est nulle, la convention d'implémentation est un vecteur nul ; les éventuelles égalités sont départagées dans la construction des bits.</a:t>
            </a:r>
          </a:p>
          <a:p/>
          <a:p>
            <a:r>
              <a:t>CANONICAL BULLET POINTS</a:t>
            </a:r>
          </a:p>
          <a:p>
            <a:r>
              <a:t>`b` est un vecteur unitaire (`b'b=1`) estimé une fois sur calibration. `P=I−bb'` est le projecteur orthogonal sur son complément : `p=Pr`. `U` contient des directions résiduelles orthonormées, fixées en calibration.</a:t>
            </a:r>
          </a:p>
          <a:p>
            <a:r>
              <a:t>Pour tout scalaire `a&gt;0`, `p(ar)=a p(r)`, et `U'p(ar)/||p(ar)|| = U'p(r)/||p(r)||`. Cette homogénéité est de degré 0. Pour `a&lt;0`, le vecteur normalisé change de signe ; la parité impaire est donc préservée.</a:t>
            </a:r>
          </a:p>
          <a:p>
            <a:r>
              <a:t>Pour chaque axe résiduel `u_k`, `sign(u_k'p / ||p||)=sign(u_k'p)` tant que la norme est positive. Les bits seuls ne changent pas. L'énergie `somme_k (u_k'p)^2` serait **modifiée** par une division par `||p||²` ; ne pas la traiter comme le même moniteur que l'énergie ACP sur valeurs blanchies.</a:t>
            </a:r>
          </a:p>
          <a:p>
            <a:r>
              <a:t>La norme `||p||` est retournée séparément. Elle constitue une statistique potentiellement utile pour la dispersion, mais la comparaison exécutée de degré zéro repose sur des mises de **signes**, non sur une énergie ACP reconstruite a posteriori.</a:t>
            </a:r>
          </a:p>
          <a:p/>
          <a:p>
            <a:r>
              <a:t>VISUAL SOURCE</a:t>
            </a:r>
          </a:p>
          <a:p>
            <a:r>
              <a:t>Identités algébriques côte à côte « signe inchangé » / « énergie changée ».</a:t>
            </a:r>
          </a:p>
          <a:p/>
          <a:p>
            <a:r>
              <a:t>EQUATION SOURCES (StarMath — for manual replacement only)</a:t>
            </a:r>
          </a:p>
          <a:p>
            <a:r>
              <a:t>ASCII: P=Id-b*b' ; p=P*r ; z=U'*p/||p|| ; z(a*r)=z(r) (a&gt;0)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mélange est valide sous le modèle nul joint gaussien. Une agrégation de bits dépendants au même jour ne satisfait pas automatiquement son hypothèse sous-gaussienne isotrope.</a:t>
            </a:r>
          </a:p>
          <a:p/>
          <a:p>
            <a:r>
              <a:t>CANONICAL BULLET POINTS</a:t>
            </a:r>
          </a:p>
          <a:p>
            <a:r>
              <a:t>Sous `P0`, `z_t ~ N(0,I_d)` indépendants ; sous alternative, `z_t ~ N(theta,I_d)`. Pour une moyenne candidate `u`, la vraisemblance cumulée à n jours est `exp[u'S_n−n||u||²/2]` où `S_n=somme_t z_t`.</a:t>
            </a:r>
          </a:p>
          <a:p>
            <a:r>
              <a:t>Mélanger u selon la loi normale `N(0,s² I_d)` (s&gt;0). Multiplier les deux densités et rassembler les exposants `u'S_n − (n+s^(−2))||u||²/2`.</a:t>
            </a:r>
          </a:p>
          <a:p>
            <a:r>
              <a:t>Poser `a=n+s^(−2)` et compléter le carré : `u'S_n−a||u||²/2 = −a||u−S_n/a||²/2 + ||S_n||²/(2a)`.</a:t>
            </a:r>
          </a:p>
          <a:p>
            <a:r>
              <a:t>L'intégrale du terme centré est `(2*pi/a)^(d/2)` ; avec le normalisateur de la loi candidate, elle donne `(1+n s²)^(−d/2)`. Réintroduire l'exponentielle restante.</a:t>
            </a:r>
          </a:p>
          <a:p/>
          <a:p>
            <a:r>
              <a:t>VISUAL SOURCE</a:t>
            </a:r>
          </a:p>
          <a:p>
            <a:r>
              <a:t>Preuve en trois lignes d'exposants, sans schéma.</a:t>
            </a:r>
          </a:p>
          <a:p/>
          <a:p>
            <a:r>
              <a:t>EQUATION SOURCES (StarMath — for manual replacement only)</a:t>
            </a:r>
          </a:p>
          <a:p>
            <a:r>
              <a:t>ASCII: L_n = integrale exp[u'*S_n - n*||u||^2/2] dNormal(u;0,s^2*Id)</a:t>
            </a:r>
          </a:p>
          <a:p>
            <a:r>
              <a:t>ASCII: u'*S_n - a*||u||^2/2 = -a*||u-S_n/a||^2/2 + ||S_n||^2/(2*a)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trajectoires de la statistique sont aléatoires ; `L_n` peut franchir son seuil avant/après le moment où l'espérance de son logarithme atteint le seuil.</a:t>
            </a:r>
          </a:p>
          <a:p/>
          <a:p>
            <a:r>
              <a:t>CANONICAL BULLET POINTS</a:t>
            </a:r>
          </a:p>
          <a:p>
            <a:r>
              <a:t>Continuer la preuve de la slide A10 : le facteur constant de la densité `N(0,s²I_d)` vaut `(2*pi*s²)^(−d/2)` ; l'intégrale du carré centré produit `(2*pi/a)^(d/2)`, avec `a=n+s^(−2)`.</a:t>
            </a:r>
          </a:p>
          <a:p>
            <a:r>
              <a:t>Le rapport des normalisateurs vaut `(s²*a)^(−d/2)=(1+n s²)^(−d/2)` ; le terme indépendant de u vaut `exp[||S_n||²/(2a)] = exp[s²||S_n||²/(2(1+n s²))]`.</a:t>
            </a:r>
          </a:p>
          <a:p>
            <a:r>
              <a:t>Ainsi la formule fermée contient le **coût de dimension** `(1+n s²)^(−d/2)` et une contribution des données `S_n` de dimension d. Elle n'est pas encore un temps moyen de détection.</a:t>
            </a:r>
          </a:p>
          <a:p/>
          <a:p>
            <a:r>
              <a:t>VISUAL SOURCE</a:t>
            </a:r>
          </a:p>
          <a:p>
            <a:r>
              <a:t>Mettre en évidence le terme de pénalité de dimension et le terme de somme observée. Aucun nombre nouveau.</a:t>
            </a:r>
          </a:p>
          <a:p/>
          <a:p>
            <a:r>
              <a:t>EQUATION SOURCES (StarMath — for manual replacement only)</a:t>
            </a:r>
          </a:p>
          <a:p>
            <a:r>
              <a:t>ASCII: L_n = (1+n*s^2)^(-d/2) * exp[s^2*||S_n||^2/(2*(1+n*s^2))]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`f_d'(x)=2x/(d+2x)&gt;0`, `f_d(0)=0`, `f_d(x)→+∞`. La convergence du calcul numérique se vérifie directement. Il ne s'agit pas d'une approximation brownienne.</a:t>
            </a:r>
          </a:p>
          <a:p/>
          <a:p>
            <a:r>
              <a:t>CANONICAL BULLET POINTS</a:t>
            </a:r>
          </a:p>
          <a:p>
            <a:r>
              <a:t>Sous la moyenne après rupture `theta`, `S_n` a moyenne `n*theta` et covariance `n I_d` ; donc `E1[||S_n||²]=n²||theta||²+nd=2n²I+nd`, où `I=||theta||²/2`.</a:t>
            </a:r>
          </a:p>
          <a:p>
            <a:r>
              <a:t>Utiliser pour l'analyse le prior *apparié* `s²=2I/d` (sa largeur dépend de l'alternative, donc ce n'est pas une règle pour direction/amplitude inconnues sans adaptation). Substituer dans la formule de log L : le terme exponentiel moyen se réduit **exactement** à `x=nI` ; le déterminant donne `−(d/2)log(1+2x/d)`.</a:t>
            </a:r>
          </a:p>
          <a:p>
            <a:r>
              <a:t>Définir le budget moyen fluide `x_d` comme l'unique solution où l'**espérance** atteint `A=log(gamma)`, pas comme l'espérance exacte du premier franchissement.</a:t>
            </a:r>
          </a:p>
          <a:p/>
          <a:p>
            <a:r>
              <a:t>VISUAL SOURCE</a:t>
            </a:r>
          </a:p>
          <a:p>
            <a:r>
              <a:t>Deux étapes de substitution et ligne finale, avec hypothèses et domaines visibles.</a:t>
            </a:r>
          </a:p>
          <a:p/>
          <a:p>
            <a:r>
              <a:t>EQUATION SOURCES (StarMath — for manual replacement only)</a:t>
            </a:r>
          </a:p>
          <a:p>
            <a:r>
              <a:t>ASCII: E1[||S_n||^2] = 2*n^2*I + n*d ; x=n*I</a:t>
            </a:r>
          </a:p>
          <a:p>
            <a:r>
              <a:t>ASCII: E1[log(L_n)] = x-(d/2)*log(1+2*x/d) ; x_d = A+(d/2)*log(1+2*x_d/d)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page explicite que « information » et « coût » sont deux fonctions différentes de la dimension ; sans q_k mesurés, aucune optimisation empirique n'est possible.</a:t>
            </a:r>
          </a:p>
          <a:p/>
          <a:p>
            <a:r>
              <a:t>CANONICAL BULLET POINTS</a:t>
            </a:r>
          </a:p>
          <a:p>
            <a:r>
              <a:t>Sur le modèle d'illustration `q_k=1/k`, `k=1,...,500`, `I(d)=somme_(k&lt;=d)(1/k)` et `I(500)≈6,79282` (somme harmonique). `r(d)=I(d)/I(500)`.</a:t>
            </a:r>
          </a:p>
          <a:p>
            <a:r>
              <a:t>À `gamma=504`, `A=log(504)≈6,22258`. Résoudre pour chaque d `x_d−(d/2)log(1+2x_d/d)=A` (équation monotone) ; puis `M(d)=x_d/A` et `V(d)=r(d)/M(d)`.</a:t>
            </a:r>
          </a:p>
          <a:p>
            <a:r>
              <a:t>Exemple pour `d=4` : `I(4)=1+1/2+1/3+1/4≈2,08333` ; `r(4)=2,08333/6,79282≈0,3067` ; `M(4)≈1,5696` ; `V(4)≈0,1954`. Pour `d=500` : `r=1`, `M≈9,6427`, `V≈0,1037`.</a:t>
            </a:r>
          </a:p>
          <a:p>
            <a:r>
              <a:t>La table du corps pour `d=1,4,8,16,500` est un **scénario analytique construit**. Elle ne permet pas de conclure à la dimension optimale d'une représentation financière ou du JEPA.</a:t>
            </a:r>
          </a:p>
          <a:p/>
          <a:p>
            <a:r>
              <a:t>VISUAL SOURCE</a:t>
            </a:r>
          </a:p>
          <a:p>
            <a:r>
              <a:t>Reprendre les cinq lignes du tableau du corps avec une colonne calcul intermédiaire pour d=4, et rien d'autre.</a:t>
            </a:r>
          </a:p>
          <a:p/>
          <a:p>
            <a:r>
              <a:t>EQUATION SOURCES (StarMath — for manual replacement only)</a:t>
            </a:r>
          </a:p>
          <a:p>
            <a:r>
              <a:t>ASCII: I(d) = somme(k=1..d,1/k) ; r(d)=I(d)/I(500) ; V(d)=r(d)/M(d,504)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une même représentation où les axes ne sont pas emboîtés, `q_(d+1)` n'est pas défini par différence d'une base fixée. L'inégalité n'autorise aucune extrapolation aux sorties de différents réseaux JEPA.</a:t>
            </a:r>
          </a:p>
          <a:p/>
          <a:p>
            <a:r>
              <a:t>CANONICAL BULLET POINTS</a:t>
            </a:r>
          </a:p>
          <a:p>
            <a:r>
              <a:t>Pour une liste **emboîtée** de directions, poser `I(d)=somme_(k&lt;=d)q_k`, avec `q_k&gt;=0`, et un coût `C(d)&gt;0`. Alors `I(d+1)=I(d)+q_(d+1)`.</a:t>
            </a:r>
          </a:p>
          <a:p>
            <a:r>
              <a:t>Comparer `V(d+1)=[I(d)+q_(d+1)]/C(d+1)` à `V(d)=I(d)/C(d)`. Réduire au même dénominateur `C(d)*C(d+1)` ; le dénominateur étant positif, seul le numérateur détermine le signe.</a:t>
            </a:r>
          </a:p>
          <a:p>
            <a:r>
              <a:t>La condition finale est `q_(d+1) &gt; I(d)*[C(d+1)/C(d)-1]`. Elle est exacte pour l'**objectif V donné**, pas une affirmation sur l'ADD de n'importe quel détecteur.</a:t>
            </a:r>
          </a:p>
          <a:p/>
          <a:p>
            <a:r>
              <a:t>VISUAL SOURCE</a:t>
            </a:r>
          </a:p>
          <a:p>
            <a:r>
              <a:t>Preuve algébrique sans figure.</a:t>
            </a:r>
          </a:p>
          <a:p/>
          <a:p>
            <a:r>
              <a:t>EQUATION SOURCES (StarMath — for manual replacement only)</a:t>
            </a:r>
          </a:p>
          <a:p>
            <a:r>
              <a:t>ASCII: V(d+1)-V(d) = [q_(d+1)*C(d) - I(d)*(C(d+1)-C(d))]/[C(d)*C(d+1)]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coût affine est explicitement un modèle auxiliaire, distinct de M(d,gamma) dérivé du mélange isotrope.</a:t>
            </a:r>
          </a:p>
          <a:p/>
          <a:p>
            <a:r>
              <a:t>CANONICAL BULLET POINTS</a:t>
            </a:r>
          </a:p>
          <a:p>
            <a:r>
              <a:t>Supposer `C(d)=a+c*d`, `a,c&gt;0` et informations marginales `q_1&gt;q_2&gt;...&gt;q_N&gt;=0`. Définir `H_d=q_(d+1)*C(d)−c*I(d)`.</a:t>
            </a:r>
          </a:p>
          <a:p>
            <a:r>
              <a:t>`V(d+1)−V(d)` a même signe que `H_d`. Développer la différence suivante avec `I(d+1)=I(d)+q_(d+1)` et `C(d+1)=C(d)+c`.</a:t>
            </a:r>
          </a:p>
          <a:p>
            <a:r>
              <a:t>Les termes en `I(d)` s'annulent. Il reste `H_(d+1)−H_d = [q_(d+2)−q_(d+1)]*C(d+1) &lt; 0` : les incréments passent une seule fois de positifs à négatifs.</a:t>
            </a:r>
          </a:p>
          <a:p>
            <a:r>
              <a:t>Si l'un des H_d est exactement zéro, deux dimensions voisines ont le même score. Les bornes numériques de l'optimum exigent des conditions supplémentaires sur H_d ; **aucune conclusion générale d∈[2,8]** ne suit des seules valeurs propres financières.</a:t>
            </a:r>
          </a:p>
          <a:p/>
          <a:p>
            <a:r>
              <a:t>VISUAL SOURCE</a:t>
            </a:r>
          </a:p>
          <a:p>
            <a:r>
              <a:t>Algèbre et conditions en colonne unique ; aucun nouveau exemple numérique.</a:t>
            </a:r>
          </a:p>
          <a:p/>
          <a:p>
            <a:r>
              <a:t>EQUATION SOURCES (StarMath — for manual replacement only)</a:t>
            </a:r>
          </a:p>
          <a:p>
            <a:r>
              <a:t>ASCII: H_d=q_(d+1)*(a+c*d)-c*I(d) ; H_(d+1)-H_d=[q_(d+2)-q_(d+1)]*[a+c*(d+1)] &lt; 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e-détecteurs composés de redémarrages à plusieurs dates ajoutent une autre structure que les simples rapports lancés au même onset ; voir [Shin, Ramdas et Rinaldo (2024)](https://nejsds.nestat.org/journal/NEJSDS/article/59/text) pour la garantie ARL non asymptotique de cette famille.</a:t>
            </a:r>
          </a:p>
          <a:p/>
          <a:p>
            <a:r>
              <a:t>CANONICAL BULLET POINTS</a:t>
            </a:r>
          </a:p>
          <a:p>
            <a:r>
              <a:t>Soient `K` directions unitaires `u_j` fixées avant test. Chacune définit un rapport de vraisemblance `L_j`; la moyenne `L=(1/K)*somme_j L_j` reste valide sous le null. Puisque `L&gt;=L_j/K`, le franchissement `L_j&gt;=K*gamma` suffit à `L&gt;=gamma`.</a:t>
            </a:r>
          </a:p>
          <a:p>
            <a:r>
              <a:t>Sous un décalage gaussien complet `theta`, information `I=||theta||²/2`. Sur un candidat `u`, l'information scalaire disponible vaut `I_u=(u'theta)²/2=I*cos(angle)²`, où `angle` est celui entre u et theta.</a:t>
            </a:r>
          </a:p>
          <a:p>
            <a:r>
              <a:t>Si le candidat le mieux aligné connaît aussi sa bonne amplitude, son budget logarithmique suffisant est `log gamma+log K`. Une approximation de délai est donc `(log gamma+log K)/(I*cos(angle)²)` ; ce n'est pas l'égalité exacte de l'ADD, ni une correction garantissant la performance sur rendements non gaussiens.</a:t>
            </a:r>
          </a:p>
          <a:p/>
          <a:p>
            <a:r>
              <a:t>VISUAL SOURCE</a:t>
            </a:r>
          </a:p>
          <a:p>
            <a:r>
              <a:t>Trois lignes d'inégalités et définition de l'angle, pas de dessin de vecteurs inutile.</a:t>
            </a:r>
          </a:p>
          <a:p/>
          <a:p>
            <a:r>
              <a:t>EQUATION SOURCES (StarMath — for manual replacement only)</a:t>
            </a:r>
          </a:p>
          <a:p>
            <a:r>
              <a:t>ASCII: L = somme(j=1..K,L_j)/K &gt;= L_j/K ; I_u = I*cos(angle)^2</a:t>
            </a:r>
          </a:p>
          <a:p>
            <a:r>
              <a:t>ASCII: temps_budget ≈ [log(gamma)+log(K)] / [I*cos(angle)^2]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budget discret est différent de l'intégrale continue utilisée pour une approximation du temps de franchissement moyen.</a:t>
            </a:r>
          </a:p>
          <a:p/>
          <a:p>
            <a:r>
              <a:t>CANONICAL BULLET POINTS</a:t>
            </a:r>
          </a:p>
          <a:p>
            <a:r>
              <a:t>Modèle supposé : changement de moyenne initial `theta` dans un espace gaussien de covariance identité ; un mécanisme adaptatif réduit la moyenne au jour t à `theta*exp[-(t−1)/tau_a]`. Alors `I_t=||theta||²*exp[-2(t−1)/tau_a]/2=I_0 exp[-2(t−1)/tau_a]`.</a:t>
            </a:r>
          </a:p>
          <a:p>
            <a:r>
              <a:t>Somme sur les jours `t&gt;=1` : série géométrique de raison `u=exp[-2/tau_a]∈(0,1)`. Son résultat est `B_total=I_0/(1−u)`.</a:t>
            </a:r>
          </a:p>
          <a:p>
            <a:r>
              <a:t>Un budget total inférieur au logarithme du seuil de preuve ne peut conduire à une **détection certaine** par un test valide, mais des trajectoires peuvent franchir le seuil malgré un budget moyen insuffisant.</a:t>
            </a:r>
          </a:p>
          <a:p/>
          <a:p>
            <a:r>
              <a:t>VISUAL SOURCE</a:t>
            </a:r>
          </a:p>
          <a:p>
            <a:r>
              <a:t>Série géométrique écrite explicitement, sans nouvelle figure.</a:t>
            </a:r>
          </a:p>
          <a:p/>
          <a:p>
            <a:r>
              <a:t>EQUATION SOURCES (StarMath — for manual replacement only)</a:t>
            </a:r>
          </a:p>
          <a:p>
            <a:r>
              <a:t>ASCII: I_t=I_0*exp[-2*(t-1)/tau_a] ; B_total=somme(t&gt;=1,I_t)=I_0/[1-exp(-2/tau_a)]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P0(A_event)=0 et P1(A_event)&gt;0, la KL serait infinie, elle ne peut pas être bornée par B_total fini. La conclusion s'entend dans les hypothèses de domination des lois.</a:t>
            </a:r>
          </a:p>
          <a:p/>
          <a:p>
            <a:r>
              <a:t>CANONICAL BULLET POINTS</a:t>
            </a:r>
          </a:p>
          <a:p>
            <a:r>
              <a:t>Soit `A_event={T&lt;infini}` l'événement « le test donne un jour une alarme ». Supposer `P0(A_event)&lt;=1/gamma` (test de preuve anytime-valid au seuil gamma). Supposer que la KL des trajectoires infinies après/avant est bornée par `B_total` (modèle de translation gaussienne conditionnellement indépendante).</a:t>
            </a:r>
          </a:p>
          <a:p>
            <a:r>
              <a:t>Par traitement des données, appliquer la fonction binaire `1_A_event` aux trajectoires : `KL(P1_trajectoire||P0_trajectoire)&gt;=kl(p1||p0)` avec `p_j=Pj(A_event)`.</a:t>
            </a:r>
          </a:p>
          <a:p>
            <a:r>
              <a:t>Si `p1=1`, la KL binaire vaut `log(1/p0)&gt;=log(gamma)`. Si `B_total&lt;log(gamma)`, contradiction. Donc `p1&lt;1`. Cette conclusion ne dit rien d'une absence complète d'alarmes.</a:t>
            </a:r>
          </a:p>
          <a:p/>
          <a:p>
            <a:r>
              <a:t>VISUAL SOURCE</a:t>
            </a:r>
          </a:p>
          <a:p>
            <a:r>
              <a:t>Quatre cases de la preuve par contradiction et résultat « P1(alarme un jour)&lt;1 ».</a:t>
            </a:r>
          </a:p>
          <a:p/>
          <a:p>
            <a:r>
              <a:t>EQUATION SOURCES (StarMath — for manual replacement only)</a:t>
            </a:r>
          </a:p>
          <a:p>
            <a:r>
              <a:t>ASCII: B_total &gt;= KL(P1||P0) &gt;= kl(P1(A_event)||P0(A_event)) ; P1(A_event)=1 implique B_total&gt;=log(gamma)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Comparer la condition du modèle fluide à la borne probabiliste discrète précédente ; elles sont compatibles mais non équivalentes.</a:t>
            </a:r>
          </a:p>
          <a:p/>
          <a:p>
            <a:r>
              <a:t>CANONICAL BULLET POINTS</a:t>
            </a:r>
          </a:p>
          <a:p>
            <a:r>
              <a:t>Remplacer la suite par `I(t)=I_0 exp[-2t/tau_a]` et intégrer jusqu'à t : `B(t)=I_0 tau_a [1−exp(-2t/tau_a)]/2`.</a:t>
            </a:r>
          </a:p>
          <a:p>
            <a:r>
              <a:t>Définir `tau_0=log(gamma)/I_0` et résoudre `B(t)=log gamma`. On trouve `exp(-2t/tau_a)=1−2tau_0/tau_a`. Une solution finie existe si et seulement si `tau_a&gt;2tau_0`.</a:t>
            </a:r>
          </a:p>
          <a:p>
            <a:r>
              <a:t>Prendre le logarithme et isoler t : `t=−(tau_a/2)log(1−2tau_0/tau_a)`. À égalité, le seuil moyen n'est approché qu'à l'infini ; en dessous, le cumul moyen ne l'atteint jamais.</a:t>
            </a:r>
          </a:p>
          <a:p>
            <a:r>
              <a:t>Ce `t` est le temps d'atteinte **d'une courbe moyenne continue**, pas l'espérance du temps d'alarme de trajectoires aléatoires.</a:t>
            </a:r>
          </a:p>
          <a:p/>
          <a:p>
            <a:r>
              <a:t>VISUAL SOURCE</a:t>
            </a:r>
          </a:p>
          <a:p>
            <a:r>
              <a:t>Étapes d'intégration et d'inversion de l'exponentielle, sans ajouter de résultat nouveau.</a:t>
            </a:r>
          </a:p>
          <a:p/>
          <a:p>
            <a:r>
              <a:t>EQUATION SOURCES (StarMath — for manual replacement only)</a:t>
            </a:r>
          </a:p>
          <a:p>
            <a:r>
              <a:t>ASCII: B(t) = I_0*tau_a*[1-exp(-2*t/tau_a)]/2 ; t = -(tau_a/2)*log(1-2*tau_0/tau_a)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réseau cible reçoit les rendements cachés à l'entraînement pour construire sa cible latente, mais aucun gradient direct ni aucune statistique dérivée de ces rendements ne doit retourner vers les **entrées du contexte**.</a:t>
            </a:r>
          </a:p>
          <a:p/>
          <a:p>
            <a:r>
              <a:t>CANONICAL BULLET POINTS</a:t>
            </a:r>
          </a:p>
          <a:p>
            <a:r>
              <a:t>Supposer `N` actifs et un facteur commun instantané simplifié `m=(1/N)*somme_i r_i`. Le résidu visible `p_i=r_i−m` dépend de chaque rendement masqué `r_j`, puisque `d p_i/d r_j=−1/N` pour i≠j.</a:t>
            </a:r>
          </a:p>
          <a:p>
            <a:r>
              <a:t>Si l'on calcule tous les résidus avant masquage, le contexte a déjà vu une fonction des cibles. Le masquage n'établit donc pas un test honnête de prédictibilité transversale.</a:t>
            </a:r>
          </a:p>
          <a:p>
            <a:r>
              <a:t>Première solution : ne pas retirer de facteur prétexte avant masquage. Deuxième solution : choisir d'abord le masque visible `V`, estimer `m_V=(1/|V|) somme_(i∈V) r_i`, préparer les résidus visibles avec `m_V` ; la cible est calculée par une branche séparée sans fuite vers le contexte.</a:t>
            </a:r>
          </a:p>
          <a:p>
            <a:r>
              <a:t>Cas multifactoriel : utiliser uniquement la sous-matrice de chargements `B_V` et une pondération `W_V` sur les visibles. Exiger l'inversibilité de `B_V'W_VB_V` ou une règle de régularisation préfixée.</a:t>
            </a:r>
          </a:p>
          <a:p/>
          <a:p>
            <a:r>
              <a:t>VISUAL SOURCE</a:t>
            </a:r>
          </a:p>
          <a:p>
            <a:r>
              <a:t>Deux réseaux de dépendances, mauvais puis licite ; les seules flèches vers l'encodeur de contexte viennent des rendements visibles.</a:t>
            </a:r>
          </a:p>
          <a:p/>
          <a:p>
            <a:r>
              <a:t>EQUATION SOURCES (StarMath — for manual replacement only)</a:t>
            </a:r>
          </a:p>
          <a:p>
            <a:r>
              <a:t>ASCII: dp_i/dr_j = -1/N (i != j) ; m_V = somme(i dans V,r_i)/taille(V)</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sorties quotidiennes peuvent s'effondrer même lorsque la variance des jetons entre actifs est non nulle ; d'où l'intérêt de placer la pénalité au niveau réellement surveillé.</a:t>
            </a:r>
          </a:p>
          <a:p/>
          <a:p>
            <a:r>
              <a:t>CANONICAL BULLET POINTS</a:t>
            </a:r>
          </a:p>
          <a:p>
            <a:r>
              <a:t>Pour un masque `M` d'actifs cachés au jour t, le prédicteur fournit `h_hat_i,t` à partir des visibles ; l'encodeur cible EMA fournit `h_target_i,t` (gradient arrêté). La perte JEPA est la moyenne des erreurs quadratiques sur `M`.</a:t>
            </a:r>
          </a:p>
          <a:p>
            <a:r>
              <a:t>Sur un lot de B jours, soit `Z` la matrice `B × d` de représentations **quotidiennes compactes**. Une pénalité de variance par coordonnée est `L_var=(1/d)*somme_j max(0, 1−sd_batch(Z_j))²`. Si la sortie d'une dimension devient constante, sa contribution est positive.</a:t>
            </a:r>
          </a:p>
          <a:p>
            <a:r>
              <a:t>Une pénalité de covariance supplémentaire `L_cov=(1/d)*somme_(j!=k) Cov_batch(Z_j,Z_k)²` serait une ablation explicite. L'entraînement principal prévu initialement retient l'erreur prédictive et une pénalité variance ; la variante avec décorrélation n'est pas encore exécutée.</a:t>
            </a:r>
          </a:p>
          <a:p>
            <a:r>
              <a:t>Ni une petite loss, ni une variance positive, ni des dimensions décorrélées ne garantissent la conservation de la KL d'un **changement non vu**.</a:t>
            </a:r>
          </a:p>
          <a:p/>
          <a:p>
            <a:r>
              <a:t>VISUAL SOURCE</a:t>
            </a:r>
          </a:p>
          <a:p>
            <a:r>
              <a:t>Deux équations avec un court tableau de signification des symboles ; pas de figure générique d'entraînement.</a:t>
            </a:r>
          </a:p>
          <a:p/>
          <a:p>
            <a:r>
              <a:t>EQUATION SOURCES (StarMath — for manual replacement only)</a:t>
            </a:r>
          </a:p>
          <a:p>
            <a:r>
              <a:t>ASCII: L_JEPA = moyenne(i dans M, ||h_hat_i-h_target_i||^2) ; L = L_JEPA + lambda_v*L_var</a:t>
            </a:r>
          </a:p>
          <a:p>
            <a:r>
              <a:t>ASCII: L_var=(1/d)*somme(j=1..d,max(0,1-sd_batch(Z_j))^2)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de Shin et collaborateurs traite des redémarrages à dates inconnues, de la validité non asymptotique ARL et d'une efficacité de délai ; la moyenne est seulement un élément algébrique de ce cadre. Certaines expériences reposent au contraire sur le seuil exact du CUSUM scalaire, sans moyenne de canaux.</a:t>
            </a:r>
          </a:p>
          <a:p/>
          <a:p>
            <a:r>
              <a:t>CANONICAL BULLET POINTS</a:t>
            </a:r>
          </a:p>
          <a:p>
            <a:r>
              <a:t>Pour chaque direction scalaire k de signes, un e-détecteur non négatif `M_k,t` combine des mises bilatérales et des redémarrages potentiels selon des règles fixées. La **moyenne des e-détecteurs directionnels** `M_t=(1/K)somme_k M_k,t` conserve la propriété définissant l'e-détecteur sous son null, **sans exiger l'indépendance entre directions**.</a:t>
            </a:r>
          </a:p>
          <a:p>
            <a:r>
              <a:t>La procédure [Shin, Ramdas et Rinaldo (2024)](https://nejsds.nestat.org/journal/NEJSDS/article/59/text) fournit précisément des e-détecteurs de type CUSUM ou Shiryaev–Roberts construits à partir de e-processus redémarrés, avec **contrôle non asymptotique de l'ARL** et des bornes de délai dans certains modèles non paramétriques. Elle ne démontre pas qu'un maximum non corrigé de toutes les alarmes signe et énergie conserve ce contrôle.</a:t>
            </a:r>
          </a:p>
          <a:p>
            <a:r>
              <a:t>Sous une garantie `E0[T]&gt;=gamma` pour un e-détecteur, on dispose aussi de la borne opérationnelle `P0(T&lt;=H)&lt;=H/gamma`. Elle est généralement conservatrice. Pour une cible `alpha`, `gamma=H/alpha` donne une borne ≤alpha, non une mesure exacte du FPR.</a:t>
            </a:r>
          </a:p>
          <a:p>
            <a:r>
              <a:t>Le capteur d'énergie possède son propre CUSUM et son seuil empirique. Aucun détecteur unique « signe OU énergie » n'est mesuré et calibré en tant que tel dans les résultats actuels.</a:t>
            </a:r>
          </a:p>
          <a:p/>
          <a:p>
            <a:r>
              <a:t>VISUAL SOURCE</a:t>
            </a:r>
          </a:p>
          <a:p>
            <a:r>
              <a:t>Diagramme : `signes axe 1..K -&gt; e-détecteurs -&gt; moyenne -&gt; alarme signes` ; voie indépendante `énergie -&gt; CUSUM -&gt; alarme énergie`. Croix sur une fusion OR non calibrée.</a:t>
            </a:r>
          </a:p>
          <a:p/>
          <a:p>
            <a:r>
              <a:t>EQUATION SOURCES (StarMath — for manual replacement only)</a:t>
            </a:r>
          </a:p>
          <a:p>
            <a:r>
              <a:t>ASCII: M_t = somme(k=1..K, M_k,t)/K ; P0(T&lt;=H) &lt;= H/gamma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rotations de covariance H=250 et les tests des signes H=750 ne sont pas comparables numériquement entre eux sans ramener leurs nulls et horizons à la même définition.</a:t>
            </a:r>
          </a:p>
          <a:p/>
          <a:p>
            <a:r>
              <a:t>CANONICAL BULLET POINTS</a:t>
            </a:r>
          </a:p>
          <a:p>
            <a:r>
              <a:t>`ARL0=E0[T]` est la durée moyenne avant fausse alarme sous le null. `FPR(H)=P0(T&lt;=H)` est la probabilité d'au moins une fausse alarme avant H ; à ARL fixé, elle dépend de toute la distribution de T. Les lectures fondées sur une preuve garantie et les seuils par bootstrap ne fixent pas exactement la même quantité.</a:t>
            </a:r>
          </a:p>
          <a:p>
            <a:r>
              <a:t>Sous une injection à date connue, le délai `T` part du premier jour perturbé. Un essai non détecté avant H est **censuré** ; on rapporte `RMST_H=E[min(T,H)]`, le taux de détection `P1(T&lt;=H)` et la fraction censurée.</a:t>
            </a:r>
          </a:p>
          <a:p>
            <a:r>
              <a:t>Pour deux méthodes évaluées sur les mêmes trajectoires, le rapport de délais restreints `G_H=RMST_H(reference)/RMST_H(methode)` est calculé par répétition appariée et assorti d'un intervalle tenant compte des comparaisons. On ne doit pas traduire G_H directement en ratio de délais moyens non censurés lorsque les taux censurés sont élevés.</a:t>
            </a:r>
          </a:p>
          <a:p/>
          <a:p>
            <a:r>
              <a:t>VISUAL SOURCE</a:t>
            </a:r>
          </a:p>
          <a:p>
            <a:r>
              <a:t>Tableau des trois mesures avec un exemple générique de censure, sans nouveau chiffre d'expérience.</a:t>
            </a:r>
          </a:p>
          <a:p/>
          <a:p>
            <a:r>
              <a:t>EQUATION SOURCES (StarMath — for manual replacement only)</a:t>
            </a:r>
          </a:p>
          <a:p>
            <a:r>
              <a:t>ASCII: ARL0=E0[T] ; FPR(H)=P0(T&lt;=H) ; RMST_H=E1[min(T,H)]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edoit.net/Well-conditioned2004.pdf"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athnet.ru/eng/msb4101"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linelibrary.wiley.com/doi/book/10.1002/047174882X"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ceedings.iclr.cc/paper_files/paper/2025/hash/93f01c8d9b355d7bbe3f353b44ccde66-Abstract-Conference.html"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105.04906"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14/aoms/1177693055" TargetMode="External"/><Relationship Id="rId3" Type="http://schemas.openxmlformats.org/officeDocument/2006/relationships/hyperlink" Target="https://www.jstor.org/stable/2241476"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ejsds.nestat.org/journal/NEJSDS/article/59/text"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8046720" cy="2011680"/>
          </a:xfrm>
          <a:prstGeom prst="rect">
            <a:avLst/>
          </a:prstGeom>
          <a:solidFill>
            <a:srgbClr val="00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694944"/>
            <a:ext cx="7635240" cy="548640"/>
          </a:xfrm>
          <a:prstGeom prst="rect">
            <a:avLst/>
          </a:prstGeom>
          <a:noFill/>
        </p:spPr>
        <p:txBody>
          <a:bodyPr wrap="square" lIns="45720" rIns="45720" tIns="13716" bIns="13716" anchor="t">
            <a:spAutoFit/>
          </a:bodyPr>
          <a:lstStyle/>
          <a:p>
            <a:pPr algn="l">
              <a:lnSpc>
                <a:spcPts val="3450"/>
              </a:lnSpc>
              <a:spcAft>
                <a:spcPts val="0"/>
              </a:spcAft>
            </a:pPr>
            <a:r>
              <a:rPr sz="3000" b="0" i="0">
                <a:solidFill>
                  <a:srgbClr val="2C3E50"/>
                </a:solidFill>
                <a:latin typeface="Carlito"/>
              </a:rPr>
              <a:t/>
            </a:r>
            <a:r>
              <a:rPr sz="3000" b="1">
                <a:solidFill>
                  <a:srgbClr val="FFFFFF"/>
                </a:solidFill>
                <a:latin typeface="Carlito"/>
              </a:rPr>
              <a:t>JEPA-Drift</a:t>
            </a:r>
          </a:p>
        </p:txBody>
      </p:sp>
      <p:sp>
        <p:nvSpPr>
          <p:cNvPr id="4" name="TextBox 3"/>
          <p:cNvSpPr txBox="1"/>
          <p:nvPr/>
        </p:nvSpPr>
        <p:spPr>
          <a:xfrm>
            <a:off x="749808" y="1280160"/>
            <a:ext cx="7498079" cy="886968"/>
          </a:xfrm>
          <a:prstGeom prst="rect">
            <a:avLst/>
          </a:prstGeom>
          <a:noFill/>
        </p:spPr>
        <p:txBody>
          <a:bodyPr wrap="square" lIns="45720" rIns="45720" tIns="13716" bIns="13716" anchor="t">
            <a:spAutoFit/>
          </a:bodyPr>
          <a:lstStyle/>
          <a:p>
            <a:pPr algn="l">
              <a:lnSpc>
                <a:spcPts val="2300"/>
              </a:lnSpc>
              <a:spcAft>
                <a:spcPts val="0"/>
              </a:spcAft>
            </a:pPr>
            <a:r>
              <a:rPr sz="2000" b="0" i="0">
                <a:solidFill>
                  <a:srgbClr val="2C3E50"/>
                </a:solidFill>
                <a:latin typeface="Carlito"/>
              </a:rPr>
              <a:t/>
            </a:r>
            <a:r>
              <a:rPr sz="2000" b="1">
                <a:solidFill>
                  <a:srgbClr val="FFFFFF"/>
                </a:solidFill>
                <a:latin typeface="Carlito"/>
              </a:rPr>
              <a:t>Information transversale, géométrie latente et délai de détection</a:t>
            </a:r>
          </a:p>
        </p:txBody>
      </p:sp>
      <p:sp>
        <p:nvSpPr>
          <p:cNvPr id="5" name="Rectangle 4"/>
          <p:cNvSpPr/>
          <p:nvPr/>
        </p:nvSpPr>
        <p:spPr>
          <a:xfrm>
            <a:off x="548640" y="2560320"/>
            <a:ext cx="8046720" cy="5486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743200"/>
            <a:ext cx="9144000" cy="1645920"/>
          </a:xfrm>
          <a:prstGeom prst="rect">
            <a:avLst/>
          </a:prstGeom>
          <a:solidFill>
            <a:srgbClr val="3B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834640"/>
            <a:ext cx="8046720" cy="42062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07792"/>
            <a:ext cx="7818120" cy="283464"/>
          </a:xfrm>
          <a:prstGeom prst="rect">
            <a:avLst/>
          </a:prstGeom>
          <a:noFill/>
        </p:spPr>
        <p:txBody>
          <a:bodyPr wrap="square" lIns="45720" rIns="45720" tIns="13716" bIns="13716" anchor="t">
            <a:spAutoFit/>
          </a:bodyPr>
          <a:lstStyle/>
          <a:p>
            <a:pPr algn="l">
              <a:lnSpc>
                <a:spcPts val="1609"/>
              </a:lnSpc>
              <a:spcAft>
                <a:spcPts val="0"/>
              </a:spcAft>
            </a:pPr>
            <a:r>
              <a:rPr sz="1400" b="0" i="0">
                <a:solidFill>
                  <a:srgbClr val="2C3E50"/>
                </a:solidFill>
                <a:latin typeface="Carlito"/>
              </a:rPr>
              <a:t/>
            </a:r>
            <a:r>
              <a:rPr sz="1400" b="1">
                <a:solidFill>
                  <a:srgbClr val="FFFFFF"/>
                </a:solidFill>
                <a:latin typeface="Carlito"/>
              </a:rPr>
              <a:t>Point hebdomadaire — lundi 26 octobre 2026</a:t>
            </a:r>
          </a:p>
        </p:txBody>
      </p:sp>
      <p:sp>
        <p:nvSpPr>
          <p:cNvPr id="9" name="TextBox 8"/>
          <p:cNvSpPr txBox="1"/>
          <p:nvPr/>
        </p:nvSpPr>
        <p:spPr>
          <a:xfrm>
            <a:off x="658368" y="3383280"/>
            <a:ext cx="7818120" cy="320040"/>
          </a:xfrm>
          <a:prstGeom prst="rect">
            <a:avLst/>
          </a:prstGeom>
          <a:noFill/>
        </p:spPr>
        <p:txBody>
          <a:bodyPr wrap="square" lIns="45720" rIns="45720" tIns="13716" bIns="13716" anchor="t">
            <a:spAutoFit/>
          </a:bodyPr>
          <a:lstStyle/>
          <a:p>
            <a:pPr algn="ctr">
              <a:lnSpc>
                <a:spcPts val="1495"/>
              </a:lnSpc>
              <a:spcAft>
                <a:spcPts val="0"/>
              </a:spcAft>
            </a:pPr>
            <a:r>
              <a:rPr sz="1300" b="0" i="0">
                <a:solidFill>
                  <a:srgbClr val="2C3E50"/>
                </a:solidFill>
                <a:latin typeface="Carlito"/>
              </a:rPr>
              <a:t/>
            </a:r>
            <a:r>
              <a:rPr sz="1300" b="1">
                <a:solidFill>
                  <a:srgbClr val="FFFFFF"/>
                </a:solidFill>
                <a:latin typeface="Carlito"/>
              </a:rPr>
              <a:t>rendements journaliers (N actifs)  →  représentation figée (d coordonnées)  →  détecteurs distincts  →  alarmes</a:t>
            </a:r>
          </a:p>
        </p:txBody>
      </p:sp>
      <p:sp>
        <p:nvSpPr>
          <p:cNvPr id="10" name="TextBox 9"/>
          <p:cNvSpPr txBox="1"/>
          <p:nvPr/>
        </p:nvSpPr>
        <p:spPr>
          <a:xfrm>
            <a:off x="658368" y="3794760"/>
            <a:ext cx="7818120" cy="274320"/>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D5DBDB"/>
                </a:solidFill>
                <a:latin typeface="Carlito"/>
              </a:rPr>
              <a:t>information conservée / coût de surveillance</a:t>
            </a:r>
          </a:p>
        </p:txBody>
      </p:sp>
      <p:sp>
        <p:nvSpPr>
          <p:cNvPr id="11" name="Rectangle 10"/>
          <p:cNvSpPr/>
          <p:nvPr/>
        </p:nvSpPr>
        <p:spPr>
          <a:xfrm>
            <a:off x="6995160" y="182880"/>
            <a:ext cx="164592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82880"/>
            <a:ext cx="164592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POINT DE RECHERCHE</a:t>
            </a:r>
          </a:p>
        </p:txBody>
      </p:sp>
      <p:sp>
        <p:nvSpPr>
          <p:cNvPr id="13" name="TextBox 12"/>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Acquis : hypothèses, protocoles, mesures</a:t>
            </a:r>
          </a:p>
        </p:txBody>
      </p:sp>
      <p:sp>
        <p:nvSpPr>
          <p:cNvPr id="4" name="Rectangle 3"/>
          <p:cNvSpPr/>
          <p:nvPr/>
        </p:nvSpPr>
        <p:spPr>
          <a:xfrm>
            <a:off x="7379208" y="64008"/>
            <a:ext cx="1490472"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79208" y="64008"/>
            <a:ext cx="149047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SYNTHÈSE ÉTAYÉE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Ce qui est établi : résultats quantitatifs et portée de leurs garanties</a:t>
            </a:r>
          </a:p>
        </p:txBody>
      </p:sp>
      <p:sp>
        <p:nvSpPr>
          <p:cNvPr id="8" name="TextBox 7"/>
          <p:cNvSpPr txBox="1"/>
          <p:nvPr/>
        </p:nvSpPr>
        <p:spPr>
          <a:xfrm>
            <a:off x="438912" y="132588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Résultats expérimentaux : chaque ligne rappelle les données et le pipeline.</a:t>
            </a:r>
          </a:p>
        </p:txBody>
      </p:sp>
      <p:sp>
        <p:nvSpPr>
          <p:cNvPr id="9" name="TextBox 8"/>
          <p:cNvSpPr txBox="1"/>
          <p:nvPr/>
        </p:nvSpPr>
        <p:spPr>
          <a:xfrm>
            <a:off x="438912" y="1596263"/>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Résultats théoriques : hypothèse / constat expérimental.</a:t>
            </a:r>
          </a:p>
        </p:txBody>
      </p:sp>
      <p:graphicFrame>
        <p:nvGraphicFramePr>
          <p:cNvPr id="10" name="Table 9"/>
          <p:cNvGraphicFramePr>
            <a:graphicFrameLocks noGrp="1"/>
          </p:cNvGraphicFramePr>
          <p:nvPr/>
        </p:nvGraphicFramePr>
        <p:xfrm>
          <a:off x="438912" y="1866645"/>
          <a:ext cx="8275320" cy="1463040"/>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900" b="1">
                          <a:solidFill>
                            <a:srgbClr val="FFFFFF"/>
                          </a:solidFill>
                          <a:latin typeface="Carlito"/>
                        </a:rPr>
                        <a:t>Données / pipeline</a:t>
                      </a:r>
                    </a:p>
                  </a:txBody>
                  <a:tcPr marL="54864" marR="54864" marT="18288" marB="18288">
                    <a:solidFill>
                      <a:srgbClr val="1B7A8A"/>
                    </a:solidFill>
                  </a:tcPr>
                </a:tc>
                <a:tc>
                  <a:txBody>
                    <a:bodyPr/>
                    <a:lstStyle/>
                    <a:p>
                      <a:pPr algn="ctr"/>
                      <a:r>
                        <a:rPr sz="900" b="1">
                          <a:solidFill>
                            <a:srgbClr val="FFFFFF"/>
                          </a:solidFill>
                          <a:latin typeface="Carlito"/>
                        </a:rPr>
                        <a:t>Configuration</a:t>
                      </a:r>
                    </a:p>
                  </a:txBody>
                  <a:tcPr marL="54864" marR="54864" marT="18288" marB="18288">
                    <a:solidFill>
                      <a:srgbClr val="1B7A8A"/>
                    </a:solidFill>
                  </a:tcPr>
                </a:tc>
                <a:tc>
                  <a:txBody>
                    <a:bodyPr/>
                    <a:lstStyle/>
                    <a:p>
                      <a:pPr algn="ctr"/>
                      <a:r>
                        <a:rPr sz="900" b="1">
                          <a:solidFill>
                            <a:srgbClr val="FFFFFF"/>
                          </a:solidFill>
                          <a:latin typeface="Carlito"/>
                        </a:rPr>
                        <a:t>Résultat observé</a:t>
                      </a:r>
                    </a:p>
                  </a:txBody>
                  <a:tcPr marL="54864" marR="54864" marT="18288" marB="18288">
                    <a:solidFill>
                      <a:srgbClr val="1B7A8A"/>
                    </a:solidFill>
                  </a:tcPr>
                </a:tc>
                <a:tc>
                  <a:txBody>
                    <a:bodyPr/>
                    <a:lstStyle/>
                    <a:p>
                      <a:pPr algn="ctr"/>
                      <a:r>
                        <a:rPr sz="900" b="1">
                          <a:solidFill>
                            <a:srgbClr val="FFFFFF"/>
                          </a:solidFill>
                          <a:latin typeface="Carlito"/>
                        </a:rPr>
                        <a:t>Réserve</a:t>
                      </a:r>
                    </a:p>
                  </a:txBody>
                  <a:tcPr marL="54864" marR="54864" marT="18288" marB="18288">
                    <a:solidFill>
                      <a:srgbClr val="1B7A8A"/>
                    </a:solidFill>
                  </a:tcPr>
                </a:tc>
              </a:tr>
              <a:tr h="292608">
                <a:tc>
                  <a:txBody>
                    <a:bodyPr/>
                    <a:lstStyle/>
                    <a:p>
                      <a:pPr algn="l"/>
                      <a:r>
                        <a:rPr sz="800" b="0">
                          <a:solidFill>
                            <a:srgbClr val="2C3E50"/>
                          </a:solidFill>
                          <a:latin typeface="Carlito"/>
                        </a:rPr>
                        <a:t>97 actions historiques ; moyenne de signes corrélés</a:t>
                      </a:r>
                    </a:p>
                  </a:txBody>
                  <a:tcPr marL="54864" marR="54864" marT="18288" marB="18288">
                    <a:solidFill>
                      <a:srgbClr val="EBF2FA"/>
                    </a:solidFill>
                  </a:tcPr>
                </a:tc>
                <a:tc>
                  <a:txBody>
                    <a:bodyPr/>
                    <a:lstStyle/>
                    <a:p>
                      <a:pPr algn="ctr"/>
                      <a:r>
                        <a:rPr sz="800" b="0">
                          <a:solidFill>
                            <a:srgbClr val="2C3E50"/>
                          </a:solidFill>
                          <a:latin typeface="Carlito"/>
                        </a:rPr>
                        <a:t>Corrélation moyenne ≈ 0,26 ; comparaison sur la largeur du panel</a:t>
                      </a:r>
                    </a:p>
                  </a:txBody>
                  <a:tcPr marL="54864" marR="54864" marT="18288" marB="18288">
                    <a:solidFill>
                      <a:srgbClr val="EBF2FA"/>
                    </a:solidFill>
                  </a:tcPr>
                </a:tc>
                <a:tc>
                  <a:txBody>
                    <a:bodyPr/>
                    <a:lstStyle/>
                    <a:p>
                      <a:pPr algn="ctr"/>
                      <a:r>
                        <a:rPr sz="800" b="0">
                          <a:solidFill>
                            <a:srgbClr val="2C3E50"/>
                          </a:solidFill>
                          <a:latin typeface="Carlito"/>
                        </a:rPr>
                        <a:t>Taille équivalente ≈ </a:t>
                      </a:r>
                      <a:r>
                        <a:rPr sz="800" i="1">
                          <a:solidFill>
                            <a:srgbClr val="2C3E50"/>
                          </a:solidFill>
                          <a:latin typeface="Carlito"/>
                        </a:rPr>
                        <a:t>3,85</a:t>
                      </a:r>
                      <a:r>
                        <a:rPr sz="800" b="0">
                          <a:solidFill>
                            <a:srgbClr val="2C3E50"/>
                          </a:solidFill>
                          <a:latin typeface="Carlito"/>
                        </a:rPr>
                        <a:t> actifs ; gain de dispersion ≈ </a:t>
                      </a:r>
                      <a:r>
                        <a:rPr sz="800" i="1">
                          <a:solidFill>
                            <a:srgbClr val="2C3E50"/>
                          </a:solidFill>
                          <a:latin typeface="Carlito"/>
                        </a:rPr>
                        <a:t>1,96×</a:t>
                      </a:r>
                      <a:r>
                        <a:rPr sz="800" b="0">
                          <a:solidFill>
                            <a:srgbClr val="2C3E50"/>
                          </a:solidFill>
                          <a:latin typeface="Carlito"/>
                        </a:rPr>
                        <a:t> ; réduction de budget empirique ≈ </a:t>
                      </a:r>
                      <a:r>
                        <a:rPr sz="800" i="1">
                          <a:solidFill>
                            <a:srgbClr val="2C3E50"/>
                          </a:solidFill>
                          <a:latin typeface="Carlito"/>
                        </a:rPr>
                        <a:t>2×</a:t>
                      </a:r>
                    </a:p>
                  </a:txBody>
                  <a:tcPr marL="54864" marR="54864" marT="18288" marB="18288">
                    <a:solidFill>
                      <a:srgbClr val="EBF2FA"/>
                    </a:solidFill>
                  </a:tcPr>
                </a:tc>
                <a:tc>
                  <a:txBody>
                    <a:bodyPr/>
                    <a:lstStyle/>
                    <a:p>
                      <a:pPr algn="ctr"/>
                      <a:r>
                        <a:rPr sz="800" b="0">
                          <a:solidFill>
                            <a:srgbClr val="2C3E50"/>
                          </a:solidFill>
                          <a:latin typeface="Carlito"/>
                        </a:rPr>
                        <a:t>Deux mesures distinctes ; univers historique sélectionné</a:t>
                      </a:r>
                    </a:p>
                  </a:txBody>
                  <a:tcPr marL="54864" marR="54864" marT="18288" marB="18288">
                    <a:solidFill>
                      <a:srgbClr val="EBF2FA"/>
                    </a:solidFill>
                  </a:tcPr>
                </a:tc>
              </a:tr>
              <a:tr h="292608">
                <a:tc>
                  <a:txBody>
                    <a:bodyPr/>
                    <a:lstStyle/>
                    <a:p>
                      <a:pPr algn="l"/>
                      <a:r>
                        <a:rPr sz="800" b="0">
                          <a:solidFill>
                            <a:srgbClr val="2C3E50"/>
                          </a:solidFill>
                          <a:latin typeface="Carlito"/>
                        </a:rPr>
                        <a:t>Simulations gaussiennes, Student/GARCH et signes symétrisés ; moniteurs séquentiels</a:t>
                      </a:r>
                    </a:p>
                  </a:txBody>
                  <a:tcPr marL="54864" marR="54864" marT="18288" marB="18288">
                    <a:solidFill>
                      <a:srgbClr val="FFFFFF"/>
                    </a:solidFill>
                  </a:tcPr>
                </a:tc>
                <a:tc>
                  <a:txBody>
                    <a:bodyPr/>
                    <a:lstStyle/>
                    <a:p>
                      <a:pPr algn="ctr"/>
                      <a:r>
                        <a:rPr sz="800" b="0">
                          <a:solidFill>
                            <a:srgbClr val="2C3E50"/>
                          </a:solidFill>
                          <a:latin typeface="Carlito"/>
                        </a:rPr>
                        <a:t>46 cellules, lectures de délai spécifiées, graines fixées</a:t>
                      </a:r>
                    </a:p>
                  </a:txBody>
                  <a:tcPr marL="54864" marR="54864" marT="18288" marB="18288">
                    <a:solidFill>
                      <a:srgbClr val="FFFFFF"/>
                    </a:solidFill>
                  </a:tcPr>
                </a:tc>
                <a:tc>
                  <a:txBody>
                    <a:bodyPr/>
                    <a:lstStyle/>
                    <a:p>
                      <a:pPr algn="ctr"/>
                      <a:r>
                        <a:rPr sz="800" i="1">
                          <a:solidFill>
                            <a:srgbClr val="2C3E50"/>
                          </a:solidFill>
                          <a:latin typeface="Carlito"/>
                        </a:rPr>
                        <a:t>46/46</a:t>
                      </a:r>
                      <a:r>
                        <a:rPr sz="800" b="0">
                          <a:solidFill>
                            <a:srgbClr val="2C3E50"/>
                          </a:solidFill>
                          <a:latin typeface="Carlito"/>
                        </a:rPr>
                        <a:t> validations ; erreur maximale </a:t>
                      </a:r>
                      <a:r>
                        <a:rPr sz="800" i="1">
                          <a:solidFill>
                            <a:srgbClr val="2C3E50"/>
                          </a:solidFill>
                          <a:latin typeface="Carlito"/>
                        </a:rPr>
                        <a:t>4,7 %</a:t>
                      </a:r>
                      <a:r>
                        <a:rPr sz="800" b="0">
                          <a:solidFill>
                            <a:srgbClr val="2C3E50"/>
                          </a:solidFill>
                          <a:latin typeface="Carlito"/>
                        </a:rPr>
                        <a:t> sur le bras mélange gaussien</a:t>
                      </a:r>
                    </a:p>
                  </a:txBody>
                  <a:tcPr marL="54864" marR="54864" marT="18288" marB="18288">
                    <a:solidFill>
                      <a:srgbClr val="FFFFFF"/>
                    </a:solidFill>
                  </a:tcPr>
                </a:tc>
                <a:tc>
                  <a:txBody>
                    <a:bodyPr/>
                    <a:lstStyle/>
                    <a:p>
                      <a:pPr algn="ctr"/>
                      <a:r>
                        <a:rPr sz="800" b="0">
                          <a:solidFill>
                            <a:srgbClr val="2C3E50"/>
                          </a:solidFill>
                          <a:latin typeface="Carlito"/>
                        </a:rPr>
                        <a:t>Validation des générateurs et des formules dans leurs domaines</a:t>
                      </a:r>
                    </a:p>
                  </a:txBody>
                  <a:tcPr marL="54864" marR="54864" marT="18288" marB="18288">
                    <a:solidFill>
                      <a:srgbClr val="FFFFFF"/>
                    </a:solidFill>
                  </a:tcPr>
                </a:tc>
              </a:tr>
              <a:tr h="292608">
                <a:tc>
                  <a:txBody>
                    <a:bodyPr/>
                    <a:lstStyle/>
                    <a:p>
                      <a:pPr algn="l"/>
                      <a:r>
                        <a:rPr sz="800" b="0">
                          <a:solidFill>
                            <a:srgbClr val="2C3E50"/>
                          </a:solidFill>
                          <a:latin typeface="Carlito"/>
                        </a:rPr>
                        <a:t>Nulls symétriques simulés + journées historiques symétrisées ; projection scalaire impaire, seuil exact</a:t>
                      </a:r>
                    </a:p>
                  </a:txBody>
                  <a:tcPr marL="54864" marR="54864" marT="18288" marB="18288">
                    <a:solidFill>
                      <a:srgbClr val="EBF2FA"/>
                    </a:solidFill>
                  </a:tcPr>
                </a:tc>
                <a:tc>
                  <a:txBody>
                    <a:bodyPr/>
                    <a:lstStyle/>
                    <a:p>
                      <a:pPr algn="ctr"/>
                      <a:r>
                        <a:rPr sz="800" i="1">
                          <a:solidFill>
                            <a:srgbClr val="2C3E50"/>
                          </a:solidFill>
                          <a:latin typeface="Carlito"/>
                        </a:rPr>
                        <a:t>H = 750 jours</a:t>
                      </a:r>
                      <a:r>
                        <a:rPr sz="800" b="0">
                          <a:solidFill>
                            <a:srgbClr val="2C3E50"/>
                          </a:solidFill>
                          <a:latin typeface="Carlito"/>
                        </a:rPr>
                        <a:t>, 317 configurations ; cible exacte </a:t>
                      </a:r>
                      <a:r>
                        <a:rPr sz="800" i="1">
                          <a:solidFill>
                            <a:srgbClr val="2C3E50"/>
                          </a:solidFill>
                          <a:latin typeface="Carlito"/>
                        </a:rPr>
                        <a:t>4,3947 %</a:t>
                      </a:r>
                    </a:p>
                  </a:txBody>
                  <a:tcPr marL="54864" marR="54864" marT="18288" marB="18288">
                    <a:solidFill>
                      <a:srgbClr val="EBF2FA"/>
                    </a:solidFill>
                  </a:tcPr>
                </a:tc>
                <a:tc>
                  <a:txBody>
                    <a:bodyPr/>
                    <a:lstStyle/>
                    <a:p>
                      <a:pPr algn="ctr"/>
                      <a:r>
                        <a:rPr sz="800" b="0">
                          <a:solidFill>
                            <a:srgbClr val="2C3E50"/>
                          </a:solidFill>
                          <a:latin typeface="Carlito"/>
                        </a:rPr>
                        <a:t>Taux moyen observé </a:t>
                      </a:r>
                      <a:r>
                        <a:rPr sz="800" i="1">
                          <a:solidFill>
                            <a:srgbClr val="2C3E50"/>
                          </a:solidFill>
                          <a:latin typeface="Carlito"/>
                        </a:rPr>
                        <a:t>4,425 %</a:t>
                      </a:r>
                    </a:p>
                  </a:txBody>
                  <a:tcPr marL="54864" marR="54864" marT="18288" marB="18288">
                    <a:solidFill>
                      <a:srgbClr val="EBF2FA"/>
                    </a:solidFill>
                  </a:tcPr>
                </a:tc>
                <a:tc>
                  <a:txBody>
                    <a:bodyPr/>
                    <a:lstStyle/>
                    <a:p>
                      <a:pPr algn="ctr"/>
                      <a:r>
                        <a:rPr sz="800" b="0">
                          <a:solidFill>
                            <a:srgbClr val="2C3E50"/>
                          </a:solidFill>
                          <a:latin typeface="Carlito"/>
                        </a:rPr>
                        <a:t>Ne couvre pas les rendements bruts asymétriques</a:t>
                      </a:r>
                    </a:p>
                  </a:txBody>
                  <a:tcPr marL="54864" marR="54864" marT="18288" marB="18288">
                    <a:solidFill>
                      <a:srgbClr val="EBF2FA"/>
                    </a:solidFill>
                  </a:tcPr>
                </a:tc>
              </a:tr>
              <a:tr h="292608">
                <a:tc>
                  <a:txBody>
                    <a:bodyPr/>
                    <a:lstStyle/>
                    <a:p>
                      <a:pPr algn="l"/>
                      <a:r>
                        <a:rPr sz="800" b="0">
                          <a:solidFill>
                            <a:srgbClr val="2C3E50"/>
                          </a:solidFill>
                          <a:latin typeface="Carlito"/>
                        </a:rPr>
                        <a:t>Panel simulé corrélé, Student t7 ; rotation de covariance ; énergie ACP vs énergie d'indice</a:t>
                      </a:r>
                    </a:p>
                  </a:txBody>
                  <a:tcPr marL="54864" marR="54864" marT="18288" marB="18288">
                    <a:solidFill>
                      <a:srgbClr val="FFFFFF"/>
                    </a:solidFill>
                  </a:tcPr>
                </a:tc>
                <a:tc>
                  <a:txBody>
                    <a:bodyPr/>
                    <a:lstStyle/>
                    <a:p>
                      <a:pPr algn="ctr"/>
                      <a:r>
                        <a:rPr sz="800" i="1">
                          <a:solidFill>
                            <a:srgbClr val="2C3E50"/>
                          </a:solidFill>
                          <a:latin typeface="Carlito"/>
                        </a:rPr>
                        <a:t>N = 239</a:t>
                      </a:r>
                      <a:r>
                        <a:rPr sz="800" b="0">
                          <a:solidFill>
                            <a:srgbClr val="2C3E50"/>
                          </a:solidFill>
                          <a:latin typeface="Carlito"/>
                        </a:rPr>
                        <a:t>, H = 250 jours, même FPR visée 5 %</a:t>
                      </a:r>
                    </a:p>
                  </a:txBody>
                  <a:tcPr marL="54864" marR="54864" marT="18288" marB="18288">
                    <a:solidFill>
                      <a:srgbClr val="FFFFFF"/>
                    </a:solidFill>
                  </a:tcPr>
                </a:tc>
                <a:tc>
                  <a:txBody>
                    <a:bodyPr/>
                    <a:lstStyle/>
                    <a:p>
                      <a:pPr algn="ctr"/>
                      <a:r>
                        <a:rPr sz="800" b="0">
                          <a:solidFill>
                            <a:srgbClr val="2C3E50"/>
                          </a:solidFill>
                          <a:latin typeface="Carlito"/>
                        </a:rPr>
                        <a:t>Rotation 1er–2e axes : rapports de délais </a:t>
                      </a:r>
                      <a:r>
                        <a:rPr sz="800" i="1">
                          <a:solidFill>
                            <a:srgbClr val="2C3E50"/>
                          </a:solidFill>
                          <a:latin typeface="Carlito"/>
                        </a:rPr>
                        <a:t>14,59–105,42</a:t>
                      </a:r>
                      <a:r>
                        <a:rPr sz="800" b="0">
                          <a:solidFill>
                            <a:srgbClr val="2C3E50"/>
                          </a:solidFill>
                          <a:latin typeface="Carlito"/>
                        </a:rPr>
                        <a:t> pour une seule composante résiduelle</a:t>
                      </a:r>
                    </a:p>
                  </a:txBody>
                  <a:tcPr marL="54864" marR="54864" marT="18288" marB="18288">
                    <a:solidFill>
                      <a:srgbClr val="FFFFFF"/>
                    </a:solidFill>
                  </a:tcPr>
                </a:tc>
                <a:tc>
                  <a:txBody>
                    <a:bodyPr/>
                    <a:lstStyle/>
                    <a:p>
                      <a:pPr algn="ctr"/>
                      <a:r>
                        <a:rPr sz="800" b="0">
                          <a:solidFill>
                            <a:srgbClr val="2C3E50"/>
                          </a:solidFill>
                          <a:latin typeface="Carlito"/>
                        </a:rPr>
                        <a:t>Exploratoire ; l'indice de référence rate les baisses de variance</a:t>
                      </a:r>
                    </a:p>
                  </a:txBody>
                  <a:tcPr marL="54864" marR="54864" marT="18288" marB="18288">
                    <a:solidFill>
                      <a:srgbClr val="FFFFFF"/>
                    </a:solidFill>
                  </a:tcPr>
                </a:tc>
              </a:tr>
            </a:tbl>
          </a:graphicData>
        </a:graphic>
      </p:graphicFrame>
      <p:sp>
        <p:nvSpPr>
          <p:cNvPr id="11" name="TextBox 10"/>
          <p:cNvSpPr txBox="1"/>
          <p:nvPr/>
        </p:nvSpPr>
        <p:spPr>
          <a:xfrm>
            <a:off x="438912" y="3293110"/>
            <a:ext cx="8275320" cy="182880"/>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2C3E50"/>
                </a:solidFill>
                <a:latin typeface="Carlito"/>
              </a:rPr>
              <a:t>Résultats théoriques : hypothèse / constat expérimental.</a:t>
            </a:r>
          </a:p>
        </p:txBody>
      </p:sp>
      <p:graphicFrame>
        <p:nvGraphicFramePr>
          <p:cNvPr id="12" name="Table 11"/>
          <p:cNvGraphicFramePr>
            <a:graphicFrameLocks noGrp="1"/>
          </p:cNvGraphicFramePr>
          <p:nvPr/>
        </p:nvGraphicFramePr>
        <p:xfrm>
          <a:off x="438912" y="3457702"/>
          <a:ext cx="8275320" cy="1170432"/>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900" b="1">
                          <a:solidFill>
                            <a:srgbClr val="FFFFFF"/>
                          </a:solidFill>
                          <a:latin typeface="Carlito"/>
                        </a:rPr>
                        <a:t>Résultat</a:t>
                      </a:r>
                    </a:p>
                  </a:txBody>
                  <a:tcPr marL="54864" marR="54864" marT="18288" marB="18288">
                    <a:solidFill>
                      <a:srgbClr val="1B7A8A"/>
                    </a:solidFill>
                  </a:tcPr>
                </a:tc>
                <a:tc>
                  <a:txBody>
                    <a:bodyPr/>
                    <a:lstStyle/>
                    <a:p>
                      <a:pPr algn="ctr"/>
                      <a:r>
                        <a:rPr sz="900" b="1">
                          <a:solidFill>
                            <a:srgbClr val="FFFFFF"/>
                          </a:solidFill>
                          <a:latin typeface="Carlito"/>
                        </a:rPr>
                        <a:t>Hypothèses exactes</a:t>
                      </a:r>
                    </a:p>
                  </a:txBody>
                  <a:tcPr marL="54864" marR="54864" marT="18288" marB="18288">
                    <a:solidFill>
                      <a:srgbClr val="1B7A8A"/>
                    </a:solidFill>
                  </a:tcPr>
                </a:tc>
                <a:tc>
                  <a:txBody>
                    <a:bodyPr/>
                    <a:lstStyle/>
                    <a:p>
                      <a:pPr algn="ctr"/>
                      <a:r>
                        <a:rPr sz="900" b="1">
                          <a:solidFill>
                            <a:srgbClr val="FFFFFF"/>
                          </a:solidFill>
                          <a:latin typeface="Carlito"/>
                        </a:rPr>
                        <a:t>Vérification</a:t>
                      </a:r>
                    </a:p>
                  </a:txBody>
                  <a:tcPr marL="54864" marR="54864" marT="18288" marB="18288">
                    <a:solidFill>
                      <a:srgbClr val="1B7A8A"/>
                    </a:solidFill>
                  </a:tcPr>
                </a:tc>
              </a:tr>
              <a:tr h="292608">
                <a:tc>
                  <a:txBody>
                    <a:bodyPr/>
                    <a:lstStyle/>
                    <a:p>
                      <a:pPr algn="l"/>
                      <a:r>
                        <a:rPr sz="800" b="0">
                          <a:solidFill>
                            <a:srgbClr val="2C3E50"/>
                          </a:solidFill>
                          <a:latin typeface="Carlito"/>
                        </a:rPr>
                        <a:t>Budget </a:t>
                      </a:r>
                    </a:p>
                  </a:txBody>
                  <a:tcPr marL="54864" marR="54864" marT="18288" marB="18288">
                    <a:solidFill>
                      <a:srgbClr val="EBF2FA"/>
                    </a:solidFill>
                  </a:tcPr>
                </a:tc>
                <a:tc>
                  <a:txBody>
                    <a:bodyPr/>
                    <a:lstStyle/>
                    <a:p>
                      <a:pPr algn="ctr"/>
                      <a:r>
                        <a:rPr sz="800" b="0">
                          <a:solidFill>
                            <a:srgbClr val="2C3E50"/>
                          </a:solidFill>
                          <a:latin typeface="Carlito"/>
                        </a:rPr>
                        <a:t>Test de preuve démarré au changement, conditions d'arrêt ; </a:t>
                      </a:r>
                      <a:r>
                        <a:rPr sz="800" b="0">
                          <a:solidFill>
                            <a:srgbClr val="2C3E50"/>
                          </a:solidFill>
                          <a:latin typeface="Carlito"/>
                        </a:rPr>
                        <a:t> = information KL/jour</a:t>
                      </a:r>
                    </a:p>
                  </a:txBody>
                  <a:tcPr marL="54864" marR="54864" marT="18288" marB="18288">
                    <a:solidFill>
                      <a:srgbClr val="EBF2FA"/>
                    </a:solidFill>
                  </a:tcPr>
                </a:tc>
                <a:tc>
                  <a:txBody>
                    <a:bodyPr/>
                    <a:lstStyle/>
                    <a:p>
                      <a:pPr algn="ctr"/>
                      <a:r>
                        <a:rPr sz="800" b="0">
                          <a:solidFill>
                            <a:srgbClr val="2C3E50"/>
                          </a:solidFill>
                          <a:latin typeface="Carlito"/>
                        </a:rPr>
                        <a:t>Accord Monte Carlo ; </a:t>
                      </a:r>
                      <a:r>
                        <a:rPr sz="800" i="1">
                          <a:solidFill>
                            <a:srgbClr val="2C3E50"/>
                          </a:solidFill>
                          <a:latin typeface="Carlito"/>
                        </a:rPr>
                        <a:t>pas</a:t>
                      </a:r>
                      <a:r>
                        <a:rPr sz="800" b="0">
                          <a:solidFill>
                            <a:srgbClr val="2C3E50"/>
                          </a:solidFill>
                          <a:latin typeface="Carlito"/>
                        </a:rPr>
                        <a:t> borne universelle à ARL fini</a:t>
                      </a:r>
                    </a:p>
                  </a:txBody>
                  <a:tcPr marL="54864" marR="54864" marT="18288" marB="18288">
                    <a:solidFill>
                      <a:srgbClr val="EBF2FA"/>
                    </a:solidFill>
                  </a:tcPr>
                </a:tc>
              </a:tr>
              <a:tr h="292608">
                <a:tc>
                  <a:txBody>
                    <a:bodyPr/>
                    <a:lstStyle/>
                    <a:p>
                      <a:pPr algn="l"/>
                      <a:r>
                        <a:rPr sz="800" b="0">
                          <a:solidFill>
                            <a:srgbClr val="2C3E50"/>
                          </a:solidFill>
                          <a:latin typeface="Carlito"/>
                        </a:rPr>
                        <a:t>Signes Bernoulli(1/2)</a:t>
                      </a:r>
                    </a:p>
                  </a:txBody>
                  <a:tcPr marL="54864" marR="54864" marT="18288" marB="18288">
                    <a:solidFill>
                      <a:srgbClr val="FFFFFF"/>
                    </a:solidFill>
                  </a:tcPr>
                </a:tc>
                <a:tc>
                  <a:txBody>
                    <a:bodyPr/>
                    <a:lstStyle/>
                    <a:p>
                      <a:pPr algn="ctr"/>
                      <a:r>
                        <a:rPr sz="800" b="0">
                          <a:solidFill>
                            <a:srgbClr val="2C3E50"/>
                          </a:solidFill>
                          <a:latin typeface="Carlito"/>
                        </a:rPr>
                        <a:t>Symétrie centrale conditionnelle + statistique impaire + pièce aux zéros</a:t>
                      </a:r>
                    </a:p>
                  </a:txBody>
                  <a:tcPr marL="54864" marR="54864" marT="18288" marB="18288">
                    <a:solidFill>
                      <a:srgbClr val="FFFFFF"/>
                    </a:solidFill>
                  </a:tcPr>
                </a:tc>
                <a:tc>
                  <a:txBody>
                    <a:bodyPr/>
                    <a:lstStyle/>
                    <a:p>
                      <a:pPr algn="ctr"/>
                      <a:r>
                        <a:rPr sz="800" b="0">
                          <a:solidFill>
                            <a:srgbClr val="2C3E50"/>
                          </a:solidFill>
                          <a:latin typeface="Carlito"/>
                        </a:rPr>
                        <a:t>Validé sur nulls admissibles ; violé sur chocs asymétriques</a:t>
                      </a:r>
                    </a:p>
                  </a:txBody>
                  <a:tcPr marL="54864" marR="54864" marT="18288" marB="18288">
                    <a:solidFill>
                      <a:srgbClr val="FFFFFF"/>
                    </a:solidFill>
                  </a:tcPr>
                </a:tc>
              </a:tr>
              <a:tr h="292608">
                <a:tc>
                  <a:txBody>
                    <a:bodyPr/>
                    <a:lstStyle/>
                    <a:p>
                      <a:pPr algn="l"/>
                      <a:r>
                        <a:rPr sz="800" b="0">
                          <a:solidFill>
                            <a:srgbClr val="2C3E50"/>
                          </a:solidFill>
                          <a:latin typeface="Carlito"/>
                        </a:rPr>
                        <a:t>Coût </a:t>
                      </a:r>
                      <a:r>
                        <a:rPr sz="800" b="0">
                          <a:solidFill>
                            <a:srgbClr val="2C3E50"/>
                          </a:solidFill>
                          <a:latin typeface="Carlito"/>
                        </a:rPr>
                        <a:t> du mélange</a:t>
                      </a:r>
                    </a:p>
                  </a:txBody>
                  <a:tcPr marL="54864" marR="54864" marT="18288" marB="18288">
                    <a:solidFill>
                      <a:srgbClr val="EBF2FA"/>
                    </a:solidFill>
                  </a:tcPr>
                </a:tc>
                <a:tc>
                  <a:txBody>
                    <a:bodyPr/>
                    <a:lstStyle/>
                    <a:p>
                      <a:pPr algn="ctr"/>
                      <a:r>
                        <a:rPr sz="800" b="0">
                          <a:solidFill>
                            <a:srgbClr val="2C3E50"/>
                          </a:solidFill>
                          <a:latin typeface="Carlito"/>
                        </a:rPr>
                        <a:t>Vecteur gaussien indépendant et isotrope ; largeur du mélange appariée</a:t>
                      </a:r>
                    </a:p>
                  </a:txBody>
                  <a:tcPr marL="54864" marR="54864" marT="18288" marB="18288">
                    <a:solidFill>
                      <a:srgbClr val="EBF2FA"/>
                    </a:solidFill>
                  </a:tcPr>
                </a:tc>
                <a:tc>
                  <a:txBody>
                    <a:bodyPr/>
                    <a:lstStyle/>
                    <a:p>
                      <a:pPr algn="ctr"/>
                      <a:r>
                        <a:rPr sz="800" b="0">
                          <a:solidFill>
                            <a:srgbClr val="2C3E50"/>
                          </a:solidFill>
                          <a:latin typeface="Carlito"/>
                        </a:rPr>
                        <a:t>Accord sur simulations ; </a:t>
                      </a:r>
                      <a:r>
                        <a:rPr sz="800" i="1">
                          <a:solidFill>
                            <a:srgbClr val="2C3E50"/>
                          </a:solidFill>
                          <a:latin typeface="Carlito"/>
                        </a:rPr>
                        <a:t>pas</a:t>
                      </a:r>
                      <a:r>
                        <a:rPr sz="800" b="0">
                          <a:solidFill>
                            <a:srgbClr val="2C3E50"/>
                          </a:solidFill>
                          <a:latin typeface="Carlito"/>
                        </a:rPr>
                        <a:t> coût mesuré de JEPA</a:t>
                      </a:r>
                    </a:p>
                  </a:txBody>
                  <a:tcPr marL="54864" marR="54864" marT="18288" marB="18288">
                    <a:solidFill>
                      <a:srgbClr val="EBF2FA"/>
                    </a:solidFill>
                  </a:tcPr>
                </a:tc>
              </a:tr>
            </a:tbl>
          </a:graphicData>
        </a:graphic>
      </p:graphicFrame>
      <p:sp>
        <p:nvSpPr>
          <p:cNvPr id="13" name="TextBox 12"/>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Données : matrices et caractéristiques disponibles</a:t>
            </a:r>
          </a:p>
        </p:txBody>
      </p:sp>
      <p:sp>
        <p:nvSpPr>
          <p:cNvPr id="4" name="Rectangle 3"/>
          <p:cNvSpPr/>
          <p:nvPr/>
        </p:nvSpPr>
        <p:spPr>
          <a:xfrm>
            <a:off x="7900415" y="64008"/>
            <a:ext cx="969264"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0415" y="64008"/>
            <a:ext cx="96926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DONNÉES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Deux panels quotidiens et quatre caractéristiques ex ante pour les modèles guidés</a:t>
            </a:r>
          </a:p>
        </p:txBody>
      </p:sp>
      <p:sp>
        <p:nvSpPr>
          <p:cNvPr id="8" name="Rectangle 7"/>
          <p:cNvSpPr/>
          <p:nvPr/>
        </p:nvSpPr>
        <p:spPr>
          <a:xfrm>
            <a:off x="438912" y="1325880"/>
            <a:ext cx="2139696" cy="2286000"/>
          </a:xfrm>
          <a:prstGeom prst="rect">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71600"/>
            <a:ext cx="2048255"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matrice rendements</a:t>
            </a:r>
          </a:p>
        </p:txBody>
      </p:sp>
      <p:sp>
        <p:nvSpPr>
          <p:cNvPr id="10" name="Rectangle 9"/>
          <p:cNvSpPr/>
          <p:nvPr/>
        </p:nvSpPr>
        <p:spPr>
          <a:xfrm>
            <a:off x="576072" y="161848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6968" y="161848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97864" y="161848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8760" y="161848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19656" y="161848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30552" y="161848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 y="2064257"/>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 y="2064257"/>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7864" y="2064257"/>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508760" y="2064257"/>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19656" y="2064257"/>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130552" y="2064257"/>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6072" y="251002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 y="251002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7864" y="251002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08760" y="251002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19656" y="251002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30552" y="251002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6072" y="295579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6968" y="295579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97864" y="295579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508760" y="295579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19656" y="2955798"/>
            <a:ext cx="283464" cy="418338"/>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30552" y="2955798"/>
            <a:ext cx="283464" cy="418338"/>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 y="3410712"/>
            <a:ext cx="2048255"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2980B9"/>
                </a:solidFill>
                <a:latin typeface="Carlito"/>
              </a:rPr>
              <a:t>97 / 239 actifs</a:t>
            </a:r>
          </a:p>
        </p:txBody>
      </p:sp>
      <p:sp>
        <p:nvSpPr>
          <p:cNvPr id="35" name="Rectangle 34"/>
          <p:cNvSpPr/>
          <p:nvPr/>
        </p:nvSpPr>
        <p:spPr>
          <a:xfrm>
            <a:off x="2651760" y="1325880"/>
            <a:ext cx="1901952" cy="2286000"/>
          </a:xfrm>
          <a:prstGeom prst="rect">
            <a:avLst/>
          </a:prstGeom>
          <a:solidFill>
            <a:srgbClr val="FFFFFF"/>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7479" y="1371600"/>
            <a:ext cx="1810512"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2980B9"/>
                </a:solidFill>
                <a:latin typeface="Carlito"/>
              </a:rPr>
              <a:t>4 caractéristiques ex ante</a:t>
            </a:r>
          </a:p>
        </p:txBody>
      </p:sp>
      <p:sp>
        <p:nvSpPr>
          <p:cNvPr id="37" name="Rectangle 36"/>
          <p:cNvSpPr/>
          <p:nvPr/>
        </p:nvSpPr>
        <p:spPr>
          <a:xfrm>
            <a:off x="2724912" y="1618488"/>
            <a:ext cx="1755648"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1488" y="1636776"/>
            <a:ext cx="855878" cy="164592"/>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00748C"/>
                </a:solidFill>
                <a:latin typeface="Carlito"/>
              </a:rPr>
              <a:t>beta_252</a:t>
            </a:r>
          </a:p>
        </p:txBody>
      </p:sp>
      <p:sp>
        <p:nvSpPr>
          <p:cNvPr id="39" name="TextBox 38"/>
          <p:cNvSpPr txBox="1"/>
          <p:nvPr/>
        </p:nvSpPr>
        <p:spPr>
          <a:xfrm>
            <a:off x="3564696" y="1636776"/>
            <a:ext cx="912936"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[t-252,t)</a:t>
            </a:r>
          </a:p>
        </p:txBody>
      </p:sp>
      <p:sp>
        <p:nvSpPr>
          <p:cNvPr id="40" name="TextBox 39"/>
          <p:cNvSpPr txBox="1"/>
          <p:nvPr/>
        </p:nvSpPr>
        <p:spPr>
          <a:xfrm>
            <a:off x="2761488" y="1801368"/>
            <a:ext cx="1682496"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8A9BB0"/>
                </a:solidFill>
                <a:latin typeface="Carlito"/>
              </a:rPr>
              <a:t>rang/n_valides - 0,5</a:t>
            </a:r>
          </a:p>
        </p:txBody>
      </p:sp>
      <p:sp>
        <p:nvSpPr>
          <p:cNvPr id="41" name="Rectangle 40"/>
          <p:cNvSpPr/>
          <p:nvPr/>
        </p:nvSpPr>
        <p:spPr>
          <a:xfrm>
            <a:off x="2724912" y="2057400"/>
            <a:ext cx="1755648"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2075688"/>
            <a:ext cx="855878" cy="164592"/>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00748C"/>
                </a:solidFill>
                <a:latin typeface="Carlito"/>
              </a:rPr>
              <a:t>vol_63</a:t>
            </a:r>
          </a:p>
        </p:txBody>
      </p:sp>
      <p:sp>
        <p:nvSpPr>
          <p:cNvPr id="43" name="TextBox 42"/>
          <p:cNvSpPr txBox="1"/>
          <p:nvPr/>
        </p:nvSpPr>
        <p:spPr>
          <a:xfrm>
            <a:off x="3564696" y="2075688"/>
            <a:ext cx="912936"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[t-63,t)</a:t>
            </a:r>
          </a:p>
        </p:txBody>
      </p:sp>
      <p:sp>
        <p:nvSpPr>
          <p:cNvPr id="44" name="TextBox 43"/>
          <p:cNvSpPr txBox="1"/>
          <p:nvPr/>
        </p:nvSpPr>
        <p:spPr>
          <a:xfrm>
            <a:off x="2761488" y="2240280"/>
            <a:ext cx="1682496"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8A9BB0"/>
                </a:solidFill>
                <a:latin typeface="Carlito"/>
              </a:rPr>
              <a:t>rang/n_valides - 0,5</a:t>
            </a:r>
          </a:p>
        </p:txBody>
      </p:sp>
      <p:sp>
        <p:nvSpPr>
          <p:cNvPr id="45" name="Rectangle 44"/>
          <p:cNvSpPr/>
          <p:nvPr/>
        </p:nvSpPr>
        <p:spPr>
          <a:xfrm>
            <a:off x="2724912" y="2496312"/>
            <a:ext cx="1755648"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1488" y="2514600"/>
            <a:ext cx="855878" cy="164592"/>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00748C"/>
                </a:solidFill>
                <a:latin typeface="Carlito"/>
              </a:rPr>
              <a:t>mom_12_1</a:t>
            </a:r>
          </a:p>
        </p:txBody>
      </p:sp>
      <p:sp>
        <p:nvSpPr>
          <p:cNvPr id="47" name="TextBox 46"/>
          <p:cNvSpPr txBox="1"/>
          <p:nvPr/>
        </p:nvSpPr>
        <p:spPr>
          <a:xfrm>
            <a:off x="3564696" y="2514600"/>
            <a:ext cx="912936"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[t-252,t-21)</a:t>
            </a:r>
          </a:p>
        </p:txBody>
      </p:sp>
      <p:sp>
        <p:nvSpPr>
          <p:cNvPr id="48" name="TextBox 47"/>
          <p:cNvSpPr txBox="1"/>
          <p:nvPr/>
        </p:nvSpPr>
        <p:spPr>
          <a:xfrm>
            <a:off x="2761488" y="2679192"/>
            <a:ext cx="1682496"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8A9BB0"/>
                </a:solidFill>
                <a:latin typeface="Carlito"/>
              </a:rPr>
              <a:t>rang/n_valides - 0,5</a:t>
            </a:r>
          </a:p>
        </p:txBody>
      </p:sp>
      <p:sp>
        <p:nvSpPr>
          <p:cNvPr id="49" name="Rectangle 48"/>
          <p:cNvSpPr/>
          <p:nvPr/>
        </p:nvSpPr>
        <p:spPr>
          <a:xfrm>
            <a:off x="2724912" y="2935224"/>
            <a:ext cx="1755648"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1488" y="2953512"/>
            <a:ext cx="855878" cy="164592"/>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00748C"/>
                </a:solidFill>
                <a:latin typeface="Carlito"/>
              </a:rPr>
              <a:t>rev_21</a:t>
            </a:r>
          </a:p>
        </p:txBody>
      </p:sp>
      <p:sp>
        <p:nvSpPr>
          <p:cNvPr id="51" name="TextBox 50"/>
          <p:cNvSpPr txBox="1"/>
          <p:nvPr/>
        </p:nvSpPr>
        <p:spPr>
          <a:xfrm>
            <a:off x="3564696" y="2953512"/>
            <a:ext cx="912936"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[t-21,t)</a:t>
            </a:r>
          </a:p>
        </p:txBody>
      </p:sp>
      <p:sp>
        <p:nvSpPr>
          <p:cNvPr id="52" name="TextBox 51"/>
          <p:cNvSpPr txBox="1"/>
          <p:nvPr/>
        </p:nvSpPr>
        <p:spPr>
          <a:xfrm>
            <a:off x="2761488" y="3118104"/>
            <a:ext cx="1682496"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8A9BB0"/>
                </a:solidFill>
                <a:latin typeface="Carlito"/>
              </a:rPr>
              <a:t>rang/n_valides - 0,5</a:t>
            </a:r>
          </a:p>
        </p:txBody>
      </p:sp>
      <p:sp>
        <p:nvSpPr>
          <p:cNvPr id="53" name="TextBox 52"/>
          <p:cNvSpPr txBox="1"/>
          <p:nvPr/>
        </p:nvSpPr>
        <p:spPr>
          <a:xfrm>
            <a:off x="4846320" y="1325880"/>
            <a:ext cx="3840480" cy="1018793"/>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Une observation quotidienne est </a:t>
            </a:r>
            <a:r>
              <a:rPr sz="1100" b="0">
                <a:solidFill>
                  <a:srgbClr val="2C3E50"/>
                </a:solidFill>
                <a:latin typeface="Carlito"/>
              </a:rPr>
              <a:t> : vecteur de </a:t>
            </a:r>
            <a:r>
              <a:rPr sz="1100" i="1">
                <a:solidFill>
                  <a:srgbClr val="2C3E50"/>
                </a:solidFill>
                <a:latin typeface="Carlito"/>
              </a:rPr>
              <a:t>N log-rendements</a:t>
            </a:r>
            <a:r>
              <a:rPr sz="1100" b="0">
                <a:solidFill>
                  <a:srgbClr val="2C3E50"/>
                </a:solidFill>
                <a:latin typeface="Carlito"/>
              </a:rPr>
              <a:t>. Les panels principaux : </a:t>
            </a:r>
            <a:r>
              <a:rPr sz="1100" i="1">
                <a:solidFill>
                  <a:srgbClr val="2C3E50"/>
                </a:solidFill>
                <a:latin typeface="Carlito"/>
              </a:rPr>
              <a:t>97 actions américaines, 5 154 séances (2005-01-04 → 2025-06-30)</a:t>
            </a:r>
            <a:r>
              <a:rPr sz="1100" b="0">
                <a:solidFill>
                  <a:srgbClr val="2C3E50"/>
                </a:solidFill>
                <a:latin typeface="Carlito"/>
              </a:rPr>
              <a:t> ; </a:t>
            </a:r>
            <a:r>
              <a:rPr sz="1100" i="1">
                <a:solidFill>
                  <a:srgbClr val="2C3E50"/>
                </a:solidFill>
                <a:latin typeface="Carlito"/>
              </a:rPr>
              <a:t>239 actions S&amp;P 500</a:t>
            </a:r>
            <a:r>
              <a:rPr sz="1100" b="0">
                <a:solidFill>
                  <a:srgbClr val="2C3E50"/>
                </a:solidFill>
                <a:latin typeface="Carlito"/>
              </a:rPr>
              <a:t>, sélectionnées parmi les constituants actuels selon la longueur historique, pré-entraînement de 2005 à 2015, calibration et surveillance après.</a:t>
            </a:r>
          </a:p>
        </p:txBody>
      </p:sp>
      <p:sp>
        <p:nvSpPr>
          <p:cNvPr id="54" name="TextBox 53"/>
          <p:cNvSpPr txBox="1"/>
          <p:nvPr/>
        </p:nvSpPr>
        <p:spPr>
          <a:xfrm>
            <a:off x="4846320" y="2399538"/>
            <a:ext cx="3840480" cy="1018793"/>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Quatre </a:t>
            </a:r>
            <a:r>
              <a:rPr sz="1100" i="1">
                <a:solidFill>
                  <a:srgbClr val="2C3E50"/>
                </a:solidFill>
                <a:latin typeface="Carlito"/>
              </a:rPr>
              <a:t>caractéristiques propres à chaque action</a:t>
            </a:r>
            <a:r>
              <a:rPr sz="1100" b="0">
                <a:solidFill>
                  <a:srgbClr val="2C3E50"/>
                </a:solidFill>
                <a:latin typeface="Carlito"/>
              </a:rPr>
              <a:t>, toutes calculées avec des observations </a:t>
            </a:r>
            <a:r>
              <a:rPr sz="1100" i="1">
                <a:solidFill>
                  <a:srgbClr val="2C3E50"/>
                </a:solidFill>
                <a:latin typeface="Carlito"/>
              </a:rPr>
              <a:t>strictement antérieures à t</a:t>
            </a:r>
            <a:r>
              <a:rPr sz="1100" b="0">
                <a:solidFill>
                  <a:srgbClr val="2C3E50"/>
                </a:solidFill>
                <a:latin typeface="Carlito"/>
              </a:rPr>
              <a:t> : </a:t>
            </a:r>
            <a:r>
              <a:rPr sz="1100" b="0">
                <a:solidFill>
                  <a:srgbClr val="2C3E50"/>
                </a:solidFill>
                <a:latin typeface="Carlito"/>
              </a:rPr>
              <a:t> (pente des moindres carrés sur le rendement de marché, fenêtre 252 jours, ≥126 paires) ; </a:t>
            </a:r>
            <a:r>
              <a:rPr sz="1100" b="0">
                <a:solidFill>
                  <a:srgbClr val="2C3E50"/>
                </a:solidFill>
                <a:latin typeface="Carlito"/>
              </a:rPr>
              <a:t> (écart-type sur 63 jours, ≥2 rendements) ; </a:t>
            </a:r>
            <a:r>
              <a:rPr sz="1100" b="0">
                <a:solidFill>
                  <a:srgbClr val="2C3E50"/>
                </a:solidFill>
                <a:latin typeface="Carlito"/>
              </a:rPr>
              <a:t> (somme des rendements des jours t−252 à t−22) ; </a:t>
            </a:r>
            <a:r>
              <a:rPr sz="1100" b="0">
                <a:solidFill>
                  <a:srgbClr val="2C3E50"/>
                </a:solidFill>
                <a:latin typeface="Carlito"/>
              </a:rPr>
              <a:t> (somme des rendements de t−21 à t−1).</a:t>
            </a:r>
          </a:p>
        </p:txBody>
      </p:sp>
      <p:sp>
        <p:nvSpPr>
          <p:cNvPr id="55" name="TextBox 54"/>
          <p:cNvSpPr txBox="1"/>
          <p:nvPr/>
        </p:nvSpPr>
        <p:spPr>
          <a:xfrm>
            <a:off x="4846320" y="3473195"/>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chaque jour, les valeurs disponibles des quatre caractéristiques sont transformées en </a:t>
            </a:r>
            <a:r>
              <a:rPr sz="1100" i="1">
                <a:solidFill>
                  <a:srgbClr val="2C3E50"/>
                </a:solidFill>
                <a:latin typeface="Carlito"/>
              </a:rPr>
              <a:t>rangs transversaux `rang/n_valides − 0,5`</a:t>
            </a:r>
            <a:r>
              <a:rPr sz="1100" b="0">
                <a:solidFill>
                  <a:srgbClr val="2C3E50"/>
                </a:solidFill>
                <a:latin typeface="Carlito"/>
              </a:rPr>
              <a:t> ; valeurs non calculables laissées manquantes, imputées seulement selon la règle de la méthode.</a:t>
            </a:r>
          </a:p>
        </p:txBody>
      </p:sp>
      <p:sp>
        <p:nvSpPr>
          <p:cNvPr id="56" name="TextBox 55"/>
          <p:cNvSpPr txBox="1"/>
          <p:nvPr/>
        </p:nvSpPr>
        <p:spPr>
          <a:xfrm>
            <a:off x="4846320" y="4225543"/>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Portée :</a:t>
            </a:r>
            <a:r>
              <a:rPr sz="1100" b="0">
                <a:solidFill>
                  <a:srgbClr val="2C3E50"/>
                </a:solidFill>
                <a:latin typeface="Carlito"/>
              </a:rPr>
              <a:t> les pipelines de détection ACP sur </a:t>
            </a:r>
            <a:r>
              <a:rPr sz="1100" b="0">
                <a:solidFill>
                  <a:srgbClr val="2C3E50"/>
                </a:solidFill>
                <a:latin typeface="Carlito"/>
              </a:rPr>
              <a:t> ne consomment </a:t>
            </a:r>
            <a:r>
              <a:rPr sz="1100" i="1">
                <a:solidFill>
                  <a:srgbClr val="2C3E50"/>
                </a:solidFill>
                <a:latin typeface="Carlito"/>
              </a:rPr>
              <a:t>aucune</a:t>
            </a:r>
            <a:r>
              <a:rPr sz="1100" b="0">
                <a:solidFill>
                  <a:srgbClr val="2C3E50"/>
                </a:solidFill>
                <a:latin typeface="Carlito"/>
              </a:rPr>
              <a:t> de ces quatre caractéristiques ; elles interviennent dans la construction de dérives guidées et dans les modèles de représentation conditionnés. Ce ne sont pas les variables exclusives de toute détection de data drift ou concept drift.</a:t>
            </a:r>
          </a:p>
        </p:txBody>
      </p:sp>
      <p:sp>
        <p:nvSpPr>
          <p:cNvPr id="57" name="Rectangle 5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beta_i(t) = Cov(r_i, r_m | [t-252,t)) / Var(r_m | [t-252,t))</a:t>
            </a:r>
          </a:p>
        </p:txBody>
      </p:sp>
      <p:sp>
        <p:nvSpPr>
          <p:cNvPr id="59" name="TextBox 5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Découpage sur données réelles</a:t>
            </a:r>
          </a:p>
        </p:txBody>
      </p:sp>
      <p:sp>
        <p:nvSpPr>
          <p:cNvPr id="4" name="Rectangle 3"/>
          <p:cNvSpPr/>
          <p:nvPr/>
        </p:nvSpPr>
        <p:spPr>
          <a:xfrm>
            <a:off x="7744967" y="64008"/>
            <a:ext cx="1124712"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44967" y="64008"/>
            <a:ext cx="112471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DÉCOUPAGE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41"/>
              </a:lnSpc>
              <a:spcAft>
                <a:spcPts val="0"/>
              </a:spcAft>
            </a:pPr>
            <a:r>
              <a:rPr sz="1775" b="0" i="0">
                <a:solidFill>
                  <a:srgbClr val="2C3E50"/>
                </a:solidFill>
                <a:latin typeface="Carlito"/>
              </a:rPr>
              <a:t/>
            </a:r>
            <a:r>
              <a:rPr sz="1775" b="1">
                <a:solidFill>
                  <a:srgbClr val="2C3E50"/>
                </a:solidFill>
                <a:latin typeface="Carlito"/>
              </a:rPr>
              <a:t>Données réelles : où sont appris les axes, réglés les seuils, puis mesurées les alarmes ?</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Les </a:t>
            </a:r>
            <a:r>
              <a:rPr sz="1100" i="1">
                <a:solidFill>
                  <a:srgbClr val="2C3E50"/>
                </a:solidFill>
                <a:latin typeface="Carlito"/>
              </a:rPr>
              <a:t>65 séances exclues</a:t>
            </a:r>
            <a:r>
              <a:rPr sz="1100" b="0">
                <a:solidFill>
                  <a:srgbClr val="2C3E50"/>
                </a:solidFill>
                <a:latin typeface="Carlito"/>
              </a:rPr>
              <a:t> séparent les usages. La fenêtre de calibration de 941 jours correspond à </a:t>
            </a:r>
            <a:r>
              <a:rPr sz="1100" i="1">
                <a:solidFill>
                  <a:srgbClr val="2C3E50"/>
                </a:solidFill>
                <a:latin typeface="Carlito"/>
              </a:rPr>
              <a:t>941 vecteurs de dimension 239</a:t>
            </a:r>
            <a:r>
              <a:rPr sz="1100" b="0">
                <a:solidFill>
                  <a:srgbClr val="2C3E50"/>
                </a:solidFill>
                <a:latin typeface="Carlito"/>
              </a:rPr>
              <a:t> dans les expériences qui exigent le panel complet ; elle ne correspond pas à 941 trajectoires indépendantes.</a:t>
            </a:r>
          </a:p>
        </p:txBody>
      </p:sp>
      <p:sp>
        <p:nvSpPr>
          <p:cNvPr id="9" name="TextBox 8"/>
          <p:cNvSpPr txBox="1"/>
          <p:nvPr/>
        </p:nvSpPr>
        <p:spPr>
          <a:xfrm>
            <a:off x="438912" y="175691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Distinction des pipelines :</a:t>
            </a:r>
            <a:r>
              <a:rPr sz="1100" b="0">
                <a:solidFill>
                  <a:srgbClr val="2C3E50"/>
                </a:solidFill>
                <a:latin typeface="Carlito"/>
              </a:rPr>
              <a:t> ACP = ajustement une fois en calibration ; réseau JEPA prévu = pré-entraînement antérieur, puis sélection/calibration sans réutiliser le test. Certains essais de calibrage nul réemploient des fenêtres du segment de calibration : ce fait limite leur indépendance.</a:t>
            </a:r>
          </a:p>
        </p:txBody>
      </p:sp>
      <p:sp>
        <p:nvSpPr>
          <p:cNvPr id="10" name="TextBox 9"/>
          <p:cNvSpPr txBox="1"/>
          <p:nvPr/>
        </p:nvSpPr>
        <p:spPr>
          <a:xfrm>
            <a:off x="438912" y="2187956"/>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les analyses rétrospectives 97 actions, le panel global documenté contient </a:t>
            </a:r>
            <a:r>
              <a:rPr sz="1100" i="1">
                <a:solidFill>
                  <a:srgbClr val="2C3E50"/>
                </a:solidFill>
                <a:latin typeface="Carlito"/>
              </a:rPr>
              <a:t>5 154 × 97 rendements</a:t>
            </a:r>
            <a:r>
              <a:rPr sz="1100" b="0">
                <a:solidFill>
                  <a:srgbClr val="2C3E50"/>
                </a:solidFill>
                <a:latin typeface="Carlito"/>
              </a:rPr>
              <a:t> ; les dates et effectifs effectifs de chaque segment doivent être relus dans le manifeste, non estimés à partir d'années civiles.</a:t>
            </a:r>
          </a:p>
        </p:txBody>
      </p:sp>
      <p:graphicFrame>
        <p:nvGraphicFramePr>
          <p:cNvPr id="11" name="Table 10"/>
          <p:cNvGraphicFramePr>
            <a:graphicFrameLocks noGrp="1"/>
          </p:cNvGraphicFramePr>
          <p:nvPr/>
        </p:nvGraphicFramePr>
        <p:xfrm>
          <a:off x="438912" y="2692146"/>
          <a:ext cx="8275320" cy="1170432"/>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1000" b="1">
                          <a:solidFill>
                            <a:srgbClr val="FFFFFF"/>
                          </a:solidFill>
                          <a:latin typeface="Carlito"/>
                        </a:rPr>
                        <a:t>Échantillon</a:t>
                      </a:r>
                    </a:p>
                  </a:txBody>
                  <a:tcPr marL="54864" marR="54864" marT="18288" marB="18288">
                    <a:solidFill>
                      <a:srgbClr val="1B7A8A"/>
                    </a:solidFill>
                  </a:tcPr>
                </a:tc>
                <a:tc>
                  <a:txBody>
                    <a:bodyPr/>
                    <a:lstStyle/>
                    <a:p>
                      <a:pPr algn="ctr"/>
                      <a:r>
                        <a:rPr sz="1000" b="1">
                          <a:solidFill>
                            <a:srgbClr val="FFFFFF"/>
                          </a:solidFill>
                          <a:latin typeface="Carlito"/>
                        </a:rPr>
                        <a:t>Dates nominales</a:t>
                      </a:r>
                    </a:p>
                  </a:txBody>
                  <a:tcPr marL="54864" marR="54864" marT="18288" marB="18288">
                    <a:solidFill>
                      <a:srgbClr val="1B7A8A"/>
                    </a:solidFill>
                  </a:tcPr>
                </a:tc>
                <a:tc>
                  <a:txBody>
                    <a:bodyPr/>
                    <a:lstStyle/>
                    <a:p>
                      <a:pPr algn="ctr"/>
                      <a:r>
                        <a:rPr sz="1000" b="1">
                          <a:solidFill>
                            <a:srgbClr val="FFFFFF"/>
                          </a:solidFill>
                          <a:latin typeface="Carlito"/>
                        </a:rPr>
                        <a:t>Usage</a:t>
                      </a:r>
                    </a:p>
                  </a:txBody>
                  <a:tcPr marL="54864" marR="54864" marT="18288" marB="18288">
                    <a:solidFill>
                      <a:srgbClr val="1B7A8A"/>
                    </a:solidFill>
                  </a:tcPr>
                </a:tc>
                <a:tc>
                  <a:txBody>
                    <a:bodyPr/>
                    <a:lstStyle/>
                    <a:p>
                      <a:pPr algn="ctr"/>
                      <a:r>
                        <a:rPr sz="1000" b="1">
                          <a:solidFill>
                            <a:srgbClr val="FFFFFF"/>
                          </a:solidFill>
                          <a:latin typeface="Carlito"/>
                        </a:rPr>
                        <a:t>Observations confirmées</a:t>
                      </a:r>
                    </a:p>
                  </a:txBody>
                  <a:tcPr marL="54864" marR="54864" marT="18288" marB="18288">
                    <a:solidFill>
                      <a:srgbClr val="1B7A8A"/>
                    </a:solidFill>
                  </a:tcPr>
                </a:tc>
              </a:tr>
              <a:tr h="292608">
                <a:tc>
                  <a:txBody>
                    <a:bodyPr/>
                    <a:lstStyle/>
                    <a:p>
                      <a:pPr algn="l"/>
                      <a:r>
                        <a:rPr sz="900" b="0">
                          <a:solidFill>
                            <a:srgbClr val="2C3E50"/>
                          </a:solidFill>
                          <a:latin typeface="Carlito"/>
                        </a:rPr>
                        <a:t>Pré-entraînement</a:t>
                      </a:r>
                    </a:p>
                  </a:txBody>
                  <a:tcPr marL="54864" marR="54864" marT="18288" marB="18288">
                    <a:solidFill>
                      <a:srgbClr val="EBF2FA"/>
                    </a:solidFill>
                  </a:tcPr>
                </a:tc>
                <a:tc>
                  <a:txBody>
                    <a:bodyPr/>
                    <a:lstStyle/>
                    <a:p>
                      <a:pPr algn="ctr"/>
                      <a:r>
                        <a:rPr sz="900" b="0">
                          <a:solidFill>
                            <a:srgbClr val="2C3E50"/>
                          </a:solidFill>
                          <a:latin typeface="Carlito"/>
                        </a:rPr>
                        <a:t>2005-01-01 → 2015-12-31</a:t>
                      </a:r>
                    </a:p>
                  </a:txBody>
                  <a:tcPr marL="54864" marR="54864" marT="18288" marB="18288">
                    <a:solidFill>
                      <a:srgbClr val="EBF2FA"/>
                    </a:solidFill>
                  </a:tcPr>
                </a:tc>
                <a:tc>
                  <a:txBody>
                    <a:bodyPr/>
                    <a:lstStyle/>
                    <a:p>
                      <a:pPr algn="ctr"/>
                      <a:r>
                        <a:rPr sz="900" b="0">
                          <a:solidFill>
                            <a:srgbClr val="2C3E50"/>
                          </a:solidFill>
                          <a:latin typeface="Carlito"/>
                        </a:rPr>
                        <a:t>Poids des réseaux proposés ; pas l'ACP classique</a:t>
                      </a:r>
                    </a:p>
                  </a:txBody>
                  <a:tcPr marL="54864" marR="54864" marT="18288" marB="18288">
                    <a:solidFill>
                      <a:srgbClr val="EBF2FA"/>
                    </a:solidFill>
                  </a:tcPr>
                </a:tc>
                <a:tc>
                  <a:txBody>
                    <a:bodyPr/>
                    <a:lstStyle/>
                    <a:p>
                      <a:pPr algn="ctr"/>
                      <a:r>
                        <a:rPr sz="900" b="0">
                          <a:solidFill>
                            <a:srgbClr val="2C3E50"/>
                          </a:solidFill>
                          <a:latin typeface="Carlito"/>
                        </a:rPr>
                        <a:t>Nombre par panel : </a:t>
                      </a:r>
                      <a:r>
                        <a:rPr sz="900" i="1">
                          <a:solidFill>
                            <a:srgbClr val="2C3E50"/>
                          </a:solidFill>
                          <a:latin typeface="Carlito"/>
                        </a:rPr>
                        <a:t>non consolidé dans les pièces fournies</a:t>
                      </a:r>
                    </a:p>
                  </a:txBody>
                  <a:tcPr marL="54864" marR="54864" marT="18288" marB="18288">
                    <a:solidFill>
                      <a:srgbClr val="EBF2FA"/>
                    </a:solidFill>
                  </a:tcPr>
                </a:tc>
              </a:tr>
              <a:tr h="292608">
                <a:tc>
                  <a:txBody>
                    <a:bodyPr/>
                    <a:lstStyle/>
                    <a:p>
                      <a:pPr algn="l"/>
                      <a:r>
                        <a:rPr sz="900" b="0">
                          <a:solidFill>
                            <a:srgbClr val="2C3E50"/>
                          </a:solidFill>
                          <a:latin typeface="Carlito"/>
                        </a:rPr>
                        <a:t>Calibration de représentation et des seuils</a:t>
                      </a:r>
                    </a:p>
                  </a:txBody>
                  <a:tcPr marL="54864" marR="54864" marT="18288" marB="18288">
                    <a:solidFill>
                      <a:srgbClr val="FFFFFF"/>
                    </a:solidFill>
                  </a:tcPr>
                </a:tc>
                <a:tc>
                  <a:txBody>
                    <a:bodyPr/>
                    <a:lstStyle/>
                    <a:p>
                      <a:pPr algn="ctr"/>
                      <a:r>
                        <a:rPr sz="900" b="0">
                          <a:solidFill>
                            <a:srgbClr val="2C3E50"/>
                          </a:solidFill>
                          <a:latin typeface="Carlito"/>
                        </a:rPr>
                        <a:t>2016-01-01 → 2019-12-31, après exclusion de 65 séances après 2016-01-01</a:t>
                      </a:r>
                    </a:p>
                  </a:txBody>
                  <a:tcPr marL="54864" marR="54864" marT="18288" marB="18288">
                    <a:solidFill>
                      <a:srgbClr val="FFFFFF"/>
                    </a:solidFill>
                  </a:tcPr>
                </a:tc>
                <a:tc>
                  <a:txBody>
                    <a:bodyPr/>
                    <a:lstStyle/>
                    <a:p>
                      <a:pPr algn="ctr"/>
                      <a:r>
                        <a:rPr sz="900" b="0">
                          <a:solidFill>
                            <a:srgbClr val="2C3E50"/>
                          </a:solidFill>
                          <a:latin typeface="Carlito"/>
                        </a:rPr>
                        <a:t>ACP, valeurs propres, axes, échelles, seuil énergie, paramètres des mises</a:t>
                      </a:r>
                    </a:p>
                  </a:txBody>
                  <a:tcPr marL="54864" marR="54864" marT="18288" marB="18288">
                    <a:solidFill>
                      <a:srgbClr val="FFFFFF"/>
                    </a:solidFill>
                  </a:tcPr>
                </a:tc>
                <a:tc>
                  <a:txBody>
                    <a:bodyPr/>
                    <a:lstStyle/>
                    <a:p>
                      <a:pPr algn="ctr"/>
                      <a:r>
                        <a:rPr sz="900" i="1">
                          <a:solidFill>
                            <a:srgbClr val="2C3E50"/>
                          </a:solidFill>
                          <a:latin typeface="Carlito"/>
                        </a:rPr>
                        <a:t>239 actions : 941 jours, 2016-04-07 → 2019-12-31</a:t>
                      </a:r>
                    </a:p>
                  </a:txBody>
                  <a:tcPr marL="54864" marR="54864" marT="18288" marB="18288">
                    <a:solidFill>
                      <a:srgbClr val="FFFFFF"/>
                    </a:solidFill>
                  </a:tcPr>
                </a:tc>
              </a:tr>
              <a:tr h="292608">
                <a:tc>
                  <a:txBody>
                    <a:bodyPr/>
                    <a:lstStyle/>
                    <a:p>
                      <a:pPr algn="l"/>
                      <a:r>
                        <a:rPr sz="900" b="0">
                          <a:solidFill>
                            <a:srgbClr val="2C3E50"/>
                          </a:solidFill>
                          <a:latin typeface="Carlito"/>
                        </a:rPr>
                        <a:t>Surveillance</a:t>
                      </a:r>
                    </a:p>
                  </a:txBody>
                  <a:tcPr marL="54864" marR="54864" marT="18288" marB="18288">
                    <a:solidFill>
                      <a:srgbClr val="EBF2FA"/>
                    </a:solidFill>
                  </a:tcPr>
                </a:tc>
                <a:tc>
                  <a:txBody>
                    <a:bodyPr/>
                    <a:lstStyle/>
                    <a:p>
                      <a:pPr algn="ctr"/>
                      <a:r>
                        <a:rPr sz="900" b="0">
                          <a:solidFill>
                            <a:srgbClr val="2C3E50"/>
                          </a:solidFill>
                          <a:latin typeface="Carlito"/>
                        </a:rPr>
                        <a:t>Dès 2020 après exclusion de 65 séances</a:t>
                      </a:r>
                    </a:p>
                  </a:txBody>
                  <a:tcPr marL="54864" marR="54864" marT="18288" marB="18288">
                    <a:solidFill>
                      <a:srgbClr val="EBF2FA"/>
                    </a:solidFill>
                  </a:tcPr>
                </a:tc>
                <a:tc>
                  <a:txBody>
                    <a:bodyPr/>
                    <a:lstStyle/>
                    <a:p>
                      <a:pPr algn="ctr"/>
                      <a:r>
                        <a:rPr sz="900" b="0">
                          <a:solidFill>
                            <a:srgbClr val="2C3E50"/>
                          </a:solidFill>
                          <a:latin typeface="Carlito"/>
                        </a:rPr>
                        <a:t>Transformations figées ; injections éventuelles en évaluation</a:t>
                      </a:r>
                    </a:p>
                  </a:txBody>
                  <a:tcPr marL="54864" marR="54864" marT="18288" marB="18288">
                    <a:solidFill>
                      <a:srgbClr val="EBF2FA"/>
                    </a:solidFill>
                  </a:tcPr>
                </a:tc>
                <a:tc>
                  <a:txBody>
                    <a:bodyPr/>
                    <a:lstStyle/>
                    <a:p>
                      <a:pPr algn="ctr"/>
                      <a:r>
                        <a:rPr sz="900" b="0">
                          <a:solidFill>
                            <a:srgbClr val="2C3E50"/>
                          </a:solidFill>
                          <a:latin typeface="Carlito"/>
                        </a:rPr>
                        <a:t>Nombre exact par panel : à lire dans chaque manifeste daté</a:t>
                      </a:r>
                    </a:p>
                  </a:txBody>
                  <a:tcPr marL="54864" marR="54864" marT="18288" marB="18288">
                    <a:solidFill>
                      <a:srgbClr val="EBF2FA"/>
                    </a:solidFill>
                  </a:tcPr>
                </a:tc>
              </a:tr>
            </a:tbl>
          </a:graphicData>
        </a:graphic>
      </p:graphicFrame>
      <p:sp>
        <p:nvSpPr>
          <p:cNvPr id="12" name="TextBox 1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Simulations : générateurs, unités et tailles</a:t>
            </a:r>
          </a:p>
        </p:txBody>
      </p:sp>
      <p:sp>
        <p:nvSpPr>
          <p:cNvPr id="4" name="Rectangle 3"/>
          <p:cNvSpPr/>
          <p:nvPr/>
        </p:nvSpPr>
        <p:spPr>
          <a:xfrm>
            <a:off x="7342631" y="64008"/>
            <a:ext cx="1527048"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42631" y="64008"/>
            <a:ext cx="152704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PLAN EXPÉRIMENTAL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Fonds simulés et fonds réels symétrisés : expériences distinctes, tailles explicites</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Injections :</a:t>
            </a:r>
            <a:r>
              <a:rPr sz="1100" b="0">
                <a:solidFill>
                  <a:srgbClr val="2C3E50"/>
                </a:solidFill>
                <a:latin typeface="Carlito"/>
              </a:rPr>
              <a:t> moyenne factorielle, moyenne guidée par caractéristiques, translation du marché ; covariance modifiée par amplification ou rotation. La rupture est appliquée aux </a:t>
            </a:r>
            <a:r>
              <a:rPr sz="1100" i="1">
                <a:solidFill>
                  <a:srgbClr val="2C3E50"/>
                </a:solidFill>
                <a:latin typeface="Carlito"/>
              </a:rPr>
              <a:t>rendements</a:t>
            </a:r>
            <a:r>
              <a:rPr sz="1100" b="0">
                <a:solidFill>
                  <a:srgbClr val="2C3E50"/>
                </a:solidFill>
                <a:latin typeface="Carlito"/>
              </a:rPr>
              <a:t>, avant la représentation et sans modifier la période de calibration.</a:t>
            </a:r>
          </a:p>
        </p:txBody>
      </p:sp>
      <p:sp>
        <p:nvSpPr>
          <p:cNvPr id="9" name="TextBox 8"/>
          <p:cNvSpPr txBox="1"/>
          <p:nvPr/>
        </p:nvSpPr>
        <p:spPr>
          <a:xfrm>
            <a:off x="438912" y="1756918"/>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Jeu « entraînement / validation / test » d'une simulation :</a:t>
            </a:r>
            <a:r>
              <a:rPr sz="1100" b="0">
                <a:solidFill>
                  <a:srgbClr val="2C3E50"/>
                </a:solidFill>
                <a:latin typeface="Carlito"/>
              </a:rPr>
              <a:t> panel indépendant pour ajuster la covariance si requis ; panels indépendants pour choisir le seuil et évaluer l'alarme (cas simulé à 2 000 + 2 000). Dans le fond historique symétrisé, les fenêtres se recouvrent : elles ne sont </a:t>
            </a:r>
            <a:r>
              <a:rPr sz="1100" i="1">
                <a:solidFill>
                  <a:srgbClr val="2C3E50"/>
                </a:solidFill>
                <a:latin typeface="Carlito"/>
              </a:rPr>
              <a:t>pas</a:t>
            </a:r>
            <a:r>
              <a:rPr sz="1100" b="0">
                <a:solidFill>
                  <a:srgbClr val="2C3E50"/>
                </a:solidFill>
                <a:latin typeface="Carlito"/>
              </a:rPr>
              <a:t> des échantillons indépendants.</a:t>
            </a:r>
          </a:p>
        </p:txBody>
      </p:sp>
      <p:graphicFrame>
        <p:nvGraphicFramePr>
          <p:cNvPr id="10" name="Table 9"/>
          <p:cNvGraphicFramePr>
            <a:graphicFrameLocks noGrp="1"/>
          </p:cNvGraphicFramePr>
          <p:nvPr/>
        </p:nvGraphicFramePr>
        <p:xfrm>
          <a:off x="438912" y="2421762"/>
          <a:ext cx="8275320" cy="1755648"/>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1000" b="1">
                          <a:solidFill>
                            <a:srgbClr val="FFFFFF"/>
                          </a:solidFill>
                          <a:latin typeface="Carlito"/>
                        </a:rPr>
                        <a:t>Fond</a:t>
                      </a:r>
                    </a:p>
                  </a:txBody>
                  <a:tcPr marL="54864" marR="54864" marT="18288" marB="18288">
                    <a:solidFill>
                      <a:srgbClr val="1B7A8A"/>
                    </a:solidFill>
                  </a:tcPr>
                </a:tc>
                <a:tc>
                  <a:txBody>
                    <a:bodyPr/>
                    <a:lstStyle/>
                    <a:p>
                      <a:pPr algn="ctr"/>
                      <a:r>
                        <a:rPr sz="1000" b="1">
                          <a:solidFill>
                            <a:srgbClr val="FFFFFF"/>
                          </a:solidFill>
                          <a:latin typeface="Carlito"/>
                        </a:rPr>
                        <a:t>Génération / données</a:t>
                      </a:r>
                    </a:p>
                  </a:txBody>
                  <a:tcPr marL="54864" marR="54864" marT="18288" marB="18288">
                    <a:solidFill>
                      <a:srgbClr val="1B7A8A"/>
                    </a:solidFill>
                  </a:tcPr>
                </a:tc>
                <a:tc>
                  <a:txBody>
                    <a:bodyPr/>
                    <a:lstStyle/>
                    <a:p>
                      <a:pPr algn="ctr"/>
                      <a:r>
                        <a:rPr sz="1000" b="1">
                          <a:solidFill>
                            <a:srgbClr val="FFFFFF"/>
                          </a:solidFill>
                          <a:latin typeface="Carlito"/>
                        </a:rPr>
                        <a:t>Taille documentée</a:t>
                      </a:r>
                    </a:p>
                  </a:txBody>
                  <a:tcPr marL="54864" marR="54864" marT="18288" marB="18288">
                    <a:solidFill>
                      <a:srgbClr val="1B7A8A"/>
                    </a:solidFill>
                  </a:tcPr>
                </a:tc>
                <a:tc>
                  <a:txBody>
                    <a:bodyPr/>
                    <a:lstStyle/>
                    <a:p>
                      <a:pPr algn="ctr"/>
                      <a:r>
                        <a:rPr sz="1000" b="1">
                          <a:solidFill>
                            <a:srgbClr val="FFFFFF"/>
                          </a:solidFill>
                          <a:latin typeface="Carlito"/>
                        </a:rPr>
                        <a:t>Évaluation</a:t>
                      </a:r>
                    </a:p>
                  </a:txBody>
                  <a:tcPr marL="54864" marR="54864" marT="18288" marB="18288">
                    <a:solidFill>
                      <a:srgbClr val="1B7A8A"/>
                    </a:solidFill>
                  </a:tcPr>
                </a:tc>
              </a:tr>
              <a:tr h="292608">
                <a:tc>
                  <a:txBody>
                    <a:bodyPr/>
                    <a:lstStyle/>
                    <a:p>
                      <a:pPr algn="l"/>
                      <a:r>
                        <a:rPr sz="900" b="0">
                          <a:solidFill>
                            <a:srgbClr val="2C3E50"/>
                          </a:solidFill>
                          <a:latin typeface="Carlito"/>
                        </a:rPr>
                        <a:t>Gaussien multidimensionnel</a:t>
                      </a:r>
                    </a:p>
                  </a:txBody>
                  <a:tcPr marL="54864" marR="54864" marT="18288" marB="18288">
                    <a:solidFill>
                      <a:srgbClr val="EBF2FA"/>
                    </a:solidFill>
                  </a:tcPr>
                </a:tc>
                <a:tc>
                  <a:txBody>
                    <a:bodyPr/>
                    <a:lstStyle/>
                    <a:p>
                      <a:pPr algn="ctr"/>
                      <a:r>
                        <a:rPr sz="900" b="0">
                          <a:solidFill>
                            <a:srgbClr val="2C3E50"/>
                          </a:solidFill>
                          <a:latin typeface="Carlito"/>
                        </a:rPr>
                        <a:t> indépendant </a:t>
                      </a:r>
                      <a:r>
                        <a:rPr sz="900" b="0">
                          <a:solidFill>
                            <a:srgbClr val="2C3E50"/>
                          </a:solidFill>
                          <a:latin typeface="Carlito"/>
                        </a:rPr>
                        <a:t> ; </a:t>
                      </a:r>
                      <a:r>
                        <a:rPr sz="900" b="0">
                          <a:solidFill>
                            <a:srgbClr val="2C3E50"/>
                          </a:solidFill>
                          <a:latin typeface="Carlito"/>
                        </a:rPr>
                        <a:t> pour la grille des mélanges</a:t>
                      </a:r>
                    </a:p>
                  </a:txBody>
                  <a:tcPr marL="54864" marR="54864" marT="18288" marB="18288">
                    <a:solidFill>
                      <a:srgbClr val="EBF2FA"/>
                    </a:solidFill>
                  </a:tcPr>
                </a:tc>
                <a:tc>
                  <a:txBody>
                    <a:bodyPr/>
                    <a:lstStyle/>
                    <a:p>
                      <a:pPr algn="ctr"/>
                      <a:r>
                        <a:rPr sz="900" i="1">
                          <a:solidFill>
                            <a:srgbClr val="2C3E50"/>
                          </a:solidFill>
                          <a:latin typeface="Carlito"/>
                        </a:rPr>
                        <a:t>46 configurations au total</a:t>
                      </a:r>
                      <a:r>
                        <a:rPr sz="900" b="0">
                          <a:solidFill>
                            <a:srgbClr val="2C3E50"/>
                          </a:solidFill>
                          <a:latin typeface="Carlito"/>
                        </a:rPr>
                        <a:t> avec autres générateurs ; </a:t>
                      </a:r>
                      <a:r>
                        <a:rPr sz="900" i="1">
                          <a:solidFill>
                            <a:srgbClr val="2C3E50"/>
                          </a:solidFill>
                          <a:latin typeface="Carlito"/>
                        </a:rPr>
                        <a:t>500 à 2 000 répétitions/cellule</a:t>
                      </a:r>
                      <a:r>
                        <a:rPr sz="900" b="0">
                          <a:solidFill>
                            <a:srgbClr val="2C3E50"/>
                          </a:solidFill>
                          <a:latin typeface="Carlito"/>
                        </a:rPr>
                        <a:t> selon le bras</a:t>
                      </a:r>
                    </a:p>
                  </a:txBody>
                  <a:tcPr marL="54864" marR="54864" marT="18288" marB="18288">
                    <a:solidFill>
                      <a:srgbClr val="EBF2FA"/>
                    </a:solidFill>
                  </a:tcPr>
                </a:tc>
                <a:tc>
                  <a:txBody>
                    <a:bodyPr/>
                    <a:lstStyle/>
                    <a:p>
                      <a:pPr algn="ctr"/>
                      <a:r>
                        <a:rPr sz="900" b="0">
                          <a:solidFill>
                            <a:srgbClr val="2C3E50"/>
                          </a:solidFill>
                          <a:latin typeface="Carlito"/>
                        </a:rPr>
                        <a:t>Budget de preuve, délais, contrôle du null</a:t>
                      </a:r>
                    </a:p>
                  </a:txBody>
                  <a:tcPr marL="54864" marR="54864" marT="18288" marB="18288">
                    <a:solidFill>
                      <a:srgbClr val="EBF2FA"/>
                    </a:solidFill>
                  </a:tcPr>
                </a:tc>
              </a:tr>
              <a:tr h="292608">
                <a:tc>
                  <a:txBody>
                    <a:bodyPr/>
                    <a:lstStyle/>
                    <a:p>
                      <a:pPr algn="l"/>
                      <a:r>
                        <a:rPr sz="900" b="0">
                          <a:solidFill>
                            <a:srgbClr val="2C3E50"/>
                          </a:solidFill>
                          <a:latin typeface="Carlito"/>
                        </a:rPr>
                        <a:t>Student/GARCH</a:t>
                      </a:r>
                    </a:p>
                  </a:txBody>
                  <a:tcPr marL="54864" marR="54864" marT="18288" marB="18288">
                    <a:solidFill>
                      <a:srgbClr val="FFFFFF"/>
                    </a:solidFill>
                  </a:tcPr>
                </a:tc>
                <a:tc>
                  <a:txBody>
                    <a:bodyPr/>
                    <a:lstStyle/>
                    <a:p>
                      <a:pPr algn="ctr"/>
                      <a:r>
                        <a:rPr sz="900" b="0">
                          <a:solidFill>
                            <a:srgbClr val="2C3E50"/>
                          </a:solidFill>
                          <a:latin typeface="Carlito"/>
                        </a:rPr>
                        <a:t>Innovations Student à </a:t>
                      </a:r>
                      <a:r>
                        <a:rPr sz="900" i="1">
                          <a:solidFill>
                            <a:srgbClr val="2C3E50"/>
                          </a:solidFill>
                          <a:latin typeface="Carlito"/>
                        </a:rPr>
                        <a:t>7 degrés de liberté</a:t>
                      </a:r>
                      <a:r>
                        <a:rPr sz="900" b="0">
                          <a:solidFill>
                            <a:srgbClr val="2C3E50"/>
                          </a:solidFill>
                          <a:latin typeface="Carlito"/>
                        </a:rPr>
                        <a:t> ; GARCH(1,1) volatilité commune (exemple </a:t>
                      </a:r>
                      <a:r>
                        <a:rPr sz="900" b="0">
                          <a:solidFill>
                            <a:srgbClr val="2C3E50"/>
                          </a:solidFill>
                          <a:latin typeface="Carlito"/>
                        </a:rPr>
                        <a:t>, </a:t>
                      </a:r>
                      <a:r>
                        <a:rPr sz="900" b="0">
                          <a:solidFill>
                            <a:srgbClr val="2C3E50"/>
                          </a:solidFill>
                          <a:latin typeface="Carlito"/>
                        </a:rPr>
                        <a:t>)</a:t>
                      </a:r>
                    </a:p>
                  </a:txBody>
                  <a:tcPr marL="54864" marR="54864" marT="18288" marB="18288">
                    <a:solidFill>
                      <a:srgbClr val="FFFFFF"/>
                    </a:solidFill>
                  </a:tcPr>
                </a:tc>
                <a:tc>
                  <a:txBody>
                    <a:bodyPr/>
                    <a:lstStyle/>
                    <a:p>
                      <a:pPr algn="ctr"/>
                      <a:r>
                        <a:rPr sz="900" b="0">
                          <a:solidFill>
                            <a:srgbClr val="2C3E50"/>
                          </a:solidFill>
                          <a:latin typeface="Carlito"/>
                        </a:rPr>
                        <a:t>Longueur et dimension variables selon cellule ; pas de taille globale unique</a:t>
                      </a:r>
                    </a:p>
                  </a:txBody>
                  <a:tcPr marL="54864" marR="54864" marT="18288" marB="18288">
                    <a:solidFill>
                      <a:srgbClr val="FFFFFF"/>
                    </a:solidFill>
                  </a:tcPr>
                </a:tc>
                <a:tc>
                  <a:txBody>
                    <a:bodyPr/>
                    <a:lstStyle/>
                    <a:p>
                      <a:pPr algn="ctr"/>
                      <a:r>
                        <a:rPr sz="900" b="0">
                          <a:solidFill>
                            <a:srgbClr val="2C3E50"/>
                          </a:solidFill>
                          <a:latin typeface="Carlito"/>
                        </a:rPr>
                        <a:t>Efficacité signe vs amplitude, pénalité GARCH</a:t>
                      </a:r>
                    </a:p>
                  </a:txBody>
                  <a:tcPr marL="54864" marR="54864" marT="18288" marB="18288">
                    <a:solidFill>
                      <a:srgbClr val="FFFFFF"/>
                    </a:solidFill>
                  </a:tcPr>
                </a:tc>
              </a:tr>
              <a:tr h="292608">
                <a:tc>
                  <a:txBody>
                    <a:bodyPr/>
                    <a:lstStyle/>
                    <a:p>
                      <a:pPr algn="l"/>
                      <a:r>
                        <a:rPr sz="900" b="0">
                          <a:solidFill>
                            <a:srgbClr val="2C3E50"/>
                          </a:solidFill>
                          <a:latin typeface="Carlito"/>
                        </a:rPr>
                        <a:t>Panel de covariance simulé</a:t>
                      </a:r>
                    </a:p>
                  </a:txBody>
                  <a:tcPr marL="54864" marR="54864" marT="18288" marB="18288">
                    <a:solidFill>
                      <a:srgbClr val="EBF2FA"/>
                    </a:solidFill>
                  </a:tcPr>
                </a:tc>
                <a:tc>
                  <a:txBody>
                    <a:bodyPr/>
                    <a:lstStyle/>
                    <a:p>
                      <a:pPr algn="ctr"/>
                      <a:r>
                        <a:rPr sz="900" i="1">
                          <a:solidFill>
                            <a:srgbClr val="2C3E50"/>
                          </a:solidFill>
                          <a:latin typeface="Carlito"/>
                        </a:rPr>
                        <a:t>N=239</a:t>
                      </a:r>
                      <a:r>
                        <a:rPr sz="900" b="0">
                          <a:solidFill>
                            <a:srgbClr val="2C3E50"/>
                          </a:solidFill>
                          <a:latin typeface="Carlito"/>
                        </a:rPr>
                        <a:t>, corrélation factorielle </a:t>
                      </a:r>
                      <a:r>
                        <a:rPr sz="900" i="1">
                          <a:solidFill>
                            <a:srgbClr val="2C3E50"/>
                          </a:solidFill>
                          <a:latin typeface="Carlito"/>
                        </a:rPr>
                        <a:t>0,40</a:t>
                      </a:r>
                      <a:r>
                        <a:rPr sz="900" b="0">
                          <a:solidFill>
                            <a:srgbClr val="2C3E50"/>
                          </a:solidFill>
                          <a:latin typeface="Carlito"/>
                        </a:rPr>
                        <a:t>, Student t7 ; 941 jours pour ajustement d'un panel indépendant</a:t>
                      </a:r>
                    </a:p>
                  </a:txBody>
                  <a:tcPr marL="54864" marR="54864" marT="18288" marB="18288">
                    <a:solidFill>
                      <a:srgbClr val="EBF2FA"/>
                    </a:solidFill>
                  </a:tcPr>
                </a:tc>
                <a:tc>
                  <a:txBody>
                    <a:bodyPr/>
                    <a:lstStyle/>
                    <a:p>
                      <a:pPr algn="ctr"/>
                      <a:r>
                        <a:rPr sz="900" i="1">
                          <a:solidFill>
                            <a:srgbClr val="2C3E50"/>
                          </a:solidFill>
                          <a:latin typeface="Carlito"/>
                        </a:rPr>
                        <a:t>2 000 panels de calibration + 2 000 panels de test, 500 jours chacun</a:t>
                      </a:r>
                    </a:p>
                  </a:txBody>
                  <a:tcPr marL="54864" marR="54864" marT="18288" marB="18288">
                    <a:solidFill>
                      <a:srgbClr val="EBF2FA"/>
                    </a:solidFill>
                  </a:tcPr>
                </a:tc>
                <a:tc>
                  <a:txBody>
                    <a:bodyPr/>
                    <a:lstStyle/>
                    <a:p>
                      <a:pPr algn="ctr"/>
                      <a:r>
                        <a:rPr sz="900" b="0">
                          <a:solidFill>
                            <a:srgbClr val="2C3E50"/>
                          </a:solidFill>
                          <a:latin typeface="Carlito"/>
                        </a:rPr>
                        <a:t>Énergie, </a:t>
                      </a:r>
                      <a:r>
                        <a:rPr sz="900" b="0">
                          <a:solidFill>
                            <a:srgbClr val="2C3E50"/>
                          </a:solidFill>
                          <a:latin typeface="Carlito"/>
                        </a:rPr>
                        <a:t>, cible </a:t>
                      </a:r>
                    </a:p>
                  </a:txBody>
                  <a:tcPr marL="54864" marR="54864" marT="18288" marB="18288">
                    <a:solidFill>
                      <a:srgbClr val="EBF2FA"/>
                    </a:solidFill>
                  </a:tcPr>
                </a:tc>
              </a:tr>
              <a:tr h="292608">
                <a:tc>
                  <a:txBody>
                    <a:bodyPr/>
                    <a:lstStyle/>
                    <a:p>
                      <a:pPr algn="l"/>
                      <a:r>
                        <a:rPr sz="900" b="0">
                          <a:solidFill>
                            <a:srgbClr val="2C3E50"/>
                          </a:solidFill>
                          <a:latin typeface="Carlito"/>
                        </a:rPr>
                        <a:t>Rendements historiques symétrisés</a:t>
                      </a:r>
                    </a:p>
                  </a:txBody>
                  <a:tcPr marL="54864" marR="54864" marT="18288" marB="18288">
                    <a:solidFill>
                      <a:srgbClr val="FFFFFF"/>
                    </a:solidFill>
                  </a:tcPr>
                </a:tc>
                <a:tc>
                  <a:txBody>
                    <a:bodyPr/>
                    <a:lstStyle/>
                    <a:p>
                      <a:pPr algn="ctr"/>
                      <a:r>
                        <a:rPr sz="900" b="0">
                          <a:solidFill>
                            <a:srgbClr val="2C3E50"/>
                          </a:solidFill>
                          <a:latin typeface="Carlito"/>
                        </a:rPr>
                        <a:t>Panel 97 ou 239 actions ; chaque </a:t>
                      </a:r>
                      <a:r>
                        <a:rPr sz="900" i="1">
                          <a:solidFill>
                            <a:srgbClr val="2C3E50"/>
                          </a:solidFill>
                          <a:latin typeface="Carlito"/>
                        </a:rPr>
                        <a:t>jour entier</a:t>
                      </a:r>
                      <a:r>
                        <a:rPr sz="900" b="0">
                          <a:solidFill>
                            <a:srgbClr val="2C3E50"/>
                          </a:solidFill>
                          <a:latin typeface="Carlito"/>
                        </a:rPr>
                        <a:t> multiplié par un signe ±1 indépendant</a:t>
                      </a:r>
                    </a:p>
                  </a:txBody>
                  <a:tcPr marL="54864" marR="54864" marT="18288" marB="18288">
                    <a:solidFill>
                      <a:srgbClr val="FFFFFF"/>
                    </a:solidFill>
                  </a:tcPr>
                </a:tc>
                <a:tc>
                  <a:txBody>
                    <a:bodyPr/>
                    <a:lstStyle/>
                    <a:p>
                      <a:pPr algn="ctr"/>
                      <a:r>
                        <a:rPr sz="900" b="0">
                          <a:solidFill>
                            <a:srgbClr val="2C3E50"/>
                          </a:solidFill>
                          <a:latin typeface="Carlito"/>
                        </a:rPr>
                        <a:t>Exemple : </a:t>
                      </a:r>
                      <a:r>
                        <a:rPr sz="900" i="1">
                          <a:solidFill>
                            <a:srgbClr val="2C3E50"/>
                          </a:solidFill>
                          <a:latin typeface="Carlito"/>
                        </a:rPr>
                        <a:t>941 jours × 239 actions</a:t>
                      </a:r>
                      <a:r>
                        <a:rPr sz="900" b="0">
                          <a:solidFill>
                            <a:srgbClr val="2C3E50"/>
                          </a:solidFill>
                          <a:latin typeface="Carlito"/>
                        </a:rPr>
                        <a:t> pour la calibration des expériences covariance ; fenêtres </a:t>
                      </a:r>
                    </a:p>
                  </a:txBody>
                  <a:tcPr marL="54864" marR="54864" marT="18288" marB="18288">
                    <a:solidFill>
                      <a:srgbClr val="FFFFFF"/>
                    </a:solidFill>
                  </a:tcPr>
                </a:tc>
                <a:tc>
                  <a:txBody>
                    <a:bodyPr/>
                    <a:lstStyle/>
                    <a:p>
                      <a:pPr algn="ctr"/>
                      <a:r>
                        <a:rPr sz="900" b="0">
                          <a:solidFill>
                            <a:srgbClr val="2C3E50"/>
                          </a:solidFill>
                          <a:latin typeface="Carlito"/>
                        </a:rPr>
                        <a:t>Conservation des amplitudes historiques, null rendu symétrique</a:t>
                      </a:r>
                    </a:p>
                  </a:txBody>
                  <a:tcPr marL="54864" marR="54864" marT="18288" marB="18288">
                    <a:solidFill>
                      <a:srgbClr val="FFFFFF"/>
                    </a:solidFill>
                  </a:tcPr>
                </a:tc>
              </a:tr>
              <a:tr h="292608">
                <a:tc>
                  <a:txBody>
                    <a:bodyPr/>
                    <a:lstStyle/>
                    <a:p>
                      <a:pPr algn="l"/>
                      <a:r>
                        <a:rPr sz="900" b="0">
                          <a:solidFill>
                            <a:srgbClr val="2C3E50"/>
                          </a:solidFill>
                          <a:latin typeface="Carlito"/>
                        </a:rPr>
                        <a:t>Stress des signes</a:t>
                      </a:r>
                    </a:p>
                  </a:txBody>
                  <a:tcPr marL="54864" marR="54864" marT="18288" marB="18288">
                    <a:solidFill>
                      <a:srgbClr val="EBF2FA"/>
                    </a:solidFill>
                  </a:tcPr>
                </a:tc>
                <a:tc>
                  <a:txBody>
                    <a:bodyPr/>
                    <a:lstStyle/>
                    <a:p>
                      <a:pPr algn="ctr"/>
                      <a:r>
                        <a:rPr sz="900" b="0">
                          <a:solidFill>
                            <a:srgbClr val="2C3E50"/>
                          </a:solidFill>
                          <a:latin typeface="Carlito"/>
                        </a:rPr>
                        <a:t>Gaussien, t3/t4/t5/t7, volatilité asymétrique, retours nuls, chocs communs asymétriques</a:t>
                      </a:r>
                    </a:p>
                  </a:txBody>
                  <a:tcPr marL="54864" marR="54864" marT="18288" marB="18288">
                    <a:solidFill>
                      <a:srgbClr val="EBF2FA"/>
                    </a:solidFill>
                  </a:tcPr>
                </a:tc>
                <a:tc>
                  <a:txBody>
                    <a:bodyPr/>
                    <a:lstStyle/>
                    <a:p>
                      <a:pPr algn="ctr"/>
                      <a:r>
                        <a:rPr sz="900" i="1">
                          <a:solidFill>
                            <a:srgbClr val="2C3E50"/>
                          </a:solidFill>
                          <a:latin typeface="Carlito"/>
                        </a:rPr>
                        <a:t>317 configurations de canaux admissibles</a:t>
                      </a:r>
                      <a:r>
                        <a:rPr sz="900" b="0">
                          <a:solidFill>
                            <a:srgbClr val="2C3E50"/>
                          </a:solidFill>
                          <a:latin typeface="Carlito"/>
                        </a:rPr>
                        <a:t> sur </a:t>
                      </a:r>
                      <a:r>
                        <a:rPr sz="900" b="0">
                          <a:solidFill>
                            <a:srgbClr val="2C3E50"/>
                          </a:solidFill>
                          <a:latin typeface="Carlito"/>
                        </a:rPr>
                        <a:t> ; contrôle i.i.d. sur </a:t>
                      </a:r>
                      <a:r>
                        <a:rPr sz="900" i="1">
                          <a:solidFill>
                            <a:srgbClr val="2C3E50"/>
                          </a:solidFill>
                          <a:latin typeface="Carlito"/>
                        </a:rPr>
                        <a:t>20 000</a:t>
                      </a:r>
                      <a:r>
                        <a:rPr sz="900" b="0">
                          <a:solidFill>
                            <a:srgbClr val="2C3E50"/>
                          </a:solidFill>
                          <a:latin typeface="Carlito"/>
                        </a:rPr>
                        <a:t> trajectoires</a:t>
                      </a:r>
                    </a:p>
                  </a:txBody>
                  <a:tcPr marL="54864" marR="54864" marT="18288" marB="18288">
                    <a:solidFill>
                      <a:srgbClr val="EBF2FA"/>
                    </a:solidFill>
                  </a:tcPr>
                </a:tc>
                <a:tc>
                  <a:txBody>
                    <a:bodyPr/>
                    <a:lstStyle/>
                    <a:p>
                      <a:pPr algn="ctr"/>
                      <a:r>
                        <a:rPr sz="900" b="0">
                          <a:solidFill>
                            <a:srgbClr val="2C3E50"/>
                          </a:solidFill>
                          <a:latin typeface="Carlito"/>
                        </a:rPr>
                        <a:t>Validité exacte et inflation des fausses alarmes</a:t>
                      </a:r>
                    </a:p>
                  </a:txBody>
                  <a:tcPr marL="54864" marR="54864" marT="18288" marB="18288">
                    <a:solidFill>
                      <a:srgbClr val="EBF2FA"/>
                    </a:solidFill>
                  </a:tcPr>
                </a:tc>
              </a:tr>
            </a:tbl>
          </a:graphicData>
        </a:graphic>
      </p:graphicFrame>
      <p:sp>
        <p:nvSpPr>
          <p:cNvPr id="11" name="TextBox 1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Absorption : pourquoi figer l'encodeur</a:t>
            </a:r>
          </a:p>
        </p:txBody>
      </p:sp>
      <p:sp>
        <p:nvSpPr>
          <p:cNvPr id="4" name="Rectangle 3"/>
          <p:cNvSpPr/>
          <p:nvPr/>
        </p:nvSpPr>
        <p:spPr>
          <a:xfrm>
            <a:off x="6940296" y="64008"/>
            <a:ext cx="1929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0296" y="64008"/>
            <a:ext cx="1929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THÉORIE CONDITIONNELLE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L'adaptation peut effacer un changement avant l'accumulation de preuve</a:t>
            </a:r>
          </a:p>
        </p:txBody>
      </p:sp>
      <p:sp>
        <p:nvSpPr>
          <p:cNvPr id="8" name="Rectangle 7"/>
          <p:cNvSpPr/>
          <p:nvPr/>
        </p:nvSpPr>
        <p:spPr>
          <a:xfrm>
            <a:off x="438912" y="1325880"/>
            <a:ext cx="4114800" cy="2286000"/>
          </a:xfrm>
          <a:prstGeom prst="rect">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53312"/>
            <a:ext cx="402336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E44AD"/>
                </a:solidFill>
                <a:latin typeface="Carlito"/>
              </a:rPr>
              <a:t>modèle théorique — pas un JEPA entraîné</a:t>
            </a:r>
          </a:p>
        </p:txBody>
      </p:sp>
      <p:cxnSp>
        <p:nvCxnSpPr>
          <p:cNvPr id="10" name="Connector 9"/>
          <p:cNvCxnSpPr/>
          <p:nvPr/>
        </p:nvCxnSpPr>
        <p:spPr>
          <a:xfrm>
            <a:off x="1056131" y="1783080"/>
            <a:ext cx="0" cy="1257300"/>
          </a:xfrm>
          <a:prstGeom prst="line">
            <a:avLst/>
          </a:prstGeom>
          <a:ln w="19050">
            <a:solidFill>
              <a:srgbClr val="2C3E5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56131" y="3040380"/>
            <a:ext cx="2880360" cy="0"/>
          </a:xfrm>
          <a:prstGeom prst="line">
            <a:avLst/>
          </a:prstGeom>
          <a:ln w="19050">
            <a:solidFill>
              <a:srgbClr val="2C3E5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1811" y="3058668"/>
            <a:ext cx="548640" cy="16459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5D6D7E"/>
                </a:solidFill>
                <a:latin typeface="Carlito"/>
              </a:rPr>
              <a:t>jours</a:t>
            </a:r>
          </a:p>
        </p:txBody>
      </p:sp>
      <p:sp>
        <p:nvSpPr>
          <p:cNvPr id="13" name="TextBox 12"/>
          <p:cNvSpPr txBox="1"/>
          <p:nvPr/>
        </p:nvSpPr>
        <p:spPr>
          <a:xfrm>
            <a:off x="457200" y="1554480"/>
            <a:ext cx="137160" cy="36576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2C3E50"/>
                </a:solidFill>
                <a:latin typeface="Carlito"/>
              </a:rPr>
              <a:t>I_t</a:t>
            </a:r>
          </a:p>
        </p:txBody>
      </p:sp>
      <p:cxnSp>
        <p:nvCxnSpPr>
          <p:cNvPr id="14" name="Connector 13"/>
          <p:cNvCxnSpPr/>
          <p:nvPr/>
        </p:nvCxnSpPr>
        <p:spPr>
          <a:xfrm>
            <a:off x="1056131"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2143"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48155"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44167"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40179"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536191"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632203"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28215"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24227" y="1783080"/>
            <a:ext cx="96012"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920239" y="1783080"/>
            <a:ext cx="96012" cy="188595"/>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16251" y="1971675"/>
            <a:ext cx="96012" cy="40208"/>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12263" y="2011883"/>
            <a:ext cx="96013" cy="38697"/>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08276" y="2050580"/>
            <a:ext cx="96011" cy="37240"/>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304287" y="2087820"/>
            <a:ext cx="96013" cy="35839"/>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400300" y="2123659"/>
            <a:ext cx="96011" cy="34490"/>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496311" y="2158149"/>
            <a:ext cx="96013" cy="33193"/>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92324" y="2191342"/>
            <a:ext cx="96011" cy="31945"/>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88335" y="2223287"/>
            <a:ext cx="96013" cy="30742"/>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84348" y="2254029"/>
            <a:ext cx="96011" cy="29585"/>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880359" y="2283614"/>
            <a:ext cx="96012" cy="28473"/>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76371" y="2312087"/>
            <a:ext cx="96012" cy="27401"/>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072383" y="2339488"/>
            <a:ext cx="96012" cy="26371"/>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168395" y="2365859"/>
            <a:ext cx="96013" cy="25378"/>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4408" y="2391237"/>
            <a:ext cx="96012" cy="24423"/>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360420" y="2415660"/>
            <a:ext cx="96012" cy="23504"/>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56432" y="2439164"/>
            <a:ext cx="96012" cy="22621"/>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52444" y="2461785"/>
            <a:ext cx="96012" cy="21769"/>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48456" y="2483554"/>
            <a:ext cx="96012" cy="20950"/>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44468" y="2504504"/>
            <a:ext cx="96011" cy="20161"/>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840479" y="2524665"/>
            <a:ext cx="96012" cy="19404"/>
          </a:xfrm>
          <a:prstGeom prst="line">
            <a:avLst/>
          </a:prstGeom>
          <a:ln w="25400">
            <a:solidFill>
              <a:srgbClr val="C0392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488185" y="1764792"/>
            <a:ext cx="1097280" cy="164592"/>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0">
                <a:solidFill>
                  <a:srgbClr val="1B7A8A"/>
                </a:solidFill>
                <a:latin typeface="Carlito"/>
              </a:rPr>
              <a:t>gelé (I constant)</a:t>
            </a:r>
          </a:p>
        </p:txBody>
      </p:sp>
      <p:sp>
        <p:nvSpPr>
          <p:cNvPr id="45" name="TextBox 44"/>
          <p:cNvSpPr txBox="1"/>
          <p:nvPr/>
        </p:nvSpPr>
        <p:spPr>
          <a:xfrm>
            <a:off x="2640330" y="2600325"/>
            <a:ext cx="1371600" cy="164592"/>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0">
                <a:solidFill>
                  <a:srgbClr val="C0392B"/>
                </a:solidFill>
                <a:latin typeface="Carlito"/>
              </a:rPr>
              <a:t>adaptation (décroissance exp.)</a:t>
            </a:r>
          </a:p>
        </p:txBody>
      </p:sp>
      <p:cxnSp>
        <p:nvCxnSpPr>
          <p:cNvPr id="46" name="Connector 45"/>
          <p:cNvCxnSpPr/>
          <p:nvPr/>
        </p:nvCxnSpPr>
        <p:spPr>
          <a:xfrm>
            <a:off x="1056131" y="2851785"/>
            <a:ext cx="2880360" cy="0"/>
          </a:xfrm>
          <a:prstGeom prst="line">
            <a:avLst/>
          </a:prstGeom>
          <a:ln w="12700">
            <a:solidFill>
              <a:srgbClr val="E08000"/>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39211" y="2705481"/>
            <a:ext cx="1097280" cy="146304"/>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E08000"/>
                </a:solidFill>
                <a:latin typeface="Carlito"/>
              </a:rPr>
              <a:t>seuil log(gamma)</a:t>
            </a:r>
          </a:p>
        </p:txBody>
      </p:sp>
      <p:sp>
        <p:nvSpPr>
          <p:cNvPr id="48" name="TextBox 47"/>
          <p:cNvSpPr txBox="1"/>
          <p:nvPr/>
        </p:nvSpPr>
        <p:spPr>
          <a:xfrm>
            <a:off x="4846320" y="1325880"/>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Hypothèse explicite</a:t>
            </a:r>
            <a:r>
              <a:rPr sz="1100" b="0">
                <a:solidFill>
                  <a:srgbClr val="2C3E50"/>
                </a:solidFill>
                <a:latin typeface="Carlito"/>
              </a:rPr>
              <a:t>, non résultat JEPA : après la rupture, un encodeur réappris atténue l'amplitude de la dérive selon une relaxation exponentielle de temps </a:t>
            </a:r>
            <a:r>
              <a:rPr sz="1100" b="0">
                <a:solidFill>
                  <a:srgbClr val="2C3E50"/>
                </a:solidFill>
                <a:latin typeface="Carlito"/>
              </a:rPr>
              <a:t> (jours). Dans un modèle de translation gaussienne à covariance fixée, l'information quotidienne </a:t>
            </a:r>
            <a:r>
              <a:rPr sz="1100" b="0">
                <a:solidFill>
                  <a:srgbClr val="2C3E50"/>
                </a:solidFill>
                <a:latin typeface="Carlito"/>
              </a:rPr>
              <a:t> décroît alors comme </a:t>
            </a:r>
            <a:r>
              <a:rPr sz="1100" i="1">
                <a:solidFill>
                  <a:srgbClr val="2C3E50"/>
                </a:solidFill>
                <a:latin typeface="Carlito"/>
              </a:rPr>
              <a:t>le carré de cette amplitude</a:t>
            </a:r>
            <a:r>
              <a:rPr sz="1100" b="0">
                <a:solidFill>
                  <a:srgbClr val="2C3E50"/>
                </a:solidFill>
                <a:latin typeface="Carlito"/>
              </a:rPr>
              <a:t>.</a:t>
            </a:r>
          </a:p>
        </p:txBody>
      </p:sp>
      <p:sp>
        <p:nvSpPr>
          <p:cNvPr id="49" name="TextBox 48"/>
          <p:cNvSpPr txBox="1"/>
          <p:nvPr/>
        </p:nvSpPr>
        <p:spPr>
          <a:xfrm>
            <a:off x="4846320" y="2238883"/>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Budget discret disponible :</a:t>
            </a:r>
            <a:r>
              <a:rPr sz="1100" b="0">
                <a:solidFill>
                  <a:srgbClr val="2C3E50"/>
                </a:solidFill>
                <a:latin typeface="Carlito"/>
              </a:rPr>
              <a:t> la somme sur les jours peut converger vers </a:t>
            </a:r>
            <a:r>
              <a:rPr sz="1100" b="0">
                <a:solidFill>
                  <a:srgbClr val="2C3E50"/>
                </a:solidFill>
                <a:latin typeface="Carlito"/>
              </a:rPr>
              <a:t>, où </a:t>
            </a:r>
            <a:r>
              <a:rPr sz="1100" b="0">
                <a:solidFill>
                  <a:srgbClr val="2C3E50"/>
                </a:solidFill>
                <a:latin typeface="Carlito"/>
              </a:rPr>
              <a:t> est le seuil de preuve d'un test lancé à la rupture. Un test de preuve valide sous le null ne peut alors franchir ce seuil </a:t>
            </a:r>
            <a:r>
              <a:rPr sz="1100" i="1">
                <a:solidFill>
                  <a:srgbClr val="2C3E50"/>
                </a:solidFill>
                <a:latin typeface="Carlito"/>
              </a:rPr>
              <a:t>avec probabilité 1</a:t>
            </a:r>
            <a:r>
              <a:rPr sz="1100" b="0">
                <a:solidFill>
                  <a:srgbClr val="2C3E50"/>
                </a:solidFill>
                <a:latin typeface="Carlito"/>
              </a:rPr>
              <a:t> ; cela ne signifie pas une probabilité de détection nulle.</a:t>
            </a:r>
          </a:p>
        </p:txBody>
      </p:sp>
      <p:sp>
        <p:nvSpPr>
          <p:cNvPr id="50" name="TextBox 49"/>
          <p:cNvSpPr txBox="1"/>
          <p:nvPr/>
        </p:nvSpPr>
        <p:spPr>
          <a:xfrm>
            <a:off x="4846320" y="3151885"/>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Conséquence expérimentale :</a:t>
            </a:r>
            <a:r>
              <a:rPr sz="1100" b="0">
                <a:solidFill>
                  <a:srgbClr val="2C3E50"/>
                </a:solidFill>
                <a:latin typeface="Carlito"/>
              </a:rPr>
              <a:t> geler les poids de l'encodeur, les axes, les échelles et la calibration pendant la surveillance ; tester l'adaptation continue séparément si elle est envisagée.</a:t>
            </a:r>
          </a:p>
        </p:txBody>
      </p:sp>
      <p:sp>
        <p:nvSpPr>
          <p:cNvPr id="51" name="Rectangle 50"/>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I_t = I_0 * exp[-2*(t-1)/tau_a] ; B_total = I_0 / (1-exp[-2/tau_a])</a:t>
            </a:r>
          </a:p>
        </p:txBody>
      </p:sp>
      <p:sp>
        <p:nvSpPr>
          <p:cNvPr id="53" name="TextBox 52"/>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Data drift, concept drift et deux sorties de moniteurs</a:t>
            </a:r>
          </a:p>
        </p:txBody>
      </p:sp>
      <p:sp>
        <p:nvSpPr>
          <p:cNvPr id="4" name="Rectangle 3"/>
          <p:cNvSpPr/>
          <p:nvPr/>
        </p:nvSpPr>
        <p:spPr>
          <a:xfrm>
            <a:off x="7114031" y="64008"/>
            <a:ext cx="1755648"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14031" y="64008"/>
            <a:ext cx="175564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CONTRAT STATISTIQUE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Deux statistiques de dérive de rendements ; aucun classifieur supervisé dans le pipeline ACP</a:t>
            </a:r>
          </a:p>
        </p:txBody>
      </p:sp>
      <p:sp>
        <p:nvSpPr>
          <p:cNvPr id="8" name="Rectangle 7"/>
          <p:cNvSpPr/>
          <p:nvPr/>
        </p:nvSpPr>
        <p:spPr>
          <a:xfrm>
            <a:off x="438912" y="1325880"/>
            <a:ext cx="2011680" cy="5029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71600"/>
            <a:ext cx="1920240" cy="41148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rendements r_t</a:t>
            </a:r>
          </a:p>
          <a:p>
            <a:pPr algn="ctr">
              <a:lnSpc>
                <a:spcPts val="1035"/>
              </a:lnSpc>
              <a:spcAft>
                <a:spcPts val="0"/>
              </a:spcAft>
            </a:pPr>
            <a:r>
              <a:rPr sz="900" b="1">
                <a:solidFill>
                  <a:srgbClr val="FFFFFF"/>
                </a:solidFill>
                <a:latin typeface="Carlito"/>
              </a:rPr>
              <a:t>+ axes ACP gelés</a:t>
            </a:r>
          </a:p>
        </p:txBody>
      </p:sp>
      <p:sp>
        <p:nvSpPr>
          <p:cNvPr id="10" name="Right Arrow 9"/>
          <p:cNvSpPr/>
          <p:nvPr/>
        </p:nvSpPr>
        <p:spPr>
          <a:xfrm>
            <a:off x="2496312" y="1490472"/>
            <a:ext cx="228600"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0632" y="1325880"/>
            <a:ext cx="2011680" cy="5029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1371600"/>
            <a:ext cx="1920240" cy="41148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scores ACP z_k(t)</a:t>
            </a:r>
          </a:p>
          <a:p>
            <a:pPr algn="ctr">
              <a:lnSpc>
                <a:spcPts val="1035"/>
              </a:lnSpc>
              <a:spcAft>
                <a:spcPts val="0"/>
              </a:spcAft>
            </a:pPr>
            <a:r>
              <a:rPr sz="900" b="1">
                <a:solidFill>
                  <a:srgbClr val="FFFFFF"/>
                </a:solidFill>
                <a:latin typeface="Carlito"/>
              </a:rPr>
              <a:t>(k = 1..K+1)</a:t>
            </a:r>
          </a:p>
        </p:txBody>
      </p:sp>
      <p:sp>
        <p:nvSpPr>
          <p:cNvPr id="13" name="Right Arrow 12"/>
          <p:cNvSpPr/>
          <p:nvPr/>
        </p:nvSpPr>
        <p:spPr>
          <a:xfrm>
            <a:off x="4828031" y="1490472"/>
            <a:ext cx="228600"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02352" y="1325880"/>
            <a:ext cx="1691640" cy="50292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9783" y="1344168"/>
            <a:ext cx="1636776"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branche signes</a:t>
            </a:r>
          </a:p>
        </p:txBody>
      </p:sp>
      <p:sp>
        <p:nvSpPr>
          <p:cNvPr id="16" name="TextBox 15"/>
          <p:cNvSpPr txBox="1"/>
          <p:nvPr/>
        </p:nvSpPr>
        <p:spPr>
          <a:xfrm>
            <a:off x="5129783" y="1554480"/>
            <a:ext cx="1636776" cy="25603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b_k(t) = 1{z_k&gt;0}</a:t>
            </a:r>
          </a:p>
          <a:p>
            <a:pPr algn="ctr">
              <a:lnSpc>
                <a:spcPts val="919"/>
              </a:lnSpc>
              <a:spcAft>
                <a:spcPts val="0"/>
              </a:spcAft>
            </a:pPr>
            <a:r>
              <a:rPr sz="800" b="0">
                <a:solidFill>
                  <a:srgbClr val="5D6D7E"/>
                </a:solidFill>
                <a:latin typeface="Carlito"/>
              </a:rPr>
              <a:t>CUSUM bilatéral</a:t>
            </a:r>
          </a:p>
        </p:txBody>
      </p:sp>
      <p:sp>
        <p:nvSpPr>
          <p:cNvPr id="17" name="Rectangle 16"/>
          <p:cNvSpPr/>
          <p:nvPr/>
        </p:nvSpPr>
        <p:spPr>
          <a:xfrm>
            <a:off x="6839712" y="1325880"/>
            <a:ext cx="1691640" cy="502920"/>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67144" y="1344168"/>
            <a:ext cx="1636776"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8E44AD"/>
                </a:solidFill>
                <a:latin typeface="Carlito"/>
              </a:rPr>
              <a:t>branche énergie</a:t>
            </a:r>
          </a:p>
        </p:txBody>
      </p:sp>
      <p:sp>
        <p:nvSpPr>
          <p:cNvPr id="19" name="TextBox 18"/>
          <p:cNvSpPr txBox="1"/>
          <p:nvPr/>
        </p:nvSpPr>
        <p:spPr>
          <a:xfrm>
            <a:off x="6867144" y="1554480"/>
            <a:ext cx="1636776" cy="25603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q_t = somme z_k^2</a:t>
            </a:r>
          </a:p>
          <a:p>
            <a:pPr algn="ctr">
              <a:lnSpc>
                <a:spcPts val="919"/>
              </a:lnSpc>
              <a:spcAft>
                <a:spcPts val="0"/>
              </a:spcAft>
            </a:pPr>
            <a:r>
              <a:rPr sz="800" b="0">
                <a:solidFill>
                  <a:srgbClr val="5D6D7E"/>
                </a:solidFill>
                <a:latin typeface="Carlito"/>
              </a:rPr>
              <a:t>CUSUM unilatéral</a:t>
            </a:r>
          </a:p>
        </p:txBody>
      </p:sp>
      <p:cxnSp>
        <p:nvCxnSpPr>
          <p:cNvPr id="20" name="Connector 19"/>
          <p:cNvCxnSpPr/>
          <p:nvPr/>
        </p:nvCxnSpPr>
        <p:spPr>
          <a:xfrm>
            <a:off x="4690872" y="1417320"/>
            <a:ext cx="41148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90872" y="1737360"/>
            <a:ext cx="41148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90872" y="1417320"/>
            <a:ext cx="2148840" cy="0"/>
          </a:xfrm>
          <a:prstGeom prst="line">
            <a:avLst/>
          </a:prstGeom>
          <a:ln w="2540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90872" y="1737360"/>
            <a:ext cx="2148840" cy="0"/>
          </a:xfrm>
          <a:prstGeom prst="line">
            <a:avLst/>
          </a:prstGeom>
          <a:ln w="25400">
            <a:solidFill>
              <a:srgbClr val="8E44AD"/>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02352" y="1920240"/>
            <a:ext cx="1691640" cy="256032"/>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9783" y="1938528"/>
            <a:ext cx="1636776" cy="21945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FFFFFF"/>
                </a:solidFill>
                <a:latin typeface="Carlito"/>
              </a:rPr>
              <a:t>alarme signe</a:t>
            </a:r>
          </a:p>
        </p:txBody>
      </p:sp>
      <p:sp>
        <p:nvSpPr>
          <p:cNvPr id="26" name="Rectangle 25"/>
          <p:cNvSpPr/>
          <p:nvPr/>
        </p:nvSpPr>
        <p:spPr>
          <a:xfrm>
            <a:off x="6839712" y="1920240"/>
            <a:ext cx="1691640" cy="256032"/>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67144" y="1938528"/>
            <a:ext cx="1636776" cy="21945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FFFFFF"/>
                </a:solidFill>
                <a:latin typeface="Carlito"/>
              </a:rPr>
              <a:t>alarme énergie</a:t>
            </a:r>
          </a:p>
        </p:txBody>
      </p:sp>
      <p:cxnSp>
        <p:nvCxnSpPr>
          <p:cNvPr id="28" name="Connector 27"/>
          <p:cNvCxnSpPr/>
          <p:nvPr/>
        </p:nvCxnSpPr>
        <p:spPr>
          <a:xfrm>
            <a:off x="5879592" y="1828800"/>
            <a:ext cx="0" cy="91440"/>
          </a:xfrm>
          <a:prstGeom prst="line">
            <a:avLst/>
          </a:prstGeom>
          <a:ln w="19050">
            <a:solidFill>
              <a:srgbClr val="E080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62672" y="1828800"/>
            <a:ext cx="0" cy="91440"/>
          </a:xfrm>
          <a:prstGeom prst="line">
            <a:avLst/>
          </a:prstGeom>
          <a:ln w="19050">
            <a:solidFill>
              <a:srgbClr val="E08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4632" y="2240280"/>
            <a:ext cx="80467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deux détecteurs distincts — évalués séparément, pas de fusion non calibrée</a:t>
            </a:r>
          </a:p>
        </p:txBody>
      </p:sp>
      <p:sp>
        <p:nvSpPr>
          <p:cNvPr id="31" name="TextBox 30"/>
          <p:cNvSpPr txBox="1"/>
          <p:nvPr/>
        </p:nvSpPr>
        <p:spPr>
          <a:xfrm>
            <a:off x="484632" y="2404872"/>
            <a:ext cx="8046720"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C0392B"/>
                </a:solidFill>
                <a:latin typeface="Carlito"/>
              </a:rPr>
              <a:t>aucune conversion en data drift supervisé ou concept drift sans cible Y</a:t>
            </a:r>
          </a:p>
        </p:txBody>
      </p:sp>
      <p:sp>
        <p:nvSpPr>
          <p:cNvPr id="32" name="TextBox 31"/>
          <p:cNvSpPr txBox="1"/>
          <p:nvPr/>
        </p:nvSpPr>
        <p:spPr>
          <a:xfrm>
            <a:off x="438912" y="2834640"/>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Data drift</a:t>
            </a:r>
            <a:r>
              <a:rPr sz="1100" b="0">
                <a:solidFill>
                  <a:srgbClr val="2C3E50"/>
                </a:solidFill>
                <a:latin typeface="Carlito"/>
              </a:rPr>
              <a:t> : changement de distribution </a:t>
            </a:r>
            <a:r>
              <a:rPr sz="1100" b="0">
                <a:solidFill>
                  <a:srgbClr val="2C3E50"/>
                </a:solidFill>
                <a:latin typeface="Carlito"/>
              </a:rPr>
              <a:t> ; ici </a:t>
            </a:r>
            <a:r>
              <a:rPr sz="1100" b="0">
                <a:solidFill>
                  <a:srgbClr val="2C3E50"/>
                </a:solidFill>
                <a:latin typeface="Carlito"/>
              </a:rPr>
              <a:t>, ou son image gelée. </a:t>
            </a:r>
            <a:r>
              <a:rPr sz="1100" i="1">
                <a:solidFill>
                  <a:srgbClr val="2C3E50"/>
                </a:solidFill>
                <a:latin typeface="Carlito"/>
              </a:rPr>
              <a:t>Concept drift supervisé</a:t>
            </a:r>
            <a:r>
              <a:rPr sz="1100" b="0">
                <a:solidFill>
                  <a:srgbClr val="2C3E50"/>
                </a:solidFill>
                <a:latin typeface="Carlito"/>
              </a:rPr>
              <a:t> : changement de </a:t>
            </a:r>
            <a:r>
              <a:rPr sz="1100" b="0">
                <a:solidFill>
                  <a:srgbClr val="2C3E50"/>
                </a:solidFill>
                <a:latin typeface="Carlito"/>
              </a:rPr>
              <a:t> pour une cible </a:t>
            </a:r>
            <a:r>
              <a:rPr sz="1100" b="0">
                <a:solidFill>
                  <a:srgbClr val="2C3E50"/>
                </a:solidFill>
                <a:latin typeface="Carlito"/>
              </a:rPr>
              <a:t>. Dans les expériences financières ACP, il n'y a </a:t>
            </a:r>
            <a:r>
              <a:rPr sz="1100" i="1">
                <a:solidFill>
                  <a:srgbClr val="2C3E50"/>
                </a:solidFill>
                <a:latin typeface="Carlito"/>
              </a:rPr>
              <a:t>ni cible supervisée `Y`, ni prédicteur supervisé</a:t>
            </a:r>
            <a:r>
              <a:rPr sz="1100" b="0">
                <a:solidFill>
                  <a:srgbClr val="2C3E50"/>
                </a:solidFill>
                <a:latin typeface="Carlito"/>
              </a:rPr>
              <a:t> : on surveille des changements de </a:t>
            </a:r>
            <a:r>
              <a:rPr sz="1100" i="1">
                <a:solidFill>
                  <a:srgbClr val="2C3E50"/>
                </a:solidFill>
                <a:latin typeface="Carlito"/>
              </a:rPr>
              <a:t>moyenne</a:t>
            </a:r>
            <a:r>
              <a:rPr sz="1100" b="0">
                <a:solidFill>
                  <a:srgbClr val="2C3E50"/>
                </a:solidFill>
                <a:latin typeface="Carlito"/>
              </a:rPr>
              <a:t> ou de </a:t>
            </a:r>
            <a:r>
              <a:rPr sz="1100" i="1">
                <a:solidFill>
                  <a:srgbClr val="2C3E50"/>
                </a:solidFill>
                <a:latin typeface="Carlito"/>
              </a:rPr>
              <a:t>covariance</a:t>
            </a:r>
            <a:r>
              <a:rPr sz="1100" b="0">
                <a:solidFill>
                  <a:srgbClr val="2C3E50"/>
                </a:solidFill>
                <a:latin typeface="Carlito"/>
              </a:rPr>
              <a:t> des rendements.</a:t>
            </a:r>
          </a:p>
        </p:txBody>
      </p:sp>
      <p:sp>
        <p:nvSpPr>
          <p:cNvPr id="33" name="TextBox 32"/>
          <p:cNvSpPr txBox="1"/>
          <p:nvPr/>
        </p:nvSpPr>
        <p:spPr>
          <a:xfrm>
            <a:off x="438912" y="3426333"/>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Branche localisation :</a:t>
            </a:r>
            <a:r>
              <a:rPr sz="1100" b="0">
                <a:solidFill>
                  <a:srgbClr val="2C3E50"/>
                </a:solidFill>
                <a:latin typeface="Carlito"/>
              </a:rPr>
              <a:t> </a:t>
            </a:r>
            <a:r>
              <a:rPr sz="1100" b="0">
                <a:solidFill>
                  <a:srgbClr val="2C3E50"/>
                </a:solidFill>
                <a:latin typeface="Carlito"/>
              </a:rPr>
              <a:t>. La composante de marché peut être conservée en canal distinct.</a:t>
            </a:r>
          </a:p>
        </p:txBody>
      </p:sp>
      <p:sp>
        <p:nvSpPr>
          <p:cNvPr id="34" name="TextBox 33"/>
          <p:cNvSpPr txBox="1"/>
          <p:nvPr/>
        </p:nvSpPr>
        <p:spPr>
          <a:xfrm>
            <a:off x="438912" y="3857371"/>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Branche dispersion :</a:t>
            </a:r>
            <a:r>
              <a:rPr sz="1100" b="0">
                <a:solidFill>
                  <a:srgbClr val="2C3E50"/>
                </a:solidFill>
                <a:latin typeface="Carlito"/>
              </a:rPr>
              <a:t> mêmes rendements et mêmes axes gelés ; </a:t>
            </a:r>
            <a:r>
              <a:rPr sz="1100" b="0">
                <a:solidFill>
                  <a:srgbClr val="2C3E50"/>
                </a:solidFill>
                <a:latin typeface="Carlito"/>
              </a:rPr>
              <a:t>. </a:t>
            </a:r>
            <a:r>
              <a:rPr sz="1100" i="1">
                <a:solidFill>
                  <a:srgbClr val="2C3E50"/>
                </a:solidFill>
                <a:latin typeface="Carlito"/>
              </a:rPr>
              <a:t>Le détecteur d'énergie n'utilise pas les bits de signe.</a:t>
            </a:r>
          </a:p>
        </p:txBody>
      </p:sp>
      <p:sp>
        <p:nvSpPr>
          <p:cNvPr id="35" name="TextBox 34"/>
          <p:cNvSpPr txBox="1"/>
          <p:nvPr/>
        </p:nvSpPr>
        <p:spPr>
          <a:xfrm>
            <a:off x="438912" y="4288409"/>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Statut de la combinaison :</a:t>
            </a:r>
            <a:r>
              <a:rPr sz="1100" b="0">
                <a:solidFill>
                  <a:srgbClr val="2C3E50"/>
                </a:solidFill>
                <a:latin typeface="Carlito"/>
              </a:rPr>
              <a:t> plusieurs </a:t>
            </a:r>
            <a:r>
              <a:rPr sz="1100" i="1">
                <a:solidFill>
                  <a:srgbClr val="2C3E50"/>
                </a:solidFill>
                <a:latin typeface="Carlito"/>
              </a:rPr>
              <a:t>canaux de signes</a:t>
            </a:r>
            <a:r>
              <a:rPr sz="1100" b="0">
                <a:solidFill>
                  <a:srgbClr val="2C3E50"/>
                </a:solidFill>
                <a:latin typeface="Carlito"/>
              </a:rPr>
              <a:t> et plusieurs mises sont effectivement combinés ; les branches « signe » et « énergie » ont été </a:t>
            </a:r>
            <a:r>
              <a:rPr sz="1100" i="1">
                <a:solidFill>
                  <a:srgbClr val="2C3E50"/>
                </a:solidFill>
                <a:latin typeface="Carlito"/>
              </a:rPr>
              <a:t>évaluées séparément</a:t>
            </a:r>
            <a:r>
              <a:rPr sz="1100" b="0">
                <a:solidFill>
                  <a:srgbClr val="2C3E50"/>
                </a:solidFill>
                <a:latin typeface="Carlito"/>
              </a:rPr>
              <a:t>. Pas de règle globale « alarme si l'une des deux alarmes » calibrée et comparée comme détecteur unique dans les résultats fournis.</a:t>
            </a:r>
          </a:p>
        </p:txBody>
      </p:sp>
      <p:sp>
        <p:nvSpPr>
          <p:cNvPr id="36" name="Rectangle 3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q_t = [somme(k dans residuels, z_k(t)^2) - d_R] / sqrt(2*d_R)</a:t>
            </a:r>
          </a:p>
        </p:txBody>
      </p:sp>
      <p:sp>
        <p:nvSpPr>
          <p:cNvPr id="38" name="TextBox 3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Covariance régularisée et axes : ce que calcule l'ACP</a:t>
            </a:r>
          </a:p>
        </p:txBody>
      </p:sp>
      <p:sp>
        <p:nvSpPr>
          <p:cNvPr id="4" name="Rectangle 3"/>
          <p:cNvSpPr/>
          <p:nvPr/>
        </p:nvSpPr>
        <p:spPr>
          <a:xfrm>
            <a:off x="7607808" y="64008"/>
            <a:ext cx="1261872"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07808" y="64008"/>
            <a:ext cx="126187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PIPELINE RÉEL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Covariance empirique, rétrécissement Ledoit–Wolf, axes et échelles figés</a:t>
            </a:r>
          </a:p>
        </p:txBody>
      </p:sp>
      <p:sp>
        <p:nvSpPr>
          <p:cNvPr id="8" name="Rectangle 7"/>
          <p:cNvSpPr/>
          <p:nvPr/>
        </p:nvSpPr>
        <p:spPr>
          <a:xfrm>
            <a:off x="438912" y="1325880"/>
            <a:ext cx="1310640" cy="2286000"/>
          </a:xfrm>
          <a:prstGeom prst="rect">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325880"/>
            <a:ext cx="1310640" cy="41148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 y="1344168"/>
            <a:ext cx="1255776" cy="37490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covariance</a:t>
            </a:r>
          </a:p>
          <a:p>
            <a:pPr algn="ctr">
              <a:lnSpc>
                <a:spcPts val="1035"/>
              </a:lnSpc>
              <a:spcAft>
                <a:spcPts val="0"/>
              </a:spcAft>
            </a:pPr>
            <a:r>
              <a:rPr sz="900" b="1">
                <a:solidFill>
                  <a:srgbClr val="FFFFFF"/>
                </a:solidFill>
                <a:latin typeface="Carlito"/>
              </a:rPr>
              <a:t>empirique</a:t>
            </a:r>
          </a:p>
        </p:txBody>
      </p:sp>
      <p:sp>
        <p:nvSpPr>
          <p:cNvPr id="11" name="TextBox 10"/>
          <p:cNvSpPr txBox="1"/>
          <p:nvPr/>
        </p:nvSpPr>
        <p:spPr>
          <a:xfrm>
            <a:off x="484632" y="1828800"/>
            <a:ext cx="1219200" cy="169164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Sigma_emp</a:t>
            </a:r>
          </a:p>
          <a:p>
            <a:pPr algn="ctr">
              <a:lnSpc>
                <a:spcPts val="919"/>
              </a:lnSpc>
              <a:spcAft>
                <a:spcPts val="0"/>
              </a:spcAft>
            </a:pPr>
            <a:r>
              <a:rPr sz="800" b="0">
                <a:solidFill>
                  <a:srgbClr val="5D6D7E"/>
                </a:solidFill>
                <a:latin typeface="Carlito"/>
              </a:rPr>
              <a:t>sur T jours</a:t>
            </a:r>
          </a:p>
        </p:txBody>
      </p:sp>
      <p:sp>
        <p:nvSpPr>
          <p:cNvPr id="12" name="Rectangle 11"/>
          <p:cNvSpPr/>
          <p:nvPr/>
        </p:nvSpPr>
        <p:spPr>
          <a:xfrm>
            <a:off x="1840992" y="1325880"/>
            <a:ext cx="1310640" cy="2286000"/>
          </a:xfrm>
          <a:prstGeom prst="rect">
            <a:avLst/>
          </a:prstGeom>
          <a:solidFill>
            <a:srgbClr val="FFFFFF"/>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40992" y="1325880"/>
            <a:ext cx="1310640"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68424" y="1344168"/>
            <a:ext cx="1255776" cy="37490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Ledoit-Wolf</a:t>
            </a:r>
          </a:p>
          <a:p>
            <a:pPr algn="ctr">
              <a:lnSpc>
                <a:spcPts val="1035"/>
              </a:lnSpc>
              <a:spcAft>
                <a:spcPts val="0"/>
              </a:spcAft>
            </a:pPr>
            <a:r>
              <a:rPr sz="900" b="1">
                <a:solidFill>
                  <a:srgbClr val="FFFFFF"/>
                </a:solidFill>
                <a:latin typeface="Carlito"/>
              </a:rPr>
              <a:t>(rétrécissement)</a:t>
            </a:r>
          </a:p>
        </p:txBody>
      </p:sp>
      <p:sp>
        <p:nvSpPr>
          <p:cNvPr id="15" name="TextBox 14"/>
          <p:cNvSpPr txBox="1"/>
          <p:nvPr/>
        </p:nvSpPr>
        <p:spPr>
          <a:xfrm>
            <a:off x="1886712" y="1828800"/>
            <a:ext cx="1219200" cy="169164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Sigma_LW = (1-d)S + d*mu*I</a:t>
            </a:r>
          </a:p>
          <a:p>
            <a:pPr algn="ctr">
              <a:lnSpc>
                <a:spcPts val="919"/>
              </a:lnSpc>
              <a:spcAft>
                <a:spcPts val="0"/>
              </a:spcAft>
            </a:pPr>
            <a:r>
              <a:rPr sz="800" b="0">
                <a:solidFill>
                  <a:srgbClr val="5D6D7E"/>
                </a:solidFill>
                <a:latin typeface="Carlito"/>
              </a:rPr>
              <a:t>pour axes et échelles</a:t>
            </a:r>
          </a:p>
        </p:txBody>
      </p:sp>
      <p:sp>
        <p:nvSpPr>
          <p:cNvPr id="16" name="Rectangle 15"/>
          <p:cNvSpPr/>
          <p:nvPr/>
        </p:nvSpPr>
        <p:spPr>
          <a:xfrm>
            <a:off x="3243072" y="1325880"/>
            <a:ext cx="1310640" cy="2286000"/>
          </a:xfrm>
          <a:prstGeom prst="rect">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3072" y="1325880"/>
            <a:ext cx="1310640" cy="41148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0504" y="1344168"/>
            <a:ext cx="1255776" cy="37490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corrélation</a:t>
            </a:r>
          </a:p>
          <a:p>
            <a:pPr algn="ctr">
              <a:lnSpc>
                <a:spcPts val="1035"/>
              </a:lnSpc>
              <a:spcAft>
                <a:spcPts val="0"/>
              </a:spcAft>
            </a:pPr>
            <a:r>
              <a:rPr sz="900" b="1">
                <a:solidFill>
                  <a:srgbClr val="FFFFFF"/>
                </a:solidFill>
                <a:latin typeface="Carlito"/>
              </a:rPr>
              <a:t>empirique</a:t>
            </a:r>
          </a:p>
        </p:txBody>
      </p:sp>
      <p:sp>
        <p:nvSpPr>
          <p:cNvPr id="19" name="TextBox 18"/>
          <p:cNvSpPr txBox="1"/>
          <p:nvPr/>
        </p:nvSpPr>
        <p:spPr>
          <a:xfrm>
            <a:off x="3288792" y="1828800"/>
            <a:ext cx="1219200" cy="169164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R = D^(-1/2) S D^(-1/2)</a:t>
            </a:r>
          </a:p>
          <a:p>
            <a:pPr algn="ctr">
              <a:lnSpc>
                <a:spcPts val="919"/>
              </a:lnSpc>
              <a:spcAft>
                <a:spcPts val="0"/>
              </a:spcAft>
            </a:pPr>
            <a:r>
              <a:rPr sz="800" b="0">
                <a:solidFill>
                  <a:srgbClr val="5D6D7E"/>
                </a:solidFill>
                <a:latin typeface="Carlito"/>
              </a:rPr>
              <a:t>pour compter (MP)</a:t>
            </a:r>
          </a:p>
        </p:txBody>
      </p:sp>
      <p:sp>
        <p:nvSpPr>
          <p:cNvPr id="20" name="TextBox 19"/>
          <p:cNvSpPr txBox="1"/>
          <p:nvPr/>
        </p:nvSpPr>
        <p:spPr>
          <a:xfrm>
            <a:off x="484632" y="3410712"/>
            <a:ext cx="4023360"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E08000"/>
                </a:solidFill>
                <a:latin typeface="Carlito"/>
              </a:rPr>
              <a:t>calcul en calibration seulement — PC1 marché conservé séparément</a:t>
            </a:r>
          </a:p>
        </p:txBody>
      </p:sp>
      <p:sp>
        <p:nvSpPr>
          <p:cNvPr id="21" name="TextBox 20"/>
          <p:cNvSpPr txBox="1"/>
          <p:nvPr/>
        </p:nvSpPr>
        <p:spPr>
          <a:xfrm>
            <a:off x="4846320" y="1325880"/>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Covariance empirique</a:t>
            </a:r>
            <a:r>
              <a:rPr sz="1100" b="0">
                <a:solidFill>
                  <a:srgbClr val="2C3E50"/>
                </a:solidFill>
                <a:latin typeface="Carlito"/>
              </a:rPr>
              <a:t> : matrice des cofluctuations centrées des rendements sur </a:t>
            </a:r>
            <a:r>
              <a:rPr sz="1100" b="0">
                <a:solidFill>
                  <a:srgbClr val="2C3E50"/>
                </a:solidFill>
                <a:latin typeface="Carlito"/>
              </a:rPr>
              <a:t> jours de calibration. Quand </a:t>
            </a:r>
            <a:r>
              <a:rPr sz="1100" b="0">
                <a:solidFill>
                  <a:srgbClr val="2C3E50"/>
                </a:solidFill>
                <a:latin typeface="Carlito"/>
              </a:rPr>
              <a:t> n'est pas faible, les petites valeurs propres peuvent être instables.</a:t>
            </a:r>
          </a:p>
        </p:txBody>
      </p:sp>
      <p:sp>
        <p:nvSpPr>
          <p:cNvPr id="22" name="TextBox 21"/>
          <p:cNvSpPr txBox="1"/>
          <p:nvPr/>
        </p:nvSpPr>
        <p:spPr>
          <a:xfrm>
            <a:off x="4846320" y="1917572"/>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Ledoit–Wolf (2004)</a:t>
            </a:r>
            <a:r>
              <a:rPr sz="1100" b="0">
                <a:solidFill>
                  <a:srgbClr val="2C3E50"/>
                </a:solidFill>
                <a:latin typeface="Carlito"/>
              </a:rPr>
              <a:t> : remplacer la covariance brute par une moyenne pondérée </a:t>
            </a:r>
            <a:r>
              <a:rPr sz="1100" b="0">
                <a:solidFill>
                  <a:srgbClr val="2C3E50"/>
                </a:solidFill>
                <a:latin typeface="Carlito"/>
              </a:rPr>
              <a:t>, avec </a:t>
            </a:r>
            <a:r>
              <a:rPr sz="1100" b="0">
                <a:solidFill>
                  <a:srgbClr val="2C3E50"/>
                </a:solidFill>
                <a:latin typeface="Carlito"/>
              </a:rPr>
              <a:t> et </a:t>
            </a:r>
            <a:r>
              <a:rPr sz="1100" b="0">
                <a:solidFill>
                  <a:srgbClr val="2C3E50"/>
                </a:solidFill>
                <a:latin typeface="Carlito"/>
              </a:rPr>
              <a:t> estimé sur les données. Cela réduit le bruit d'estimation ; </a:t>
            </a:r>
            <a:r>
              <a:rPr sz="1100" b="0">
                <a:solidFill>
                  <a:srgbClr val="2C3E50"/>
                </a:solidFill>
                <a:latin typeface="Carlito"/>
                <a:hlinkClick r:id="rId2"/>
              </a:rPr>
              <a:t>Ledoit et Wolf (2004)</a:t>
            </a:r>
            <a:r>
              <a:rPr sz="1100" b="0">
                <a:solidFill>
                  <a:srgbClr val="2C3E50"/>
                </a:solidFill>
                <a:latin typeface="Carlito"/>
              </a:rPr>
              <a:t>.</a:t>
            </a:r>
          </a:p>
        </p:txBody>
      </p:sp>
      <p:sp>
        <p:nvSpPr>
          <p:cNvPr id="23" name="TextBox 22"/>
          <p:cNvSpPr txBox="1"/>
          <p:nvPr/>
        </p:nvSpPr>
        <p:spPr>
          <a:xfrm>
            <a:off x="4846320" y="2830576"/>
            <a:ext cx="3840480" cy="1018793"/>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ACP réalisée sur `Sigma_LW`</a:t>
            </a:r>
            <a:r>
              <a:rPr sz="1100" b="0">
                <a:solidFill>
                  <a:srgbClr val="2C3E50"/>
                </a:solidFill>
                <a:latin typeface="Carlito"/>
              </a:rPr>
              <a:t> (pas sur la corrélation utilisée pour compter les facteurs). Ses vecteurs propres </a:t>
            </a:r>
            <a:r>
              <a:rPr sz="1100" b="0">
                <a:solidFill>
                  <a:srgbClr val="2C3E50"/>
                </a:solidFill>
                <a:latin typeface="Carlito"/>
              </a:rPr>
              <a:t> et valeurs propres </a:t>
            </a:r>
            <a:r>
              <a:rPr sz="1100" b="0">
                <a:solidFill>
                  <a:srgbClr val="2C3E50"/>
                </a:solidFill>
                <a:latin typeface="Carlito"/>
              </a:rPr>
              <a:t> définissent </a:t>
            </a:r>
            <a:r>
              <a:rPr sz="1100" b="0">
                <a:solidFill>
                  <a:srgbClr val="2C3E50"/>
                </a:solidFill>
                <a:latin typeface="Carlito"/>
              </a:rPr>
              <a:t>. L'« </a:t>
            </a:r>
            <a:r>
              <a:rPr sz="1100" i="1">
                <a:solidFill>
                  <a:srgbClr val="2C3E50"/>
                </a:solidFill>
                <a:latin typeface="Carlito"/>
              </a:rPr>
              <a:t>échelle historique</a:t>
            </a:r>
            <a:r>
              <a:rPr sz="1100" b="0">
                <a:solidFill>
                  <a:srgbClr val="2C3E50"/>
                </a:solidFill>
                <a:latin typeface="Carlito"/>
              </a:rPr>
              <a:t> » est précisément </a:t>
            </a:r>
            <a:r>
              <a:rPr sz="1100" b="0">
                <a:solidFill>
                  <a:srgbClr val="2C3E50"/>
                </a:solidFill>
                <a:latin typeface="Carlito"/>
              </a:rPr>
              <a:t> estimée sur 2016–2019 et réutilisée sans mise à jour ; sur le test, la variance des </a:t>
            </a:r>
            <a:r>
              <a:rPr sz="1100" b="0">
                <a:solidFill>
                  <a:srgbClr val="2C3E50"/>
                </a:solidFill>
                <a:latin typeface="Carlito"/>
              </a:rPr>
              <a:t> n'est plus garantie égale à 1.</a:t>
            </a:r>
          </a:p>
        </p:txBody>
      </p:sp>
      <p:sp>
        <p:nvSpPr>
          <p:cNvPr id="24" name="TextBox 23"/>
          <p:cNvSpPr txBox="1"/>
          <p:nvPr/>
        </p:nvSpPr>
        <p:spPr>
          <a:xfrm>
            <a:off x="4846320" y="3904233"/>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Premier vecteur conservé, non supprimé globalement :</a:t>
            </a:r>
            <a:r>
              <a:rPr sz="1100" b="0">
                <a:solidFill>
                  <a:srgbClr val="2C3E50"/>
                </a:solidFill>
                <a:latin typeface="Carlito"/>
              </a:rPr>
              <a:t> score </a:t>
            </a:r>
            <a:r>
              <a:rPr sz="1100" b="0">
                <a:solidFill>
                  <a:srgbClr val="2C3E50"/>
                </a:solidFill>
                <a:latin typeface="Carlito"/>
              </a:rPr>
              <a:t> = canal marché ; axes </a:t>
            </a:r>
            <a:r>
              <a:rPr sz="1100" b="0">
                <a:solidFill>
                  <a:srgbClr val="2C3E50"/>
                </a:solidFill>
                <a:latin typeface="Carlito"/>
              </a:rPr>
              <a:t> = canaux résiduels. La branche </a:t>
            </a:r>
            <a:r>
              <a:rPr sz="1100" i="1">
                <a:solidFill>
                  <a:srgbClr val="2C3E50"/>
                </a:solidFill>
                <a:latin typeface="Carlito"/>
              </a:rPr>
              <a:t>signes</a:t>
            </a:r>
            <a:r>
              <a:rPr sz="1100" b="0">
                <a:solidFill>
                  <a:srgbClr val="2C3E50"/>
                </a:solidFill>
                <a:latin typeface="Carlito"/>
              </a:rPr>
              <a:t> peut sélectionner marché, résiduels ou les deux ; l'</a:t>
            </a:r>
            <a:r>
              <a:rPr sz="1100" i="1">
                <a:solidFill>
                  <a:srgbClr val="2C3E50"/>
                </a:solidFill>
                <a:latin typeface="Carlito"/>
              </a:rPr>
              <a:t>énergie</a:t>
            </a:r>
            <a:r>
              <a:rPr sz="1100" b="0">
                <a:solidFill>
                  <a:srgbClr val="2C3E50"/>
                </a:solidFill>
                <a:latin typeface="Carlito"/>
              </a:rPr>
              <a:t> est agrégée uniquement sur les résiduels.</a:t>
            </a:r>
          </a:p>
        </p:txBody>
      </p:sp>
      <p:sp>
        <p:nvSpPr>
          <p:cNvPr id="25" name="Rectangle 24"/>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Sigma_LW = (1-delta)*Sigma_emp + delta*mu*Id ; mu = trace(Sigma_emp)/N</a:t>
            </a:r>
          </a:p>
        </p:txBody>
      </p:sp>
      <p:sp>
        <p:nvSpPr>
          <p:cNvPr id="27" name="TextBox 26"/>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Pipeline ACP calé sur les segments temporels</a:t>
            </a:r>
          </a:p>
        </p:txBody>
      </p:sp>
      <p:sp>
        <p:nvSpPr>
          <p:cNvPr id="4" name="Rectangle 3"/>
          <p:cNvSpPr/>
          <p:nvPr/>
        </p:nvSpPr>
        <p:spPr>
          <a:xfrm>
            <a:off x="7671815" y="64008"/>
            <a:ext cx="1197864"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71815" y="64008"/>
            <a:ext cx="119786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IMPLÉMENTÉ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ACP ajustée en calibration ; seuil signe et seuil énergie sont distincts</a:t>
            </a:r>
          </a:p>
        </p:txBody>
      </p:sp>
      <p:sp>
        <p:nvSpPr>
          <p:cNvPr id="8" name="Rectangle 7"/>
          <p:cNvSpPr/>
          <p:nvPr/>
        </p:nvSpPr>
        <p:spPr>
          <a:xfrm>
            <a:off x="438912" y="1325880"/>
            <a:ext cx="2697480"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 y="1344168"/>
            <a:ext cx="2642616" cy="283464"/>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2005-2015 — pré-entraînement</a:t>
            </a:r>
          </a:p>
        </p:txBody>
      </p:sp>
      <p:sp>
        <p:nvSpPr>
          <p:cNvPr id="10" name="Rectangle 9"/>
          <p:cNvSpPr/>
          <p:nvPr/>
        </p:nvSpPr>
        <p:spPr>
          <a:xfrm>
            <a:off x="438912" y="1691640"/>
            <a:ext cx="2697480" cy="8229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764792"/>
            <a:ext cx="2606040" cy="68580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2C3E50"/>
                </a:solidFill>
                <a:latin typeface="Carlito"/>
              </a:rPr>
              <a:t>rien à ajuster</a:t>
            </a:r>
          </a:p>
          <a:p>
            <a:pPr algn="ctr">
              <a:lnSpc>
                <a:spcPts val="1035"/>
              </a:lnSpc>
              <a:spcAft>
                <a:spcPts val="0"/>
              </a:spcAft>
            </a:pPr>
            <a:r>
              <a:rPr sz="900" b="0">
                <a:solidFill>
                  <a:srgbClr val="2C3E50"/>
                </a:solidFill>
                <a:latin typeface="Carlito"/>
              </a:rPr>
              <a:t>pour ACP standard</a:t>
            </a:r>
          </a:p>
        </p:txBody>
      </p:sp>
      <p:sp>
        <p:nvSpPr>
          <p:cNvPr id="12" name="Right Arrow 11"/>
          <p:cNvSpPr/>
          <p:nvPr/>
        </p:nvSpPr>
        <p:spPr>
          <a:xfrm>
            <a:off x="3145536" y="1417320"/>
            <a:ext cx="73152"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1325880"/>
            <a:ext cx="2697480" cy="32004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5264" y="1344168"/>
            <a:ext cx="2642616" cy="283464"/>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2016-2019 — calibration</a:t>
            </a:r>
          </a:p>
        </p:txBody>
      </p:sp>
      <p:sp>
        <p:nvSpPr>
          <p:cNvPr id="15" name="Rectangle 14"/>
          <p:cNvSpPr/>
          <p:nvPr/>
        </p:nvSpPr>
        <p:spPr>
          <a:xfrm>
            <a:off x="3227832" y="1691640"/>
            <a:ext cx="2697480" cy="822960"/>
          </a:xfrm>
          <a:prstGeom prst="rect">
            <a:avLst/>
          </a:prstGeom>
          <a:solidFill>
            <a:srgbClr val="EBF2FA"/>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3552" y="1764792"/>
            <a:ext cx="2606040" cy="68580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2C3E50"/>
                </a:solidFill>
                <a:latin typeface="Carlito"/>
              </a:rPr>
              <a:t>Sigma_LW -&gt; v, lambda</a:t>
            </a:r>
          </a:p>
          <a:p>
            <a:pPr algn="ctr">
              <a:lnSpc>
                <a:spcPts val="1035"/>
              </a:lnSpc>
              <a:spcAft>
                <a:spcPts val="0"/>
              </a:spcAft>
            </a:pPr>
            <a:r>
              <a:rPr sz="900" b="0">
                <a:solidFill>
                  <a:srgbClr val="2C3E50"/>
                </a:solidFill>
                <a:latin typeface="Carlito"/>
              </a:rPr>
              <a:t>scores ref -&gt; seuil énergie</a:t>
            </a:r>
          </a:p>
          <a:p>
            <a:pPr algn="ctr">
              <a:lnSpc>
                <a:spcPts val="1035"/>
              </a:lnSpc>
              <a:spcAft>
                <a:spcPts val="0"/>
              </a:spcAft>
            </a:pPr>
            <a:r>
              <a:rPr sz="900" b="0">
                <a:solidFill>
                  <a:srgbClr val="2C3E50"/>
                </a:solidFill>
                <a:latin typeface="Carlito"/>
              </a:rPr>
              <a:t>seuil exact signe / preuve</a:t>
            </a:r>
          </a:p>
        </p:txBody>
      </p:sp>
      <p:sp>
        <p:nvSpPr>
          <p:cNvPr id="17" name="Right Arrow 16"/>
          <p:cNvSpPr/>
          <p:nvPr/>
        </p:nvSpPr>
        <p:spPr>
          <a:xfrm>
            <a:off x="5934456" y="1417320"/>
            <a:ext cx="73152"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16752" y="1325880"/>
            <a:ext cx="2697480" cy="32004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44184" y="1344168"/>
            <a:ext cx="2642616" cy="283464"/>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2020+ — surveillance</a:t>
            </a:r>
          </a:p>
        </p:txBody>
      </p:sp>
      <p:sp>
        <p:nvSpPr>
          <p:cNvPr id="20" name="Rectangle 19"/>
          <p:cNvSpPr/>
          <p:nvPr/>
        </p:nvSpPr>
        <p:spPr>
          <a:xfrm>
            <a:off x="6016752" y="1691640"/>
            <a:ext cx="2697480" cy="822960"/>
          </a:xfrm>
          <a:prstGeom prst="rect">
            <a:avLst/>
          </a:prstGeom>
          <a:solidFill>
            <a:srgbClr val="FFF8F0"/>
          </a:solidFill>
          <a:ln>
            <a:solidFill>
              <a:srgbClr val="E08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62472" y="1764792"/>
            <a:ext cx="2606040" cy="68580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2C3E50"/>
                </a:solidFill>
                <a:latin typeface="Carlito"/>
              </a:rPr>
              <a:t>r_t -&gt; v, lambda GELÉS</a:t>
            </a:r>
          </a:p>
          <a:p>
            <a:pPr algn="ctr">
              <a:lnSpc>
                <a:spcPts val="1035"/>
              </a:lnSpc>
              <a:spcAft>
                <a:spcPts val="0"/>
              </a:spcAft>
            </a:pPr>
            <a:r>
              <a:rPr sz="900" b="0">
                <a:solidFill>
                  <a:srgbClr val="2C3E50"/>
                </a:solidFill>
                <a:latin typeface="Carlito"/>
              </a:rPr>
              <a:t>signe OU énergie</a:t>
            </a:r>
          </a:p>
          <a:p>
            <a:pPr algn="ctr">
              <a:lnSpc>
                <a:spcPts val="1035"/>
              </a:lnSpc>
              <a:spcAft>
                <a:spcPts val="0"/>
              </a:spcAft>
            </a:pPr>
            <a:r>
              <a:rPr sz="900" b="0">
                <a:solidFill>
                  <a:srgbClr val="2C3E50"/>
                </a:solidFill>
                <a:latin typeface="Carlito"/>
              </a:rPr>
              <a:t>deux alarmes séparées</a:t>
            </a:r>
          </a:p>
        </p:txBody>
      </p:sp>
      <p:sp>
        <p:nvSpPr>
          <p:cNvPr id="22" name="Rectangle 21"/>
          <p:cNvSpPr/>
          <p:nvPr/>
        </p:nvSpPr>
        <p:spPr>
          <a:xfrm>
            <a:off x="3273552" y="2423160"/>
            <a:ext cx="164592" cy="128016"/>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56432" y="2404872"/>
            <a:ext cx="914400"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E08000"/>
                </a:solidFill>
                <a:latin typeface="Carlito"/>
              </a:rPr>
              <a:t>figé</a:t>
            </a:r>
          </a:p>
        </p:txBody>
      </p:sp>
      <p:sp>
        <p:nvSpPr>
          <p:cNvPr id="24" name="Rectangle 23"/>
          <p:cNvSpPr/>
          <p:nvPr/>
        </p:nvSpPr>
        <p:spPr>
          <a:xfrm>
            <a:off x="5989320" y="2423160"/>
            <a:ext cx="164592" cy="128016"/>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2404872"/>
            <a:ext cx="914400" cy="146304"/>
          </a:xfrm>
          <a:prstGeom prst="rect">
            <a:avLst/>
          </a:prstGeom>
          <a:noFill/>
        </p:spPr>
        <p:txBody>
          <a:bodyPr wrap="square" lIns="45720" rIns="45720" tIns="13716" bIns="13716" anchor="t">
            <a:spAutoFit/>
          </a:bodyPr>
          <a:lstStyle/>
          <a:p>
            <a:pPr algn="l">
              <a:lnSpc>
                <a:spcPts val="804"/>
              </a:lnSpc>
              <a:spcAft>
                <a:spcPts val="0"/>
              </a:spcAft>
            </a:pPr>
            <a:r>
              <a:rPr sz="700" b="0" i="0">
                <a:solidFill>
                  <a:srgbClr val="2C3E50"/>
                </a:solidFill>
                <a:latin typeface="Carlito"/>
              </a:rPr>
              <a:t/>
            </a:r>
            <a:r>
              <a:rPr sz="700" b="1">
                <a:solidFill>
                  <a:srgbClr val="E08000"/>
                </a:solidFill>
                <a:latin typeface="Carlito"/>
              </a:rPr>
              <a:t>figé</a:t>
            </a:r>
          </a:p>
        </p:txBody>
      </p:sp>
      <p:sp>
        <p:nvSpPr>
          <p:cNvPr id="26" name="TextBox 25"/>
          <p:cNvSpPr txBox="1"/>
          <p:nvPr/>
        </p:nvSpPr>
        <p:spPr>
          <a:xfrm>
            <a:off x="438912" y="2587752"/>
            <a:ext cx="8275320" cy="164592"/>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seuil signe et seuil énergie distincts — frise reliant chaque action au segment effectif</a:t>
            </a:r>
          </a:p>
        </p:txBody>
      </p:sp>
      <p:sp>
        <p:nvSpPr>
          <p:cNvPr id="27" name="TextBox 26"/>
          <p:cNvSpPr txBox="1"/>
          <p:nvPr/>
        </p:nvSpPr>
        <p:spPr>
          <a:xfrm>
            <a:off x="438912" y="26974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Pré-entraînement 2005–2015 :</a:t>
            </a:r>
            <a:r>
              <a:rPr sz="1100" b="0">
                <a:solidFill>
                  <a:srgbClr val="2C3E50"/>
                </a:solidFill>
                <a:latin typeface="Carlito"/>
              </a:rPr>
              <a:t> aucun ajustement ACP standard. </a:t>
            </a:r>
            <a:r>
              <a:rPr sz="1100" i="1">
                <a:solidFill>
                  <a:srgbClr val="2C3E50"/>
                </a:solidFill>
                <a:latin typeface="Carlito"/>
              </a:rPr>
              <a:t>Calibration 2016–2019 :</a:t>
            </a:r>
            <a:r>
              <a:rPr sz="1100" b="0">
                <a:solidFill>
                  <a:srgbClr val="2C3E50"/>
                </a:solidFill>
                <a:latin typeface="Carlito"/>
              </a:rPr>
              <a:t> estimation de </a:t>
            </a:r>
            <a:r>
              <a:rPr sz="1100" b="0">
                <a:solidFill>
                  <a:srgbClr val="2C3E50"/>
                </a:solidFill>
                <a:latin typeface="Carlito"/>
              </a:rPr>
              <a:t>, choix des vecteurs </a:t>
            </a:r>
            <a:r>
              <a:rPr sz="1100" b="0">
                <a:solidFill>
                  <a:srgbClr val="2C3E50"/>
                </a:solidFill>
                <a:latin typeface="Carlito"/>
              </a:rPr>
              <a:t>, valeurs </a:t>
            </a:r>
            <a:r>
              <a:rPr sz="1100" b="0">
                <a:solidFill>
                  <a:srgbClr val="2C3E50"/>
                </a:solidFill>
                <a:latin typeface="Carlito"/>
              </a:rPr>
              <a:t>, base de projection et normalisations ; </a:t>
            </a:r>
            <a:r>
              <a:rPr sz="1100" i="1">
                <a:solidFill>
                  <a:srgbClr val="2C3E50"/>
                </a:solidFill>
                <a:latin typeface="Carlito"/>
              </a:rPr>
              <a:t>aucune réestimation ultérieure</a:t>
            </a:r>
            <a:r>
              <a:rPr sz="1100" b="0">
                <a:solidFill>
                  <a:srgbClr val="2C3E50"/>
                </a:solidFill>
                <a:latin typeface="Carlito"/>
              </a:rPr>
              <a:t> dans les pipelines exécutés.</a:t>
            </a:r>
          </a:p>
        </p:txBody>
      </p:sp>
      <p:sp>
        <p:nvSpPr>
          <p:cNvPr id="28" name="TextBox 27"/>
          <p:cNvSpPr txBox="1"/>
          <p:nvPr/>
        </p:nvSpPr>
        <p:spPr>
          <a:xfrm>
            <a:off x="438912" y="3128518"/>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Seuil signe, canal scalaire :</a:t>
            </a:r>
            <a:r>
              <a:rPr sz="1100" b="0">
                <a:solidFill>
                  <a:srgbClr val="2C3E50"/>
                </a:solidFill>
                <a:latin typeface="Carlito"/>
              </a:rPr>
              <a:t> sous null de signes équitables, une énumération des états atteignables calcule le niveau exact sur </a:t>
            </a:r>
            <a:r>
              <a:rPr sz="1100" b="0">
                <a:solidFill>
                  <a:srgbClr val="2C3E50"/>
                </a:solidFill>
                <a:latin typeface="Carlito"/>
              </a:rPr>
              <a:t> ; niveau choisi </a:t>
            </a:r>
            <a:r>
              <a:rPr sz="1100" i="1">
                <a:solidFill>
                  <a:srgbClr val="2C3E50"/>
                </a:solidFill>
                <a:latin typeface="Carlito"/>
              </a:rPr>
              <a:t>0,043947</a:t>
            </a:r>
            <a:r>
              <a:rPr sz="1100" b="0">
                <a:solidFill>
                  <a:srgbClr val="2C3E50"/>
                </a:solidFill>
                <a:latin typeface="Carlito"/>
              </a:rPr>
              <a:t> pour une cible ≤0,05. </a:t>
            </a:r>
            <a:r>
              <a:rPr sz="1100" i="1">
                <a:solidFill>
                  <a:srgbClr val="2C3E50"/>
                </a:solidFill>
                <a:latin typeface="Carlito"/>
              </a:rPr>
              <a:t>Plusieurs canaux :</a:t>
            </a:r>
            <a:r>
              <a:rPr sz="1100" b="0">
                <a:solidFill>
                  <a:srgbClr val="2C3E50"/>
                </a:solidFill>
                <a:latin typeface="Carlito"/>
              </a:rPr>
              <a:t> mélange de e-détecteurs avec seuil de preuve distinct, typiquement </a:t>
            </a:r>
            <a:r>
              <a:rPr sz="1100" b="0">
                <a:solidFill>
                  <a:srgbClr val="2C3E50"/>
                </a:solidFill>
                <a:latin typeface="Carlito"/>
              </a:rPr>
              <a:t> pour </a:t>
            </a:r>
            <a:r>
              <a:rPr sz="1100" b="0">
                <a:solidFill>
                  <a:srgbClr val="2C3E50"/>
                </a:solidFill>
                <a:latin typeface="Carlito"/>
              </a:rPr>
              <a:t>.</a:t>
            </a:r>
          </a:p>
        </p:txBody>
      </p:sp>
      <p:sp>
        <p:nvSpPr>
          <p:cNvPr id="29" name="TextBox 28"/>
          <p:cNvSpPr txBox="1"/>
          <p:nvPr/>
        </p:nvSpPr>
        <p:spPr>
          <a:xfrm>
            <a:off x="438912" y="3720211"/>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Seuil énergie :</a:t>
            </a:r>
            <a:r>
              <a:rPr sz="1100" b="0">
                <a:solidFill>
                  <a:srgbClr val="2C3E50"/>
                </a:solidFill>
                <a:latin typeface="Carlito"/>
              </a:rPr>
              <a:t> règle différente ; sélectionner un seuil sur les maxima de CUSUM d'énergie calculés sur des fenêtres de calibration sans dérive, pour cibler </a:t>
            </a:r>
            <a:r>
              <a:rPr sz="1100" b="0">
                <a:solidFill>
                  <a:srgbClr val="2C3E50"/>
                </a:solidFill>
                <a:latin typeface="Carlito"/>
              </a:rPr>
              <a:t>. Sur </a:t>
            </a:r>
            <a:r>
              <a:rPr sz="1100" i="1">
                <a:solidFill>
                  <a:srgbClr val="2C3E50"/>
                </a:solidFill>
                <a:latin typeface="Carlito"/>
              </a:rPr>
              <a:t>941 jours</a:t>
            </a:r>
            <a:r>
              <a:rPr sz="1100" b="0">
                <a:solidFill>
                  <a:srgbClr val="2C3E50"/>
                </a:solidFill>
                <a:latin typeface="Carlito"/>
              </a:rPr>
              <a:t>, il y a </a:t>
            </a:r>
            <a:r>
              <a:rPr sz="1100" i="1">
                <a:solidFill>
                  <a:srgbClr val="2C3E50"/>
                </a:solidFill>
                <a:latin typeface="Carlito"/>
              </a:rPr>
              <a:t>692 fenêtres chevauchantes de 250 jours</a:t>
            </a:r>
            <a:r>
              <a:rPr sz="1100" b="0">
                <a:solidFill>
                  <a:srgbClr val="2C3E50"/>
                </a:solidFill>
                <a:latin typeface="Carlito"/>
              </a:rPr>
              <a:t> ou </a:t>
            </a:r>
            <a:r>
              <a:rPr sz="1100" i="1">
                <a:solidFill>
                  <a:srgbClr val="2C3E50"/>
                </a:solidFill>
                <a:latin typeface="Carlito"/>
              </a:rPr>
              <a:t>442 de 500 jours</a:t>
            </a:r>
            <a:r>
              <a:rPr sz="1100" b="0">
                <a:solidFill>
                  <a:srgbClr val="2C3E50"/>
                </a:solidFill>
                <a:latin typeface="Carlito"/>
              </a:rPr>
              <a:t> ; le seuil empirique n'est pas un quantile estimé à partir d'autant de répétitions indépendantes.</a:t>
            </a:r>
          </a:p>
        </p:txBody>
      </p:sp>
      <p:sp>
        <p:nvSpPr>
          <p:cNvPr id="30" name="TextBox 29"/>
          <p:cNvSpPr txBox="1"/>
          <p:nvPr/>
        </p:nvSpPr>
        <p:spPr>
          <a:xfrm>
            <a:off x="438912" y="4311904"/>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Pourquoi FPR(H) ?</a:t>
            </a:r>
            <a:r>
              <a:rPr sz="1100" b="0">
                <a:solidFill>
                  <a:srgbClr val="2C3E50"/>
                </a:solidFill>
                <a:latin typeface="Carlito"/>
              </a:rPr>
              <a:t> Une intervention opérationnelle demande le risque d'</a:t>
            </a:r>
            <a:r>
              <a:rPr sz="1100" i="1">
                <a:solidFill>
                  <a:srgbClr val="2C3E50"/>
                </a:solidFill>
                <a:latin typeface="Carlito"/>
              </a:rPr>
              <a:t>au moins une</a:t>
            </a:r>
            <a:r>
              <a:rPr sz="1100" b="0">
                <a:solidFill>
                  <a:srgbClr val="2C3E50"/>
                </a:solidFill>
                <a:latin typeface="Carlito"/>
              </a:rPr>
              <a:t> fausse alarme sur la période d'observation ; fixer seulement la durée moyenne sans fausse alarme (</a:t>
            </a:r>
            <a:r>
              <a:rPr sz="1100" b="0">
                <a:solidFill>
                  <a:srgbClr val="2C3E50"/>
                </a:solidFill>
                <a:latin typeface="Carlito"/>
              </a:rPr>
              <a:t>) ne détermine pas cette probabilité à horizon fixé.</a:t>
            </a:r>
          </a:p>
        </p:txBody>
      </p:sp>
      <p:sp>
        <p:nvSpPr>
          <p:cNvPr id="31" name="Rectangle 30"/>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FPR(H) = P_sans_changement(T_alarme &lt;= H) ; gamma_H = H / alpha</a:t>
            </a:r>
          </a:p>
        </p:txBody>
      </p:sp>
      <p:sp>
        <p:nvSpPr>
          <p:cNvPr id="33" name="TextBox 32"/>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Comment et pourquoi choisir la dimension ACP ?</a:t>
            </a:r>
          </a:p>
        </p:txBody>
      </p:sp>
      <p:sp>
        <p:nvSpPr>
          <p:cNvPr id="4" name="Rectangle 3"/>
          <p:cNvSpPr/>
          <p:nvPr/>
        </p:nvSpPr>
        <p:spPr>
          <a:xfrm>
            <a:off x="7781544" y="64008"/>
            <a:ext cx="1088136"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81544" y="64008"/>
            <a:ext cx="108813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MESURE ACP</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6 et 11 axes : critère de valeur propre, non sélection par pouvoir de détection</a:t>
            </a:r>
          </a:p>
        </p:txBody>
      </p:sp>
      <p:sp>
        <p:nvSpPr>
          <p:cNvPr id="8" name="Rectangle 7"/>
          <p:cNvSpPr/>
          <p:nvPr/>
        </p:nvSpPr>
        <p:spPr>
          <a:xfrm>
            <a:off x="438912" y="1325880"/>
            <a:ext cx="1975104" cy="2286000"/>
          </a:xfrm>
          <a:prstGeom prst="rect">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71600"/>
            <a:ext cx="1883664"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comptage Marčenko-Pastur</a:t>
            </a:r>
          </a:p>
        </p:txBody>
      </p:sp>
      <p:sp>
        <p:nvSpPr>
          <p:cNvPr id="10" name="Rectangle 9"/>
          <p:cNvSpPr/>
          <p:nvPr/>
        </p:nvSpPr>
        <p:spPr>
          <a:xfrm>
            <a:off x="530352" y="1645919"/>
            <a:ext cx="1792224" cy="502920"/>
          </a:xfrm>
          <a:prstGeom prst="rect">
            <a:avLst/>
          </a:prstGeom>
          <a:solidFill>
            <a:srgbClr val="EBF2FA"/>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664207"/>
            <a:ext cx="1700784" cy="201168"/>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2980B9"/>
                </a:solidFill>
                <a:latin typeface="Carlito"/>
              </a:rPr>
              <a:t>97 actifs</a:t>
            </a:r>
          </a:p>
        </p:txBody>
      </p:sp>
      <p:sp>
        <p:nvSpPr>
          <p:cNvPr id="12" name="TextBox 11"/>
          <p:cNvSpPr txBox="1"/>
          <p:nvPr/>
        </p:nvSpPr>
        <p:spPr>
          <a:xfrm>
            <a:off x="576072" y="1883663"/>
            <a:ext cx="1700784" cy="228600"/>
          </a:xfrm>
          <a:prstGeom prst="rect">
            <a:avLst/>
          </a:prstGeom>
          <a:noFill/>
        </p:spPr>
        <p:txBody>
          <a:bodyPr wrap="square" lIns="45720" rIns="45720" tIns="13716" bIns="13716" anchor="t">
            <a:spAutoFit/>
          </a:bodyPr>
          <a:lstStyle/>
          <a:p>
            <a:pPr algn="ctr">
              <a:lnSpc>
                <a:spcPts val="1609"/>
              </a:lnSpc>
              <a:spcAft>
                <a:spcPts val="0"/>
              </a:spcAft>
            </a:pPr>
            <a:r>
              <a:rPr sz="1400" b="0" i="0">
                <a:solidFill>
                  <a:srgbClr val="2C3E50"/>
                </a:solidFill>
                <a:latin typeface="Carlito"/>
              </a:rPr>
              <a:t/>
            </a:r>
            <a:r>
              <a:rPr sz="1400" b="1">
                <a:solidFill>
                  <a:srgbClr val="00748C"/>
                </a:solidFill>
                <a:latin typeface="Carlito"/>
              </a:rPr>
              <a:t>6 = 1 + 5</a:t>
            </a:r>
          </a:p>
        </p:txBody>
      </p:sp>
      <p:sp>
        <p:nvSpPr>
          <p:cNvPr id="13" name="Rectangle 12"/>
          <p:cNvSpPr/>
          <p:nvPr/>
        </p:nvSpPr>
        <p:spPr>
          <a:xfrm>
            <a:off x="530352" y="2286000"/>
            <a:ext cx="1792224" cy="502920"/>
          </a:xfrm>
          <a:prstGeom prst="rect">
            <a:avLst/>
          </a:prstGeom>
          <a:solidFill>
            <a:srgbClr val="EBF2FA"/>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2304288"/>
            <a:ext cx="1700784" cy="201168"/>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2980B9"/>
                </a:solidFill>
                <a:latin typeface="Carlito"/>
              </a:rPr>
              <a:t>239 actifs</a:t>
            </a:r>
          </a:p>
        </p:txBody>
      </p:sp>
      <p:sp>
        <p:nvSpPr>
          <p:cNvPr id="15" name="TextBox 14"/>
          <p:cNvSpPr txBox="1"/>
          <p:nvPr/>
        </p:nvSpPr>
        <p:spPr>
          <a:xfrm>
            <a:off x="576072" y="2523744"/>
            <a:ext cx="1700784" cy="228600"/>
          </a:xfrm>
          <a:prstGeom prst="rect">
            <a:avLst/>
          </a:prstGeom>
          <a:noFill/>
        </p:spPr>
        <p:txBody>
          <a:bodyPr wrap="square" lIns="45720" rIns="45720" tIns="13716" bIns="13716" anchor="t">
            <a:spAutoFit/>
          </a:bodyPr>
          <a:lstStyle/>
          <a:p>
            <a:pPr algn="ctr">
              <a:lnSpc>
                <a:spcPts val="1609"/>
              </a:lnSpc>
              <a:spcAft>
                <a:spcPts val="0"/>
              </a:spcAft>
            </a:pPr>
            <a:r>
              <a:rPr sz="1400" b="0" i="0">
                <a:solidFill>
                  <a:srgbClr val="2C3E50"/>
                </a:solidFill>
                <a:latin typeface="Carlito"/>
              </a:rPr>
              <a:t/>
            </a:r>
            <a:r>
              <a:rPr sz="1400" b="1">
                <a:solidFill>
                  <a:srgbClr val="00748C"/>
                </a:solidFill>
                <a:latin typeface="Carlito"/>
              </a:rPr>
              <a:t>11 = 1 + 10</a:t>
            </a:r>
          </a:p>
        </p:txBody>
      </p:sp>
      <p:sp>
        <p:nvSpPr>
          <p:cNvPr id="16" name="Rectangle 15"/>
          <p:cNvSpPr/>
          <p:nvPr/>
        </p:nvSpPr>
        <p:spPr>
          <a:xfrm>
            <a:off x="2487168" y="1325880"/>
            <a:ext cx="2066543" cy="2286000"/>
          </a:xfrm>
          <a:prstGeom prst="rect">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32888" y="1371600"/>
            <a:ext cx="1975103"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8E44AD"/>
                </a:solidFill>
                <a:latin typeface="Carlito"/>
              </a:rPr>
              <a:t>arbre algorithmique</a:t>
            </a:r>
          </a:p>
        </p:txBody>
      </p:sp>
      <p:sp>
        <p:nvSpPr>
          <p:cNvPr id="18" name="Rectangle 17"/>
          <p:cNvSpPr/>
          <p:nvPr/>
        </p:nvSpPr>
        <p:spPr>
          <a:xfrm>
            <a:off x="2560320" y="1645919"/>
            <a:ext cx="1920239" cy="347472"/>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96896" y="1664207"/>
            <a:ext cx="1847087"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2C3E50"/>
                </a:solidFill>
                <a:latin typeface="Carlito"/>
              </a:rPr>
              <a:t>variances + corrélations</a:t>
            </a:r>
          </a:p>
        </p:txBody>
      </p:sp>
      <p:cxnSp>
        <p:nvCxnSpPr>
          <p:cNvPr id="20" name="Connector 19"/>
          <p:cNvCxnSpPr/>
          <p:nvPr/>
        </p:nvCxnSpPr>
        <p:spPr>
          <a:xfrm>
            <a:off x="3520440" y="1993391"/>
            <a:ext cx="0" cy="91440"/>
          </a:xfrm>
          <a:prstGeom prst="line">
            <a:avLst/>
          </a:prstGeom>
          <a:ln w="19050">
            <a:solidFill>
              <a:srgbClr val="E08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560320" y="2084831"/>
            <a:ext cx="1920239" cy="347472"/>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96896" y="2103120"/>
            <a:ext cx="1847087"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2C3E50"/>
                </a:solidFill>
                <a:latin typeface="Carlito"/>
              </a:rPr>
              <a:t>compter k &gt; lambda_plus</a:t>
            </a:r>
          </a:p>
        </p:txBody>
      </p:sp>
      <p:cxnSp>
        <p:nvCxnSpPr>
          <p:cNvPr id="23" name="Connector 22"/>
          <p:cNvCxnSpPr/>
          <p:nvPr/>
        </p:nvCxnSpPr>
        <p:spPr>
          <a:xfrm>
            <a:off x="3520440" y="2432303"/>
            <a:ext cx="0" cy="91441"/>
          </a:xfrm>
          <a:prstGeom prst="line">
            <a:avLst/>
          </a:prstGeom>
          <a:ln w="19050">
            <a:solidFill>
              <a:srgbClr val="E0800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560320" y="2523744"/>
            <a:ext cx="1920239" cy="347472"/>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96896" y="2542032"/>
            <a:ext cx="1847087"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2C3E50"/>
                </a:solidFill>
                <a:latin typeface="Carlito"/>
              </a:rPr>
              <a:t>covariance régularisée (LW)</a:t>
            </a:r>
          </a:p>
        </p:txBody>
      </p:sp>
      <p:cxnSp>
        <p:nvCxnSpPr>
          <p:cNvPr id="26" name="Connector 25"/>
          <p:cNvCxnSpPr/>
          <p:nvPr/>
        </p:nvCxnSpPr>
        <p:spPr>
          <a:xfrm>
            <a:off x="3520440" y="2871215"/>
            <a:ext cx="0" cy="91441"/>
          </a:xfrm>
          <a:prstGeom prst="line">
            <a:avLst/>
          </a:prstGeom>
          <a:ln w="19050">
            <a:solidFill>
              <a:srgbClr val="E0800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560320" y="2962656"/>
            <a:ext cx="1920239" cy="347472"/>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96896" y="2980944"/>
            <a:ext cx="1847087"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2C3E50"/>
                </a:solidFill>
                <a:latin typeface="Carlito"/>
              </a:rPr>
              <a:t>k vecteurs principaux</a:t>
            </a:r>
          </a:p>
          <a:p>
            <a:pPr algn="ctr">
              <a:lnSpc>
                <a:spcPts val="919"/>
              </a:lnSpc>
              <a:spcAft>
                <a:spcPts val="0"/>
              </a:spcAft>
            </a:pPr>
            <a:r>
              <a:rPr sz="800" b="0">
                <a:solidFill>
                  <a:srgbClr val="2C3E50"/>
                </a:solidFill>
                <a:latin typeface="Carlito"/>
              </a:rPr>
              <a:t>marché séparé</a:t>
            </a:r>
          </a:p>
        </p:txBody>
      </p:sp>
      <p:sp>
        <p:nvSpPr>
          <p:cNvPr id="29" name="TextBox 28"/>
          <p:cNvSpPr txBox="1"/>
          <p:nvPr/>
        </p:nvSpPr>
        <p:spPr>
          <a:xfrm>
            <a:off x="4846320" y="1325880"/>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la sélection du nombre de facteurs, calculer la </a:t>
            </a:r>
            <a:r>
              <a:rPr sz="1100" i="1">
                <a:solidFill>
                  <a:srgbClr val="2C3E50"/>
                </a:solidFill>
                <a:latin typeface="Carlito"/>
              </a:rPr>
              <a:t>corrélation empirique</a:t>
            </a:r>
            <a:r>
              <a:rPr sz="1100" b="0">
                <a:solidFill>
                  <a:srgbClr val="2C3E50"/>
                </a:solidFill>
                <a:latin typeface="Carlito"/>
              </a:rPr>
              <a:t> </a:t>
            </a:r>
            <a:r>
              <a:rPr sz="1100" b="0">
                <a:solidFill>
                  <a:srgbClr val="2C3E50"/>
                </a:solidFill>
                <a:latin typeface="Carlito"/>
              </a:rPr>
              <a:t> où </a:t>
            </a:r>
            <a:r>
              <a:rPr sz="1100" b="0">
                <a:solidFill>
                  <a:srgbClr val="2C3E50"/>
                </a:solidFill>
                <a:latin typeface="Carlito"/>
              </a:rPr>
              <a:t> contient les variances empiriques des actions ; </a:t>
            </a:r>
            <a:r>
              <a:rPr sz="1100" b="0">
                <a:solidFill>
                  <a:srgbClr val="2C3E50"/>
                </a:solidFill>
                <a:latin typeface="Carlito"/>
              </a:rPr>
              <a:t> compare les co-mouvements </a:t>
            </a:r>
            <a:r>
              <a:rPr sz="1100" i="1">
                <a:solidFill>
                  <a:srgbClr val="2C3E50"/>
                </a:solidFill>
                <a:latin typeface="Carlito"/>
              </a:rPr>
              <a:t>sans unité</a:t>
            </a:r>
            <a:r>
              <a:rPr sz="1100" b="0">
                <a:solidFill>
                  <a:srgbClr val="2C3E50"/>
                </a:solidFill>
                <a:latin typeface="Carlito"/>
              </a:rPr>
              <a:t>.</a:t>
            </a:r>
          </a:p>
        </p:txBody>
      </p:sp>
      <p:sp>
        <p:nvSpPr>
          <p:cNvPr id="30" name="TextBox 29"/>
          <p:cNvSpPr txBox="1"/>
          <p:nvPr/>
        </p:nvSpPr>
        <p:spPr>
          <a:xfrm>
            <a:off x="4846320" y="2078228"/>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repère de </a:t>
            </a:r>
            <a:r>
              <a:rPr sz="1100" b="0">
                <a:solidFill>
                  <a:srgbClr val="2C3E50"/>
                </a:solidFill>
                <a:latin typeface="Carlito"/>
                <a:hlinkClick r:id="rId2"/>
              </a:rPr>
              <a:t>Marčenko et Pastur (1967)</a:t>
            </a:r>
            <a:r>
              <a:rPr sz="1100" b="0">
                <a:solidFill>
                  <a:srgbClr val="2C3E50"/>
                </a:solidFill>
                <a:latin typeface="Carlito"/>
              </a:rPr>
              <a:t>, pour une matrice standardisée à variables i.i.d. sous hypothèse de bruit, est </a:t>
            </a:r>
            <a:r>
              <a:rPr sz="1100" b="0">
                <a:solidFill>
                  <a:srgbClr val="2C3E50"/>
                </a:solidFill>
                <a:latin typeface="Carlito"/>
              </a:rPr>
              <a:t>. Compter les valeurs propres de </a:t>
            </a:r>
            <a:r>
              <a:rPr sz="1100" b="0">
                <a:solidFill>
                  <a:srgbClr val="2C3E50"/>
                </a:solidFill>
                <a:latin typeface="Carlito"/>
              </a:rPr>
              <a:t> strictement supérieures. Le nombre total de facteurs au-dessus du repère inclut le premier axe.</a:t>
            </a:r>
          </a:p>
        </p:txBody>
      </p:sp>
      <p:sp>
        <p:nvSpPr>
          <p:cNvPr id="31" name="TextBox 30"/>
          <p:cNvSpPr txBox="1"/>
          <p:nvPr/>
        </p:nvSpPr>
        <p:spPr>
          <a:xfrm>
            <a:off x="4846320" y="2991231"/>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Résultat sur les fenêtres de calibration :</a:t>
            </a:r>
            <a:r>
              <a:rPr sz="1100" b="0">
                <a:solidFill>
                  <a:srgbClr val="2C3E50"/>
                </a:solidFill>
                <a:latin typeface="Carlito"/>
              </a:rPr>
              <a:t> 97 actions → </a:t>
            </a:r>
            <a:r>
              <a:rPr sz="1100" i="1">
                <a:solidFill>
                  <a:srgbClr val="2C3E50"/>
                </a:solidFill>
                <a:latin typeface="Carlito"/>
              </a:rPr>
              <a:t>6 scores = marché + 5 résiduels</a:t>
            </a:r>
            <a:r>
              <a:rPr sz="1100" b="0">
                <a:solidFill>
                  <a:srgbClr val="2C3E50"/>
                </a:solidFill>
                <a:latin typeface="Carlito"/>
              </a:rPr>
              <a:t> ; 239 actions → </a:t>
            </a:r>
            <a:r>
              <a:rPr sz="1100" i="1">
                <a:solidFill>
                  <a:srgbClr val="2C3E50"/>
                </a:solidFill>
                <a:latin typeface="Carlito"/>
              </a:rPr>
              <a:t>11 scores = marché + 10 résiduels</a:t>
            </a:r>
            <a:r>
              <a:rPr sz="1100" b="0">
                <a:solidFill>
                  <a:srgbClr val="2C3E50"/>
                </a:solidFill>
                <a:latin typeface="Carlito"/>
              </a:rPr>
              <a:t>. Après comptage, </a:t>
            </a:r>
            <a:r>
              <a:rPr sz="1100" i="1">
                <a:solidFill>
                  <a:srgbClr val="2C3E50"/>
                </a:solidFill>
                <a:latin typeface="Carlito"/>
              </a:rPr>
              <a:t>les vecteurs et échelles sont pris dans la covariance Ledoit–Wolf</a:t>
            </a:r>
            <a:r>
              <a:rPr sz="1100" b="0">
                <a:solidFill>
                  <a:srgbClr val="2C3E50"/>
                </a:solidFill>
                <a:latin typeface="Carlito"/>
              </a:rPr>
              <a:t>, non dans </a:t>
            </a:r>
            <a:r>
              <a:rPr sz="1100" b="0">
                <a:solidFill>
                  <a:srgbClr val="2C3E50"/>
                </a:solidFill>
                <a:latin typeface="Carlito"/>
              </a:rPr>
              <a:t>.</a:t>
            </a:r>
          </a:p>
        </p:txBody>
      </p:sp>
      <p:sp>
        <p:nvSpPr>
          <p:cNvPr id="32" name="TextBox 31"/>
          <p:cNvSpPr txBox="1"/>
          <p:nvPr/>
        </p:nvSpPr>
        <p:spPr>
          <a:xfrm>
            <a:off x="4846320" y="3743579"/>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Limite :</a:t>
            </a:r>
            <a:r>
              <a:rPr sz="1100" b="0">
                <a:solidFill>
                  <a:srgbClr val="2C3E50"/>
                </a:solidFill>
                <a:latin typeface="Carlito"/>
              </a:rPr>
              <a:t> l'échantillon financier dépendant, hétéroscédastique et à queues lourdes ne satisfait pas exactement le null i.i.d. de Marčenko–Pastur. La règle identifie des facteurs saillants, </a:t>
            </a:r>
            <a:r>
              <a:rPr sz="1100" i="1">
                <a:solidFill>
                  <a:srgbClr val="2C3E50"/>
                </a:solidFill>
                <a:latin typeface="Carlito"/>
              </a:rPr>
              <a:t>pas</a:t>
            </a:r>
            <a:r>
              <a:rPr sz="1100" b="0">
                <a:solidFill>
                  <a:srgbClr val="2C3E50"/>
                </a:solidFill>
                <a:latin typeface="Carlito"/>
              </a:rPr>
              <a:t> les axes maximisant la KL de changements futurs.</a:t>
            </a:r>
          </a:p>
        </p:txBody>
      </p:sp>
      <p:sp>
        <p:nvSpPr>
          <p:cNvPr id="33" name="Rectangle 32"/>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R = D^(-1/2)*Sigma_emp*D^(-1/2) ; lambda_plus = [1+sqrt(N/T)]^2</a:t>
            </a:r>
          </a:p>
        </p:txBody>
      </p:sp>
      <p:sp>
        <p:nvSpPr>
          <p:cNvPr id="35" name="TextBox 3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KL et pipeline ACP : ce qui a été calculé</a:t>
            </a:r>
          </a:p>
        </p:txBody>
      </p:sp>
      <p:sp>
        <p:nvSpPr>
          <p:cNvPr id="4" name="Rectangle 3"/>
          <p:cNvSpPr/>
          <p:nvPr/>
        </p:nvSpPr>
        <p:spPr>
          <a:xfrm>
            <a:off x="7607808" y="64008"/>
            <a:ext cx="1261872"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07808" y="64008"/>
            <a:ext cx="126187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INFORMATION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KL par axe : définition générale, formule gaussienne et mesures disponibles</a:t>
            </a:r>
          </a:p>
        </p:txBody>
      </p:sp>
      <p:sp>
        <p:nvSpPr>
          <p:cNvPr id="8" name="Rectangle 7"/>
          <p:cNvSpPr/>
          <p:nvPr/>
        </p:nvSpPr>
        <p:spPr>
          <a:xfrm>
            <a:off x="438912" y="1325880"/>
            <a:ext cx="1988819" cy="2286000"/>
          </a:xfrm>
          <a:prstGeom prst="rect">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325880"/>
            <a:ext cx="1988819" cy="32004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 y="1344168"/>
            <a:ext cx="1897379" cy="283464"/>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définition et information</a:t>
            </a:r>
          </a:p>
        </p:txBody>
      </p:sp>
      <p:sp>
        <p:nvSpPr>
          <p:cNvPr id="11" name="TextBox 10"/>
          <p:cNvSpPr txBox="1"/>
          <p:nvPr/>
        </p:nvSpPr>
        <p:spPr>
          <a:xfrm>
            <a:off x="512063" y="1709928"/>
            <a:ext cx="1842515" cy="1828800"/>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C3E50"/>
                </a:solidFill>
                <a:latin typeface="Carlito"/>
              </a:rPr>
              <a:t>KL(P1||P0) = E_P1[log(p1/p0)]</a:t>
            </a:r>
          </a:p>
          <a:p>
            <a:pPr algn="l">
              <a:lnSpc>
                <a:spcPts val="1035"/>
              </a:lnSpc>
              <a:spcAft>
                <a:spcPts val="0"/>
              </a:spcAft>
            </a:pPr>
          </a:p>
          <a:p>
            <a:pPr algn="l">
              <a:lnSpc>
                <a:spcPts val="1035"/>
              </a:lnSpc>
              <a:spcAft>
                <a:spcPts val="0"/>
              </a:spcAft>
            </a:pPr>
            <a:r>
              <a:rPr sz="900" b="0">
                <a:solidFill>
                  <a:srgbClr val="2C3E50"/>
                </a:solidFill>
                <a:latin typeface="Carlito"/>
              </a:rPr>
              <a:t>I_full = Delta' Sigma^(-1) Delta / 2</a:t>
            </a:r>
          </a:p>
          <a:p>
            <a:pPr algn="l">
              <a:lnSpc>
                <a:spcPts val="1035"/>
              </a:lnSpc>
              <a:spcAft>
                <a:spcPts val="0"/>
              </a:spcAft>
            </a:pPr>
          </a:p>
          <a:p>
            <a:pPr algn="l">
              <a:lnSpc>
                <a:spcPts val="1035"/>
              </a:lnSpc>
              <a:spcAft>
                <a:spcPts val="0"/>
              </a:spcAft>
            </a:pPr>
            <a:r>
              <a:rPr sz="900" b="0">
                <a:solidFill>
                  <a:srgbClr val="2C3E50"/>
                </a:solidFill>
                <a:latin typeface="Carlito"/>
              </a:rPr>
              <a:t>I_k = (v_k' Delta)^2 / (2 lambda_k)</a:t>
            </a:r>
          </a:p>
          <a:p>
            <a:pPr algn="l">
              <a:lnSpc>
                <a:spcPts val="1035"/>
              </a:lnSpc>
              <a:spcAft>
                <a:spcPts val="0"/>
              </a:spcAft>
            </a:pPr>
          </a:p>
          <a:p>
            <a:pPr algn="l">
              <a:lnSpc>
                <a:spcPts val="1035"/>
              </a:lnSpc>
              <a:spcAft>
                <a:spcPts val="0"/>
              </a:spcAft>
            </a:pPr>
            <a:r>
              <a:rPr sz="900" b="0">
                <a:solidFill>
                  <a:srgbClr val="2C3E50"/>
                </a:solidFill>
                <a:latin typeface="Carlito"/>
              </a:rPr>
              <a:t>DPI : projection ne l'augmente pas</a:t>
            </a:r>
          </a:p>
        </p:txBody>
      </p:sp>
      <p:sp>
        <p:nvSpPr>
          <p:cNvPr id="12" name="Rectangle 11"/>
          <p:cNvSpPr/>
          <p:nvPr/>
        </p:nvSpPr>
        <p:spPr>
          <a:xfrm>
            <a:off x="2564891" y="1325880"/>
            <a:ext cx="1988819" cy="2286000"/>
          </a:xfrm>
          <a:prstGeom prst="rect">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4891" y="1325880"/>
            <a:ext cx="1988819"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10611" y="1344168"/>
            <a:ext cx="1897379" cy="283464"/>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représentation → deux détecteurs</a:t>
            </a:r>
          </a:p>
        </p:txBody>
      </p:sp>
      <p:sp>
        <p:nvSpPr>
          <p:cNvPr id="15" name="TextBox 14"/>
          <p:cNvSpPr txBox="1"/>
          <p:nvPr/>
        </p:nvSpPr>
        <p:spPr>
          <a:xfrm>
            <a:off x="2638044" y="1709928"/>
            <a:ext cx="1842515" cy="1828800"/>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C3E50"/>
                </a:solidFill>
                <a:latin typeface="Carlito"/>
              </a:rPr>
              <a:t>ACP fixe (calibration)</a:t>
            </a:r>
          </a:p>
          <a:p>
            <a:pPr algn="l">
              <a:lnSpc>
                <a:spcPts val="1035"/>
              </a:lnSpc>
              <a:spcAft>
                <a:spcPts val="0"/>
              </a:spcAft>
            </a:pPr>
            <a:r>
              <a:rPr sz="900" b="0">
                <a:solidFill>
                  <a:srgbClr val="2C3E50"/>
                </a:solidFill>
                <a:latin typeface="Carlito"/>
              </a:rPr>
              <a:t>  → z_1 marché séparé</a:t>
            </a:r>
          </a:p>
          <a:p>
            <a:pPr algn="l">
              <a:lnSpc>
                <a:spcPts val="1035"/>
              </a:lnSpc>
              <a:spcAft>
                <a:spcPts val="0"/>
              </a:spcAft>
            </a:pPr>
            <a:r>
              <a:rPr sz="900" b="0">
                <a:solidFill>
                  <a:srgbClr val="2C3E50"/>
                </a:solidFill>
                <a:latin typeface="Carlito"/>
              </a:rPr>
              <a:t>  → z_2..z_(K+1) résiduels</a:t>
            </a:r>
          </a:p>
          <a:p>
            <a:pPr algn="l">
              <a:lnSpc>
                <a:spcPts val="1035"/>
              </a:lnSpc>
              <a:spcAft>
                <a:spcPts val="0"/>
              </a:spcAft>
            </a:pPr>
          </a:p>
          <a:p>
            <a:pPr algn="l">
              <a:lnSpc>
                <a:spcPts val="1035"/>
              </a:lnSpc>
              <a:spcAft>
                <a:spcPts val="0"/>
              </a:spcAft>
            </a:pPr>
            <a:r>
              <a:rPr sz="900" b="0">
                <a:solidFill>
                  <a:srgbClr val="2C3E50"/>
                </a:solidFill>
                <a:latin typeface="Carlito"/>
              </a:rPr>
              <a:t>signe (moyenne) | énergie (covariance)</a:t>
            </a:r>
          </a:p>
          <a:p>
            <a:pPr algn="l">
              <a:lnSpc>
                <a:spcPts val="1035"/>
              </a:lnSpc>
              <a:spcAft>
                <a:spcPts val="0"/>
              </a:spcAft>
            </a:pPr>
          </a:p>
          <a:p>
            <a:pPr algn="l">
              <a:lnSpc>
                <a:spcPts val="1035"/>
              </a:lnSpc>
              <a:spcAft>
                <a:spcPts val="0"/>
              </a:spcAft>
            </a:pPr>
            <a:r>
              <a:rPr sz="900" b="0">
                <a:solidFill>
                  <a:srgbClr val="2C3E50"/>
                </a:solidFill>
                <a:latin typeface="Carlito"/>
              </a:rPr>
              <a:t>Sharpe 8 : oracle 15 j</a:t>
            </a:r>
          </a:p>
          <a:p>
            <a:pPr algn="l">
              <a:lnSpc>
                <a:spcPts val="1035"/>
              </a:lnSpc>
              <a:spcAft>
                <a:spcPts val="0"/>
              </a:spcAft>
            </a:pPr>
            <a:r>
              <a:rPr sz="900" b="0">
                <a:solidFill>
                  <a:srgbClr val="2C3E50"/>
                </a:solidFill>
                <a:latin typeface="Carlito"/>
              </a:rPr>
              <a:t>ACP signes 373 j | degré zéro 446 j</a:t>
            </a:r>
          </a:p>
        </p:txBody>
      </p:sp>
      <p:sp>
        <p:nvSpPr>
          <p:cNvPr id="16" name="TextBox 15"/>
          <p:cNvSpPr txBox="1"/>
          <p:nvPr/>
        </p:nvSpPr>
        <p:spPr>
          <a:xfrm>
            <a:off x="4846320" y="1325880"/>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Définition générale :</a:t>
            </a:r>
            <a:r>
              <a:rPr sz="1100" b="0">
                <a:solidFill>
                  <a:srgbClr val="2C3E50"/>
                </a:solidFill>
                <a:latin typeface="Carlito"/>
              </a:rPr>
              <a:t> divergence de Kullback–Leibler </a:t>
            </a:r>
            <a:r>
              <a:rPr sz="1100" b="0">
                <a:solidFill>
                  <a:srgbClr val="2C3E50"/>
                </a:solidFill>
                <a:latin typeface="Carlito"/>
              </a:rPr>
              <a:t>, pour deux lois comparables avant/après changement. Elle mesure en nats l'information moyenne permettant de les distinguer. Une projection ne l'augmente pas : </a:t>
            </a:r>
            <a:r>
              <a:rPr sz="1100" b="0">
                <a:solidFill>
                  <a:srgbClr val="2C3E50"/>
                </a:solidFill>
                <a:latin typeface="Carlito"/>
                <a:hlinkClick r:id="rId2"/>
              </a:rPr>
              <a:t>Cover et Thomas (2006)</a:t>
            </a:r>
            <a:r>
              <a:rPr sz="1100" b="0">
                <a:solidFill>
                  <a:srgbClr val="2C3E50"/>
                </a:solidFill>
                <a:latin typeface="Carlito"/>
              </a:rPr>
              <a:t>.</a:t>
            </a:r>
          </a:p>
        </p:txBody>
      </p:sp>
      <p:sp>
        <p:nvSpPr>
          <p:cNvPr id="17" name="TextBox 16"/>
          <p:cNvSpPr txBox="1"/>
          <p:nvPr/>
        </p:nvSpPr>
        <p:spPr>
          <a:xfrm>
            <a:off x="4846320" y="2238883"/>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Modèle gaussien de localisation</a:t>
            </a:r>
            <a:r>
              <a:rPr sz="1100" b="0">
                <a:solidFill>
                  <a:srgbClr val="2C3E50"/>
                </a:solidFill>
                <a:latin typeface="Carlito"/>
              </a:rPr>
              <a:t> sur la même covariance </a:t>
            </a:r>
            <a:r>
              <a:rPr sz="1100" b="0">
                <a:solidFill>
                  <a:srgbClr val="2C3E50"/>
                </a:solidFill>
                <a:latin typeface="Carlito"/>
              </a:rPr>
              <a:t> : </a:t>
            </a:r>
            <a:r>
              <a:rPr sz="1100" b="0">
                <a:solidFill>
                  <a:srgbClr val="2C3E50"/>
                </a:solidFill>
                <a:latin typeface="Carlito"/>
              </a:rPr>
              <a:t>. Sur l'axe ACP </a:t>
            </a:r>
            <a:r>
              <a:rPr sz="1100" b="0">
                <a:solidFill>
                  <a:srgbClr val="2C3E50"/>
                </a:solidFill>
                <a:latin typeface="Carlito"/>
              </a:rPr>
              <a:t> de variance </a:t>
            </a:r>
            <a:r>
              <a:rPr sz="1100" b="0">
                <a:solidFill>
                  <a:srgbClr val="2C3E50"/>
                </a:solidFill>
                <a:latin typeface="Carlito"/>
              </a:rPr>
              <a:t>, </a:t>
            </a:r>
            <a:r>
              <a:rPr sz="1100" b="0">
                <a:solidFill>
                  <a:srgbClr val="2C3E50"/>
                </a:solidFill>
                <a:latin typeface="Carlito"/>
              </a:rPr>
              <a:t> ; l'information des axes retenus se somme </a:t>
            </a:r>
            <a:r>
              <a:rPr sz="1100" i="1">
                <a:solidFill>
                  <a:srgbClr val="2C3E50"/>
                </a:solidFill>
                <a:latin typeface="Carlito"/>
              </a:rPr>
              <a:t>si le modèle gaussien et les vrais axes propres s'appliquent</a:t>
            </a:r>
            <a:r>
              <a:rPr sz="1100" b="0">
                <a:solidFill>
                  <a:srgbClr val="2C3E50"/>
                </a:solidFill>
                <a:latin typeface="Carlito"/>
              </a:rPr>
              <a:t>.</a:t>
            </a:r>
          </a:p>
        </p:txBody>
      </p:sp>
      <p:sp>
        <p:nvSpPr>
          <p:cNvPr id="18" name="TextBox 17"/>
          <p:cNvSpPr txBox="1"/>
          <p:nvPr/>
        </p:nvSpPr>
        <p:spPr>
          <a:xfrm>
            <a:off x="4846320" y="3151885"/>
            <a:ext cx="384048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Pipeline évalué :</a:t>
            </a:r>
            <a:r>
              <a:rPr sz="1100" b="0">
                <a:solidFill>
                  <a:srgbClr val="2C3E50"/>
                </a:solidFill>
                <a:latin typeface="Carlito"/>
              </a:rPr>
              <a:t> ACP fixe de calibration → </a:t>
            </a:r>
            <a:r>
              <a:rPr sz="1100" i="1">
                <a:solidFill>
                  <a:srgbClr val="2C3E50"/>
                </a:solidFill>
                <a:latin typeface="Carlito"/>
              </a:rPr>
              <a:t>marché `z_1` surveillé séparément</a:t>
            </a:r>
            <a:r>
              <a:rPr sz="1100" b="0">
                <a:solidFill>
                  <a:srgbClr val="2C3E50"/>
                </a:solidFill>
                <a:latin typeface="Carlito"/>
              </a:rPr>
              <a:t> / </a:t>
            </a:r>
            <a:r>
              <a:rPr sz="1100" b="0">
                <a:solidFill>
                  <a:srgbClr val="2C3E50"/>
                </a:solidFill>
                <a:latin typeface="Carlito"/>
              </a:rPr>
              <a:t> surveillance résiduelle → signe (moyenne) ou énergie (covariance). Les simulations injectent des translations et rotations aux rendements </a:t>
            </a:r>
            <a:r>
              <a:rPr sz="1100" i="1">
                <a:solidFill>
                  <a:srgbClr val="2C3E50"/>
                </a:solidFill>
                <a:latin typeface="Carlito"/>
              </a:rPr>
              <a:t>avant</a:t>
            </a:r>
            <a:r>
              <a:rPr sz="1100" b="0">
                <a:solidFill>
                  <a:srgbClr val="2C3E50"/>
                </a:solidFill>
                <a:latin typeface="Carlito"/>
              </a:rPr>
              <a:t> cette transformation ; l'oracle connaît la direction injectée.</a:t>
            </a:r>
          </a:p>
        </p:txBody>
      </p:sp>
      <p:sp>
        <p:nvSpPr>
          <p:cNvPr id="19" name="TextBox 18"/>
          <p:cNvSpPr txBox="1"/>
          <p:nvPr/>
        </p:nvSpPr>
        <p:spPr>
          <a:xfrm>
            <a:off x="4846320" y="4064889"/>
            <a:ext cx="3840480" cy="1018793"/>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Déjà réalisé :</a:t>
            </a:r>
            <a:r>
              <a:rPr sz="1100" b="0">
                <a:solidFill>
                  <a:srgbClr val="2C3E50"/>
                </a:solidFill>
                <a:latin typeface="Carlito"/>
              </a:rPr>
              <a:t> informations nominales des injections et potentiels directionnels sous modèle, plus délais mesurés. Exemple à déplacement de moyenne de Sharpe 8 : oracle </a:t>
            </a:r>
            <a:r>
              <a:rPr sz="1100" i="1">
                <a:solidFill>
                  <a:srgbClr val="2C3E50"/>
                </a:solidFill>
                <a:latin typeface="Carlito"/>
              </a:rPr>
              <a:t>15 j</a:t>
            </a:r>
            <a:r>
              <a:rPr sz="1100" b="0">
                <a:solidFill>
                  <a:srgbClr val="2C3E50"/>
                </a:solidFill>
                <a:latin typeface="Carlito"/>
              </a:rPr>
              <a:t>, détecteur ACP signes </a:t>
            </a:r>
            <a:r>
              <a:rPr sz="1100" i="1">
                <a:solidFill>
                  <a:srgbClr val="2C3E50"/>
                </a:solidFill>
                <a:latin typeface="Carlito"/>
              </a:rPr>
              <a:t>373 j</a:t>
            </a:r>
            <a:r>
              <a:rPr sz="1100" b="0">
                <a:solidFill>
                  <a:srgbClr val="2C3E50"/>
                </a:solidFill>
                <a:latin typeface="Carlito"/>
              </a:rPr>
              <a:t>, degré zéro signes </a:t>
            </a:r>
            <a:r>
              <a:rPr sz="1100" i="1">
                <a:solidFill>
                  <a:srgbClr val="2C3E50"/>
                </a:solidFill>
                <a:latin typeface="Carlito"/>
              </a:rPr>
              <a:t>446 j</a:t>
            </a:r>
            <a:r>
              <a:rPr sz="1100" b="0">
                <a:solidFill>
                  <a:srgbClr val="2C3E50"/>
                </a:solidFill>
                <a:latin typeface="Carlito"/>
              </a:rPr>
              <a:t> dans une configuration donnée ; </a:t>
            </a:r>
            <a:r>
              <a:rPr sz="1100" i="1">
                <a:solidFill>
                  <a:srgbClr val="2C3E50"/>
                </a:solidFill>
                <a:latin typeface="Carlito"/>
              </a:rPr>
              <a:t>pas encore de profil validé de `I_k` cumulés sur tous les axes et toutes les alternatives réelles.</a:t>
            </a:r>
          </a:p>
        </p:txBody>
      </p:sp>
      <p:sp>
        <p:nvSpPr>
          <p:cNvPr id="20" name="Rectangle 19"/>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KL(P1||P0) = E_P1[log(p1(X)/p0(X))] ; I_k = (v_k' * Delta)^2 / (2*lambda_k)</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Symétrie des signes : essais entièrement définis</a:t>
            </a:r>
          </a:p>
        </p:txBody>
      </p:sp>
      <p:sp>
        <p:nvSpPr>
          <p:cNvPr id="4" name="Rectangle 3"/>
          <p:cNvSpPr/>
          <p:nvPr/>
        </p:nvSpPr>
        <p:spPr>
          <a:xfrm>
            <a:off x="7635240" y="64008"/>
            <a:ext cx="123444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35240" y="64008"/>
            <a:ext cx="12344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RÉSULTATS NULL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Signes : contrôle exact à 4,395 %, inflation sous asymétrie réelle simulée</a:t>
            </a:r>
          </a:p>
        </p:txBody>
      </p:sp>
      <p:sp>
        <p:nvSpPr>
          <p:cNvPr id="8" name="TextBox 7"/>
          <p:cNvSpPr txBox="1"/>
          <p:nvPr/>
        </p:nvSpPr>
        <p:spPr>
          <a:xfrm>
            <a:off x="438912" y="1325880"/>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Pipeline commun de lecture :</a:t>
            </a:r>
            <a:r>
              <a:rPr sz="1100" b="0">
                <a:solidFill>
                  <a:srgbClr val="2C3E50"/>
                </a:solidFill>
                <a:latin typeface="Carlito"/>
              </a:rPr>
              <a:t> </a:t>
            </a:r>
            <a:r>
              <a:rPr sz="1100" b="0">
                <a:solidFill>
                  <a:srgbClr val="2C3E50"/>
                </a:solidFill>
                <a:latin typeface="Carlito"/>
              </a:rPr>
              <a:t> (synthétique ou journée réelle symétrisée) → projection scalaire </a:t>
            </a:r>
            <a:r>
              <a:rPr sz="1100" i="1">
                <a:solidFill>
                  <a:srgbClr val="2C3E50"/>
                </a:solidFill>
                <a:latin typeface="Carlito"/>
              </a:rPr>
              <a:t>impaire</a:t>
            </a:r>
            <a:r>
              <a:rPr sz="1100" b="0">
                <a:solidFill>
                  <a:srgbClr val="2C3E50"/>
                </a:solidFill>
                <a:latin typeface="Carlito"/>
              </a:rPr>
              <a:t> </a:t>
            </a:r>
            <a:r>
              <a:rPr sz="1100" b="0">
                <a:solidFill>
                  <a:srgbClr val="2C3E50"/>
                </a:solidFill>
                <a:latin typeface="Carlito"/>
              </a:rPr>
              <a:t> (composante ACP fixée ou rendement d'un actif) → bit positif/négatif ; zéros départagés par pièce indépendante → CUSUM de signes </a:t>
            </a:r>
            <a:r>
              <a:rPr sz="1100" i="1">
                <a:solidFill>
                  <a:srgbClr val="2C3E50"/>
                </a:solidFill>
                <a:latin typeface="Carlito"/>
              </a:rPr>
              <a:t>bilatéral</a:t>
            </a:r>
            <a:r>
              <a:rPr sz="1100" b="0">
                <a:solidFill>
                  <a:srgbClr val="2C3E50"/>
                </a:solidFill>
                <a:latin typeface="Carlito"/>
              </a:rPr>
              <a:t> ; seuil exact du treillis pour </a:t>
            </a:r>
            <a:r>
              <a:rPr sz="1100" b="0">
                <a:solidFill>
                  <a:srgbClr val="2C3E50"/>
                </a:solidFill>
                <a:latin typeface="Carlito"/>
              </a:rPr>
              <a:t>. Le niveau </a:t>
            </a:r>
            <a:r>
              <a:rPr sz="1100" i="1">
                <a:solidFill>
                  <a:srgbClr val="2C3E50"/>
                </a:solidFill>
                <a:latin typeface="Carlito"/>
              </a:rPr>
              <a:t>calibré calculé</a:t>
            </a:r>
            <a:r>
              <a:rPr sz="1100" b="0">
                <a:solidFill>
                  <a:srgbClr val="2C3E50"/>
                </a:solidFill>
                <a:latin typeface="Carlito"/>
              </a:rPr>
              <a:t> sous Bernoulli(1/2) vaut </a:t>
            </a:r>
            <a:r>
              <a:rPr sz="1100" i="1">
                <a:solidFill>
                  <a:srgbClr val="2C3E50"/>
                </a:solidFill>
                <a:latin typeface="Carlito"/>
              </a:rPr>
              <a:t>4,3947 %</a:t>
            </a:r>
            <a:r>
              <a:rPr sz="1100" b="0">
                <a:solidFill>
                  <a:srgbClr val="2C3E50"/>
                </a:solidFill>
                <a:latin typeface="Carlito"/>
              </a:rPr>
              <a:t>, inférieur à la cible nominale 5 % du fait des seuils discrets.</a:t>
            </a:r>
          </a:p>
        </p:txBody>
      </p:sp>
      <p:graphicFrame>
        <p:nvGraphicFramePr>
          <p:cNvPr id="9" name="Table 8"/>
          <p:cNvGraphicFramePr>
            <a:graphicFrameLocks noGrp="1"/>
          </p:cNvGraphicFramePr>
          <p:nvPr/>
        </p:nvGraphicFramePr>
        <p:xfrm>
          <a:off x="438912" y="1990724"/>
          <a:ext cx="8275320" cy="1463040"/>
        </p:xfrm>
        <a:graphic>
          <a:graphicData uri="http://schemas.openxmlformats.org/drawingml/2006/table">
            <a:tbl>
              <a:tblPr firstRow="1" bandRow="1">
                <a:tableStyleId>{5C22544A-7EE6-4342-B048-85BDC9FD1C3A}</a:tableStyleId>
              </a:tblPr>
              <a:tblGrid>
                <a:gridCol w="1655064"/>
                <a:gridCol w="1655064"/>
                <a:gridCol w="1655064"/>
                <a:gridCol w="1655064"/>
                <a:gridCol w="1655064"/>
              </a:tblGrid>
              <a:tr h="292608">
                <a:tc>
                  <a:txBody>
                    <a:bodyPr/>
                    <a:lstStyle/>
                    <a:p>
                      <a:pPr algn="ctr"/>
                      <a:r>
                        <a:rPr sz="1000" b="1">
                          <a:solidFill>
                            <a:srgbClr val="FFFFFF"/>
                          </a:solidFill>
                          <a:latin typeface="Carlito"/>
                        </a:rPr>
                        <a:t>Données et construction</a:t>
                      </a:r>
                    </a:p>
                  </a:txBody>
                  <a:tcPr marL="54864" marR="54864" marT="18288" marB="18288">
                    <a:solidFill>
                      <a:srgbClr val="1B7A8A"/>
                    </a:solidFill>
                  </a:tcPr>
                </a:tc>
                <a:tc>
                  <a:txBody>
                    <a:bodyPr/>
                    <a:lstStyle/>
                    <a:p>
                      <a:pPr algn="ctr"/>
                      <a:r>
                        <a:rPr sz="1000" b="1">
                          <a:solidFill>
                            <a:srgbClr val="FFFFFF"/>
                          </a:solidFill>
                          <a:latin typeface="Carlito"/>
                        </a:rPr>
                        <a:t>Pipeline / comparateur</a:t>
                      </a:r>
                    </a:p>
                  </a:txBody>
                  <a:tcPr marL="54864" marR="54864" marT="18288" marB="18288">
                    <a:solidFill>
                      <a:srgbClr val="1B7A8A"/>
                    </a:solidFill>
                  </a:tcPr>
                </a:tc>
                <a:tc>
                  <a:txBody>
                    <a:bodyPr/>
                    <a:lstStyle/>
                    <a:p>
                      <a:pPr algn="ctr"/>
                      <a:r>
                        <a:rPr sz="1000" b="1">
                          <a:solidFill>
                            <a:srgbClr val="FFFFFF"/>
                          </a:solidFill>
                          <a:latin typeface="Carlito"/>
                        </a:rPr>
                        <a:t>FPR calibrée</a:t>
                      </a:r>
                    </a:p>
                  </a:txBody>
                  <a:tcPr marL="54864" marR="54864" marT="18288" marB="18288">
                    <a:solidFill>
                      <a:srgbClr val="1B7A8A"/>
                    </a:solidFill>
                  </a:tcPr>
                </a:tc>
                <a:tc>
                  <a:txBody>
                    <a:bodyPr/>
                    <a:lstStyle/>
                    <a:p>
                      <a:pPr algn="ctr"/>
                      <a:r>
                        <a:rPr sz="1000" b="1">
                          <a:solidFill>
                            <a:srgbClr val="FFFFFF"/>
                          </a:solidFill>
                          <a:latin typeface="Carlito"/>
                        </a:rPr>
                        <a:t>FPR observée sur H=750</a:t>
                      </a:r>
                    </a:p>
                  </a:txBody>
                  <a:tcPr marL="54864" marR="54864" marT="18288" marB="18288">
                    <a:solidFill>
                      <a:srgbClr val="1B7A8A"/>
                    </a:solidFill>
                  </a:tcPr>
                </a:tc>
                <a:tc>
                  <a:txBody>
                    <a:bodyPr/>
                    <a:lstStyle/>
                    <a:p>
                      <a:pPr algn="ctr"/>
                      <a:r>
                        <a:rPr sz="1000" b="1">
                          <a:solidFill>
                            <a:srgbClr val="FFFFFF"/>
                          </a:solidFill>
                          <a:latin typeface="Carlito"/>
                        </a:rPr>
                        <a:t>Lecture</a:t>
                      </a:r>
                    </a:p>
                  </a:txBody>
                  <a:tcPr marL="54864" marR="54864" marT="18288" marB="18288">
                    <a:solidFill>
                      <a:srgbClr val="1B7A8A"/>
                    </a:solidFill>
                  </a:tcPr>
                </a:tc>
              </a:tr>
              <a:tr h="292608">
                <a:tc>
                  <a:txBody>
                    <a:bodyPr/>
                    <a:lstStyle/>
                    <a:p>
                      <a:pPr algn="l"/>
                      <a:r>
                        <a:rPr sz="900" b="0">
                          <a:solidFill>
                            <a:srgbClr val="2C3E50"/>
                          </a:solidFill>
                          <a:latin typeface="Carlito"/>
                        </a:rPr>
                        <a:t>Nulls symétriques : Student, GARCH avec asymétrie de variance, zéros, fonds historiques retournés jour par jour ; </a:t>
                      </a:r>
                      <a:r>
                        <a:rPr sz="900" i="1">
                          <a:solidFill>
                            <a:srgbClr val="2C3E50"/>
                          </a:solidFill>
                          <a:latin typeface="Carlito"/>
                        </a:rPr>
                        <a:t>317 configurations scalaires</a:t>
                      </a:r>
                    </a:p>
                  </a:txBody>
                  <a:tcPr marL="54864" marR="54864" marT="18288" marB="18288">
                    <a:solidFill>
                      <a:srgbClr val="EBF2FA"/>
                    </a:solidFill>
                  </a:tcPr>
                </a:tc>
                <a:tc>
                  <a:txBody>
                    <a:bodyPr/>
                    <a:lstStyle/>
                    <a:p>
                      <a:pPr algn="ctr"/>
                      <a:r>
                        <a:rPr sz="900" b="0">
                          <a:solidFill>
                            <a:srgbClr val="2C3E50"/>
                          </a:solidFill>
                          <a:latin typeface="Carlito"/>
                        </a:rPr>
                        <a:t>Projections ACP ou rendements unitaires ; recentrage théorique </a:t>
                      </a:r>
                    </a:p>
                  </a:txBody>
                  <a:tcPr marL="54864" marR="54864" marT="18288" marB="18288">
                    <a:solidFill>
                      <a:srgbClr val="EBF2FA"/>
                    </a:solidFill>
                  </a:tcPr>
                </a:tc>
                <a:tc>
                  <a:txBody>
                    <a:bodyPr/>
                    <a:lstStyle/>
                    <a:p>
                      <a:pPr algn="ctr"/>
                      <a:r>
                        <a:rPr sz="900" i="1">
                          <a:solidFill>
                            <a:srgbClr val="2C3E50"/>
                          </a:solidFill>
                          <a:latin typeface="Carlito"/>
                        </a:rPr>
                        <a:t>4,3947 %</a:t>
                      </a:r>
                    </a:p>
                  </a:txBody>
                  <a:tcPr marL="54864" marR="54864" marT="18288" marB="18288">
                    <a:solidFill>
                      <a:srgbClr val="EBF2FA"/>
                    </a:solidFill>
                  </a:tcPr>
                </a:tc>
                <a:tc>
                  <a:txBody>
                    <a:bodyPr/>
                    <a:lstStyle/>
                    <a:p>
                      <a:pPr algn="ctr"/>
                      <a:r>
                        <a:rPr sz="900" i="1">
                          <a:solidFill>
                            <a:srgbClr val="2C3E50"/>
                          </a:solidFill>
                          <a:latin typeface="Carlito"/>
                        </a:rPr>
                        <a:t>4,425 %</a:t>
                      </a:r>
                      <a:r>
                        <a:rPr sz="900" b="0">
                          <a:solidFill>
                            <a:srgbClr val="2C3E50"/>
                          </a:solidFill>
                          <a:latin typeface="Carlito"/>
                        </a:rPr>
                        <a:t> (moyenne ; 3/317 hors zone binomiale 99 %)</a:t>
                      </a:r>
                    </a:p>
                  </a:txBody>
                  <a:tcPr marL="54864" marR="54864" marT="18288" marB="18288">
                    <a:solidFill>
                      <a:srgbClr val="EBF2FA"/>
                    </a:solidFill>
                  </a:tcPr>
                </a:tc>
                <a:tc>
                  <a:txBody>
                    <a:bodyPr/>
                    <a:lstStyle/>
                    <a:p>
                      <a:pPr algn="ctr"/>
                      <a:r>
                        <a:rPr sz="900" b="0">
                          <a:solidFill>
                            <a:srgbClr val="2C3E50"/>
                          </a:solidFill>
                          <a:latin typeface="Carlito"/>
                        </a:rPr>
                        <a:t>Concordance moyenne sous les hypothèses</a:t>
                      </a:r>
                    </a:p>
                  </a:txBody>
                  <a:tcPr marL="54864" marR="54864" marT="18288" marB="18288">
                    <a:solidFill>
                      <a:srgbClr val="EBF2FA"/>
                    </a:solidFill>
                  </a:tcPr>
                </a:tc>
              </a:tr>
              <a:tr h="292608">
                <a:tc>
                  <a:txBody>
                    <a:bodyPr/>
                    <a:lstStyle/>
                    <a:p>
                      <a:pPr algn="l"/>
                      <a:r>
                        <a:rPr sz="900" b="0">
                          <a:solidFill>
                            <a:srgbClr val="2C3E50"/>
                          </a:solidFill>
                          <a:latin typeface="Carlito"/>
                        </a:rPr>
                        <a:t>Fonds </a:t>
                      </a:r>
                      <a:r>
                        <a:rPr sz="900" i="1">
                          <a:solidFill>
                            <a:srgbClr val="2C3E50"/>
                          </a:solidFill>
                          <a:latin typeface="Carlito"/>
                        </a:rPr>
                        <a:t>entièrement simulé</a:t>
                      </a:r>
                      <a:r>
                        <a:rPr sz="900" b="0">
                          <a:solidFill>
                            <a:srgbClr val="2C3E50"/>
                          </a:solidFill>
                          <a:latin typeface="Carlito"/>
                        </a:rPr>
                        <a:t> : choc asymétrique commun d'intensité </a:t>
                      </a:r>
                      <a:r>
                        <a:rPr sz="900" b="0">
                          <a:solidFill>
                            <a:srgbClr val="2C3E50"/>
                          </a:solidFill>
                          <a:latin typeface="Carlito"/>
                        </a:rPr>
                        <a:t> / générateur témoin identique mais symétrique</a:t>
                      </a:r>
                    </a:p>
                  </a:txBody>
                  <a:tcPr marL="54864" marR="54864" marT="18288" marB="18288">
                    <a:solidFill>
                      <a:srgbClr val="FFFFFF"/>
                    </a:solidFill>
                  </a:tcPr>
                </a:tc>
                <a:tc>
                  <a:txBody>
                    <a:bodyPr/>
                    <a:lstStyle/>
                    <a:p>
                      <a:pPr algn="ctr"/>
                      <a:r>
                        <a:rPr sz="900" b="0">
                          <a:solidFill>
                            <a:srgbClr val="2C3E50"/>
                          </a:solidFill>
                          <a:latin typeface="Carlito"/>
                        </a:rPr>
                        <a:t>Canal marché de l'ACP, seuil </a:t>
                      </a:r>
                      <a:r>
                        <a:rPr sz="900" i="1">
                          <a:solidFill>
                            <a:srgbClr val="2C3E50"/>
                          </a:solidFill>
                          <a:latin typeface="Carlito"/>
                        </a:rPr>
                        <a:t>inchangé</a:t>
                      </a:r>
                    </a:p>
                  </a:txBody>
                  <a:tcPr marL="54864" marR="54864" marT="18288" marB="18288">
                    <a:solidFill>
                      <a:srgbClr val="FFFFFF"/>
                    </a:solidFill>
                  </a:tcPr>
                </a:tc>
                <a:tc>
                  <a:txBody>
                    <a:bodyPr/>
                    <a:lstStyle/>
                    <a:p>
                      <a:pPr algn="ctr"/>
                      <a:r>
                        <a:rPr sz="900" i="1">
                          <a:solidFill>
                            <a:srgbClr val="2C3E50"/>
                          </a:solidFill>
                          <a:latin typeface="Carlito"/>
                        </a:rPr>
                        <a:t>4,3947 %</a:t>
                      </a:r>
                      <a:r>
                        <a:rPr sz="900" b="0">
                          <a:solidFill>
                            <a:srgbClr val="2C3E50"/>
                          </a:solidFill>
                          <a:latin typeface="Carlito"/>
                        </a:rPr>
                        <a:t> sous null symétrique</a:t>
                      </a:r>
                    </a:p>
                  </a:txBody>
                  <a:tcPr marL="54864" marR="54864" marT="18288" marB="18288">
                    <a:solidFill>
                      <a:srgbClr val="FFFFFF"/>
                    </a:solidFill>
                  </a:tcPr>
                </a:tc>
                <a:tc>
                  <a:txBody>
                    <a:bodyPr/>
                    <a:lstStyle/>
                    <a:p>
                      <a:pPr algn="ctr"/>
                      <a:r>
                        <a:rPr sz="900" i="1">
                          <a:solidFill>
                            <a:srgbClr val="2C3E50"/>
                          </a:solidFill>
                          <a:latin typeface="Carlito"/>
                        </a:rPr>
                        <a:t>9,20 % / 4,80 %</a:t>
                      </a:r>
                      <a:r>
                        <a:rPr sz="900" b="0">
                          <a:solidFill>
                            <a:srgbClr val="2C3E50"/>
                          </a:solidFill>
                          <a:latin typeface="Carlito"/>
                        </a:rPr>
                        <a:t> (témoin)</a:t>
                      </a:r>
                    </a:p>
                  </a:txBody>
                  <a:tcPr marL="54864" marR="54864" marT="18288" marB="18288">
                    <a:solidFill>
                      <a:srgbClr val="FFFFFF"/>
                    </a:solidFill>
                  </a:tcPr>
                </a:tc>
                <a:tc>
                  <a:txBody>
                    <a:bodyPr/>
                    <a:lstStyle/>
                    <a:p>
                      <a:pPr algn="ctr"/>
                      <a:r>
                        <a:rPr sz="900" b="0">
                          <a:solidFill>
                            <a:srgbClr val="2C3E50"/>
                          </a:solidFill>
                          <a:latin typeface="Carlito"/>
                        </a:rPr>
                        <a:t>Le choc brise la symétrie ; inflation +4,4 points</a:t>
                      </a:r>
                    </a:p>
                  </a:txBody>
                  <a:tcPr marL="54864" marR="54864" marT="18288" marB="18288">
                    <a:solidFill>
                      <a:srgbClr val="FFFFFF"/>
                    </a:solidFill>
                  </a:tcPr>
                </a:tc>
              </a:tr>
              <a:tr h="292608">
                <a:tc>
                  <a:txBody>
                    <a:bodyPr/>
                    <a:lstStyle/>
                    <a:p>
                      <a:pPr algn="l"/>
                      <a:r>
                        <a:rPr sz="900" b="0">
                          <a:solidFill>
                            <a:srgbClr val="2C3E50"/>
                          </a:solidFill>
                          <a:latin typeface="Carlito"/>
                        </a:rPr>
                        <a:t>Même générateur, </a:t>
                      </a:r>
                      <a:r>
                        <a:rPr sz="900" b="0">
                          <a:solidFill>
                            <a:srgbClr val="2C3E50"/>
                          </a:solidFill>
                          <a:latin typeface="Carlito"/>
                        </a:rPr>
                        <a:t> / témoin symétrique apparié</a:t>
                      </a:r>
                    </a:p>
                  </a:txBody>
                  <a:tcPr marL="54864" marR="54864" marT="18288" marB="18288">
                    <a:solidFill>
                      <a:srgbClr val="EBF2FA"/>
                    </a:solidFill>
                  </a:tcPr>
                </a:tc>
                <a:tc>
                  <a:txBody>
                    <a:bodyPr/>
                    <a:lstStyle/>
                    <a:p>
                      <a:pPr algn="ctr"/>
                      <a:r>
                        <a:rPr sz="900" b="0">
                          <a:solidFill>
                            <a:srgbClr val="2C3E50"/>
                          </a:solidFill>
                          <a:latin typeface="Carlito"/>
                        </a:rPr>
                        <a:t>Canal marché, seuil </a:t>
                      </a:r>
                      <a:r>
                        <a:rPr sz="900" i="1">
                          <a:solidFill>
                            <a:srgbClr val="2C3E50"/>
                          </a:solidFill>
                          <a:latin typeface="Carlito"/>
                        </a:rPr>
                        <a:t>inchangé</a:t>
                      </a:r>
                    </a:p>
                  </a:txBody>
                  <a:tcPr marL="54864" marR="54864" marT="18288" marB="18288">
                    <a:solidFill>
                      <a:srgbClr val="EBF2FA"/>
                    </a:solidFill>
                  </a:tcPr>
                </a:tc>
                <a:tc>
                  <a:txBody>
                    <a:bodyPr/>
                    <a:lstStyle/>
                    <a:p>
                      <a:pPr algn="ctr"/>
                      <a:r>
                        <a:rPr sz="900" i="1">
                          <a:solidFill>
                            <a:srgbClr val="2C3E50"/>
                          </a:solidFill>
                          <a:latin typeface="Carlito"/>
                        </a:rPr>
                        <a:t>4,3947 %</a:t>
                      </a:r>
                      <a:r>
                        <a:rPr sz="900" b="0">
                          <a:solidFill>
                            <a:srgbClr val="2C3E50"/>
                          </a:solidFill>
                          <a:latin typeface="Carlito"/>
                        </a:rPr>
                        <a:t> sous null symétrique</a:t>
                      </a:r>
                    </a:p>
                  </a:txBody>
                  <a:tcPr marL="54864" marR="54864" marT="18288" marB="18288">
                    <a:solidFill>
                      <a:srgbClr val="EBF2FA"/>
                    </a:solidFill>
                  </a:tcPr>
                </a:tc>
                <a:tc>
                  <a:txBody>
                    <a:bodyPr/>
                    <a:lstStyle/>
                    <a:p>
                      <a:pPr algn="ctr"/>
                      <a:r>
                        <a:rPr sz="900" i="1">
                          <a:solidFill>
                            <a:srgbClr val="2C3E50"/>
                          </a:solidFill>
                          <a:latin typeface="Carlito"/>
                        </a:rPr>
                        <a:t>39,15 % / 4,45 %</a:t>
                      </a:r>
                      <a:r>
                        <a:rPr sz="900" b="0">
                          <a:solidFill>
                            <a:srgbClr val="2C3E50"/>
                          </a:solidFill>
                          <a:latin typeface="Carlito"/>
                        </a:rPr>
                        <a:t> (témoin)</a:t>
                      </a:r>
                    </a:p>
                  </a:txBody>
                  <a:tcPr marL="54864" marR="54864" marT="18288" marB="18288">
                    <a:solidFill>
                      <a:srgbClr val="EBF2FA"/>
                    </a:solidFill>
                  </a:tcPr>
                </a:tc>
                <a:tc>
                  <a:txBody>
                    <a:bodyPr/>
                    <a:lstStyle/>
                    <a:p>
                      <a:pPr algn="ctr"/>
                      <a:r>
                        <a:rPr sz="900" b="0">
                          <a:solidFill>
                            <a:srgbClr val="2C3E50"/>
                          </a:solidFill>
                          <a:latin typeface="Carlito"/>
                        </a:rPr>
                        <a:t>Inflation +34,7 points, sans dérive voulue</a:t>
                      </a:r>
                    </a:p>
                  </a:txBody>
                  <a:tcPr marL="54864" marR="54864" marT="18288" marB="18288">
                    <a:solidFill>
                      <a:srgbClr val="EBF2FA"/>
                    </a:solidFill>
                  </a:tcPr>
                </a:tc>
              </a:tr>
              <a:tr h="292608">
                <a:tc>
                  <a:txBody>
                    <a:bodyPr/>
                    <a:lstStyle/>
                    <a:p>
                      <a:pPr algn="l"/>
                      <a:r>
                        <a:rPr sz="900" b="0">
                          <a:solidFill>
                            <a:srgbClr val="2C3E50"/>
                          </a:solidFill>
                          <a:latin typeface="Carlito"/>
                        </a:rPr>
                        <a:t>Fonds symétriques, mais fréquence des signes </a:t>
                      </a:r>
                      <a:r>
                        <a:rPr sz="900" i="1">
                          <a:solidFill>
                            <a:srgbClr val="2C3E50"/>
                          </a:solidFill>
                          <a:latin typeface="Carlito"/>
                        </a:rPr>
                        <a:t>estimée</a:t>
                      </a:r>
                      <a:r>
                        <a:rPr sz="900" b="0">
                          <a:solidFill>
                            <a:srgbClr val="2C3E50"/>
                          </a:solidFill>
                          <a:latin typeface="Carlito"/>
                        </a:rPr>
                        <a:t> sur 941 jours de calibration (</a:t>
                      </a:r>
                      <a:r>
                        <a:rPr sz="900" b="0">
                          <a:solidFill>
                            <a:srgbClr val="2C3E50"/>
                          </a:solidFill>
                          <a:latin typeface="Carlito"/>
                        </a:rPr>
                        <a:t>)</a:t>
                      </a:r>
                    </a:p>
                  </a:txBody>
                  <a:tcPr marL="54864" marR="54864" marT="18288" marB="18288">
                    <a:solidFill>
                      <a:srgbClr val="FFFFFF"/>
                    </a:solidFill>
                  </a:tcPr>
                </a:tc>
                <a:tc>
                  <a:txBody>
                    <a:bodyPr/>
                    <a:lstStyle/>
                    <a:p>
                      <a:pPr algn="ctr"/>
                      <a:r>
                        <a:rPr sz="900" b="0">
                          <a:solidFill>
                            <a:srgbClr val="2C3E50"/>
                          </a:solidFill>
                          <a:latin typeface="Carlito"/>
                        </a:rPr>
                        <a:t>CUSUM recentré sur </a:t>
                      </a:r>
                      <a:r>
                        <a:rPr sz="900" b="0">
                          <a:solidFill>
                            <a:srgbClr val="2C3E50"/>
                          </a:solidFill>
                          <a:latin typeface="Carlito"/>
                        </a:rPr>
                        <a:t> plutôt que </a:t>
                      </a:r>
                    </a:p>
                  </a:txBody>
                  <a:tcPr marL="54864" marR="54864" marT="18288" marB="18288">
                    <a:solidFill>
                      <a:srgbClr val="FFFFFF"/>
                    </a:solidFill>
                  </a:tcPr>
                </a:tc>
                <a:tc>
                  <a:txBody>
                    <a:bodyPr/>
                    <a:lstStyle/>
                    <a:p>
                      <a:pPr algn="ctr"/>
                      <a:r>
                        <a:rPr sz="900" i="1">
                          <a:solidFill>
                            <a:srgbClr val="2C3E50"/>
                          </a:solidFill>
                          <a:latin typeface="Carlito"/>
                        </a:rPr>
                        <a:t>4,3947 % seulement si q connu</a:t>
                      </a:r>
                      <a:r>
                        <a:rPr sz="900" b="0">
                          <a:solidFill>
                            <a:srgbClr val="2C3E50"/>
                          </a:solidFill>
                          <a:latin typeface="Carlito"/>
                        </a:rPr>
                        <a:t>, pas pour </a:t>
                      </a:r>
                      <a:r>
                        <a:rPr sz="900" b="0">
                          <a:solidFill>
                            <a:srgbClr val="2C3E50"/>
                          </a:solidFill>
                          <a:latin typeface="Carlito"/>
                        </a:rPr>
                        <a:t> aléatoire</a:t>
                      </a:r>
                    </a:p>
                  </a:txBody>
                  <a:tcPr marL="54864" marR="54864" marT="18288" marB="18288">
                    <a:solidFill>
                      <a:srgbClr val="FFFFFF"/>
                    </a:solidFill>
                  </a:tcPr>
                </a:tc>
                <a:tc>
                  <a:txBody>
                    <a:bodyPr/>
                    <a:lstStyle/>
                    <a:p>
                      <a:pPr algn="ctr"/>
                      <a:r>
                        <a:rPr sz="900" i="1">
                          <a:solidFill>
                            <a:srgbClr val="2C3E50"/>
                          </a:solidFill>
                          <a:latin typeface="Carlito"/>
                        </a:rPr>
                        <a:t>5,9–7,75 %</a:t>
                      </a:r>
                      <a:r>
                        <a:rPr sz="900" b="0">
                          <a:solidFill>
                            <a:srgbClr val="2C3E50"/>
                          </a:solidFill>
                          <a:latin typeface="Carlito"/>
                        </a:rPr>
                        <a:t> (canal marché)</a:t>
                      </a:r>
                    </a:p>
                  </a:txBody>
                  <a:tcPr marL="54864" marR="54864" marT="18288" marB="18288">
                    <a:solidFill>
                      <a:srgbClr val="FFFFFF"/>
                    </a:solidFill>
                  </a:tcPr>
                </a:tc>
                <a:tc>
                  <a:txBody>
                    <a:bodyPr/>
                    <a:lstStyle/>
                    <a:p>
                      <a:pPr algn="ctr"/>
                      <a:r>
                        <a:rPr sz="900" b="0">
                          <a:solidFill>
                            <a:srgbClr val="2C3E50"/>
                          </a:solidFill>
                          <a:latin typeface="Carlito"/>
                        </a:rPr>
                        <a:t>Le recentrage estimé </a:t>
                      </a:r>
                      <a:r>
                        <a:rPr sz="900" i="1">
                          <a:solidFill>
                            <a:srgbClr val="2C3E50"/>
                          </a:solidFill>
                          <a:latin typeface="Carlito"/>
                        </a:rPr>
                        <a:t>ne conserve pas</a:t>
                      </a:r>
                      <a:r>
                        <a:rPr sz="900" b="0">
                          <a:solidFill>
                            <a:srgbClr val="2C3E50"/>
                          </a:solidFill>
                          <a:latin typeface="Carlito"/>
                        </a:rPr>
                        <a:t> l'exactitude</a:t>
                      </a:r>
                    </a:p>
                  </a:txBody>
                  <a:tcPr marL="54864" marR="54864" marT="18288" marB="18288">
                    <a:solidFill>
                      <a:srgbClr val="FFFFFF"/>
                    </a:solidFill>
                  </a:tcPr>
                </a:tc>
              </a:tr>
            </a:tbl>
          </a:graphicData>
        </a:graphic>
      </p:graphicFrame>
      <p:sp>
        <p:nvSpPr>
          <p:cNvPr id="10" name="Rectangle 9"/>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P0(b_t=1 | F_(t-1)) = 1/2</a:t>
            </a:r>
          </a:p>
        </p:txBody>
      </p:sp>
      <p:sp>
        <p:nvSpPr>
          <p:cNvPr id="12" name="TextBox 1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Covariance : rotation, étalon et niveau nul</a:t>
            </a:r>
          </a:p>
        </p:txBody>
      </p:sp>
      <p:sp>
        <p:nvSpPr>
          <p:cNvPr id="4" name="Rectangle 3"/>
          <p:cNvSpPr/>
          <p:nvPr/>
        </p:nvSpPr>
        <p:spPr>
          <a:xfrm>
            <a:off x="7434071" y="64008"/>
            <a:ext cx="1435608"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34071" y="64008"/>
            <a:ext cx="143560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RÉSULTATS ÉNERGIE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Rotations de covariance : grands rapports lorsque la référence manque une baisse de variance</a:t>
            </a:r>
          </a:p>
        </p:txBody>
      </p:sp>
      <p:sp>
        <p:nvSpPr>
          <p:cNvPr id="8" name="TextBox 7"/>
          <p:cNvSpPr txBox="1"/>
          <p:nvPr/>
        </p:nvSpPr>
        <p:spPr>
          <a:xfrm>
            <a:off x="438912" y="1325880"/>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Protocole spécifique :</a:t>
            </a:r>
            <a:r>
              <a:rPr sz="1100" b="0">
                <a:solidFill>
                  <a:srgbClr val="2C3E50"/>
                </a:solidFill>
                <a:latin typeface="Carlito"/>
              </a:rPr>
              <a:t> </a:t>
            </a:r>
            <a:r>
              <a:rPr sz="1100" b="0">
                <a:solidFill>
                  <a:srgbClr val="2C3E50"/>
                </a:solidFill>
                <a:latin typeface="Carlito"/>
              </a:rPr>
              <a:t> actifs </a:t>
            </a:r>
            <a:r>
              <a:rPr sz="1100" i="1">
                <a:solidFill>
                  <a:srgbClr val="2C3E50"/>
                </a:solidFill>
                <a:latin typeface="Carlito"/>
              </a:rPr>
              <a:t>entièrement simulés</a:t>
            </a:r>
            <a:r>
              <a:rPr sz="1100" b="0">
                <a:solidFill>
                  <a:srgbClr val="2C3E50"/>
                </a:solidFill>
                <a:latin typeface="Carlito"/>
              </a:rPr>
              <a:t>, corrélation commune </a:t>
            </a:r>
            <a:r>
              <a:rPr sz="1100" b="0">
                <a:solidFill>
                  <a:srgbClr val="2C3E50"/>
                </a:solidFill>
                <a:latin typeface="Carlito"/>
              </a:rPr>
              <a:t>, innovations Student </a:t>
            </a:r>
            <a:r>
              <a:rPr sz="1100" b="0">
                <a:solidFill>
                  <a:srgbClr val="2C3E50"/>
                </a:solidFill>
                <a:latin typeface="Carlito"/>
              </a:rPr>
              <a:t>. Ajustement indépendant </a:t>
            </a:r>
            <a:r>
              <a:rPr sz="1100" i="1">
                <a:solidFill>
                  <a:srgbClr val="2C3E50"/>
                </a:solidFill>
                <a:latin typeface="Carlito"/>
              </a:rPr>
              <a:t>941 jours</a:t>
            </a:r>
            <a:r>
              <a:rPr sz="1100" b="0">
                <a:solidFill>
                  <a:srgbClr val="2C3E50"/>
                </a:solidFill>
                <a:latin typeface="Carlito"/>
              </a:rPr>
              <a:t> ; </a:t>
            </a:r>
            <a:r>
              <a:rPr sz="1100" i="1">
                <a:solidFill>
                  <a:srgbClr val="2C3E50"/>
                </a:solidFill>
                <a:latin typeface="Carlito"/>
              </a:rPr>
              <a:t>2 000 trajectoires de 500 jours pour choisir les seuils et 2 000 pour le test</a:t>
            </a:r>
            <a:r>
              <a:rPr sz="1100" b="0">
                <a:solidFill>
                  <a:srgbClr val="2C3E50"/>
                </a:solidFill>
                <a:latin typeface="Carlito"/>
              </a:rPr>
              <a:t> ; horizon principal </a:t>
            </a:r>
            <a:r>
              <a:rPr sz="1100" i="1">
                <a:solidFill>
                  <a:srgbClr val="2C3E50"/>
                </a:solidFill>
                <a:latin typeface="Carlito"/>
              </a:rPr>
              <a:t>H=250</a:t>
            </a:r>
            <a:r>
              <a:rPr sz="1100" b="0">
                <a:solidFill>
                  <a:srgbClr val="2C3E50"/>
                </a:solidFill>
                <a:latin typeface="Carlito"/>
              </a:rPr>
              <a:t>, cible </a:t>
            </a:r>
            <a:r>
              <a:rPr sz="1100" i="1">
                <a:solidFill>
                  <a:srgbClr val="2C3E50"/>
                </a:solidFill>
                <a:latin typeface="Carlito"/>
              </a:rPr>
              <a:t>FPR 5 %</a:t>
            </a:r>
            <a:r>
              <a:rPr sz="1100" b="0">
                <a:solidFill>
                  <a:srgbClr val="2C3E50"/>
                </a:solidFill>
                <a:latin typeface="Carlito"/>
              </a:rPr>
              <a:t>. Représentation ACP gelée, puis </a:t>
            </a:r>
            <a:r>
              <a:rPr sz="1100" i="1">
                <a:solidFill>
                  <a:srgbClr val="2C3E50"/>
                </a:solidFill>
                <a:latin typeface="Carlito"/>
              </a:rPr>
              <a:t>énergie résiduelle</a:t>
            </a:r>
            <a:r>
              <a:rPr sz="1100" b="0">
                <a:solidFill>
                  <a:srgbClr val="2C3E50"/>
                </a:solidFill>
                <a:latin typeface="Carlito"/>
              </a:rPr>
              <a:t> et CUSUM de hausse.</a:t>
            </a:r>
          </a:p>
        </p:txBody>
      </p:sp>
      <p:sp>
        <p:nvSpPr>
          <p:cNvPr id="9" name="TextBox 8"/>
          <p:cNvSpPr txBox="1"/>
          <p:nvPr/>
        </p:nvSpPr>
        <p:spPr>
          <a:xfrm>
            <a:off x="438912" y="1917572"/>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Comparateur historique :</a:t>
            </a:r>
            <a:r>
              <a:rPr sz="1100" b="0">
                <a:solidFill>
                  <a:srgbClr val="2C3E50"/>
                </a:solidFill>
                <a:latin typeface="Carlito"/>
              </a:rPr>
              <a:t> indice équipondéré </a:t>
            </a:r>
            <a:r>
              <a:rPr sz="1100" b="0">
                <a:solidFill>
                  <a:srgbClr val="2C3E50"/>
                </a:solidFill>
                <a:latin typeface="Carlito"/>
              </a:rPr>
              <a:t> ; détecteur unilatéral sur </a:t>
            </a:r>
            <a:r>
              <a:rPr sz="1100" i="1">
                <a:solidFill>
                  <a:srgbClr val="2C3E50"/>
                </a:solidFill>
                <a:latin typeface="Carlito"/>
              </a:rPr>
              <a:t>l'énergie de cet indice</a:t>
            </a:r>
            <a:r>
              <a:rPr sz="1100" b="0">
                <a:solidFill>
                  <a:srgbClr val="2C3E50"/>
                </a:solidFill>
                <a:latin typeface="Carlito"/>
              </a:rPr>
              <a:t>, </a:t>
            </a:r>
            <a:r>
              <a:rPr sz="1100" b="0">
                <a:solidFill>
                  <a:srgbClr val="2C3E50"/>
                </a:solidFill>
                <a:latin typeface="Carlito"/>
              </a:rPr>
              <a:t> standardisé sur son null. Il teste si une rotation de covariance devient visible par l'indice seul, face à une représentation orthogonale.</a:t>
            </a:r>
          </a:p>
        </p:txBody>
      </p:sp>
      <p:sp>
        <p:nvSpPr>
          <p:cNvPr id="10" name="TextBox 9"/>
          <p:cNvSpPr txBox="1"/>
          <p:nvPr/>
        </p:nvSpPr>
        <p:spPr>
          <a:xfrm>
            <a:off x="438912" y="234861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Amplitudes confirmées par le protocole :</a:t>
            </a:r>
            <a:r>
              <a:rPr sz="1100" b="0">
                <a:solidFill>
                  <a:srgbClr val="2C3E50"/>
                </a:solidFill>
                <a:latin typeface="Carlito"/>
              </a:rPr>
              <a:t> rotations de </a:t>
            </a:r>
            <a:r>
              <a:rPr sz="1100" i="1">
                <a:solidFill>
                  <a:srgbClr val="2C3E50"/>
                </a:solidFill>
                <a:latin typeface="Carlito"/>
              </a:rPr>
              <a:t>15°, 30°, 45°</a:t>
            </a:r>
            <a:r>
              <a:rPr sz="1100" b="0">
                <a:solidFill>
                  <a:srgbClr val="2C3E50"/>
                </a:solidFill>
                <a:latin typeface="Carlito"/>
              </a:rPr>
              <a:t> (dans cet ordre) et informations nominales correspondantes </a:t>
            </a:r>
            <a:r>
              <a:rPr sz="1100" i="1">
                <a:solidFill>
                  <a:srgbClr val="2C3E50"/>
                </a:solidFill>
                <a:latin typeface="Carlito"/>
              </a:rPr>
              <a:t>0,945 / 3,53 / 7,06 nat/jour</a:t>
            </a:r>
            <a:r>
              <a:rPr sz="1100" b="0">
                <a:solidFill>
                  <a:srgbClr val="2C3E50"/>
                </a:solidFill>
                <a:latin typeface="Carlito"/>
              </a:rPr>
              <a:t> ; elles décrivent la construction d'un </a:t>
            </a:r>
            <a:r>
              <a:rPr sz="1100" i="1">
                <a:solidFill>
                  <a:srgbClr val="2C3E50"/>
                </a:solidFill>
                <a:latin typeface="Carlito"/>
              </a:rPr>
              <a:t>fond simulé</a:t>
            </a:r>
            <a:r>
              <a:rPr sz="1100" b="0">
                <a:solidFill>
                  <a:srgbClr val="2C3E50"/>
                </a:solidFill>
                <a:latin typeface="Carlito"/>
              </a:rPr>
              <a:t> et non un angle estimé sur les marchés.</a:t>
            </a:r>
          </a:p>
        </p:txBody>
      </p:sp>
      <p:sp>
        <p:nvSpPr>
          <p:cNvPr id="11" name="TextBox 10"/>
          <p:cNvSpPr txBox="1"/>
          <p:nvPr/>
        </p:nvSpPr>
        <p:spPr>
          <a:xfrm>
            <a:off x="438912" y="2779648"/>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Message :</a:t>
            </a:r>
            <a:r>
              <a:rPr sz="1100" b="0">
                <a:solidFill>
                  <a:srgbClr val="2C3E50"/>
                </a:solidFill>
                <a:latin typeface="Carlito"/>
              </a:rPr>
              <a:t> une différence de délais peut révéler un angle mort du comparateur. La rotation marché–axe 2 </a:t>
            </a:r>
            <a:r>
              <a:rPr sz="1100" i="1">
                <a:solidFill>
                  <a:srgbClr val="2C3E50"/>
                </a:solidFill>
                <a:latin typeface="Carlito"/>
              </a:rPr>
              <a:t>abaisse la variance de l'indice</a:t>
            </a:r>
            <a:r>
              <a:rPr sz="1100" b="0">
                <a:solidFill>
                  <a:srgbClr val="2C3E50"/>
                </a:solidFill>
                <a:latin typeface="Carlito"/>
              </a:rPr>
              <a:t> ; son CUSUM unilatéral d'augmentation déclenche moins souvent que sous le null. Des trajectoires non détectées comptent </a:t>
            </a:r>
            <a:r>
              <a:rPr sz="1100" i="1">
                <a:solidFill>
                  <a:srgbClr val="2C3E50"/>
                </a:solidFill>
                <a:latin typeface="Carlito"/>
              </a:rPr>
              <a:t>250 jours</a:t>
            </a:r>
            <a:r>
              <a:rPr sz="1100" b="0">
                <a:solidFill>
                  <a:srgbClr val="2C3E50"/>
                </a:solidFill>
                <a:latin typeface="Carlito"/>
              </a:rPr>
              <a:t> dans le délai restreint.</a:t>
            </a:r>
          </a:p>
        </p:txBody>
      </p:sp>
      <p:graphicFrame>
        <p:nvGraphicFramePr>
          <p:cNvPr id="12" name="Table 11"/>
          <p:cNvGraphicFramePr>
            <a:graphicFrameLocks noGrp="1"/>
          </p:cNvGraphicFramePr>
          <p:nvPr/>
        </p:nvGraphicFramePr>
        <p:xfrm>
          <a:off x="438912" y="3444493"/>
          <a:ext cx="8275320" cy="1170432"/>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1000" b="1">
                          <a:solidFill>
                            <a:srgbClr val="FFFFFF"/>
                          </a:solidFill>
                          <a:latin typeface="Carlito"/>
                        </a:rPr>
                        <a:t>Transformation injectée après le seuil de rupture</a:t>
                      </a:r>
                    </a:p>
                  </a:txBody>
                  <a:tcPr marL="54864" marR="54864" marT="18288" marB="18288">
                    <a:solidFill>
                      <a:srgbClr val="1B7A8A"/>
                    </a:solidFill>
                  </a:tcPr>
                </a:tc>
                <a:tc>
                  <a:txBody>
                    <a:bodyPr/>
                    <a:lstStyle/>
                    <a:p>
                      <a:pPr algn="ctr"/>
                      <a:r>
                        <a:rPr sz="1000" b="1">
                          <a:solidFill>
                            <a:srgbClr val="FFFFFF"/>
                          </a:solidFill>
                          <a:latin typeface="Carlito"/>
                        </a:rPr>
                        <a:t>Statistique ACP testée</a:t>
                      </a:r>
                    </a:p>
                  </a:txBody>
                  <a:tcPr marL="54864" marR="54864" marT="18288" marB="18288">
                    <a:solidFill>
                      <a:srgbClr val="1B7A8A"/>
                    </a:solidFill>
                  </a:tcPr>
                </a:tc>
                <a:tc>
                  <a:txBody>
                    <a:bodyPr/>
                    <a:lstStyle/>
                    <a:p>
                      <a:pPr algn="ctr"/>
                      <a:r>
                        <a:rPr sz="1000" b="1">
                          <a:solidFill>
                            <a:srgbClr val="FFFFFF"/>
                          </a:solidFill>
                          <a:latin typeface="Carlito"/>
                        </a:rPr>
                        <a:t>FPR test hors dérive</a:t>
                      </a:r>
                    </a:p>
                  </a:txBody>
                  <a:tcPr marL="54864" marR="54864" marT="18288" marB="18288">
                    <a:solidFill>
                      <a:srgbClr val="1B7A8A"/>
                    </a:solidFill>
                  </a:tcPr>
                </a:tc>
                <a:tc>
                  <a:txBody>
                    <a:bodyPr/>
                    <a:lstStyle/>
                    <a:p>
                      <a:pPr algn="ctr"/>
                      <a:r>
                        <a:rPr sz="1000" b="1">
                          <a:solidFill>
                            <a:srgbClr val="FFFFFF"/>
                          </a:solidFill>
                          <a:latin typeface="Carlito"/>
                        </a:rPr>
                        <a:t>Résultat de détection H=250</a:t>
                      </a:r>
                    </a:p>
                  </a:txBody>
                  <a:tcPr marL="54864" marR="54864" marT="18288" marB="18288">
                    <a:solidFill>
                      <a:srgbClr val="1B7A8A"/>
                    </a:solidFill>
                  </a:tcPr>
                </a:tc>
              </a:tr>
              <a:tr h="292608">
                <a:tc>
                  <a:txBody>
                    <a:bodyPr/>
                    <a:lstStyle/>
                    <a:p>
                      <a:pPr algn="l"/>
                      <a:r>
                        <a:rPr sz="900" b="0">
                          <a:solidFill>
                            <a:srgbClr val="2C3E50"/>
                          </a:solidFill>
                          <a:latin typeface="Carlito"/>
                        </a:rPr>
                        <a:t>Rotation entre axe marché et 2e axe, </a:t>
                      </a:r>
                      <a:r>
                        <a:rPr sz="900" i="1">
                          <a:solidFill>
                            <a:srgbClr val="2C3E50"/>
                          </a:solidFill>
                          <a:latin typeface="Carlito"/>
                        </a:rPr>
                        <a:t>15° / 30° / 45°</a:t>
                      </a:r>
                      <a:r>
                        <a:rPr sz="900" b="0">
                          <a:solidFill>
                            <a:srgbClr val="2C3E50"/>
                          </a:solidFill>
                          <a:latin typeface="Carlito"/>
                        </a:rPr>
                        <a:t> ; KL gaussienne nominale correspondante </a:t>
                      </a:r>
                      <a:r>
                        <a:rPr sz="900" i="1">
                          <a:solidFill>
                            <a:srgbClr val="2C3E50"/>
                          </a:solidFill>
                          <a:latin typeface="Carlito"/>
                        </a:rPr>
                        <a:t>0,945 / 3,53 / 7,06 nat/jour</a:t>
                      </a:r>
                    </a:p>
                  </a:txBody>
                  <a:tcPr marL="54864" marR="54864" marT="18288" marB="18288">
                    <a:solidFill>
                      <a:srgbClr val="EBF2FA"/>
                    </a:solidFill>
                  </a:tcPr>
                </a:tc>
                <a:tc>
                  <a:txBody>
                    <a:bodyPr/>
                    <a:lstStyle/>
                    <a:p>
                      <a:pPr algn="ctr"/>
                      <a:r>
                        <a:rPr sz="900" i="1">
                          <a:solidFill>
                            <a:srgbClr val="2C3E50"/>
                          </a:solidFill>
                          <a:latin typeface="Carlito"/>
                        </a:rPr>
                        <a:t>1 seul axe résiduel</a:t>
                      </a:r>
                      <a:r>
                        <a:rPr sz="900" b="0">
                          <a:solidFill>
                            <a:srgbClr val="2C3E50"/>
                          </a:solidFill>
                          <a:latin typeface="Carlito"/>
                        </a:rPr>
                        <a:t> ; PC1 conservé séparément, mais exclu du total énergie</a:t>
                      </a:r>
                    </a:p>
                  </a:txBody>
                  <a:tcPr marL="54864" marR="54864" marT="18288" marB="18288">
                    <a:solidFill>
                      <a:srgbClr val="EBF2FA"/>
                    </a:solidFill>
                  </a:tcPr>
                </a:tc>
                <a:tc>
                  <a:txBody>
                    <a:bodyPr/>
                    <a:lstStyle/>
                    <a:p>
                      <a:pPr algn="ctr"/>
                      <a:r>
                        <a:rPr sz="900" b="0">
                          <a:solidFill>
                            <a:srgbClr val="2C3E50"/>
                          </a:solidFill>
                          <a:latin typeface="Carlito"/>
                        </a:rPr>
                        <a:t>Référence et ACP calibrées vers 5 % sur null simulé</a:t>
                      </a:r>
                    </a:p>
                  </a:txBody>
                  <a:tcPr marL="54864" marR="54864" marT="18288" marB="18288">
                    <a:solidFill>
                      <a:srgbClr val="EBF2FA"/>
                    </a:solidFill>
                  </a:tcPr>
                </a:tc>
                <a:tc>
                  <a:txBody>
                    <a:bodyPr/>
                    <a:lstStyle/>
                    <a:p>
                      <a:pPr algn="ctr"/>
                      <a:r>
                        <a:rPr sz="900" b="0">
                          <a:solidFill>
                            <a:srgbClr val="2C3E50"/>
                          </a:solidFill>
                          <a:latin typeface="Carlito"/>
                        </a:rPr>
                        <a:t>Rapport de délais restreints </a:t>
                      </a:r>
                      <a:r>
                        <a:rPr sz="900" i="1">
                          <a:solidFill>
                            <a:srgbClr val="2C3E50"/>
                          </a:solidFill>
                          <a:latin typeface="Carlito"/>
                        </a:rPr>
                        <a:t>14,59 / 67,71 / 105,42</a:t>
                      </a:r>
                      <a:r>
                        <a:rPr sz="900" b="0">
                          <a:solidFill>
                            <a:srgbClr val="2C3E50"/>
                          </a:solidFill>
                          <a:latin typeface="Carlito"/>
                        </a:rPr>
                        <a:t> ; taux détecté ACP = 100 %</a:t>
                      </a:r>
                    </a:p>
                  </a:txBody>
                  <a:tcPr marL="54864" marR="54864" marT="18288" marB="18288">
                    <a:solidFill>
                      <a:srgbClr val="EBF2FA"/>
                    </a:solidFill>
                  </a:tcPr>
                </a:tc>
              </a:tr>
              <a:tr h="292608">
                <a:tc>
                  <a:txBody>
                    <a:bodyPr/>
                    <a:lstStyle/>
                    <a:p>
                      <a:pPr algn="l"/>
                      <a:r>
                        <a:rPr sz="900" b="0">
                          <a:solidFill>
                            <a:srgbClr val="2C3E50"/>
                          </a:solidFill>
                          <a:latin typeface="Carlito"/>
                        </a:rPr>
                        <a:t>Rotation 2e–3e axes (contrôle négatif)</a:t>
                      </a:r>
                    </a:p>
                  </a:txBody>
                  <a:tcPr marL="54864" marR="54864" marT="18288" marB="18288">
                    <a:solidFill>
                      <a:srgbClr val="FFFFFF"/>
                    </a:solidFill>
                  </a:tcPr>
                </a:tc>
                <a:tc>
                  <a:txBody>
                    <a:bodyPr/>
                    <a:lstStyle/>
                    <a:p>
                      <a:pPr algn="ctr"/>
                      <a:r>
                        <a:rPr sz="900" b="0">
                          <a:solidFill>
                            <a:srgbClr val="2C3E50"/>
                          </a:solidFill>
                          <a:latin typeface="Carlito"/>
                        </a:rPr>
                        <a:t>Même capteur</a:t>
                      </a:r>
                    </a:p>
                  </a:txBody>
                  <a:tcPr marL="54864" marR="54864" marT="18288" marB="18288">
                    <a:solidFill>
                      <a:srgbClr val="FFFFFF"/>
                    </a:solidFill>
                  </a:tcPr>
                </a:tc>
                <a:tc>
                  <a:txBody>
                    <a:bodyPr/>
                    <a:lstStyle/>
                    <a:p>
                      <a:pPr algn="ctr"/>
                      <a:r>
                        <a:rPr sz="900" b="0">
                          <a:solidFill>
                            <a:srgbClr val="2C3E50"/>
                          </a:solidFill>
                          <a:latin typeface="Carlito"/>
                        </a:rPr>
                        <a:t>Comparaison au FPR propre de chaque méthode</a:t>
                      </a:r>
                    </a:p>
                  </a:txBody>
                  <a:tcPr marL="54864" marR="54864" marT="18288" marB="18288">
                    <a:solidFill>
                      <a:srgbClr val="FFFFFF"/>
                    </a:solidFill>
                  </a:tcPr>
                </a:tc>
                <a:tc>
                  <a:txBody>
                    <a:bodyPr/>
                    <a:lstStyle/>
                    <a:p>
                      <a:pPr algn="ctr"/>
                      <a:r>
                        <a:rPr sz="900" b="0">
                          <a:solidFill>
                            <a:srgbClr val="2C3E50"/>
                          </a:solidFill>
                          <a:latin typeface="Carlito"/>
                        </a:rPr>
                        <a:t>Taux de détection </a:t>
                      </a:r>
                      <a:r>
                        <a:rPr sz="900" i="1">
                          <a:solidFill>
                            <a:srgbClr val="2C3E50"/>
                          </a:solidFill>
                          <a:latin typeface="Carlito"/>
                        </a:rPr>
                        <a:t>au niveau du null</a:t>
                      </a:r>
                      <a:r>
                        <a:rPr sz="900" b="0">
                          <a:solidFill>
                            <a:srgbClr val="2C3E50"/>
                          </a:solidFill>
                          <a:latin typeface="Carlito"/>
                        </a:rPr>
                        <a:t> ; pas de gain discernable</a:t>
                      </a:r>
                    </a:p>
                  </a:txBody>
                  <a:tcPr marL="54864" marR="54864" marT="18288" marB="18288">
                    <a:solidFill>
                      <a:srgbClr val="FFFFFF"/>
                    </a:solidFill>
                  </a:tcPr>
                </a:tc>
              </a:tr>
              <a:tr h="292608">
                <a:tc>
                  <a:txBody>
                    <a:bodyPr/>
                    <a:lstStyle/>
                    <a:p>
                      <a:pPr algn="l"/>
                      <a:r>
                        <a:rPr sz="900" b="0">
                          <a:solidFill>
                            <a:srgbClr val="2C3E50"/>
                          </a:solidFill>
                          <a:latin typeface="Carlito"/>
                        </a:rPr>
                        <a:t>Amplification sur axes 2–4 avec facteurs de variance </a:t>
                      </a:r>
                    </a:p>
                  </a:txBody>
                  <a:tcPr marL="54864" marR="54864" marT="18288" marB="18288">
                    <a:solidFill>
                      <a:srgbClr val="EBF2FA"/>
                    </a:solidFill>
                  </a:tcPr>
                </a:tc>
                <a:tc>
                  <a:txBody>
                    <a:bodyPr/>
                    <a:lstStyle/>
                    <a:p>
                      <a:pPr algn="ctr"/>
                      <a:r>
                        <a:rPr sz="900" b="0">
                          <a:solidFill>
                            <a:srgbClr val="2C3E50"/>
                          </a:solidFill>
                          <a:latin typeface="Carlito"/>
                        </a:rPr>
                        <a:t>Même capteur</a:t>
                      </a:r>
                    </a:p>
                  </a:txBody>
                  <a:tcPr marL="54864" marR="54864" marT="18288" marB="18288">
                    <a:solidFill>
                      <a:srgbClr val="EBF2FA"/>
                    </a:solidFill>
                  </a:tcPr>
                </a:tc>
                <a:tc>
                  <a:txBody>
                    <a:bodyPr/>
                    <a:lstStyle/>
                    <a:p>
                      <a:pPr algn="ctr"/>
                      <a:r>
                        <a:rPr sz="900" b="0">
                          <a:solidFill>
                            <a:srgbClr val="2C3E50"/>
                          </a:solidFill>
                          <a:latin typeface="Carlito"/>
                        </a:rPr>
                        <a:t>Identique</a:t>
                      </a:r>
                    </a:p>
                  </a:txBody>
                  <a:tcPr marL="54864" marR="54864" marT="18288" marB="18288">
                    <a:solidFill>
                      <a:srgbClr val="EBF2FA"/>
                    </a:solidFill>
                  </a:tcPr>
                </a:tc>
                <a:tc>
                  <a:txBody>
                    <a:bodyPr/>
                    <a:lstStyle/>
                    <a:p>
                      <a:pPr algn="ctr"/>
                      <a:r>
                        <a:rPr sz="900" b="0">
                          <a:solidFill>
                            <a:srgbClr val="2C3E50"/>
                          </a:solidFill>
                          <a:latin typeface="Carlito"/>
                        </a:rPr>
                        <a:t>Rapports </a:t>
                      </a:r>
                      <a:r>
                        <a:rPr sz="900" i="1">
                          <a:solidFill>
                            <a:srgbClr val="2C3E50"/>
                          </a:solidFill>
                          <a:latin typeface="Carlito"/>
                        </a:rPr>
                        <a:t>1,031 / 1,066 / 1,161</a:t>
                      </a:r>
                      <a:r>
                        <a:rPr sz="900" b="0">
                          <a:solidFill>
                            <a:srgbClr val="2C3E50"/>
                          </a:solidFill>
                          <a:latin typeface="Carlito"/>
                        </a:rPr>
                        <a:t> ; résultat non concluant</a:t>
                      </a:r>
                    </a:p>
                  </a:txBody>
                  <a:tcPr marL="54864" marR="54864" marT="18288" marB="18288">
                    <a:solidFill>
                      <a:srgbClr val="EBF2FA"/>
                    </a:solidFill>
                  </a:tcPr>
                </a:tc>
              </a:tr>
            </a:tbl>
          </a:graphicData>
        </a:graphic>
      </p:graphicFrame>
      <p:sp>
        <p:nvSpPr>
          <p:cNvPr id="13" name="Rectangle 12"/>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G_250 = moyenne[min(T_indice,250)] / moyenne[min(T_ACP,250)]</a:t>
            </a:r>
          </a:p>
        </p:txBody>
      </p:sp>
      <p:sp>
        <p:nvSpPr>
          <p:cNvPr id="15" name="TextBox 1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Normalisation transversale sans réseau</a:t>
            </a:r>
          </a:p>
        </p:txBody>
      </p:sp>
      <p:sp>
        <p:nvSpPr>
          <p:cNvPr id="4" name="Rectangle 3"/>
          <p:cNvSpPr/>
          <p:nvPr/>
        </p:nvSpPr>
        <p:spPr>
          <a:xfrm>
            <a:off x="7662671" y="64008"/>
            <a:ext cx="1207008"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62671" y="64008"/>
            <a:ext cx="120700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IMPLÉMENTÉ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Degré zéro : une direction résiduelle, un canal d'amplitude distinct</a:t>
            </a:r>
          </a:p>
        </p:txBody>
      </p:sp>
      <p:sp>
        <p:nvSpPr>
          <p:cNvPr id="8" name="Rectangle 7"/>
          <p:cNvSpPr/>
          <p:nvPr/>
        </p:nvSpPr>
        <p:spPr>
          <a:xfrm>
            <a:off x="530352" y="1325880"/>
            <a:ext cx="3474720" cy="146304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371600"/>
            <a:ext cx="338328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résidu normalisé / signes</a:t>
            </a:r>
          </a:p>
        </p:txBody>
      </p:sp>
      <p:sp>
        <p:nvSpPr>
          <p:cNvPr id="10" name="TextBox 9"/>
          <p:cNvSpPr txBox="1"/>
          <p:nvPr/>
        </p:nvSpPr>
        <p:spPr>
          <a:xfrm>
            <a:off x="576072" y="1645919"/>
            <a:ext cx="3383280" cy="86868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2C3E50"/>
                </a:solidFill>
                <a:latin typeface="Carlito"/>
              </a:rPr>
              <a:t>p_t = r_t - b*(b'*r_t)</a:t>
            </a:r>
          </a:p>
          <a:p>
            <a:pPr algn="ctr">
              <a:lnSpc>
                <a:spcPts val="1035"/>
              </a:lnSpc>
              <a:spcAft>
                <a:spcPts val="0"/>
              </a:spcAft>
            </a:pPr>
            <a:r>
              <a:rPr sz="900" b="0">
                <a:solidFill>
                  <a:srgbClr val="2C3E50"/>
                </a:solidFill>
                <a:latin typeface="Carlito"/>
              </a:rPr>
              <a:t>z_t = U'*p_t / ||p_t||</a:t>
            </a:r>
          </a:p>
          <a:p>
            <a:pPr algn="ctr">
              <a:lnSpc>
                <a:spcPts val="1035"/>
              </a:lnSpc>
              <a:spcAft>
                <a:spcPts val="0"/>
              </a:spcAft>
            </a:pPr>
          </a:p>
          <a:p>
            <a:pPr algn="ctr">
              <a:lnSpc>
                <a:spcPts val="1035"/>
              </a:lnSpc>
              <a:spcAft>
                <a:spcPts val="0"/>
              </a:spcAft>
            </a:pPr>
            <a:r>
              <a:rPr sz="900" b="0">
                <a:solidFill>
                  <a:srgbClr val="2C3E50"/>
                </a:solidFill>
                <a:latin typeface="Carlito"/>
              </a:rPr>
              <a:t>z_t impaire normalisée</a:t>
            </a:r>
          </a:p>
          <a:p>
            <a:pPr algn="ctr">
              <a:lnSpc>
                <a:spcPts val="1035"/>
              </a:lnSpc>
              <a:spcAft>
                <a:spcPts val="0"/>
              </a:spcAft>
            </a:pPr>
            <a:r>
              <a:rPr sz="900" b="0">
                <a:solidFill>
                  <a:srgbClr val="2C3E50"/>
                </a:solidFill>
                <a:latin typeface="Carlito"/>
              </a:rPr>
              <a:t>canal signes avec mises adaptatives</a:t>
            </a:r>
          </a:p>
        </p:txBody>
      </p:sp>
      <p:sp>
        <p:nvSpPr>
          <p:cNvPr id="11" name="Right Arrow 10"/>
          <p:cNvSpPr/>
          <p:nvPr/>
        </p:nvSpPr>
        <p:spPr>
          <a:xfrm>
            <a:off x="4096512" y="1965960"/>
            <a:ext cx="320040" cy="182880"/>
          </a:xfrm>
          <a:prstGeom prst="rightArrow">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07992" y="1325880"/>
            <a:ext cx="3474720" cy="1463040"/>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371600"/>
            <a:ext cx="338328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8E44AD"/>
                </a:solidFill>
                <a:latin typeface="Carlito"/>
              </a:rPr>
              <a:t>norme résiduelle / amplitude</a:t>
            </a:r>
          </a:p>
        </p:txBody>
      </p:sp>
      <p:sp>
        <p:nvSpPr>
          <p:cNvPr id="14" name="TextBox 13"/>
          <p:cNvSpPr txBox="1"/>
          <p:nvPr/>
        </p:nvSpPr>
        <p:spPr>
          <a:xfrm>
            <a:off x="4553712" y="1645919"/>
            <a:ext cx="3383280" cy="86868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2C3E50"/>
                </a:solidFill>
                <a:latin typeface="Carlito"/>
              </a:rPr>
              <a:t>||p_t|| = norme euclidienne du résidu</a:t>
            </a:r>
          </a:p>
          <a:p>
            <a:pPr algn="ctr">
              <a:lnSpc>
                <a:spcPts val="1035"/>
              </a:lnSpc>
              <a:spcAft>
                <a:spcPts val="0"/>
              </a:spcAft>
            </a:pPr>
          </a:p>
          <a:p>
            <a:pPr algn="ctr">
              <a:lnSpc>
                <a:spcPts val="1035"/>
              </a:lnSpc>
              <a:spcAft>
                <a:spcPts val="0"/>
              </a:spcAft>
            </a:pPr>
            <a:r>
              <a:rPr sz="900" b="0">
                <a:solidFill>
                  <a:srgbClr val="2C3E50"/>
                </a:solidFill>
                <a:latin typeface="Carlito"/>
              </a:rPr>
              <a:t>canal pair séparé</a:t>
            </a:r>
          </a:p>
          <a:p>
            <a:pPr algn="ctr">
              <a:lnSpc>
                <a:spcPts val="1035"/>
              </a:lnSpc>
              <a:spcAft>
                <a:spcPts val="0"/>
              </a:spcAft>
            </a:pPr>
            <a:r>
              <a:rPr sz="900" b="0">
                <a:solidFill>
                  <a:srgbClr val="2C3E50"/>
                </a:solidFill>
                <a:latin typeface="Carlito"/>
              </a:rPr>
              <a:t>porte l'amplitude supprimée</a:t>
            </a:r>
          </a:p>
          <a:p>
            <a:pPr algn="ctr">
              <a:lnSpc>
                <a:spcPts val="1035"/>
              </a:lnSpc>
              <a:spcAft>
                <a:spcPts val="0"/>
              </a:spcAft>
            </a:pPr>
            <a:r>
              <a:rPr sz="900" b="0">
                <a:solidFill>
                  <a:srgbClr val="2C3E50"/>
                </a:solidFill>
                <a:latin typeface="Carlito"/>
              </a:rPr>
              <a:t>de la direction normalisée</a:t>
            </a:r>
          </a:p>
        </p:txBody>
      </p:sp>
      <p:sp>
        <p:nvSpPr>
          <p:cNvPr id="15" name="TextBox 14"/>
          <p:cNvSpPr txBox="1"/>
          <p:nvPr/>
        </p:nvSpPr>
        <p:spPr>
          <a:xfrm>
            <a:off x="438912" y="2807208"/>
            <a:ext cx="82753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b = 1er vecteur propre ACP (marché), U = axes résiduels — tous deux gelés</a:t>
            </a:r>
          </a:p>
        </p:txBody>
      </p:sp>
      <p:sp>
        <p:nvSpPr>
          <p:cNvPr id="16" name="TextBox 15"/>
          <p:cNvSpPr txBox="1"/>
          <p:nvPr/>
        </p:nvSpPr>
        <p:spPr>
          <a:xfrm>
            <a:off x="438912" y="260604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Entrée :</a:t>
            </a:r>
            <a:r>
              <a:rPr sz="1100" b="0">
                <a:solidFill>
                  <a:srgbClr val="2C3E50"/>
                </a:solidFill>
                <a:latin typeface="Carlito"/>
              </a:rPr>
              <a:t> vecteur de rendements </a:t>
            </a:r>
            <a:r>
              <a:rPr sz="1100" b="0">
                <a:solidFill>
                  <a:srgbClr val="2C3E50"/>
                </a:solidFill>
                <a:latin typeface="Carlito"/>
              </a:rPr>
              <a:t> d'un jour réel ou simulé ; </a:t>
            </a:r>
            <a:r>
              <a:rPr sz="1100" b="0">
                <a:solidFill>
                  <a:srgbClr val="2C3E50"/>
                </a:solidFill>
                <a:latin typeface="Carlito"/>
              </a:rPr>
              <a:t> = premier vecteur propre ACP de longueur 1 (marché), gelé ; </a:t>
            </a:r>
            <a:r>
              <a:rPr sz="1100" b="0">
                <a:solidFill>
                  <a:srgbClr val="2C3E50"/>
                </a:solidFill>
                <a:latin typeface="Carlito"/>
              </a:rPr>
              <a:t> = matrice dont les colonnes sont les directions résiduelles ACP choisies, gelées. Le résidu </a:t>
            </a:r>
            <a:r>
              <a:rPr sz="1100" b="0">
                <a:solidFill>
                  <a:srgbClr val="2C3E50"/>
                </a:solidFill>
                <a:latin typeface="Carlito"/>
              </a:rPr>
              <a:t> est orthogonal à </a:t>
            </a:r>
            <a:r>
              <a:rPr sz="1100" b="0">
                <a:solidFill>
                  <a:srgbClr val="2C3E50"/>
                </a:solidFill>
                <a:latin typeface="Carlito"/>
              </a:rPr>
              <a:t> ; on le divise par sa </a:t>
            </a:r>
            <a:r>
              <a:rPr sz="1100" i="1">
                <a:solidFill>
                  <a:srgbClr val="2C3E50"/>
                </a:solidFill>
                <a:latin typeface="Carlito"/>
              </a:rPr>
              <a:t>norme euclidienne</a:t>
            </a:r>
            <a:r>
              <a:rPr sz="1100" b="0">
                <a:solidFill>
                  <a:srgbClr val="2C3E50"/>
                </a:solidFill>
                <a:latin typeface="Carlito"/>
              </a:rPr>
              <a:t> </a:t>
            </a:r>
            <a:r>
              <a:rPr sz="1100" b="0">
                <a:solidFill>
                  <a:srgbClr val="2C3E50"/>
                </a:solidFill>
                <a:latin typeface="Carlito"/>
              </a:rPr>
              <a:t>.</a:t>
            </a:r>
          </a:p>
        </p:txBody>
      </p:sp>
      <p:sp>
        <p:nvSpPr>
          <p:cNvPr id="17" name="TextBox 16"/>
          <p:cNvSpPr txBox="1"/>
          <p:nvPr/>
        </p:nvSpPr>
        <p:spPr>
          <a:xfrm>
            <a:off x="438912" y="303707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Sortie impaire normalisée :</a:t>
            </a:r>
            <a:r>
              <a:rPr sz="1100" b="0">
                <a:solidFill>
                  <a:srgbClr val="2C3E50"/>
                </a:solidFill>
                <a:latin typeface="Carlito"/>
              </a:rPr>
              <a:t> </a:t>
            </a:r>
            <a:r>
              <a:rPr sz="1100" b="0">
                <a:solidFill>
                  <a:srgbClr val="2C3E50"/>
                </a:solidFill>
                <a:latin typeface="Carlito"/>
              </a:rPr>
              <a:t>. Si </a:t>
            </a:r>
            <a:r>
              <a:rPr sz="1100" b="0">
                <a:solidFill>
                  <a:srgbClr val="2C3E50"/>
                </a:solidFill>
                <a:latin typeface="Carlito"/>
              </a:rPr>
              <a:t>, convention </a:t>
            </a:r>
            <a:r>
              <a:rPr sz="1100" b="0">
                <a:solidFill>
                  <a:srgbClr val="2C3E50"/>
                </a:solidFill>
                <a:latin typeface="Carlito"/>
              </a:rPr>
              <a:t>. Le canal pair séparé contient </a:t>
            </a:r>
            <a:r>
              <a:rPr sz="1100" b="0">
                <a:solidFill>
                  <a:srgbClr val="2C3E50"/>
                </a:solidFill>
                <a:latin typeface="Carlito"/>
              </a:rPr>
              <a:t> : il porte l'amplitude supprimée de la direction normalisée.</a:t>
            </a:r>
          </a:p>
        </p:txBody>
      </p:sp>
      <p:sp>
        <p:nvSpPr>
          <p:cNvPr id="18" name="TextBox 17"/>
          <p:cNvSpPr txBox="1"/>
          <p:nvPr/>
        </p:nvSpPr>
        <p:spPr>
          <a:xfrm>
            <a:off x="438912" y="3468116"/>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Ce qui est effectivement surveillé :</a:t>
            </a:r>
            <a:r>
              <a:rPr sz="1100" b="0">
                <a:solidFill>
                  <a:srgbClr val="2C3E50"/>
                </a:solidFill>
                <a:latin typeface="Carlito"/>
              </a:rPr>
              <a:t> variantes de détecteurs </a:t>
            </a:r>
            <a:r>
              <a:rPr sz="1100" i="1">
                <a:solidFill>
                  <a:srgbClr val="2C3E50"/>
                </a:solidFill>
                <a:latin typeface="Carlito"/>
              </a:rPr>
              <a:t>de signes</a:t>
            </a:r>
            <a:r>
              <a:rPr sz="1100" b="0">
                <a:solidFill>
                  <a:srgbClr val="2C3E50"/>
                </a:solidFill>
                <a:latin typeface="Carlito"/>
              </a:rPr>
              <a:t> sur </a:t>
            </a:r>
            <a:r>
              <a:rPr sz="1100" b="0">
                <a:solidFill>
                  <a:srgbClr val="2C3E50"/>
                </a:solidFill>
                <a:latin typeface="Carlito"/>
              </a:rPr>
              <a:t> avec mélanges de mises. La division par une norme positive </a:t>
            </a:r>
            <a:r>
              <a:rPr sz="1100" i="1">
                <a:solidFill>
                  <a:srgbClr val="2C3E50"/>
                </a:solidFill>
                <a:latin typeface="Carlito"/>
              </a:rPr>
              <a:t>ne change aucun signe</a:t>
            </a:r>
            <a:r>
              <a:rPr sz="1100" b="0">
                <a:solidFill>
                  <a:srgbClr val="2C3E50"/>
                </a:solidFill>
                <a:latin typeface="Carlito"/>
              </a:rPr>
              <a:t> : elle ne peut améliorer un détecteur reposant </a:t>
            </a:r>
            <a:r>
              <a:rPr sz="1100" i="1">
                <a:solidFill>
                  <a:srgbClr val="2C3E50"/>
                </a:solidFill>
                <a:latin typeface="Carlito"/>
              </a:rPr>
              <a:t>exclusivement sur ces mêmes signes</a:t>
            </a:r>
            <a:r>
              <a:rPr sz="1100" b="0">
                <a:solidFill>
                  <a:srgbClr val="2C3E50"/>
                </a:solidFill>
                <a:latin typeface="Carlito"/>
              </a:rPr>
              <a:t> sans changement de mise ou de règle de test.</a:t>
            </a:r>
          </a:p>
        </p:txBody>
      </p:sp>
      <p:sp>
        <p:nvSpPr>
          <p:cNvPr id="19" name="TextBox 18"/>
          <p:cNvSpPr txBox="1"/>
          <p:nvPr/>
        </p:nvSpPr>
        <p:spPr>
          <a:xfrm>
            <a:off x="438912" y="4059809"/>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Mises adaptatives de la variante testée :</a:t>
            </a:r>
            <a:r>
              <a:rPr sz="1100" b="0">
                <a:solidFill>
                  <a:srgbClr val="2C3E50"/>
                </a:solidFill>
                <a:latin typeface="Carlito"/>
              </a:rPr>
              <a:t> le montant de mise du jour dépend d'une moyenne mobile de </a:t>
            </a:r>
            <a:r>
              <a:rPr sz="1100" i="1">
                <a:solidFill>
                  <a:srgbClr val="2C3E50"/>
                </a:solidFill>
                <a:latin typeface="Carlito"/>
              </a:rPr>
              <a:t>normes résiduelles passées</a:t>
            </a:r>
            <a:r>
              <a:rPr sz="1100" b="0">
                <a:solidFill>
                  <a:srgbClr val="2C3E50"/>
                </a:solidFill>
                <a:latin typeface="Carlito"/>
              </a:rPr>
              <a:t>, demi-vie 20 jours, plafonnée à 0,5. Ce mécanisme peut expliquer un gain ; ce n'est pas l'ACP ni un nouveau détecteur d'énergie. La normalisation </a:t>
            </a:r>
            <a:r>
              <a:rPr sz="1100" i="1">
                <a:solidFill>
                  <a:srgbClr val="2C3E50"/>
                </a:solidFill>
                <a:latin typeface="Carlito"/>
              </a:rPr>
              <a:t>n'est pas</a:t>
            </a:r>
            <a:r>
              <a:rPr sz="1100" b="0">
                <a:solidFill>
                  <a:srgbClr val="2C3E50"/>
                </a:solidFill>
                <a:latin typeface="Carlito"/>
              </a:rPr>
              <a:t> la formule du capteur d'énergie ACP : ce dernier utilise les scores </a:t>
            </a:r>
            <a:r>
              <a:rPr sz="1100" i="1">
                <a:solidFill>
                  <a:srgbClr val="2C3E50"/>
                </a:solidFill>
                <a:latin typeface="Carlito"/>
              </a:rPr>
              <a:t>non divisés par `||p_t||`</a:t>
            </a:r>
            <a:r>
              <a:rPr sz="1100" b="0">
                <a:solidFill>
                  <a:srgbClr val="2C3E50"/>
                </a:solidFill>
                <a:latin typeface="Carlito"/>
              </a:rPr>
              <a:t>.</a:t>
            </a:r>
          </a:p>
        </p:txBody>
      </p:sp>
      <p:sp>
        <p:nvSpPr>
          <p:cNvPr id="20" name="Rectangle 19"/>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p_t = r_t - b*(b'*r_t) ; z_t = U'*p_t / ||p_t|| (si ||p_t||&gt;0)</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Coût et information : expérience théorique complète</a:t>
            </a:r>
          </a:p>
        </p:txBody>
      </p:sp>
      <p:sp>
        <p:nvSpPr>
          <p:cNvPr id="4" name="Rectangle 3"/>
          <p:cNvSpPr/>
          <p:nvPr/>
        </p:nvSpPr>
        <p:spPr>
          <a:xfrm>
            <a:off x="7168895" y="64008"/>
            <a:ext cx="17007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68895" y="64008"/>
            <a:ext cx="17007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MODÈLE THÉORIQUE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Optimiser information conservée / coût : objectif défini, valeur calculée, hypothèses affichées</a:t>
            </a:r>
          </a:p>
        </p:txBody>
      </p:sp>
      <p:sp>
        <p:nvSpPr>
          <p:cNvPr id="8" name="TextBox 7"/>
          <p:cNvSpPr txBox="1"/>
          <p:nvPr/>
        </p:nvSpPr>
        <p:spPr>
          <a:xfrm>
            <a:off x="438912" y="1325880"/>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Ce n'est pas une expérience ACP, JEPA ou pooling sur rendements réels.</a:t>
            </a:r>
            <a:r>
              <a:rPr sz="1100" b="0">
                <a:solidFill>
                  <a:srgbClr val="2C3E50"/>
                </a:solidFill>
                <a:latin typeface="Carlito"/>
              </a:rPr>
              <a:t> Modèle pédagogique : observations </a:t>
            </a:r>
            <a:r>
              <a:rPr sz="1100" i="1">
                <a:solidFill>
                  <a:srgbClr val="2C3E50"/>
                </a:solidFill>
                <a:latin typeface="Carlito"/>
              </a:rPr>
              <a:t>gaussiennes indépendantes</a:t>
            </a:r>
            <a:r>
              <a:rPr sz="1100" b="0">
                <a:solidFill>
                  <a:srgbClr val="2C3E50"/>
                </a:solidFill>
                <a:latin typeface="Carlito"/>
              </a:rPr>
              <a:t>, covariance identité dans l'espace représenté, dérive de moyenne inconnue, mélange de moyennes candidates de variance adaptée, </a:t>
            </a:r>
            <a:r>
              <a:rPr sz="1100" b="0">
                <a:solidFill>
                  <a:srgbClr val="2C3E50"/>
                </a:solidFill>
                <a:latin typeface="Carlito"/>
              </a:rPr>
              <a:t>, </a:t>
            </a:r>
            <a:r>
              <a:rPr sz="1100" i="1">
                <a:solidFill>
                  <a:srgbClr val="2C3E50"/>
                </a:solidFill>
                <a:latin typeface="Carlito"/>
              </a:rPr>
              <a:t>500 coordonnées initiales</a:t>
            </a:r>
            <a:r>
              <a:rPr sz="1100" b="0">
                <a:solidFill>
                  <a:srgbClr val="2C3E50"/>
                </a:solidFill>
                <a:latin typeface="Carlito"/>
              </a:rPr>
              <a:t>.</a:t>
            </a:r>
          </a:p>
        </p:txBody>
      </p:sp>
      <p:sp>
        <p:nvSpPr>
          <p:cNvPr id="9" name="TextBox 8"/>
          <p:cNvSpPr txBox="1"/>
          <p:nvPr/>
        </p:nvSpPr>
        <p:spPr>
          <a:xfrm>
            <a:off x="438912" y="1917572"/>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On </a:t>
            </a:r>
            <a:r>
              <a:rPr sz="1100" i="1">
                <a:solidFill>
                  <a:srgbClr val="2C3E50"/>
                </a:solidFill>
                <a:latin typeface="Carlito"/>
              </a:rPr>
              <a:t>suppose</a:t>
            </a:r>
            <a:r>
              <a:rPr sz="1100" b="0">
                <a:solidFill>
                  <a:srgbClr val="2C3E50"/>
                </a:solidFill>
                <a:latin typeface="Carlito"/>
              </a:rPr>
              <a:t>, uniquement pour chiffrer l'information retenue, une suite décroissante d'information par direction </a:t>
            </a:r>
            <a:r>
              <a:rPr sz="1100" b="0">
                <a:solidFill>
                  <a:srgbClr val="2C3E50"/>
                </a:solidFill>
                <a:latin typeface="Carlito"/>
              </a:rPr>
              <a:t>, k de 1 à 500. </a:t>
            </a:r>
            <a:r>
              <a:rPr sz="1100" b="0">
                <a:solidFill>
                  <a:srgbClr val="2C3E50"/>
                </a:solidFill>
                <a:latin typeface="Carlito"/>
              </a:rPr>
              <a:t> ; </a:t>
            </a:r>
            <a:r>
              <a:rPr sz="1100" b="0">
                <a:solidFill>
                  <a:srgbClr val="2C3E50"/>
                </a:solidFill>
                <a:latin typeface="Carlito"/>
              </a:rPr>
              <a:t> ; le coût </a:t>
            </a:r>
            <a:r>
              <a:rPr sz="1100" b="0">
                <a:solidFill>
                  <a:srgbClr val="2C3E50"/>
                </a:solidFill>
                <a:latin typeface="Carlito"/>
              </a:rPr>
              <a:t> est obtenu en résolvant l'équation de preuve mélangée, non par simulation financière.</a:t>
            </a:r>
          </a:p>
        </p:txBody>
      </p:sp>
      <p:sp>
        <p:nvSpPr>
          <p:cNvPr id="10" name="TextBox 9"/>
          <p:cNvSpPr txBox="1"/>
          <p:nvPr/>
        </p:nvSpPr>
        <p:spPr>
          <a:xfrm>
            <a:off x="438912" y="2509265"/>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Objectif construit pour ce modèle</a:t>
            </a:r>
            <a:r>
              <a:rPr sz="1100" b="0">
                <a:solidFill>
                  <a:srgbClr val="2C3E50"/>
                </a:solidFill>
                <a:latin typeface="Carlito"/>
              </a:rPr>
              <a:t> : </a:t>
            </a:r>
            <a:r>
              <a:rPr sz="1100" b="0">
                <a:solidFill>
                  <a:srgbClr val="2C3E50"/>
                </a:solidFill>
                <a:latin typeface="Carlito"/>
              </a:rPr>
              <a:t> ; il mesure une </a:t>
            </a:r>
            <a:r>
              <a:rPr sz="1100" i="1">
                <a:solidFill>
                  <a:srgbClr val="2C3E50"/>
                </a:solidFill>
                <a:latin typeface="Carlito"/>
              </a:rPr>
              <a:t>vitesse fluide normalisée</a:t>
            </a:r>
            <a:r>
              <a:rPr sz="1100" b="0">
                <a:solidFill>
                  <a:srgbClr val="2C3E50"/>
                </a:solidFill>
                <a:latin typeface="Carlito"/>
              </a:rPr>
              <a:t>, ce n'est pas un critère statistique universel de choix de dimension. La dimension maximisant V sur les valeurs calculées dépend du spectre </a:t>
            </a:r>
            <a:r>
              <a:rPr sz="1100" b="0">
                <a:solidFill>
                  <a:srgbClr val="2C3E50"/>
                </a:solidFill>
                <a:latin typeface="Carlito"/>
              </a:rPr>
              <a:t>, pas de celui de la covariance seul.</a:t>
            </a:r>
          </a:p>
        </p:txBody>
      </p:sp>
      <p:graphicFrame>
        <p:nvGraphicFramePr>
          <p:cNvPr id="11" name="Table 10"/>
          <p:cNvGraphicFramePr>
            <a:graphicFrameLocks noGrp="1"/>
          </p:cNvGraphicFramePr>
          <p:nvPr/>
        </p:nvGraphicFramePr>
        <p:xfrm>
          <a:off x="438912" y="3013455"/>
          <a:ext cx="8275320" cy="1755648"/>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1000" b="1">
                          <a:solidFill>
                            <a:srgbClr val="FFFFFF"/>
                          </a:solidFill>
                          <a:latin typeface="Carlito"/>
                        </a:rPr>
                        <a:t>d</a:t>
                      </a:r>
                    </a:p>
                  </a:txBody>
                  <a:tcPr marL="54864" marR="54864" marT="18288" marB="18288">
                    <a:solidFill>
                      <a:srgbClr val="1B7A8A"/>
                    </a:solidFill>
                  </a:tcPr>
                </a:tc>
                <a:tc>
                  <a:txBody>
                    <a:bodyPr/>
                    <a:lstStyle/>
                    <a:p>
                      <a:pPr algn="ctr"/>
                      <a:r>
                        <a:rPr sz="1000" b="1">
                          <a:solidFill>
                            <a:srgbClr val="FFFFFF"/>
                          </a:solidFill>
                          <a:latin typeface="Carlito"/>
                        </a:rPr>
                        <a:t>Information `r(d)` conservée</a:t>
                      </a:r>
                    </a:p>
                  </a:txBody>
                  <a:tcPr marL="54864" marR="54864" marT="18288" marB="18288">
                    <a:solidFill>
                      <a:srgbClr val="1B7A8A"/>
                    </a:solidFill>
                  </a:tcPr>
                </a:tc>
                <a:tc>
                  <a:txBody>
                    <a:bodyPr/>
                    <a:lstStyle/>
                    <a:p>
                      <a:pPr algn="ctr"/>
                      <a:r>
                        <a:rPr sz="1000" b="1">
                          <a:solidFill>
                            <a:srgbClr val="FFFFFF"/>
                          </a:solidFill>
                          <a:latin typeface="Carlito"/>
                        </a:rPr>
                        <a:t>Coût `M(d,504)`</a:t>
                      </a:r>
                    </a:p>
                  </a:txBody>
                  <a:tcPr marL="54864" marR="54864" marT="18288" marB="18288">
                    <a:solidFill>
                      <a:srgbClr val="1B7A8A"/>
                    </a:solidFill>
                  </a:tcPr>
                </a:tc>
                <a:tc>
                  <a:txBody>
                    <a:bodyPr/>
                    <a:lstStyle/>
                    <a:p>
                      <a:pPr algn="ctr"/>
                      <a:r>
                        <a:rPr sz="1000" b="1">
                          <a:solidFill>
                            <a:srgbClr val="FFFFFF"/>
                          </a:solidFill>
                          <a:latin typeface="Carlito"/>
                        </a:rPr>
                        <a:t>Objectif `V(d)=r/M`</a:t>
                      </a:r>
                    </a:p>
                  </a:txBody>
                  <a:tcPr marL="54864" marR="54864" marT="18288" marB="18288">
                    <a:solidFill>
                      <a:srgbClr val="1B7A8A"/>
                    </a:solidFill>
                  </a:tcPr>
                </a:tc>
              </a:tr>
              <a:tr h="292608">
                <a:tc>
                  <a:txBody>
                    <a:bodyPr/>
                    <a:lstStyle/>
                    <a:p>
                      <a:pPr algn="l"/>
                      <a:r>
                        <a:rPr sz="900" b="0">
                          <a:solidFill>
                            <a:srgbClr val="2C3E50"/>
                          </a:solidFill>
                          <a:latin typeface="Carlito"/>
                        </a:rPr>
                        <a:t>1</a:t>
                      </a:r>
                    </a:p>
                  </a:txBody>
                  <a:tcPr marL="54864" marR="54864" marT="18288" marB="18288">
                    <a:solidFill>
                      <a:srgbClr val="EBF2FA"/>
                    </a:solidFill>
                  </a:tcPr>
                </a:tc>
                <a:tc>
                  <a:txBody>
                    <a:bodyPr/>
                    <a:lstStyle/>
                    <a:p>
                      <a:pPr algn="ctr"/>
                      <a:r>
                        <a:rPr sz="900" b="0">
                          <a:solidFill>
                            <a:srgbClr val="2C3E50"/>
                          </a:solidFill>
                          <a:latin typeface="Carlito"/>
                        </a:rPr>
                        <a:t>0,1472</a:t>
                      </a:r>
                    </a:p>
                  </a:txBody>
                  <a:tcPr marL="54864" marR="54864" marT="18288" marB="18288">
                    <a:solidFill>
                      <a:srgbClr val="EBF2FA"/>
                    </a:solidFill>
                  </a:tcPr>
                </a:tc>
                <a:tc>
                  <a:txBody>
                    <a:bodyPr/>
                    <a:lstStyle/>
                    <a:p>
                      <a:pPr algn="ctr"/>
                      <a:r>
                        <a:rPr sz="900" b="0">
                          <a:solidFill>
                            <a:srgbClr val="2C3E50"/>
                          </a:solidFill>
                          <a:latin typeface="Carlito"/>
                        </a:rPr>
                        <a:t>1,2239</a:t>
                      </a:r>
                    </a:p>
                  </a:txBody>
                  <a:tcPr marL="54864" marR="54864" marT="18288" marB="18288">
                    <a:solidFill>
                      <a:srgbClr val="EBF2FA"/>
                    </a:solidFill>
                  </a:tcPr>
                </a:tc>
                <a:tc>
                  <a:txBody>
                    <a:bodyPr/>
                    <a:lstStyle/>
                    <a:p>
                      <a:pPr algn="ctr"/>
                      <a:r>
                        <a:rPr sz="900" b="0">
                          <a:solidFill>
                            <a:srgbClr val="2C3E50"/>
                          </a:solidFill>
                          <a:latin typeface="Carlito"/>
                        </a:rPr>
                        <a:t>0,1203</a:t>
                      </a:r>
                    </a:p>
                  </a:txBody>
                  <a:tcPr marL="54864" marR="54864" marT="18288" marB="18288">
                    <a:solidFill>
                      <a:srgbClr val="EBF2FA"/>
                    </a:solidFill>
                  </a:tcPr>
                </a:tc>
              </a:tr>
              <a:tr h="292608">
                <a:tc>
                  <a:txBody>
                    <a:bodyPr/>
                    <a:lstStyle/>
                    <a:p>
                      <a:pPr algn="l"/>
                      <a:r>
                        <a:rPr sz="900" b="0">
                          <a:solidFill>
                            <a:srgbClr val="2C3E50"/>
                          </a:solidFill>
                          <a:latin typeface="Carlito"/>
                        </a:rPr>
                        <a:t>4</a:t>
                      </a:r>
                    </a:p>
                  </a:txBody>
                  <a:tcPr marL="54864" marR="54864" marT="18288" marB="18288">
                    <a:solidFill>
                      <a:srgbClr val="FFFFFF"/>
                    </a:solidFill>
                  </a:tcPr>
                </a:tc>
                <a:tc>
                  <a:txBody>
                    <a:bodyPr/>
                    <a:lstStyle/>
                    <a:p>
                      <a:pPr algn="ctr"/>
                      <a:r>
                        <a:rPr sz="900" b="0">
                          <a:solidFill>
                            <a:srgbClr val="2C3E50"/>
                          </a:solidFill>
                          <a:latin typeface="Carlito"/>
                        </a:rPr>
                        <a:t>0,3067</a:t>
                      </a:r>
                    </a:p>
                  </a:txBody>
                  <a:tcPr marL="54864" marR="54864" marT="18288" marB="18288">
                    <a:solidFill>
                      <a:srgbClr val="FFFFFF"/>
                    </a:solidFill>
                  </a:tcPr>
                </a:tc>
                <a:tc>
                  <a:txBody>
                    <a:bodyPr/>
                    <a:lstStyle/>
                    <a:p>
                      <a:pPr algn="ctr"/>
                      <a:r>
                        <a:rPr sz="900" b="0">
                          <a:solidFill>
                            <a:srgbClr val="2C3E50"/>
                          </a:solidFill>
                          <a:latin typeface="Carlito"/>
                        </a:rPr>
                        <a:t>1,5696</a:t>
                      </a:r>
                    </a:p>
                  </a:txBody>
                  <a:tcPr marL="54864" marR="54864" marT="18288" marB="18288">
                    <a:solidFill>
                      <a:srgbClr val="FFFFFF"/>
                    </a:solidFill>
                  </a:tcPr>
                </a:tc>
                <a:tc>
                  <a:txBody>
                    <a:bodyPr/>
                    <a:lstStyle/>
                    <a:p>
                      <a:pPr algn="ctr"/>
                      <a:r>
                        <a:rPr sz="900" b="0">
                          <a:solidFill>
                            <a:srgbClr val="2C3E50"/>
                          </a:solidFill>
                          <a:latin typeface="Carlito"/>
                        </a:rPr>
                        <a:t>0,1954</a:t>
                      </a:r>
                    </a:p>
                  </a:txBody>
                  <a:tcPr marL="54864" marR="54864" marT="18288" marB="18288">
                    <a:solidFill>
                      <a:srgbClr val="FFFFFF"/>
                    </a:solidFill>
                  </a:tcPr>
                </a:tc>
              </a:tr>
              <a:tr h="292608">
                <a:tc>
                  <a:txBody>
                    <a:bodyPr/>
                    <a:lstStyle/>
                    <a:p>
                      <a:pPr algn="l"/>
                      <a:r>
                        <a:rPr sz="900" b="0">
                          <a:solidFill>
                            <a:srgbClr val="2C3E50"/>
                          </a:solidFill>
                          <a:latin typeface="Carlito"/>
                        </a:rPr>
                        <a:t>8</a:t>
                      </a:r>
                    </a:p>
                  </a:txBody>
                  <a:tcPr marL="54864" marR="54864" marT="18288" marB="18288">
                    <a:solidFill>
                      <a:srgbClr val="EBF2FA"/>
                    </a:solidFill>
                  </a:tcPr>
                </a:tc>
                <a:tc>
                  <a:txBody>
                    <a:bodyPr/>
                    <a:lstStyle/>
                    <a:p>
                      <a:pPr algn="ctr"/>
                      <a:r>
                        <a:rPr sz="900" b="0">
                          <a:solidFill>
                            <a:srgbClr val="2C3E50"/>
                          </a:solidFill>
                          <a:latin typeface="Carlito"/>
                        </a:rPr>
                        <a:t>0,4001</a:t>
                      </a:r>
                    </a:p>
                  </a:txBody>
                  <a:tcPr marL="54864" marR="54864" marT="18288" marB="18288">
                    <a:solidFill>
                      <a:srgbClr val="EBF2FA"/>
                    </a:solidFill>
                  </a:tcPr>
                </a:tc>
                <a:tc>
                  <a:txBody>
                    <a:bodyPr/>
                    <a:lstStyle/>
                    <a:p>
                      <a:pPr algn="ctr"/>
                      <a:r>
                        <a:rPr sz="900" b="0">
                          <a:solidFill>
                            <a:srgbClr val="2C3E50"/>
                          </a:solidFill>
                          <a:latin typeface="Carlito"/>
                        </a:rPr>
                        <a:t>1,8785</a:t>
                      </a:r>
                    </a:p>
                  </a:txBody>
                  <a:tcPr marL="54864" marR="54864" marT="18288" marB="18288">
                    <a:solidFill>
                      <a:srgbClr val="EBF2FA"/>
                    </a:solidFill>
                  </a:tcPr>
                </a:tc>
                <a:tc>
                  <a:txBody>
                    <a:bodyPr/>
                    <a:lstStyle/>
                    <a:p>
                      <a:pPr algn="ctr"/>
                      <a:r>
                        <a:rPr sz="900" b="0">
                          <a:solidFill>
                            <a:srgbClr val="2C3E50"/>
                          </a:solidFill>
                          <a:latin typeface="Carlito"/>
                        </a:rPr>
                        <a:t>0,2130</a:t>
                      </a:r>
                    </a:p>
                  </a:txBody>
                  <a:tcPr marL="54864" marR="54864" marT="18288" marB="18288">
                    <a:solidFill>
                      <a:srgbClr val="EBF2FA"/>
                    </a:solidFill>
                  </a:tcPr>
                </a:tc>
              </a:tr>
              <a:tr h="292608">
                <a:tc>
                  <a:txBody>
                    <a:bodyPr/>
                    <a:lstStyle/>
                    <a:p>
                      <a:pPr algn="l"/>
                      <a:r>
                        <a:rPr sz="900" b="0">
                          <a:solidFill>
                            <a:srgbClr val="2C3E50"/>
                          </a:solidFill>
                          <a:latin typeface="Carlito"/>
                        </a:rPr>
                        <a:t>16</a:t>
                      </a:r>
                    </a:p>
                  </a:txBody>
                  <a:tcPr marL="54864" marR="54864" marT="18288" marB="18288">
                    <a:solidFill>
                      <a:srgbClr val="FFFFFF"/>
                    </a:solidFill>
                  </a:tcPr>
                </a:tc>
                <a:tc>
                  <a:txBody>
                    <a:bodyPr/>
                    <a:lstStyle/>
                    <a:p>
                      <a:pPr algn="ctr"/>
                      <a:r>
                        <a:rPr sz="900" b="0">
                          <a:solidFill>
                            <a:srgbClr val="2C3E50"/>
                          </a:solidFill>
                          <a:latin typeface="Carlito"/>
                        </a:rPr>
                        <a:t>0,4977</a:t>
                      </a:r>
                    </a:p>
                  </a:txBody>
                  <a:tcPr marL="54864" marR="54864" marT="18288" marB="18288">
                    <a:solidFill>
                      <a:srgbClr val="FFFFFF"/>
                    </a:solidFill>
                  </a:tcPr>
                </a:tc>
                <a:tc>
                  <a:txBody>
                    <a:bodyPr/>
                    <a:lstStyle/>
                    <a:p>
                      <a:pPr algn="ctr"/>
                      <a:r>
                        <a:rPr sz="900" b="0">
                          <a:solidFill>
                            <a:srgbClr val="2C3E50"/>
                          </a:solidFill>
                          <a:latin typeface="Carlito"/>
                        </a:rPr>
                        <a:t>2,3290</a:t>
                      </a:r>
                    </a:p>
                  </a:txBody>
                  <a:tcPr marL="54864" marR="54864" marT="18288" marB="18288">
                    <a:solidFill>
                      <a:srgbClr val="FFFFFF"/>
                    </a:solidFill>
                  </a:tcPr>
                </a:tc>
                <a:tc>
                  <a:txBody>
                    <a:bodyPr/>
                    <a:lstStyle/>
                    <a:p>
                      <a:pPr algn="ctr"/>
                      <a:r>
                        <a:rPr sz="900" b="0">
                          <a:solidFill>
                            <a:srgbClr val="2C3E50"/>
                          </a:solidFill>
                          <a:latin typeface="Carlito"/>
                        </a:rPr>
                        <a:t>0,2137</a:t>
                      </a:r>
                    </a:p>
                  </a:txBody>
                  <a:tcPr marL="54864" marR="54864" marT="18288" marB="18288">
                    <a:solidFill>
                      <a:srgbClr val="FFFFFF"/>
                    </a:solidFill>
                  </a:tcPr>
                </a:tc>
              </a:tr>
              <a:tr h="292608">
                <a:tc>
                  <a:txBody>
                    <a:bodyPr/>
                    <a:lstStyle/>
                    <a:p>
                      <a:pPr algn="l"/>
                      <a:r>
                        <a:rPr sz="900" b="0">
                          <a:solidFill>
                            <a:srgbClr val="2C3E50"/>
                          </a:solidFill>
                          <a:latin typeface="Carlito"/>
                        </a:rPr>
                        <a:t>500</a:t>
                      </a:r>
                    </a:p>
                  </a:txBody>
                  <a:tcPr marL="54864" marR="54864" marT="18288" marB="18288">
                    <a:solidFill>
                      <a:srgbClr val="EBF2FA"/>
                    </a:solidFill>
                  </a:tcPr>
                </a:tc>
                <a:tc>
                  <a:txBody>
                    <a:bodyPr/>
                    <a:lstStyle/>
                    <a:p>
                      <a:pPr algn="ctr"/>
                      <a:r>
                        <a:rPr sz="900" b="0">
                          <a:solidFill>
                            <a:srgbClr val="2C3E50"/>
                          </a:solidFill>
                          <a:latin typeface="Carlito"/>
                        </a:rPr>
                        <a:t>1,0000</a:t>
                      </a:r>
                    </a:p>
                  </a:txBody>
                  <a:tcPr marL="54864" marR="54864" marT="18288" marB="18288">
                    <a:solidFill>
                      <a:srgbClr val="EBF2FA"/>
                    </a:solidFill>
                  </a:tcPr>
                </a:tc>
                <a:tc>
                  <a:txBody>
                    <a:bodyPr/>
                    <a:lstStyle/>
                    <a:p>
                      <a:pPr algn="ctr"/>
                      <a:r>
                        <a:rPr sz="900" b="0">
                          <a:solidFill>
                            <a:srgbClr val="2C3E50"/>
                          </a:solidFill>
                          <a:latin typeface="Carlito"/>
                        </a:rPr>
                        <a:t>9,6427</a:t>
                      </a:r>
                    </a:p>
                  </a:txBody>
                  <a:tcPr marL="54864" marR="54864" marT="18288" marB="18288">
                    <a:solidFill>
                      <a:srgbClr val="EBF2FA"/>
                    </a:solidFill>
                  </a:tcPr>
                </a:tc>
                <a:tc>
                  <a:txBody>
                    <a:bodyPr/>
                    <a:lstStyle/>
                    <a:p>
                      <a:pPr algn="ctr"/>
                      <a:r>
                        <a:rPr sz="900" b="0">
                          <a:solidFill>
                            <a:srgbClr val="2C3E50"/>
                          </a:solidFill>
                          <a:latin typeface="Carlito"/>
                        </a:rPr>
                        <a:t>0,1037</a:t>
                      </a:r>
                    </a:p>
                  </a:txBody>
                  <a:tcPr marL="54864" marR="54864" marT="18288" marB="18288">
                    <a:solidFill>
                      <a:srgbClr val="EBF2FA"/>
                    </a:solidFill>
                  </a:tcPr>
                </a:tc>
              </a:tr>
            </a:tbl>
          </a:graphicData>
        </a:graphic>
      </p:graphicFrame>
      <p:sp>
        <p:nvSpPr>
          <p:cNvPr id="12" name="Rectangle 11"/>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V(d) = [I(d)/I(500)] / M(d,504) ; x_d = ln(504) + (d/2)*ln(1+2*x_d/d) ; M(d,504) = x_d/ln(504)</a:t>
            </a:r>
          </a:p>
        </p:txBody>
      </p:sp>
      <p:sp>
        <p:nvSpPr>
          <p:cNvPr id="14" name="TextBox 13"/>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Critère de dimension optimale conditionnel</a:t>
            </a:r>
          </a:p>
        </p:txBody>
      </p:sp>
      <p:sp>
        <p:nvSpPr>
          <p:cNvPr id="4" name="Rectangle 3"/>
          <p:cNvSpPr/>
          <p:nvPr/>
        </p:nvSpPr>
        <p:spPr>
          <a:xfrm>
            <a:off x="6839711" y="64008"/>
            <a:ext cx="2029968"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39711" y="64008"/>
            <a:ext cx="202996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THÉORÈME CONDITIONNEL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41"/>
              </a:lnSpc>
              <a:spcAft>
                <a:spcPts val="0"/>
              </a:spcAft>
            </a:pPr>
            <a:r>
              <a:rPr sz="1775" b="0" i="0">
                <a:solidFill>
                  <a:srgbClr val="2C3E50"/>
                </a:solidFill>
                <a:latin typeface="Carlito"/>
              </a:rPr>
              <a:t/>
            </a:r>
            <a:r>
              <a:rPr sz="1775" b="1">
                <a:solidFill>
                  <a:srgbClr val="2C3E50"/>
                </a:solidFill>
                <a:latin typeface="Carlito"/>
              </a:rPr>
              <a:t>Ajouter une direction seulement si son information marginale dépasse son coût relatif</a:t>
            </a:r>
          </a:p>
        </p:txBody>
      </p:sp>
      <p:sp>
        <p:nvSpPr>
          <p:cNvPr id="8" name="Rectangle 7"/>
          <p:cNvSpPr/>
          <p:nvPr/>
        </p:nvSpPr>
        <p:spPr>
          <a:xfrm>
            <a:off x="438912" y="1325880"/>
            <a:ext cx="8275320" cy="1463040"/>
          </a:xfrm>
          <a:prstGeom prst="rect">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371600"/>
            <a:ext cx="8092440" cy="228600"/>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8E44AD"/>
                </a:solidFill>
                <a:latin typeface="Carlito"/>
              </a:rPr>
              <a:t>critère marginal conditionnel</a:t>
            </a:r>
          </a:p>
        </p:txBody>
      </p:sp>
      <p:sp>
        <p:nvSpPr>
          <p:cNvPr id="10" name="TextBox 9"/>
          <p:cNvSpPr txBox="1"/>
          <p:nvPr/>
        </p:nvSpPr>
        <p:spPr>
          <a:xfrm>
            <a:off x="576072" y="1673352"/>
            <a:ext cx="8001000" cy="100584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0">
                <a:solidFill>
                  <a:srgbClr val="2C3E50"/>
                </a:solidFill>
                <a:latin typeface="Carlito"/>
              </a:rPr>
              <a:t>Ajouter l'axe d+1 si et seulement si :</a:t>
            </a:r>
          </a:p>
          <a:p>
            <a:pPr algn="ctr">
              <a:lnSpc>
                <a:spcPts val="1150"/>
              </a:lnSpc>
              <a:spcAft>
                <a:spcPts val="0"/>
              </a:spcAft>
            </a:pPr>
          </a:p>
          <a:p>
            <a:pPr algn="ctr">
              <a:lnSpc>
                <a:spcPts val="1150"/>
              </a:lnSpc>
              <a:spcAft>
                <a:spcPts val="0"/>
              </a:spcAft>
            </a:pPr>
            <a:r>
              <a:rPr sz="1000" b="0">
                <a:solidFill>
                  <a:srgbClr val="2C3E50"/>
                </a:solidFill>
                <a:latin typeface="Carlito"/>
              </a:rPr>
              <a:t>  q_(d+1) / I(d)  &gt;  [C(d+1) - C(d)] / C(d)</a:t>
            </a:r>
          </a:p>
          <a:p>
            <a:pPr algn="ctr">
              <a:lnSpc>
                <a:spcPts val="1150"/>
              </a:lnSpc>
              <a:spcAft>
                <a:spcPts val="0"/>
              </a:spcAft>
            </a:pPr>
          </a:p>
          <a:p>
            <a:pPr algn="ctr">
              <a:lnSpc>
                <a:spcPts val="1150"/>
              </a:lnSpc>
              <a:spcAft>
                <a:spcPts val="0"/>
              </a:spcAft>
            </a:pPr>
            <a:r>
              <a:rPr sz="1000" b="0">
                <a:solidFill>
                  <a:srgbClr val="2C3E50"/>
                </a:solidFill>
                <a:latin typeface="Carlito"/>
              </a:rPr>
              <a:t>avec q_k = KL supplémentaire de l'axe k, I(d) = somme_(k&lt;=d) q_k,</a:t>
            </a:r>
          </a:p>
          <a:p>
            <a:pPr algn="ctr">
              <a:lnSpc>
                <a:spcPts val="1150"/>
              </a:lnSpc>
              <a:spcAft>
                <a:spcPts val="0"/>
              </a:spcAft>
            </a:pPr>
            <a:r>
              <a:rPr sz="1000" b="0">
                <a:solidFill>
                  <a:srgbClr val="2C3E50"/>
                </a:solidFill>
                <a:latin typeface="Carlito"/>
              </a:rPr>
              <a:t>C(d) = coût de surveillance positif quelconque.</a:t>
            </a:r>
          </a:p>
        </p:txBody>
      </p:sp>
      <p:sp>
        <p:nvSpPr>
          <p:cNvPr id="11" name="TextBox 10"/>
          <p:cNvSpPr txBox="1"/>
          <p:nvPr/>
        </p:nvSpPr>
        <p:spPr>
          <a:xfrm>
            <a:off x="530352" y="2560320"/>
            <a:ext cx="809244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coût affine C(d)=a+c*d : signe de l'accroissement change une fois</a:t>
            </a:r>
          </a:p>
        </p:txBody>
      </p:sp>
      <p:sp>
        <p:nvSpPr>
          <p:cNvPr id="12" name="TextBox 11"/>
          <p:cNvSpPr txBox="1"/>
          <p:nvPr/>
        </p:nvSpPr>
        <p:spPr>
          <a:xfrm>
            <a:off x="438912" y="2697480"/>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Setup :</a:t>
            </a:r>
            <a:r>
              <a:rPr sz="1100" b="0">
                <a:solidFill>
                  <a:srgbClr val="2C3E50"/>
                </a:solidFill>
                <a:latin typeface="Carlito"/>
              </a:rPr>
              <a:t> une représentation ordonnée d'axes fixes (par exemple ACP avec les axes </a:t>
            </a:r>
            <a:r>
              <a:rPr sz="1100" b="0">
                <a:solidFill>
                  <a:srgbClr val="2C3E50"/>
                </a:solidFill>
                <a:latin typeface="Carlito"/>
              </a:rPr>
              <a:t> de la covariance de référence) ; changement de moyenne </a:t>
            </a:r>
            <a:r>
              <a:rPr sz="1100" i="1">
                <a:solidFill>
                  <a:srgbClr val="2C3E50"/>
                </a:solidFill>
                <a:latin typeface="Carlito"/>
              </a:rPr>
              <a:t>gaussien de covariance inchangée</a:t>
            </a:r>
            <a:r>
              <a:rPr sz="1100" b="0">
                <a:solidFill>
                  <a:srgbClr val="2C3E50"/>
                </a:solidFill>
                <a:latin typeface="Carlito"/>
              </a:rPr>
              <a:t> </a:t>
            </a:r>
            <a:r>
              <a:rPr sz="1100" b="0">
                <a:solidFill>
                  <a:srgbClr val="2C3E50"/>
                </a:solidFill>
                <a:latin typeface="Carlito"/>
              </a:rPr>
              <a:t>; </a:t>
            </a:r>
            <a:r>
              <a:rPr sz="1100" b="0">
                <a:solidFill>
                  <a:srgbClr val="2C3E50"/>
                </a:solidFill>
                <a:latin typeface="Carlito"/>
              </a:rPr>
              <a:t> est la KL supplémentaire de l'axe </a:t>
            </a:r>
            <a:r>
              <a:rPr sz="1100" b="0">
                <a:solidFill>
                  <a:srgbClr val="2C3E50"/>
                </a:solidFill>
                <a:latin typeface="Carlito"/>
              </a:rPr>
              <a:t>, </a:t>
            </a:r>
            <a:r>
              <a:rPr sz="1100" b="0">
                <a:solidFill>
                  <a:srgbClr val="2C3E50"/>
                </a:solidFill>
                <a:latin typeface="Carlito"/>
              </a:rPr>
              <a:t>. Un JEPA entraîné séparément pour chaque d ne garantit </a:t>
            </a:r>
            <a:r>
              <a:rPr sz="1100" i="1">
                <a:solidFill>
                  <a:srgbClr val="2C3E50"/>
                </a:solidFill>
                <a:latin typeface="Carlito"/>
              </a:rPr>
              <a:t>pas</a:t>
            </a:r>
            <a:r>
              <a:rPr sz="1100" b="0">
                <a:solidFill>
                  <a:srgbClr val="2C3E50"/>
                </a:solidFill>
                <a:latin typeface="Carlito"/>
              </a:rPr>
              <a:t> des sous-espaces emboîtés : appliquer ce résultat à JEPA exige une autre construction.</a:t>
            </a:r>
          </a:p>
        </p:txBody>
      </p:sp>
      <p:sp>
        <p:nvSpPr>
          <p:cNvPr id="13" name="TextBox 12"/>
          <p:cNvSpPr txBox="1"/>
          <p:nvPr/>
        </p:nvSpPr>
        <p:spPr>
          <a:xfrm>
            <a:off x="438912" y="3289173"/>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un </a:t>
            </a:r>
            <a:r>
              <a:rPr sz="1100" i="1">
                <a:solidFill>
                  <a:srgbClr val="2C3E50"/>
                </a:solidFill>
                <a:latin typeface="Carlito"/>
              </a:rPr>
              <a:t>coût positif quelconque</a:t>
            </a:r>
            <a:r>
              <a:rPr sz="1100" b="0">
                <a:solidFill>
                  <a:srgbClr val="2C3E50"/>
                </a:solidFill>
                <a:latin typeface="Carlito"/>
              </a:rPr>
              <a:t> </a:t>
            </a:r>
            <a:r>
              <a:rPr sz="1100" b="0">
                <a:solidFill>
                  <a:srgbClr val="2C3E50"/>
                </a:solidFill>
                <a:latin typeface="Carlito"/>
              </a:rPr>
              <a:t> de surveillance, maximiser </a:t>
            </a:r>
            <a:r>
              <a:rPr sz="1100" b="0">
                <a:solidFill>
                  <a:srgbClr val="2C3E50"/>
                </a:solidFill>
                <a:latin typeface="Carlito"/>
              </a:rPr>
              <a:t> donne exactement le critère marginal affiché. Avec </a:t>
            </a:r>
            <a:r>
              <a:rPr sz="1100" i="1">
                <a:solidFill>
                  <a:srgbClr val="2C3E50"/>
                </a:solidFill>
                <a:latin typeface="Carlito"/>
              </a:rPr>
              <a:t>coût affine illustratif `C(d)=a+c*d`</a:t>
            </a:r>
            <a:r>
              <a:rPr sz="1100" b="0">
                <a:solidFill>
                  <a:srgbClr val="2C3E50"/>
                </a:solidFill>
                <a:latin typeface="Carlito"/>
              </a:rPr>
              <a:t>, </a:t>
            </a:r>
            <a:r>
              <a:rPr sz="1100" b="0">
                <a:solidFill>
                  <a:srgbClr val="2C3E50"/>
                </a:solidFill>
                <a:latin typeface="Carlito"/>
              </a:rPr>
              <a:t>, et </a:t>
            </a:r>
            <a:r>
              <a:rPr sz="1100" b="0">
                <a:solidFill>
                  <a:srgbClr val="2C3E50"/>
                </a:solidFill>
                <a:latin typeface="Carlito"/>
              </a:rPr>
              <a:t> strictement décroissants, le signe de l'accroissement de V ne change qu'une fois : l'optimum se situe au croisement.</a:t>
            </a:r>
          </a:p>
        </p:txBody>
      </p:sp>
      <p:sp>
        <p:nvSpPr>
          <p:cNvPr id="14" name="TextBox 13"/>
          <p:cNvSpPr txBox="1"/>
          <p:nvPr/>
        </p:nvSpPr>
        <p:spPr>
          <a:xfrm>
            <a:off x="438912" y="3880866"/>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Statut :</a:t>
            </a:r>
            <a:r>
              <a:rPr sz="1100" b="0">
                <a:solidFill>
                  <a:srgbClr val="2C3E50"/>
                </a:solidFill>
                <a:latin typeface="Carlito"/>
              </a:rPr>
              <a:t> résultat analytique conditionnel. Aucune expérience fournie ne donne le profil complet </a:t>
            </a:r>
            <a:r>
              <a:rPr sz="1100" b="0">
                <a:solidFill>
                  <a:srgbClr val="2C3E50"/>
                </a:solidFill>
                <a:latin typeface="Carlito"/>
              </a:rPr>
              <a:t> et </a:t>
            </a:r>
            <a:r>
              <a:rPr sz="1100" b="0">
                <a:solidFill>
                  <a:srgbClr val="2C3E50"/>
                </a:solidFill>
                <a:latin typeface="Carlito"/>
              </a:rPr>
              <a:t> sur les 97 ou 239 actions, ni sur un JEPA entraîné. Les candidats JEPA </a:t>
            </a:r>
            <a:r>
              <a:rPr sz="1100" i="1">
                <a:solidFill>
                  <a:srgbClr val="2C3E50"/>
                </a:solidFill>
                <a:latin typeface="Carlito"/>
              </a:rPr>
              <a:t>2, 4, 8, 16</a:t>
            </a:r>
            <a:r>
              <a:rPr sz="1100" b="0">
                <a:solidFill>
                  <a:srgbClr val="2C3E50"/>
                </a:solidFill>
                <a:latin typeface="Carlito"/>
              </a:rPr>
              <a:t> ne sont pas une plage optimale démontrée.</a:t>
            </a:r>
          </a:p>
        </p:txBody>
      </p:sp>
      <p:sp>
        <p:nvSpPr>
          <p:cNvPr id="15" name="TextBox 14"/>
          <p:cNvSpPr txBox="1"/>
          <p:nvPr/>
        </p:nvSpPr>
        <p:spPr>
          <a:xfrm>
            <a:off x="438912" y="4311904"/>
            <a:ext cx="827532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Alternative théorique distincte :</a:t>
            </a:r>
            <a:r>
              <a:rPr sz="1100" b="0">
                <a:solidFill>
                  <a:srgbClr val="2C3E50"/>
                </a:solidFill>
                <a:latin typeface="Carlito"/>
              </a:rPr>
              <a:t> un dictionnaire fixe de directions augmente sa couverture, mais paie un coût </a:t>
            </a:r>
            <a:r>
              <a:rPr sz="1100" b="0">
                <a:solidFill>
                  <a:srgbClr val="2C3E50"/>
                </a:solidFill>
                <a:latin typeface="Carlito"/>
              </a:rPr>
              <a:t> pour </a:t>
            </a:r>
            <a:r>
              <a:rPr sz="1100" b="0">
                <a:solidFill>
                  <a:srgbClr val="2C3E50"/>
                </a:solidFill>
                <a:latin typeface="Carlito"/>
              </a:rPr>
              <a:t> directions et une perte d'information </a:t>
            </a:r>
            <a:r>
              <a:rPr sz="1100" b="0">
                <a:solidFill>
                  <a:srgbClr val="2C3E50"/>
                </a:solidFill>
                <a:latin typeface="Carlito"/>
              </a:rPr>
              <a:t> si son meilleur atome est mal aligné. Cette approximation suppose un décalage gaussien et des atomes fixés avant test ; ce n'est pas une correction empirique automatique des marchés non gaussiens.</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V(d+1)&gt;V(d) &lt;=&gt; q_(d+1) &gt; I(d)*[C(d+1)/C(d)-1]</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JEPA transversal : architecture et features visibles/cachées</a:t>
            </a:r>
          </a:p>
        </p:txBody>
      </p:sp>
      <p:sp>
        <p:nvSpPr>
          <p:cNvPr id="4" name="Rectangle 3"/>
          <p:cNvSpPr/>
          <p:nvPr/>
        </p:nvSpPr>
        <p:spPr>
          <a:xfrm>
            <a:off x="6729983" y="64008"/>
            <a:ext cx="2139696"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29983" y="64008"/>
            <a:ext cx="213969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NON ENTRAÎNÉ À CE STADE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Architecture prévue : prédire les représentations d'actions masquées au même jour</a:t>
            </a:r>
          </a:p>
        </p:txBody>
      </p:sp>
      <p:sp>
        <p:nvSpPr>
          <p:cNvPr id="8" name="TextBox 7"/>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Pourquoi transversal ?</a:t>
            </a:r>
            <a:r>
              <a:rPr sz="1000" b="0">
                <a:solidFill>
                  <a:srgbClr val="2C3E50"/>
                </a:solidFill>
                <a:latin typeface="Carlito"/>
              </a:rPr>
              <a:t> Le signal recherché peut être dans les relations entre </a:t>
            </a:r>
            <a:r>
              <a:rPr sz="1000" i="1">
                <a:solidFill>
                  <a:srgbClr val="2C3E50"/>
                </a:solidFill>
                <a:latin typeface="Carlito"/>
              </a:rPr>
              <a:t>N actions au même jour</a:t>
            </a:r>
            <a:r>
              <a:rPr sz="1000" b="0">
                <a:solidFill>
                  <a:srgbClr val="2C3E50"/>
                </a:solidFill>
                <a:latin typeface="Carlito"/>
              </a:rPr>
              <a:t>, invisibles dans un rendement isolé. Le prétexte principal prédit les </a:t>
            </a:r>
            <a:r>
              <a:rPr sz="1000" i="1">
                <a:solidFill>
                  <a:srgbClr val="2C3E50"/>
                </a:solidFill>
                <a:latin typeface="Carlito"/>
              </a:rPr>
              <a:t>représentations des actifs cachés à la date t</a:t>
            </a:r>
            <a:r>
              <a:rPr sz="1000" b="0">
                <a:solidFill>
                  <a:srgbClr val="2C3E50"/>
                </a:solidFill>
                <a:latin typeface="Carlito"/>
              </a:rPr>
              <a:t>, pas le rendement du jour t+1. Le prétexte temporel à t+1 est une </a:t>
            </a:r>
            <a:r>
              <a:rPr sz="1000" i="1">
                <a:solidFill>
                  <a:srgbClr val="2C3E50"/>
                </a:solidFill>
                <a:latin typeface="Carlito"/>
              </a:rPr>
              <a:t>ablation distincte</a:t>
            </a:r>
            <a:r>
              <a:rPr sz="1000" b="0">
                <a:solidFill>
                  <a:srgbClr val="2C3E50"/>
                </a:solidFill>
                <a:latin typeface="Carlito"/>
              </a:rPr>
              <a:t>.</a:t>
            </a:r>
          </a:p>
        </p:txBody>
      </p:sp>
      <p:sp>
        <p:nvSpPr>
          <p:cNvPr id="9" name="TextBox 8"/>
          <p:cNvSpPr txBox="1"/>
          <p:nvPr/>
        </p:nvSpPr>
        <p:spPr>
          <a:xfrm>
            <a:off x="402336" y="1864614"/>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Modèle prévu :</a:t>
            </a:r>
            <a:r>
              <a:rPr sz="1000" b="0">
                <a:solidFill>
                  <a:srgbClr val="2C3E50"/>
                </a:solidFill>
                <a:latin typeface="Carlito"/>
              </a:rPr>
              <a:t> jeton par actif ; encodeur à </a:t>
            </a:r>
            <a:r>
              <a:rPr sz="1000" i="1">
                <a:solidFill>
                  <a:srgbClr val="2C3E50"/>
                </a:solidFill>
                <a:latin typeface="Carlito"/>
              </a:rPr>
              <a:t>2–4 couches d'attention</a:t>
            </a:r>
            <a:r>
              <a:rPr sz="1000" b="0">
                <a:solidFill>
                  <a:srgbClr val="2C3E50"/>
                </a:solidFill>
                <a:latin typeface="Carlito"/>
              </a:rPr>
              <a:t>, largeur interne </a:t>
            </a:r>
            <a:r>
              <a:rPr sz="1000" i="1">
                <a:solidFill>
                  <a:srgbClr val="2C3E50"/>
                </a:solidFill>
                <a:latin typeface="Carlito"/>
              </a:rPr>
              <a:t>64</a:t>
            </a:r>
            <a:r>
              <a:rPr sz="1000" b="0">
                <a:solidFill>
                  <a:srgbClr val="2C3E50"/>
                </a:solidFill>
                <a:latin typeface="Carlito"/>
              </a:rPr>
              <a:t>, </a:t>
            </a:r>
            <a:r>
              <a:rPr sz="1000" i="1">
                <a:solidFill>
                  <a:srgbClr val="2C3E50"/>
                </a:solidFill>
                <a:latin typeface="Carlito"/>
              </a:rPr>
              <a:t>4 têtes d'attention</a:t>
            </a:r>
            <a:r>
              <a:rPr sz="1000" b="0">
                <a:solidFill>
                  <a:srgbClr val="2C3E50"/>
                </a:solidFill>
                <a:latin typeface="Carlito"/>
              </a:rPr>
              <a:t>, moins d'</a:t>
            </a:r>
            <a:r>
              <a:rPr sz="1000" i="1">
                <a:solidFill>
                  <a:srgbClr val="2C3E50"/>
                </a:solidFill>
                <a:latin typeface="Carlito"/>
              </a:rPr>
              <a:t>1 M paramètres</a:t>
            </a:r>
            <a:r>
              <a:rPr sz="1000" b="0">
                <a:solidFill>
                  <a:srgbClr val="2C3E50"/>
                </a:solidFill>
                <a:latin typeface="Carlito"/>
              </a:rPr>
              <a:t> ; encodeur de contexte et encodeur cible à paramètres moyennés exponentiellement (EMA) ; prédicteur à perte quadratique des représentations cachées. </a:t>
            </a:r>
            <a:r>
              <a:rPr sz="1000" b="0">
                <a:solidFill>
                  <a:srgbClr val="2C3E50"/>
                </a:solidFill>
                <a:latin typeface="Carlito"/>
                <a:hlinkClick r:id="rId2"/>
              </a:rPr>
              <a:t>Thimonier et al. (2025)</a:t>
            </a:r>
            <a:r>
              <a:rPr sz="1000" b="0">
                <a:solidFill>
                  <a:srgbClr val="2C3E50"/>
                </a:solidFill>
                <a:latin typeface="Carlito"/>
              </a:rPr>
              <a:t>.</a:t>
            </a:r>
          </a:p>
        </p:txBody>
      </p:sp>
      <p:sp>
        <p:nvSpPr>
          <p:cNvPr id="10" name="TextBox 9"/>
          <p:cNvSpPr txBox="1"/>
          <p:nvPr/>
        </p:nvSpPr>
        <p:spPr>
          <a:xfrm>
            <a:off x="402336" y="2549397"/>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Actions visibles</a:t>
            </a:r>
            <a:r>
              <a:rPr sz="1000" b="0">
                <a:solidFill>
                  <a:srgbClr val="2C3E50"/>
                </a:solidFill>
                <a:latin typeface="Carlito"/>
              </a:rPr>
              <a:t> : rendement quotidien </a:t>
            </a:r>
            <a:r>
              <a:rPr sz="1000" b="0">
                <a:solidFill>
                  <a:srgbClr val="2C3E50"/>
                </a:solidFill>
                <a:latin typeface="Carlito"/>
              </a:rPr>
              <a:t> (échelle </a:t>
            </a:r>
            <a:r>
              <a:rPr sz="1000" b="0">
                <a:solidFill>
                  <a:srgbClr val="2C3E50"/>
                </a:solidFill>
                <a:latin typeface="Carlito"/>
              </a:rPr>
              <a:t> estimée en prétrain) </a:t>
            </a:r>
            <a:r>
              <a:rPr sz="1000" i="1">
                <a:solidFill>
                  <a:srgbClr val="2C3E50"/>
                </a:solidFill>
                <a:latin typeface="Carlito"/>
              </a:rPr>
              <a:t>et</a:t>
            </a:r>
            <a:r>
              <a:rPr sz="1000" b="0">
                <a:solidFill>
                  <a:srgbClr val="2C3E50"/>
                </a:solidFill>
                <a:latin typeface="Carlito"/>
              </a:rPr>
              <a:t> quatre caractéristiques </a:t>
            </a:r>
            <a:r>
              <a:rPr sz="1000" i="1">
                <a:solidFill>
                  <a:srgbClr val="2C3E50"/>
                </a:solidFill>
                <a:latin typeface="Carlito"/>
              </a:rPr>
              <a:t>ex ante</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 transformées en rangs. </a:t>
            </a:r>
            <a:r>
              <a:rPr sz="1000" i="1">
                <a:solidFill>
                  <a:srgbClr val="2C3E50"/>
                </a:solidFill>
                <a:latin typeface="Carlito"/>
              </a:rPr>
              <a:t>Actions masquées</a:t>
            </a:r>
            <a:r>
              <a:rPr sz="1000" b="0">
                <a:solidFill>
                  <a:srgbClr val="2C3E50"/>
                </a:solidFill>
                <a:latin typeface="Carlito"/>
              </a:rPr>
              <a:t> : </a:t>
            </a:r>
            <a:r>
              <a:rPr sz="1000" i="1">
                <a:solidFill>
                  <a:srgbClr val="2C3E50"/>
                </a:solidFill>
                <a:latin typeface="Carlito"/>
              </a:rPr>
              <a:t>les mêmes quatre caractéristiques seulement</a:t>
            </a:r>
            <a:r>
              <a:rPr sz="1000" b="0">
                <a:solidFill>
                  <a:srgbClr val="2C3E50"/>
                </a:solidFill>
                <a:latin typeface="Carlito"/>
              </a:rPr>
              <a:t>, jamais </a:t>
            </a:r>
            <a:r>
              <a:rPr sz="1000" b="0">
                <a:solidFill>
                  <a:srgbClr val="2C3E50"/>
                </a:solidFill>
                <a:latin typeface="Carlito"/>
              </a:rPr>
              <a:t>; leurs rendements ne servent qu'au calcul de la cible/loss, isolé du contexte.</a:t>
            </a:r>
          </a:p>
        </p:txBody>
      </p:sp>
      <p:sp>
        <p:nvSpPr>
          <p:cNvPr id="11" name="TextBox 10"/>
          <p:cNvSpPr txBox="1"/>
          <p:nvPr/>
        </p:nvSpPr>
        <p:spPr>
          <a:xfrm>
            <a:off x="402336" y="3234181"/>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Sortie de surveillance (proposée) :</a:t>
            </a:r>
            <a:r>
              <a:rPr sz="1000" b="0">
                <a:solidFill>
                  <a:srgbClr val="2C3E50"/>
                </a:solidFill>
                <a:latin typeface="Carlito"/>
              </a:rPr>
              <a:t> un vecteur quotidien compact de dimension </a:t>
            </a:r>
            <a:r>
              <a:rPr sz="1000" b="0">
                <a:solidFill>
                  <a:srgbClr val="2C3E50"/>
                </a:solidFill>
                <a:latin typeface="Carlito"/>
              </a:rPr>
              <a:t>, deux têtes par parité, sans ACP terminale dans la variante principale ; l'ancienne option JEPA→ACP reste une ablation. Toutes les variables sont </a:t>
            </a:r>
            <a:r>
              <a:rPr sz="1000" i="1">
                <a:solidFill>
                  <a:srgbClr val="2C3E50"/>
                </a:solidFill>
                <a:latin typeface="Carlito"/>
              </a:rPr>
              <a:t>quotidiennes</a:t>
            </a:r>
            <a:r>
              <a:rPr sz="1000" b="0">
                <a:solidFill>
                  <a:srgbClr val="2C3E50"/>
                </a:solidFill>
                <a:latin typeface="Carlito"/>
              </a:rPr>
              <a:t> ; les fenêtres 63/252 jours servent au calcul retardé des caractéristiques, non à fournir au modèle une séquence brute de 252 jours.</a:t>
            </a:r>
          </a:p>
        </p:txBody>
      </p:sp>
      <p:sp>
        <p:nvSpPr>
          <p:cNvPr id="12" name="Rectangle 11"/>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1463040"/>
            <a:ext cx="2542032" cy="50292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9904" y="1481328"/>
            <a:ext cx="2487168" cy="182880"/>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1">
                <a:solidFill>
                  <a:srgbClr val="1B7A8A"/>
                </a:solidFill>
                <a:latin typeface="Carlito"/>
              </a:rPr>
              <a:t>visibles : [r/s, beta, vol,</a:t>
            </a:r>
          </a:p>
        </p:txBody>
      </p:sp>
      <p:sp>
        <p:nvSpPr>
          <p:cNvPr id="15" name="TextBox 14"/>
          <p:cNvSpPr txBox="1"/>
          <p:nvPr/>
        </p:nvSpPr>
        <p:spPr>
          <a:xfrm>
            <a:off x="6089904" y="1673352"/>
            <a:ext cx="2487168" cy="25603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5D6D7E"/>
                </a:solidFill>
                <a:latin typeface="Carlito"/>
              </a:rPr>
              <a:t>mom, rev]  —  5 features ex ante</a:t>
            </a:r>
          </a:p>
        </p:txBody>
      </p:sp>
      <p:sp>
        <p:nvSpPr>
          <p:cNvPr id="16" name="Rectangle 15"/>
          <p:cNvSpPr/>
          <p:nvPr/>
        </p:nvSpPr>
        <p:spPr>
          <a:xfrm>
            <a:off x="6062472" y="2011680"/>
            <a:ext cx="2542032" cy="502920"/>
          </a:xfrm>
          <a:prstGeom prst="rect">
            <a:avLst/>
          </a:prstGeom>
          <a:solidFill>
            <a:srgbClr val="FFF0F0"/>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9904" y="2029968"/>
            <a:ext cx="2487168" cy="182880"/>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1">
                <a:solidFill>
                  <a:srgbClr val="C0392B"/>
                </a:solidFill>
                <a:latin typeface="Carlito"/>
              </a:rPr>
              <a:t>cachés : [beta, vol, mom, rev]</a:t>
            </a:r>
          </a:p>
        </p:txBody>
      </p:sp>
      <p:sp>
        <p:nvSpPr>
          <p:cNvPr id="18" name="TextBox 17"/>
          <p:cNvSpPr txBox="1"/>
          <p:nvPr/>
        </p:nvSpPr>
        <p:spPr>
          <a:xfrm>
            <a:off x="6089904" y="2221992"/>
            <a:ext cx="2487168" cy="25603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C0392B"/>
                </a:solidFill>
                <a:latin typeface="Carlito"/>
              </a:rPr>
              <a:t>rendement masqué INTERDIT au contexte</a:t>
            </a:r>
          </a:p>
        </p:txBody>
      </p:sp>
      <p:cxnSp>
        <p:nvCxnSpPr>
          <p:cNvPr id="19" name="Connector 18"/>
          <p:cNvCxnSpPr/>
          <p:nvPr/>
        </p:nvCxnSpPr>
        <p:spPr>
          <a:xfrm>
            <a:off x="7333488" y="2514600"/>
            <a:ext cx="0" cy="137160"/>
          </a:xfrm>
          <a:prstGeom prst="line">
            <a:avLst/>
          </a:prstGeom>
          <a:ln w="25400">
            <a:solidFill>
              <a:srgbClr val="E08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62472" y="2651760"/>
            <a:ext cx="2542032" cy="411480"/>
          </a:xfrm>
          <a:prstGeom prst="rect">
            <a:avLst/>
          </a:prstGeom>
          <a:solidFill>
            <a:srgbClr val="FFF8F0"/>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9904" y="2670048"/>
            <a:ext cx="2487168" cy="365760"/>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5D6D7E"/>
                </a:solidFill>
                <a:latin typeface="Carlito"/>
              </a:rPr>
              <a:t>encodeur contexte + prédicteur</a:t>
            </a:r>
          </a:p>
          <a:p>
            <a:pPr algn="ctr">
              <a:lnSpc>
                <a:spcPts val="804"/>
              </a:lnSpc>
              <a:spcAft>
                <a:spcPts val="0"/>
              </a:spcAft>
            </a:pPr>
            <a:r>
              <a:rPr sz="700" b="0">
                <a:solidFill>
                  <a:srgbClr val="5D6D7E"/>
                </a:solidFill>
                <a:latin typeface="Carlito"/>
              </a:rPr>
              <a:t>+ cible EMA  —  &lt; 1M paramètres</a:t>
            </a:r>
          </a:p>
        </p:txBody>
      </p:sp>
      <p:cxnSp>
        <p:nvCxnSpPr>
          <p:cNvPr id="22" name="Connector 21"/>
          <p:cNvCxnSpPr/>
          <p:nvPr/>
        </p:nvCxnSpPr>
        <p:spPr>
          <a:xfrm>
            <a:off x="7333488" y="3063240"/>
            <a:ext cx="0" cy="137160"/>
          </a:xfrm>
          <a:prstGeom prst="line">
            <a:avLst/>
          </a:prstGeom>
          <a:ln w="25400">
            <a:solidFill>
              <a:srgbClr val="27AE6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062472" y="3200400"/>
            <a:ext cx="2542032" cy="2743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9904" y="3218688"/>
            <a:ext cx="2487168" cy="237744"/>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1">
                <a:solidFill>
                  <a:srgbClr val="FFFFFF"/>
                </a:solidFill>
                <a:latin typeface="Carlito"/>
              </a:rPr>
              <a:t>sortie d ∈ {2,4,8,16} — NON ENTRAÎNÉ</a:t>
            </a:r>
          </a:p>
        </p:txBody>
      </p:sp>
      <p:sp>
        <p:nvSpPr>
          <p:cNvPr id="25" name="TextBox 2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Masking et anti-collapsus : pipeline JEPA sans fuite</a:t>
            </a:r>
          </a:p>
        </p:txBody>
      </p:sp>
      <p:sp>
        <p:nvSpPr>
          <p:cNvPr id="4" name="Rectangle 3"/>
          <p:cNvSpPr/>
          <p:nvPr/>
        </p:nvSpPr>
        <p:spPr>
          <a:xfrm>
            <a:off x="7150607" y="64008"/>
            <a:ext cx="1719072"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50607" y="64008"/>
            <a:ext cx="171907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CONCEPTION À VALIDER</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Masquer avant de retirer un facteur commun ; contrôler la variance des sorties quotidiennes</a:t>
            </a:r>
          </a:p>
        </p:txBody>
      </p:sp>
      <p:sp>
        <p:nvSpPr>
          <p:cNvPr id="8" name="TextBox 7"/>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Masquage principal proposé :</a:t>
            </a:r>
            <a:r>
              <a:rPr sz="1000" b="0">
                <a:solidFill>
                  <a:srgbClr val="2C3E50"/>
                </a:solidFill>
                <a:latin typeface="Carlito"/>
              </a:rPr>
              <a:t> chaque journée, cacher aléatoirement </a:t>
            </a:r>
            <a:r>
              <a:rPr sz="1000" i="1">
                <a:solidFill>
                  <a:srgbClr val="2C3E50"/>
                </a:solidFill>
                <a:latin typeface="Carlito"/>
              </a:rPr>
              <a:t>30–50 %</a:t>
            </a:r>
            <a:r>
              <a:rPr sz="1000" b="0">
                <a:solidFill>
                  <a:srgbClr val="2C3E50"/>
                </a:solidFill>
                <a:latin typeface="Carlito"/>
              </a:rPr>
              <a:t> des rendements des actifs ; garder leurs caractéristiques ex ante. Un masquage sectoriel est une ablation uniquement si les secteurs sont historiquement datés.</a:t>
            </a:r>
          </a:p>
        </p:txBody>
      </p:sp>
      <p:sp>
        <p:nvSpPr>
          <p:cNvPr id="9" name="TextBox 8"/>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Fuite à éviter :</a:t>
            </a:r>
            <a:r>
              <a:rPr sz="1000" b="0">
                <a:solidFill>
                  <a:srgbClr val="2C3E50"/>
                </a:solidFill>
                <a:latin typeface="Carlito"/>
              </a:rPr>
              <a:t> si une moyenne ou un facteur de marché est estimé d'abord avec les rendements de </a:t>
            </a:r>
            <a:r>
              <a:rPr sz="1000" i="1">
                <a:solidFill>
                  <a:srgbClr val="2C3E50"/>
                </a:solidFill>
                <a:latin typeface="Carlito"/>
              </a:rPr>
              <a:t>toutes</a:t>
            </a:r>
            <a:r>
              <a:rPr sz="1000" b="0">
                <a:solidFill>
                  <a:srgbClr val="2C3E50"/>
                </a:solidFill>
                <a:latin typeface="Carlito"/>
              </a:rPr>
              <a:t> les actions, même les résidus visibles contiennent les rendements masqués. Deux variantes licites : pas de neutralisation préalable, ou neutralisation du contexte avec </a:t>
            </a:r>
            <a:r>
              <a:rPr sz="1000" i="1">
                <a:solidFill>
                  <a:srgbClr val="2C3E50"/>
                </a:solidFill>
                <a:latin typeface="Carlito"/>
              </a:rPr>
              <a:t>seules les actions visibles</a:t>
            </a:r>
            <a:r>
              <a:rPr sz="1000" b="0">
                <a:solidFill>
                  <a:srgbClr val="2C3E50"/>
                </a:solidFill>
                <a:latin typeface="Carlito"/>
              </a:rPr>
              <a:t>.</a:t>
            </a:r>
          </a:p>
        </p:txBody>
      </p:sp>
      <p:sp>
        <p:nvSpPr>
          <p:cNvPr id="10" name="TextBox 9"/>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Anti-effondrement proposé</a:t>
            </a:r>
            <a:r>
              <a:rPr sz="1000" b="0">
                <a:solidFill>
                  <a:srgbClr val="2C3E50"/>
                </a:solidFill>
                <a:latin typeface="Carlito"/>
              </a:rPr>
              <a:t> : pénalité de variance sur les sorties </a:t>
            </a:r>
            <a:r>
              <a:rPr sz="1000" i="1">
                <a:solidFill>
                  <a:srgbClr val="2C3E50"/>
                </a:solidFill>
                <a:latin typeface="Carlito"/>
              </a:rPr>
              <a:t>quotidiennes</a:t>
            </a:r>
            <a:r>
              <a:rPr sz="1000" b="0">
                <a:solidFill>
                  <a:srgbClr val="2C3E50"/>
                </a:solidFill>
                <a:latin typeface="Carlito"/>
              </a:rPr>
              <a:t>, calculée par dimension au sein d'un lot de </a:t>
            </a:r>
            <a:r>
              <a:rPr sz="1000" b="0">
                <a:solidFill>
                  <a:srgbClr val="2C3E50"/>
                </a:solidFill>
                <a:latin typeface="Carlito"/>
              </a:rPr>
              <a:t> journées. </a:t>
            </a:r>
            <a:r>
              <a:rPr sz="1000" b="0">
                <a:solidFill>
                  <a:srgbClr val="2C3E50"/>
                </a:solidFill>
                <a:latin typeface="Carlito"/>
                <a:hlinkClick r:id="rId2"/>
              </a:rPr>
              <a:t>Bardes, Ponce et LeCun (2022)</a:t>
            </a:r>
            <a:r>
              <a:rPr sz="1000" b="0">
                <a:solidFill>
                  <a:srgbClr val="2C3E50"/>
                </a:solidFill>
                <a:latin typeface="Carlito"/>
              </a:rPr>
              <a:t> donnent le principe VICReg ; l'application à la tête surveillée et la régularisation de covariance sont des décisions </a:t>
            </a:r>
            <a:r>
              <a:rPr sz="1000" i="1">
                <a:solidFill>
                  <a:srgbClr val="2C3E50"/>
                </a:solidFill>
                <a:latin typeface="Carlito"/>
              </a:rPr>
              <a:t>à tester</a:t>
            </a:r>
            <a:r>
              <a:rPr sz="1000" b="0">
                <a:solidFill>
                  <a:srgbClr val="2C3E50"/>
                </a:solidFill>
                <a:latin typeface="Carlito"/>
              </a:rPr>
              <a:t>.</a:t>
            </a:r>
          </a:p>
        </p:txBody>
      </p:sp>
      <p:sp>
        <p:nvSpPr>
          <p:cNvPr id="11" name="TextBox 10"/>
          <p:cNvSpPr txBox="1"/>
          <p:nvPr/>
        </p:nvSpPr>
        <p:spPr>
          <a:xfrm>
            <a:off x="402336" y="29420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Test d'identifiabilité du prétexte :</a:t>
            </a:r>
            <a:r>
              <a:rPr sz="1000" b="0">
                <a:solidFill>
                  <a:srgbClr val="2C3E50"/>
                </a:solidFill>
                <a:latin typeface="Carlito"/>
              </a:rPr>
              <a:t> si les rendements idiosyncratiques sont conditionnellement indépendants après retrait du facteur, leur prédiction transversale quadratique optimale est zéro ; une faible perte JEPA ne signifie pas conservation des futurs changements.</a:t>
            </a:r>
          </a:p>
        </p:txBody>
      </p:sp>
      <p:sp>
        <p:nvSpPr>
          <p:cNvPr id="12" name="Rectangle 11"/>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1463040"/>
            <a:ext cx="2542032" cy="594360"/>
          </a:xfrm>
          <a:prstGeom prst="rect">
            <a:avLst/>
          </a:prstGeom>
          <a:solidFill>
            <a:srgbClr val="FFF0F0"/>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9904" y="1481328"/>
            <a:ext cx="2487168"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C0392B"/>
                </a:solidFill>
                <a:latin typeface="Carlito"/>
              </a:rPr>
              <a:t>FAUX : fuite de cible</a:t>
            </a:r>
          </a:p>
        </p:txBody>
      </p:sp>
      <p:sp>
        <p:nvSpPr>
          <p:cNvPr id="15" name="TextBox 14"/>
          <p:cNvSpPr txBox="1"/>
          <p:nvPr/>
        </p:nvSpPr>
        <p:spPr>
          <a:xfrm>
            <a:off x="6089904" y="1673352"/>
            <a:ext cx="2487168" cy="34747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marché (toutes actions)</a:t>
            </a:r>
          </a:p>
          <a:p>
            <a:pPr algn="ctr">
              <a:lnSpc>
                <a:spcPts val="804"/>
              </a:lnSpc>
              <a:spcAft>
                <a:spcPts val="0"/>
              </a:spcAft>
            </a:pPr>
            <a:r>
              <a:rPr sz="700" b="0">
                <a:solidFill>
                  <a:srgbClr val="2C3E50"/>
                </a:solidFill>
                <a:latin typeface="Carlito"/>
              </a:rPr>
              <a:t>→ masquer → fuite</a:t>
            </a:r>
          </a:p>
        </p:txBody>
      </p:sp>
      <p:sp>
        <p:nvSpPr>
          <p:cNvPr id="16" name="Rectangle 15"/>
          <p:cNvSpPr/>
          <p:nvPr/>
        </p:nvSpPr>
        <p:spPr>
          <a:xfrm>
            <a:off x="6062472" y="2103120"/>
            <a:ext cx="2542032" cy="594360"/>
          </a:xfrm>
          <a:prstGeom prst="rect">
            <a:avLst/>
          </a:prstGeom>
          <a:solidFill>
            <a:srgbClr val="E8F6EF"/>
          </a:solidFill>
          <a:ln>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9904" y="2121408"/>
            <a:ext cx="2487168"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27AE60"/>
                </a:solidFill>
                <a:latin typeface="Carlito"/>
              </a:rPr>
              <a:t>LICITE : masquer d'abord</a:t>
            </a:r>
          </a:p>
        </p:txBody>
      </p:sp>
      <p:sp>
        <p:nvSpPr>
          <p:cNvPr id="18" name="TextBox 17"/>
          <p:cNvSpPr txBox="1"/>
          <p:nvPr/>
        </p:nvSpPr>
        <p:spPr>
          <a:xfrm>
            <a:off x="6089904" y="2313432"/>
            <a:ext cx="2487168" cy="34747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masquer 30-50%</a:t>
            </a:r>
          </a:p>
          <a:p>
            <a:pPr algn="ctr">
              <a:lnSpc>
                <a:spcPts val="804"/>
              </a:lnSpc>
              <a:spcAft>
                <a:spcPts val="0"/>
              </a:spcAft>
            </a:pPr>
            <a:r>
              <a:rPr sz="700" b="0">
                <a:solidFill>
                  <a:srgbClr val="2C3E50"/>
                </a:solidFill>
                <a:latin typeface="Carlito"/>
              </a:rPr>
              <a:t>→ facteur (visibles)</a:t>
            </a:r>
          </a:p>
          <a:p>
            <a:pPr algn="ctr">
              <a:lnSpc>
                <a:spcPts val="804"/>
              </a:lnSpc>
              <a:spcAft>
                <a:spcPts val="0"/>
              </a:spcAft>
            </a:pPr>
            <a:r>
              <a:rPr sz="700" b="0">
                <a:solidFill>
                  <a:srgbClr val="2C3E50"/>
                </a:solidFill>
                <a:latin typeface="Carlito"/>
              </a:rPr>
              <a:t>→ prédire cachés</a:t>
            </a:r>
          </a:p>
        </p:txBody>
      </p:sp>
      <p:sp>
        <p:nvSpPr>
          <p:cNvPr id="19" name="Rectangle 18"/>
          <p:cNvSpPr/>
          <p:nvPr/>
        </p:nvSpPr>
        <p:spPr>
          <a:xfrm>
            <a:off x="6062472" y="2788920"/>
            <a:ext cx="2542032" cy="640080"/>
          </a:xfrm>
          <a:prstGeom prst="rect">
            <a:avLst/>
          </a:prstGeom>
          <a:solidFill>
            <a:srgbClr val="FFFFFF"/>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9904" y="2807208"/>
            <a:ext cx="2487168"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2980B9"/>
                </a:solidFill>
                <a:latin typeface="Carlito"/>
              </a:rPr>
              <a:t>pénalité de variance</a:t>
            </a:r>
          </a:p>
        </p:txBody>
      </p:sp>
      <p:sp>
        <p:nvSpPr>
          <p:cNvPr id="21" name="TextBox 20"/>
          <p:cNvSpPr txBox="1"/>
          <p:nvPr/>
        </p:nvSpPr>
        <p:spPr>
          <a:xfrm>
            <a:off x="6089904" y="2999232"/>
            <a:ext cx="2487168" cy="39319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L_var = (1/d) Σ max(0, 1-sd(Z_j))²</a:t>
            </a:r>
          </a:p>
          <a:p>
            <a:pPr algn="ctr">
              <a:lnSpc>
                <a:spcPts val="804"/>
              </a:lnSpc>
              <a:spcAft>
                <a:spcPts val="0"/>
              </a:spcAft>
            </a:pPr>
            <a:r>
              <a:rPr sz="700" b="0">
                <a:solidFill>
                  <a:srgbClr val="2C3E50"/>
                </a:solidFill>
                <a:latin typeface="Carlito"/>
              </a:rPr>
              <a:t>sd sur B journées</a:t>
            </a:r>
          </a:p>
          <a:p>
            <a:pPr algn="ctr">
              <a:lnSpc>
                <a:spcPts val="804"/>
              </a:lnSpc>
              <a:spcAft>
                <a:spcPts val="0"/>
              </a:spcAft>
            </a:pPr>
            <a:r>
              <a:rPr sz="700" b="0">
                <a:solidFill>
                  <a:srgbClr val="2C3E50"/>
                </a:solidFill>
                <a:latin typeface="Carlito"/>
              </a:rPr>
              <a:t>anti-collapsus</a:t>
            </a:r>
          </a:p>
        </p:txBody>
      </p:sp>
      <p:sp>
        <p:nvSpPr>
          <p:cNvPr id="22" name="Rectangle 21"/>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L_var = (1/d)*somme(j=1..d, max(0,1-sd_batch(Z_j))^2)</a:t>
            </a:r>
          </a:p>
        </p:txBody>
      </p:sp>
      <p:sp>
        <p:nvSpPr>
          <p:cNvPr id="24" name="TextBox 23"/>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JEPA : protocole réel/synthétique et choix avant le test</a:t>
            </a:r>
          </a:p>
        </p:txBody>
      </p:sp>
      <p:sp>
        <p:nvSpPr>
          <p:cNvPr id="4" name="Rectangle 3"/>
          <p:cNvSpPr/>
          <p:nvPr/>
        </p:nvSpPr>
        <p:spPr>
          <a:xfrm>
            <a:off x="6931151" y="64008"/>
            <a:ext cx="1938528"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31151" y="64008"/>
            <a:ext cx="193852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PROTOCOLE NON TERMINÉ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Comparer ACP, degré zéro et JEPA sur les mêmes rendements et les mêmes ruptures</a:t>
            </a:r>
          </a:p>
        </p:txBody>
      </p:sp>
      <p:sp>
        <p:nvSpPr>
          <p:cNvPr id="8" name="TextBox 7"/>
          <p:cNvSpPr txBox="1"/>
          <p:nvPr/>
        </p:nvSpPr>
        <p:spPr>
          <a:xfrm>
            <a:off x="402336" y="1325880"/>
            <a:ext cx="5303520" cy="785113"/>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Réel, prétrain (2005–2015) :</a:t>
            </a:r>
            <a:r>
              <a:rPr sz="1000" b="0">
                <a:solidFill>
                  <a:srgbClr val="2C3E50"/>
                </a:solidFill>
                <a:latin typeface="Carlito"/>
              </a:rPr>
              <a:t> apprendre les poids JEPA sur coupes quotidiennes des </a:t>
            </a:r>
            <a:r>
              <a:rPr sz="1000" i="1">
                <a:solidFill>
                  <a:srgbClr val="2C3E50"/>
                </a:solidFill>
                <a:latin typeface="Carlito"/>
              </a:rPr>
              <a:t>239 actions</a:t>
            </a:r>
            <a:r>
              <a:rPr sz="1000" b="0">
                <a:solidFill>
                  <a:srgbClr val="2C3E50"/>
                </a:solidFill>
                <a:latin typeface="Carlito"/>
              </a:rPr>
              <a:t> et les quatre caractéristiques antérieures ; contrôler la loss de prédiction et les variances des </a:t>
            </a:r>
            <a:r>
              <a:rPr sz="1000" i="1">
                <a:solidFill>
                  <a:srgbClr val="2C3E50"/>
                </a:solidFill>
                <a:latin typeface="Carlito"/>
              </a:rPr>
              <a:t>sorties quotidiennes</a:t>
            </a:r>
            <a:r>
              <a:rPr sz="1000" b="0">
                <a:solidFill>
                  <a:srgbClr val="2C3E50"/>
                </a:solidFill>
                <a:latin typeface="Carlito"/>
              </a:rPr>
              <a:t>. </a:t>
            </a:r>
            <a:r>
              <a:rPr sz="1000" i="1">
                <a:solidFill>
                  <a:srgbClr val="2C3E50"/>
                </a:solidFill>
                <a:latin typeface="Carlito"/>
              </a:rPr>
              <a:t>Calib (2016–2019) :</a:t>
            </a:r>
            <a:r>
              <a:rPr sz="1000" b="0">
                <a:solidFill>
                  <a:srgbClr val="2C3E50"/>
                </a:solidFill>
                <a:latin typeface="Carlito"/>
              </a:rPr>
              <a:t> choisir parmi </a:t>
            </a:r>
            <a:r>
              <a:rPr sz="1000" b="0">
                <a:solidFill>
                  <a:srgbClr val="2C3E50"/>
                </a:solidFill>
                <a:latin typeface="Carlito"/>
              </a:rPr>
              <a:t>, variantes de masques et de sorties selon une règle </a:t>
            </a:r>
            <a:r>
              <a:rPr sz="1000" i="1">
                <a:solidFill>
                  <a:srgbClr val="2C3E50"/>
                </a:solidFill>
                <a:latin typeface="Carlito"/>
              </a:rPr>
              <a:t>préspécifiée</a:t>
            </a:r>
            <a:r>
              <a:rPr sz="1000" b="0">
                <a:solidFill>
                  <a:srgbClr val="2C3E50"/>
                </a:solidFill>
                <a:latin typeface="Carlito"/>
              </a:rPr>
              <a:t> (information sur injections de validation et FPR sans dérive), puis fixer la variante admissible.</a:t>
            </a:r>
          </a:p>
        </p:txBody>
      </p:sp>
      <p:sp>
        <p:nvSpPr>
          <p:cNvPr id="9" name="TextBox 8"/>
          <p:cNvSpPr txBox="1"/>
          <p:nvPr/>
        </p:nvSpPr>
        <p:spPr>
          <a:xfrm>
            <a:off x="402336" y="2156714"/>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Calib statistique distincte du choix si nécessaire :</a:t>
            </a:r>
            <a:r>
              <a:rPr sz="1000" b="0">
                <a:solidFill>
                  <a:srgbClr val="2C3E50"/>
                </a:solidFill>
                <a:latin typeface="Carlito"/>
              </a:rPr>
              <a:t> sous trajectoires sans dérive de la même famille, fixer </a:t>
            </a:r>
            <a:r>
              <a:rPr sz="1000" i="1">
                <a:solidFill>
                  <a:srgbClr val="2C3E50"/>
                </a:solidFill>
                <a:latin typeface="Carlito"/>
              </a:rPr>
              <a:t>un seuil pour les signes</a:t>
            </a:r>
            <a:r>
              <a:rPr sz="1000" b="0">
                <a:solidFill>
                  <a:srgbClr val="2C3E50"/>
                </a:solidFill>
                <a:latin typeface="Carlito"/>
              </a:rPr>
              <a:t> et </a:t>
            </a:r>
            <a:r>
              <a:rPr sz="1000" i="1">
                <a:solidFill>
                  <a:srgbClr val="2C3E50"/>
                </a:solidFill>
                <a:latin typeface="Carlito"/>
              </a:rPr>
              <a:t>un autre pour l'énergie</a:t>
            </a:r>
            <a:r>
              <a:rPr sz="1000" b="0">
                <a:solidFill>
                  <a:srgbClr val="2C3E50"/>
                </a:solidFill>
                <a:latin typeface="Carlito"/>
              </a:rPr>
              <a:t>, chacun à </a:t>
            </a:r>
            <a:r>
              <a:rPr sz="1000" b="0">
                <a:solidFill>
                  <a:srgbClr val="2C3E50"/>
                </a:solidFill>
                <a:latin typeface="Carlito"/>
              </a:rPr>
              <a:t> ou avec borne annoncée ; pas d'OR non calibré. Figer modèle, normalisations, directions éventuelles et seuils </a:t>
            </a:r>
            <a:r>
              <a:rPr sz="1000" i="1">
                <a:solidFill>
                  <a:srgbClr val="2C3E50"/>
                </a:solidFill>
                <a:latin typeface="Carlito"/>
              </a:rPr>
              <a:t>avant</a:t>
            </a:r>
            <a:r>
              <a:rPr sz="1000" b="0">
                <a:solidFill>
                  <a:srgbClr val="2C3E50"/>
                </a:solidFill>
                <a:latin typeface="Carlito"/>
              </a:rPr>
              <a:t> le test.</a:t>
            </a:r>
          </a:p>
        </p:txBody>
      </p:sp>
      <p:sp>
        <p:nvSpPr>
          <p:cNvPr id="10" name="TextBox 9"/>
          <p:cNvSpPr txBox="1"/>
          <p:nvPr/>
        </p:nvSpPr>
        <p:spPr>
          <a:xfrm>
            <a:off x="402336" y="2841498"/>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Test réel symétrisé et synthétique :</a:t>
            </a:r>
            <a:r>
              <a:rPr sz="1000" b="0">
                <a:solidFill>
                  <a:srgbClr val="2C3E50"/>
                </a:solidFill>
                <a:latin typeface="Carlito"/>
              </a:rPr>
              <a:t> sur les </a:t>
            </a:r>
            <a:r>
              <a:rPr sz="1000" i="1">
                <a:solidFill>
                  <a:srgbClr val="2C3E50"/>
                </a:solidFill>
                <a:latin typeface="Carlito"/>
              </a:rPr>
              <a:t>mêmes fonds et mêmes dates de rupture</a:t>
            </a:r>
            <a:r>
              <a:rPr sz="1000" b="0">
                <a:solidFill>
                  <a:srgbClr val="2C3E50"/>
                </a:solidFill>
                <a:latin typeface="Carlito"/>
              </a:rPr>
              <a:t>, injecter la moyenne factorielle, la moyenne guidée par les caractéristiques, ou une rotation/déformation de covariance </a:t>
            </a:r>
            <a:r>
              <a:rPr sz="1000" i="1">
                <a:solidFill>
                  <a:srgbClr val="2C3E50"/>
                </a:solidFill>
                <a:latin typeface="Carlito"/>
              </a:rPr>
              <a:t>dans les rendements</a:t>
            </a:r>
            <a:r>
              <a:rPr sz="1000" b="0">
                <a:solidFill>
                  <a:srgbClr val="2C3E50"/>
                </a:solidFill>
                <a:latin typeface="Carlito"/>
              </a:rPr>
              <a:t>. Comparer JEPA à ACP et degré zéro. Les expériences JEPA ne disposent </a:t>
            </a:r>
            <a:r>
              <a:rPr sz="1000" i="1">
                <a:solidFill>
                  <a:srgbClr val="2C3E50"/>
                </a:solidFill>
                <a:latin typeface="Carlito"/>
              </a:rPr>
              <a:t>pas encore</a:t>
            </a:r>
            <a:r>
              <a:rPr sz="1000" b="0">
                <a:solidFill>
                  <a:srgbClr val="2C3E50"/>
                </a:solidFill>
                <a:latin typeface="Carlito"/>
              </a:rPr>
              <a:t> de résultats vérifiés.</a:t>
            </a:r>
          </a:p>
        </p:txBody>
      </p:sp>
      <p:sp>
        <p:nvSpPr>
          <p:cNvPr id="11" name="TextBox 10"/>
          <p:cNvSpPr txBox="1"/>
          <p:nvPr/>
        </p:nvSpPr>
        <p:spPr>
          <a:xfrm>
            <a:off x="402336" y="35262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Mesures à publier pour chaque méthode/configuration :</a:t>
            </a:r>
            <a:r>
              <a:rPr sz="1000" b="0">
                <a:solidFill>
                  <a:srgbClr val="2C3E50"/>
                </a:solidFill>
                <a:latin typeface="Carlito"/>
              </a:rPr>
              <a:t> </a:t>
            </a:r>
            <a:r>
              <a:rPr sz="1000" b="0">
                <a:solidFill>
                  <a:srgbClr val="2C3E50"/>
                </a:solidFill>
                <a:latin typeface="Carlito"/>
              </a:rPr>
              <a:t> mesurée, fraction de trajectoires détectées avant H, </a:t>
            </a:r>
            <a:r>
              <a:rPr sz="1000" i="1">
                <a:solidFill>
                  <a:srgbClr val="2C3E50"/>
                </a:solidFill>
                <a:latin typeface="Carlito"/>
              </a:rPr>
              <a:t>RMST(H)</a:t>
            </a:r>
            <a:r>
              <a:rPr sz="1000" b="0">
                <a:solidFill>
                  <a:srgbClr val="2C3E50"/>
                </a:solidFill>
                <a:latin typeface="Carlito"/>
              </a:rPr>
              <a:t> (moyenne des délais plafonnés à H), rapport apparié, intervalle d'incertitude et nombre de trajectoires. La préservation de KL est évaluée séparément du délai.</a:t>
            </a:r>
          </a:p>
        </p:txBody>
      </p:sp>
      <p:sp>
        <p:nvSpPr>
          <p:cNvPr id="12" name="Rectangle 11"/>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62472" y="1463040"/>
            <a:ext cx="2542032" cy="22860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9904" y="1472184"/>
            <a:ext cx="2487168" cy="210312"/>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ACP</a:t>
            </a:r>
          </a:p>
        </p:txBody>
      </p:sp>
      <p:sp>
        <p:nvSpPr>
          <p:cNvPr id="15" name="Rectangle 14"/>
          <p:cNvSpPr/>
          <p:nvPr/>
        </p:nvSpPr>
        <p:spPr>
          <a:xfrm>
            <a:off x="6062472" y="1719072"/>
            <a:ext cx="2542032" cy="347472"/>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9904" y="1737360"/>
            <a:ext cx="2487168" cy="310896"/>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fit calib → scores → alarmes</a:t>
            </a:r>
          </a:p>
        </p:txBody>
      </p:sp>
      <p:sp>
        <p:nvSpPr>
          <p:cNvPr id="17" name="Rectangle 16"/>
          <p:cNvSpPr/>
          <p:nvPr/>
        </p:nvSpPr>
        <p:spPr>
          <a:xfrm>
            <a:off x="6062472" y="2121408"/>
            <a:ext cx="2542032" cy="22860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9904" y="2130552"/>
            <a:ext cx="2487168" cy="210312"/>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degré zéro</a:t>
            </a:r>
          </a:p>
        </p:txBody>
      </p:sp>
      <p:sp>
        <p:nvSpPr>
          <p:cNvPr id="19" name="Rectangle 18"/>
          <p:cNvSpPr/>
          <p:nvPr/>
        </p:nvSpPr>
        <p:spPr>
          <a:xfrm>
            <a:off x="6062472" y="2377440"/>
            <a:ext cx="2542032" cy="347472"/>
          </a:xfrm>
          <a:prstGeom prst="rect">
            <a:avLst/>
          </a:prstGeom>
          <a:solidFill>
            <a:srgbClr val="EBF2FA"/>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9904" y="2395728"/>
            <a:ext cx="2487168" cy="310896"/>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fit calib → normalisé → alarmes</a:t>
            </a:r>
          </a:p>
        </p:txBody>
      </p:sp>
      <p:sp>
        <p:nvSpPr>
          <p:cNvPr id="21" name="Rectangle 20"/>
          <p:cNvSpPr/>
          <p:nvPr/>
        </p:nvSpPr>
        <p:spPr>
          <a:xfrm>
            <a:off x="6062472" y="2779776"/>
            <a:ext cx="2542032" cy="22860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9904" y="2788920"/>
            <a:ext cx="2487168" cy="210312"/>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JEPA</a:t>
            </a:r>
          </a:p>
        </p:txBody>
      </p:sp>
      <p:sp>
        <p:nvSpPr>
          <p:cNvPr id="23" name="Rectangle 22"/>
          <p:cNvSpPr/>
          <p:nvPr/>
        </p:nvSpPr>
        <p:spPr>
          <a:xfrm>
            <a:off x="6062472" y="3035808"/>
            <a:ext cx="2542032" cy="347472"/>
          </a:xfrm>
          <a:prstGeom prst="rect">
            <a:avLst/>
          </a:prstGeom>
          <a:solidFill>
            <a:srgbClr val="FFF8F0"/>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9904" y="3054096"/>
            <a:ext cx="2487168" cy="310896"/>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2C3E50"/>
                </a:solidFill>
                <a:latin typeface="Carlito"/>
              </a:rPr>
              <a:t>prétrain → validation → test</a:t>
            </a:r>
          </a:p>
        </p:txBody>
      </p:sp>
      <p:sp>
        <p:nvSpPr>
          <p:cNvPr id="25" name="TextBox 24"/>
          <p:cNvSpPr txBox="1"/>
          <p:nvPr/>
        </p:nvSpPr>
        <p:spPr>
          <a:xfrm>
            <a:off x="6089904" y="3218688"/>
            <a:ext cx="2487168" cy="146304"/>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1">
                <a:solidFill>
                  <a:srgbClr val="C0392B"/>
                </a:solidFill>
                <a:latin typeface="Carlito"/>
              </a:rPr>
              <a:t>NON EXÉCUTÉ</a:t>
            </a:r>
          </a:p>
        </p:txBody>
      </p:sp>
      <p:sp>
        <p:nvSpPr>
          <p:cNvPr id="26" name="TextBox 25"/>
          <p:cNvSpPr txBox="1"/>
          <p:nvPr/>
        </p:nvSpPr>
        <p:spPr>
          <a:xfrm>
            <a:off x="6062472" y="3337559"/>
            <a:ext cx="2542032" cy="16459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1">
                <a:solidFill>
                  <a:srgbClr val="8A9BB0"/>
                </a:solidFill>
                <a:latin typeface="Carlito"/>
              </a:rPr>
              <a:t>mêmes fonds, mêmes ruptures</a:t>
            </a:r>
          </a:p>
        </p:txBody>
      </p:sp>
      <p:sp>
        <p:nvSpPr>
          <p:cNvPr id="27" name="Rectangle 2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G_H = E[min(T_reference,H)] / E[min(T_methode,H)]</a:t>
            </a:r>
          </a:p>
        </p:txBody>
      </p:sp>
      <p:sp>
        <p:nvSpPr>
          <p:cNvPr id="29" name="TextBox 2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Conclusions quantitatives et décision scientifique</a:t>
            </a:r>
          </a:p>
        </p:txBody>
      </p:sp>
      <p:sp>
        <p:nvSpPr>
          <p:cNvPr id="4" name="Rectangle 3"/>
          <p:cNvSpPr/>
          <p:nvPr/>
        </p:nvSpPr>
        <p:spPr>
          <a:xfrm>
            <a:off x="7927848" y="64008"/>
            <a:ext cx="941832"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7848" y="64008"/>
            <a:ext cx="94183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ARBITRAGE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Résultat actuel : le problème de détection est démontré ; le gain JEPA ne l'est pas</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Décision :</a:t>
            </a:r>
            <a:r>
              <a:rPr sz="1100" b="0">
                <a:solidFill>
                  <a:srgbClr val="2C3E50"/>
                </a:solidFill>
                <a:latin typeface="Carlito"/>
              </a:rPr>
              <a:t> d'abord caractériser </a:t>
            </a:r>
            <a:r>
              <a:rPr sz="1100" b="0">
                <a:solidFill>
                  <a:srgbClr val="2C3E50"/>
                </a:solidFill>
                <a:latin typeface="Carlito"/>
              </a:rPr>
              <a:t> et </a:t>
            </a:r>
            <a:r>
              <a:rPr sz="1100" b="0">
                <a:solidFill>
                  <a:srgbClr val="2C3E50"/>
                </a:solidFill>
                <a:latin typeface="Carlito"/>
              </a:rPr>
              <a:t> pour les mêmes injections ; ensuite comparer, à </a:t>
            </a:r>
            <a:r>
              <a:rPr sz="1100" i="1">
                <a:solidFill>
                  <a:srgbClr val="2C3E50"/>
                </a:solidFill>
                <a:latin typeface="Carlito"/>
              </a:rPr>
              <a:t>FPR(H)</a:t>
            </a:r>
            <a:r>
              <a:rPr sz="1100" b="0">
                <a:solidFill>
                  <a:srgbClr val="2C3E50"/>
                </a:solidFill>
                <a:latin typeface="Carlito"/>
              </a:rPr>
              <a:t> équivalente, le meilleur contrôle simple et la meilleure version JEPA </a:t>
            </a:r>
            <a:r>
              <a:rPr sz="1100" i="1">
                <a:solidFill>
                  <a:srgbClr val="2C3E50"/>
                </a:solidFill>
                <a:latin typeface="Carlito"/>
              </a:rPr>
              <a:t>choisie avant test</a:t>
            </a:r>
            <a:r>
              <a:rPr sz="1100" b="0">
                <a:solidFill>
                  <a:srgbClr val="2C3E50"/>
                </a:solidFill>
                <a:latin typeface="Carlito"/>
              </a:rPr>
              <a:t>. Pas de promesse de gain, pas de plage optimale annoncée.</a:t>
            </a:r>
          </a:p>
        </p:txBody>
      </p:sp>
      <p:graphicFrame>
        <p:nvGraphicFramePr>
          <p:cNvPr id="9" name="Table 8"/>
          <p:cNvGraphicFramePr>
            <a:graphicFrameLocks noGrp="1"/>
          </p:cNvGraphicFramePr>
          <p:nvPr/>
        </p:nvGraphicFramePr>
        <p:xfrm>
          <a:off x="438912" y="1830069"/>
          <a:ext cx="8275320" cy="2048256"/>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Objet</a:t>
                      </a:r>
                    </a:p>
                  </a:txBody>
                  <a:tcPr marL="54864" marR="54864" marT="18288" marB="18288">
                    <a:solidFill>
                      <a:srgbClr val="1B7A8A"/>
                    </a:solidFill>
                  </a:tcPr>
                </a:tc>
                <a:tc>
                  <a:txBody>
                    <a:bodyPr/>
                    <a:lstStyle/>
                    <a:p>
                      <a:pPr algn="ctr"/>
                      <a:r>
                        <a:rPr sz="1000" b="1">
                          <a:solidFill>
                            <a:srgbClr val="FFFFFF"/>
                          </a:solidFill>
                          <a:latin typeface="Carlito"/>
                        </a:rPr>
                        <a:t>Acquis quantitatif / théorique</a:t>
                      </a:r>
                    </a:p>
                  </a:txBody>
                  <a:tcPr marL="54864" marR="54864" marT="18288" marB="18288">
                    <a:solidFill>
                      <a:srgbClr val="1B7A8A"/>
                    </a:solidFill>
                  </a:tcPr>
                </a:tc>
                <a:tc>
                  <a:txBody>
                    <a:bodyPr/>
                    <a:lstStyle/>
                    <a:p>
                      <a:pPr algn="ctr"/>
                      <a:r>
                        <a:rPr sz="1000" b="1">
                          <a:solidFill>
                            <a:srgbClr val="FFFFFF"/>
                          </a:solidFill>
                          <a:latin typeface="Carlito"/>
                        </a:rPr>
                        <a:t>Limite à lever</a:t>
                      </a:r>
                    </a:p>
                  </a:txBody>
                  <a:tcPr marL="54864" marR="54864" marT="18288" marB="18288">
                    <a:solidFill>
                      <a:srgbClr val="1B7A8A"/>
                    </a:solidFill>
                  </a:tcPr>
                </a:tc>
              </a:tr>
              <a:tr h="292608">
                <a:tc>
                  <a:txBody>
                    <a:bodyPr/>
                    <a:lstStyle/>
                    <a:p>
                      <a:pPr algn="l"/>
                      <a:r>
                        <a:rPr sz="900" b="0">
                          <a:solidFill>
                            <a:srgbClr val="2C3E50"/>
                          </a:solidFill>
                          <a:latin typeface="Carlito"/>
                        </a:rPr>
                        <a:t>Budget univarié gaussien</a:t>
                      </a:r>
                    </a:p>
                  </a:txBody>
                  <a:tcPr marL="54864" marR="54864" marT="18288" marB="18288">
                    <a:solidFill>
                      <a:srgbClr val="EBF2FA"/>
                    </a:solidFill>
                  </a:tcPr>
                </a:tc>
                <a:tc>
                  <a:txBody>
                    <a:bodyPr/>
                    <a:lstStyle/>
                    <a:p>
                      <a:pPr algn="ctr"/>
                      <a:r>
                        <a:rPr sz="900" b="0">
                          <a:solidFill>
                            <a:srgbClr val="2C3E50"/>
                          </a:solidFill>
                          <a:latin typeface="Carlito"/>
                        </a:rPr>
                        <a:t> nat/jour ; budget moyen de preuve </a:t>
                      </a:r>
                    </a:p>
                  </a:txBody>
                  <a:tcPr marL="54864" marR="54864" marT="18288" marB="18288">
                    <a:solidFill>
                      <a:srgbClr val="EBF2FA"/>
                    </a:solidFill>
                  </a:tcPr>
                </a:tc>
                <a:tc>
                  <a:txBody>
                    <a:bodyPr/>
                    <a:lstStyle/>
                    <a:p>
                      <a:pPr algn="ctr"/>
                      <a:r>
                        <a:rPr sz="900" b="0">
                          <a:solidFill>
                            <a:srgbClr val="2C3E50"/>
                          </a:solidFill>
                          <a:latin typeface="Carlito"/>
                        </a:rPr>
                        <a:t>À distinguer du délai sous contrainte ARL0 finie</a:t>
                      </a:r>
                    </a:p>
                  </a:txBody>
                  <a:tcPr marL="54864" marR="54864" marT="18288" marB="18288">
                    <a:solidFill>
                      <a:srgbClr val="EBF2FA"/>
                    </a:solidFill>
                  </a:tcPr>
                </a:tc>
              </a:tr>
              <a:tr h="292608">
                <a:tc>
                  <a:txBody>
                    <a:bodyPr/>
                    <a:lstStyle/>
                    <a:p>
                      <a:pPr algn="l"/>
                      <a:r>
                        <a:rPr sz="900" b="0">
                          <a:solidFill>
                            <a:srgbClr val="2C3E50"/>
                          </a:solidFill>
                          <a:latin typeface="Carlito"/>
                        </a:rPr>
                        <a:t>Moyenne des actions corrélées</a:t>
                      </a:r>
                    </a:p>
                  </a:txBody>
                  <a:tcPr marL="54864" marR="54864" marT="18288" marB="18288">
                    <a:solidFill>
                      <a:srgbClr val="FFFFFF"/>
                    </a:solidFill>
                  </a:tcPr>
                </a:tc>
                <a:tc>
                  <a:txBody>
                    <a:bodyPr/>
                    <a:lstStyle/>
                    <a:p>
                      <a:pPr algn="ctr"/>
                      <a:r>
                        <a:rPr sz="900" b="0">
                          <a:solidFill>
                            <a:srgbClr val="2C3E50"/>
                          </a:solidFill>
                          <a:latin typeface="Carlito"/>
                        </a:rPr>
                        <a:t> ; </a:t>
                      </a:r>
                      <a:r>
                        <a:rPr sz="900" i="1">
                          <a:solidFill>
                            <a:srgbClr val="2C3E50"/>
                          </a:solidFill>
                          <a:latin typeface="Carlito"/>
                        </a:rPr>
                        <a:t>plateau de dispersion≈1,96×</a:t>
                      </a:r>
                    </a:p>
                  </a:txBody>
                  <a:tcPr marL="54864" marR="54864" marT="18288" marB="18288">
                    <a:solidFill>
                      <a:srgbClr val="FFFFFF"/>
                    </a:solidFill>
                  </a:tcPr>
                </a:tc>
                <a:tc>
                  <a:txBody>
                    <a:bodyPr/>
                    <a:lstStyle/>
                    <a:p>
                      <a:pPr algn="ctr"/>
                      <a:r>
                        <a:rPr sz="900" b="0">
                          <a:solidFill>
                            <a:srgbClr val="2C3E50"/>
                          </a:solidFill>
                          <a:latin typeface="Carlito"/>
                        </a:rPr>
                        <a:t>Ne borne pas un détecteur multivarié</a:t>
                      </a:r>
                    </a:p>
                  </a:txBody>
                  <a:tcPr marL="54864" marR="54864" marT="18288" marB="18288">
                    <a:solidFill>
                      <a:srgbClr val="FFFFFF"/>
                    </a:solidFill>
                  </a:tcPr>
                </a:tc>
              </a:tr>
              <a:tr h="292608">
                <a:tc>
                  <a:txBody>
                    <a:bodyPr/>
                    <a:lstStyle/>
                    <a:p>
                      <a:pPr algn="l"/>
                      <a:r>
                        <a:rPr sz="900" b="0">
                          <a:solidFill>
                            <a:srgbClr val="2C3E50"/>
                          </a:solidFill>
                          <a:latin typeface="Carlito"/>
                        </a:rPr>
                        <a:t>Modèle ACP et tests de signe</a:t>
                      </a:r>
                    </a:p>
                  </a:txBody>
                  <a:tcPr marL="54864" marR="54864" marT="18288" marB="18288">
                    <a:solidFill>
                      <a:srgbClr val="EBF2FA"/>
                    </a:solidFill>
                  </a:tcPr>
                </a:tc>
                <a:tc>
                  <a:txBody>
                    <a:bodyPr/>
                    <a:lstStyle/>
                    <a:p>
                      <a:pPr algn="ctr"/>
                      <a:r>
                        <a:rPr sz="900" i="1">
                          <a:solidFill>
                            <a:srgbClr val="2C3E50"/>
                          </a:solidFill>
                          <a:latin typeface="Carlito"/>
                        </a:rPr>
                        <a:t>6 axes</a:t>
                      </a:r>
                      <a:r>
                        <a:rPr sz="900" b="0">
                          <a:solidFill>
                            <a:srgbClr val="2C3E50"/>
                          </a:solidFill>
                          <a:latin typeface="Carlito"/>
                        </a:rPr>
                        <a:t> (97 actifs), </a:t>
                      </a:r>
                      <a:r>
                        <a:rPr sz="900" i="1">
                          <a:solidFill>
                            <a:srgbClr val="2C3E50"/>
                          </a:solidFill>
                          <a:latin typeface="Carlito"/>
                        </a:rPr>
                        <a:t>11</a:t>
                      </a:r>
                      <a:r>
                        <a:rPr sz="900" b="0">
                          <a:solidFill>
                            <a:srgbClr val="2C3E50"/>
                          </a:solidFill>
                          <a:latin typeface="Carlito"/>
                        </a:rPr>
                        <a:t> (239) ; null symétrique : 4,425 % vs 4,3947 % calibré</a:t>
                      </a:r>
                    </a:p>
                  </a:txBody>
                  <a:tcPr marL="54864" marR="54864" marT="18288" marB="18288">
                    <a:solidFill>
                      <a:srgbClr val="EBF2FA"/>
                    </a:solidFill>
                  </a:tcPr>
                </a:tc>
                <a:tc>
                  <a:txBody>
                    <a:bodyPr/>
                    <a:lstStyle/>
                    <a:p>
                      <a:pPr algn="ctr"/>
                      <a:r>
                        <a:rPr sz="900" b="0">
                          <a:solidFill>
                            <a:srgbClr val="2C3E50"/>
                          </a:solidFill>
                          <a:latin typeface="Carlito"/>
                        </a:rPr>
                        <a:t>Régime brut asymétrique ; fausses alarmes hors hypothèse</a:t>
                      </a:r>
                    </a:p>
                  </a:txBody>
                  <a:tcPr marL="54864" marR="54864" marT="18288" marB="18288">
                    <a:solidFill>
                      <a:srgbClr val="EBF2FA"/>
                    </a:solidFill>
                  </a:tcPr>
                </a:tc>
              </a:tr>
              <a:tr h="292608">
                <a:tc>
                  <a:txBody>
                    <a:bodyPr/>
                    <a:lstStyle/>
                    <a:p>
                      <a:pPr algn="l"/>
                      <a:r>
                        <a:rPr sz="900" b="0">
                          <a:solidFill>
                            <a:srgbClr val="2C3E50"/>
                          </a:solidFill>
                          <a:latin typeface="Carlito"/>
                        </a:rPr>
                        <a:t>Détection de covariance</a:t>
                      </a:r>
                    </a:p>
                  </a:txBody>
                  <a:tcPr marL="54864" marR="54864" marT="18288" marB="18288">
                    <a:solidFill>
                      <a:srgbClr val="FFFFFF"/>
                    </a:solidFill>
                  </a:tcPr>
                </a:tc>
                <a:tc>
                  <a:txBody>
                    <a:bodyPr/>
                    <a:lstStyle/>
                    <a:p>
                      <a:pPr algn="ctr"/>
                      <a:r>
                        <a:rPr sz="900" b="0">
                          <a:solidFill>
                            <a:srgbClr val="2C3E50"/>
                          </a:solidFill>
                          <a:latin typeface="Carlito"/>
                        </a:rPr>
                        <a:t>Rotation marché–axe 2 : </a:t>
                      </a:r>
                      <a:r>
                        <a:rPr sz="900" i="1">
                          <a:solidFill>
                            <a:srgbClr val="2C3E50"/>
                          </a:solidFill>
                          <a:latin typeface="Carlito"/>
                        </a:rPr>
                        <a:t>14,59–105,42</a:t>
                      </a:r>
                      <a:r>
                        <a:rPr sz="900" b="0">
                          <a:solidFill>
                            <a:srgbClr val="2C3E50"/>
                          </a:solidFill>
                          <a:latin typeface="Carlito"/>
                        </a:rPr>
                        <a:t> en délais plafonnés sur fond simulé</a:t>
                      </a:r>
                    </a:p>
                  </a:txBody>
                  <a:tcPr marL="54864" marR="54864" marT="18288" marB="18288">
                    <a:solidFill>
                      <a:srgbClr val="FFFFFF"/>
                    </a:solidFill>
                  </a:tcPr>
                </a:tc>
                <a:tc>
                  <a:txBody>
                    <a:bodyPr/>
                    <a:lstStyle/>
                    <a:p>
                      <a:pPr algn="ctr"/>
                      <a:r>
                        <a:rPr sz="900" b="0">
                          <a:solidFill>
                            <a:srgbClr val="2C3E50"/>
                          </a:solidFill>
                          <a:latin typeface="Carlito"/>
                        </a:rPr>
                        <a:t>Référence énergie unilatérale défavorable ; contrôle négatif sans gain</a:t>
                      </a:r>
                    </a:p>
                  </a:txBody>
                  <a:tcPr marL="54864" marR="54864" marT="18288" marB="18288">
                    <a:solidFill>
                      <a:srgbClr val="FFFFFF"/>
                    </a:solidFill>
                  </a:tcPr>
                </a:tc>
              </a:tr>
              <a:tr h="292608">
                <a:tc>
                  <a:txBody>
                    <a:bodyPr/>
                    <a:lstStyle/>
                    <a:p>
                      <a:pPr algn="l"/>
                      <a:r>
                        <a:rPr sz="900" b="0">
                          <a:solidFill>
                            <a:srgbClr val="2C3E50"/>
                          </a:solidFill>
                          <a:latin typeface="Carlito"/>
                        </a:rPr>
                        <a:t>Coût information/dimension</a:t>
                      </a:r>
                    </a:p>
                  </a:txBody>
                  <a:tcPr marL="54864" marR="54864" marT="18288" marB="18288">
                    <a:solidFill>
                      <a:srgbClr val="EBF2FA"/>
                    </a:solidFill>
                  </a:tcPr>
                </a:tc>
                <a:tc>
                  <a:txBody>
                    <a:bodyPr/>
                    <a:lstStyle/>
                    <a:p>
                      <a:pPr algn="ctr"/>
                      <a:r>
                        <a:rPr sz="900" b="0">
                          <a:solidFill>
                            <a:srgbClr val="2C3E50"/>
                          </a:solidFill>
                          <a:latin typeface="Carlito"/>
                        </a:rPr>
                        <a:t>Mélange isotrope : </a:t>
                      </a:r>
                      <a:r>
                        <a:rPr sz="900" b="0">
                          <a:solidFill>
                            <a:srgbClr val="2C3E50"/>
                          </a:solidFill>
                          <a:latin typeface="Carlito"/>
                        </a:rPr>
                        <a:t>, </a:t>
                      </a:r>
                    </a:p>
                  </a:txBody>
                  <a:tcPr marL="54864" marR="54864" marT="18288" marB="18288">
                    <a:solidFill>
                      <a:srgbClr val="EBF2FA"/>
                    </a:solidFill>
                  </a:tcPr>
                </a:tc>
                <a:tc>
                  <a:txBody>
                    <a:bodyPr/>
                    <a:lstStyle/>
                    <a:p>
                      <a:pPr algn="ctr"/>
                      <a:r>
                        <a:rPr sz="900" b="0">
                          <a:solidFill>
                            <a:srgbClr val="2C3E50"/>
                          </a:solidFill>
                          <a:latin typeface="Carlito"/>
                        </a:rPr>
                        <a:t>Information de dérive retenue par dimension </a:t>
                      </a:r>
                      <a:r>
                        <a:rPr sz="900" i="1">
                          <a:solidFill>
                            <a:srgbClr val="2C3E50"/>
                          </a:solidFill>
                          <a:latin typeface="Carlito"/>
                        </a:rPr>
                        <a:t>non mesurée</a:t>
                      </a:r>
                      <a:r>
                        <a:rPr sz="900" b="0">
                          <a:solidFill>
                            <a:srgbClr val="2C3E50"/>
                          </a:solidFill>
                          <a:latin typeface="Carlito"/>
                        </a:rPr>
                        <a:t> sur JEPA</a:t>
                      </a:r>
                    </a:p>
                  </a:txBody>
                  <a:tcPr marL="54864" marR="54864" marT="18288" marB="18288">
                    <a:solidFill>
                      <a:srgbClr val="EBF2FA"/>
                    </a:solidFill>
                  </a:tcPr>
                </a:tc>
              </a:tr>
              <a:tr h="292608">
                <a:tc>
                  <a:txBody>
                    <a:bodyPr/>
                    <a:lstStyle/>
                    <a:p>
                      <a:pPr algn="l"/>
                      <a:r>
                        <a:rPr sz="900" b="0">
                          <a:solidFill>
                            <a:srgbClr val="2C3E50"/>
                          </a:solidFill>
                          <a:latin typeface="Carlito"/>
                        </a:rPr>
                        <a:t>JEPA transversal compact</a:t>
                      </a:r>
                    </a:p>
                  </a:txBody>
                  <a:tcPr marL="54864" marR="54864" marT="18288" marB="18288">
                    <a:solidFill>
                      <a:srgbClr val="FFFFFF"/>
                    </a:solidFill>
                  </a:tcPr>
                </a:tc>
                <a:tc>
                  <a:txBody>
                    <a:bodyPr/>
                    <a:lstStyle/>
                    <a:p>
                      <a:pPr algn="ctr"/>
                      <a:r>
                        <a:rPr sz="900" b="0">
                          <a:solidFill>
                            <a:srgbClr val="2C3E50"/>
                          </a:solidFill>
                          <a:latin typeface="Carlito"/>
                        </a:rPr>
                        <a:t>Architecture spécifiée, options 2/4/8/16</a:t>
                      </a:r>
                    </a:p>
                  </a:txBody>
                  <a:tcPr marL="54864" marR="54864" marT="18288" marB="18288">
                    <a:solidFill>
                      <a:srgbClr val="FFFFFF"/>
                    </a:solidFill>
                  </a:tcPr>
                </a:tc>
                <a:tc>
                  <a:txBody>
                    <a:bodyPr/>
                    <a:lstStyle/>
                    <a:p>
                      <a:pPr algn="ctr"/>
                      <a:r>
                        <a:rPr sz="900" i="1">
                          <a:solidFill>
                            <a:srgbClr val="2C3E50"/>
                          </a:solidFill>
                          <a:latin typeface="Carlito"/>
                        </a:rPr>
                        <a:t>Aucun gain JEPA exécuté et confirmé</a:t>
                      </a:r>
                    </a:p>
                  </a:txBody>
                  <a:tcPr marL="54864" marR="54864" marT="18288" marB="18288">
                    <a:solidFill>
                      <a:srgbClr val="FFFFFF"/>
                    </a:solidFill>
                  </a:tcPr>
                </a:tc>
              </a:tr>
            </a:tbl>
          </a:graphicData>
        </a:graphic>
      </p:graphicFrame>
      <p:sp>
        <p:nvSpPr>
          <p:cNvPr id="10" name="TextBox 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 Saturation de la moyenne corrélée</a:t>
            </a:r>
          </a:p>
        </p:txBody>
      </p:sp>
      <p:sp>
        <p:nvSpPr>
          <p:cNvPr id="4" name="Rectangle 3"/>
          <p:cNvSpPr/>
          <p:nvPr/>
        </p:nvSpPr>
        <p:spPr>
          <a:xfrm>
            <a:off x="7516367" y="64008"/>
            <a:ext cx="1353312"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16367" y="64008"/>
            <a:ext cx="135331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DÉMONSTRATION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 — Variance, dimension effective et plateau ≈1,96 (corps : 2 et 20)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Hypothèses : </a:t>
            </a:r>
            <a:r>
              <a:rPr sz="1000" b="0">
                <a:solidFill>
                  <a:srgbClr val="2C3E50"/>
                </a:solidFill>
                <a:latin typeface="Carlito"/>
              </a:rPr>
              <a:t> actifs, signaux centrés </a:t>
            </a:r>
            <a:r>
              <a:rPr sz="1000" b="0">
                <a:solidFill>
                  <a:srgbClr val="2C3E50"/>
                </a:solidFill>
                <a:latin typeface="Carlito"/>
              </a:rPr>
              <a:t> de variance commune </a:t>
            </a:r>
            <a:r>
              <a:rPr sz="1000" b="0">
                <a:solidFill>
                  <a:srgbClr val="2C3E50"/>
                </a:solidFill>
                <a:latin typeface="Carlito"/>
              </a:rPr>
              <a:t>, corrélation paire à paire </a:t>
            </a:r>
            <a:r>
              <a:rPr sz="1000" b="0">
                <a:solidFill>
                  <a:srgbClr val="2C3E50"/>
                </a:solidFill>
                <a:latin typeface="Carlito"/>
              </a:rPr>
              <a:t> avec </a:t>
            </a:r>
            <a:r>
              <a:rPr sz="1000" b="0">
                <a:solidFill>
                  <a:srgbClr val="2C3E50"/>
                </a:solidFill>
                <a:latin typeface="Carlito"/>
              </a:rPr>
              <a:t>. Moyenne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Développer </a:t>
            </a:r>
            <a:r>
              <a:rPr sz="1000" b="0">
                <a:solidFill>
                  <a:srgbClr val="2C3E50"/>
                </a:solidFill>
                <a:latin typeface="Carlito"/>
              </a:rPr>
              <a:t> : </a:t>
            </a:r>
            <a:r>
              <a:rPr sz="1000" b="0">
                <a:solidFill>
                  <a:srgbClr val="2C3E50"/>
                </a:solidFill>
                <a:latin typeface="Carlito"/>
              </a:rPr>
              <a:t> termes diagonaux de variance </a:t>
            </a:r>
            <a:r>
              <a:rPr sz="1000" b="0">
                <a:solidFill>
                  <a:srgbClr val="2C3E50"/>
                </a:solidFill>
                <a:latin typeface="Carlito"/>
              </a:rPr>
              <a:t>, et </a:t>
            </a:r>
            <a:r>
              <a:rPr sz="1000" b="0">
                <a:solidFill>
                  <a:srgbClr val="2C3E50"/>
                </a:solidFill>
                <a:latin typeface="Carlito"/>
              </a:rPr>
              <a:t> covariances hors diagonale </a:t>
            </a:r>
            <a:r>
              <a:rPr sz="1000" b="0">
                <a:solidFill>
                  <a:srgbClr val="2C3E50"/>
                </a:solidFill>
                <a:latin typeface="Carlito"/>
              </a:rPr>
              <a:t>. Puis diviser par </a:t>
            </a:r>
            <a:r>
              <a:rPr sz="1000" b="0">
                <a:solidFill>
                  <a:srgbClr val="2C3E50"/>
                </a:solidFill>
                <a:latin typeface="Carlito"/>
              </a:rPr>
              <a:t>.</a:t>
            </a:r>
          </a:p>
        </p:txBody>
      </p:sp>
      <p:sp>
        <p:nvSpPr>
          <p:cNvPr id="12" name="TextBox 11"/>
          <p:cNvSpPr txBox="1"/>
          <p:nvPr/>
        </p:nvSpPr>
        <p:spPr>
          <a:xfrm>
            <a:off x="402336" y="21112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a:t>
            </a:r>
            <a:r>
              <a:rPr sz="1000" b="0">
                <a:solidFill>
                  <a:srgbClr val="2C3E50"/>
                </a:solidFill>
                <a:latin typeface="Carlito"/>
              </a:rPr>
              <a:t> par </a:t>
            </a:r>
            <a:r>
              <a:rPr sz="1000" b="0">
                <a:solidFill>
                  <a:srgbClr val="2C3E50"/>
                </a:solidFill>
                <a:latin typeface="Carlito"/>
              </a:rPr>
              <a:t>. Le gain d'écart-type d'une moyenne sur un signal est </a:t>
            </a:r>
            <a:r>
              <a:rPr sz="1000" b="0">
                <a:solidFill>
                  <a:srgbClr val="2C3E50"/>
                </a:solidFill>
                <a:latin typeface="Carlito"/>
              </a:rPr>
              <a:t> si la moyenne porte le même déplacement moyen que chaque série. Limite quand </a:t>
            </a:r>
            <a:r>
              <a:rPr sz="1000" b="0">
                <a:solidFill>
                  <a:srgbClr val="2C3E50"/>
                </a:solidFill>
                <a:latin typeface="Carlito"/>
              </a:rPr>
              <a:t> : </a:t>
            </a:r>
            <a:r>
              <a:rPr sz="1000" b="0">
                <a:solidFill>
                  <a:srgbClr val="2C3E50"/>
                </a:solidFill>
                <a:latin typeface="Carlito"/>
              </a:rPr>
              <a:t> ; pour </a:t>
            </a:r>
            <a:r>
              <a:rPr sz="1000" b="0">
                <a:solidFill>
                  <a:srgbClr val="2C3E50"/>
                </a:solidFill>
                <a:latin typeface="Carlito"/>
              </a:rPr>
              <a:t>, </a:t>
            </a:r>
            <a:r>
              <a:rPr sz="1000" b="0">
                <a:solidFill>
                  <a:srgbClr val="2C3E50"/>
                </a:solidFill>
                <a:latin typeface="Carlito"/>
              </a:rPr>
              <a:t> et </a:t>
            </a:r>
            <a:r>
              <a:rPr sz="1000" b="0">
                <a:solidFill>
                  <a:srgbClr val="2C3E50"/>
                </a:solidFill>
                <a:latin typeface="Carlito"/>
              </a:rPr>
              <a:t>.</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réduction empirique de budget voisine de 2 n'est </a:t>
            </a:r>
            <a:r>
              <a:rPr sz="1000" i="1">
                <a:solidFill>
                  <a:srgbClr val="2C3E50"/>
                </a:solidFill>
                <a:latin typeface="Carlito"/>
              </a:rPr>
              <a:t>pas</a:t>
            </a:r>
            <a:r>
              <a:rPr sz="1000" b="0">
                <a:solidFill>
                  <a:srgbClr val="2C3E50"/>
                </a:solidFill>
                <a:latin typeface="Carlito"/>
              </a:rPr>
              <a:t> une conséquence algébrique de cette variance : elle utilise un détecteur et une expérience historique distincts.</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Var(m) = s²[ρ + (1-ρ)/K]</a:t>
            </a:r>
          </a:p>
          <a:p>
            <a:pPr algn="l">
              <a:lnSpc>
                <a:spcPts val="919"/>
              </a:lnSpc>
              <a:spcAft>
                <a:spcPts val="0"/>
              </a:spcAft>
            </a:pPr>
            <a:r>
              <a:rPr sz="800" b="0">
                <a:solidFill>
                  <a:srgbClr val="2D3748"/>
                </a:solidFill>
                <a:latin typeface="Carlito"/>
              </a:rPr>
              <a:t>K_eff = K/[1+(K-1)ρ]</a:t>
            </a:r>
          </a:p>
          <a:p>
            <a:pPr algn="l">
              <a:lnSpc>
                <a:spcPts val="919"/>
              </a:lnSpc>
              <a:spcAft>
                <a:spcPts val="0"/>
              </a:spcAft>
            </a:pPr>
            <a:r>
              <a:rPr sz="800" b="0">
                <a:solidFill>
                  <a:srgbClr val="2D3748"/>
                </a:solidFill>
                <a:latin typeface="Carlito"/>
              </a:rPr>
              <a:t>lim K_eff = 1/ρ</a:t>
            </a:r>
          </a:p>
          <a:p>
            <a:pPr algn="l">
              <a:lnSpc>
                <a:spcPts val="919"/>
              </a:lnSpc>
              <a:spcAft>
                <a:spcPts val="0"/>
              </a:spcAft>
            </a:pPr>
            <a:r>
              <a:rPr sz="800" b="0">
                <a:solidFill>
                  <a:srgbClr val="2D3748"/>
                </a:solidFill>
                <a:latin typeface="Carlito"/>
              </a:rPr>
              <a:t>ρ=0,26 → 1,96</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Var(m) = [K*s2 + K*(K-1)*rho*s2]/K^2 = s2*[rho+(1-rho)/K]</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K_eff = K/[1+(K-1)*rho] ; lim(K_eff)=1/rho ; lim(gain_sd)=1/sqrt(rho)</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A2. Budget d'évidence exact</a:t>
            </a:r>
          </a:p>
        </p:txBody>
      </p:sp>
      <p:sp>
        <p:nvSpPr>
          <p:cNvPr id="4" name="Rectangle 3"/>
          <p:cNvSpPr/>
          <p:nvPr/>
        </p:nvSpPr>
        <p:spPr>
          <a:xfrm>
            <a:off x="7516367" y="64008"/>
            <a:ext cx="1353312"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16367" y="64008"/>
            <a:ext cx="135331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DÉMONSTRATION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A2 — Du test de preuve au plancher de Sharpe (corps : 2 et 20)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Hypothèses : </a:t>
            </a:r>
            <a:r>
              <a:rPr sz="1000" b="0">
                <a:solidFill>
                  <a:srgbClr val="2C3E50"/>
                </a:solidFill>
                <a:latin typeface="Carlito"/>
              </a:rPr>
              <a:t> surmartingale de test positive sous </a:t>
            </a:r>
            <a:r>
              <a:rPr sz="1000" b="0">
                <a:solidFill>
                  <a:srgbClr val="2C3E50"/>
                </a:solidFill>
                <a:latin typeface="Carlito"/>
              </a:rPr>
              <a:t>, </a:t>
            </a:r>
            <a:r>
              <a:rPr sz="1000" b="0">
                <a:solidFill>
                  <a:srgbClr val="2C3E50"/>
                </a:solidFill>
                <a:latin typeface="Carlito"/>
              </a:rPr>
              <a:t>, seuil de preuve </a:t>
            </a:r>
            <a:r>
              <a:rPr sz="1000" b="0">
                <a:solidFill>
                  <a:srgbClr val="2C3E50"/>
                </a:solidFill>
                <a:latin typeface="Carlito"/>
              </a:rPr>
              <a:t>, démarrage du test au changement. Sous </a:t>
            </a:r>
            <a:r>
              <a:rPr sz="1000" b="0">
                <a:solidFill>
                  <a:srgbClr val="2C3E50"/>
                </a:solidFill>
                <a:latin typeface="Carlito"/>
              </a:rPr>
              <a:t>, supposer les lois absolument continues et l'arrêt </a:t>
            </a:r>
            <a:r>
              <a:rPr sz="1000" b="0">
                <a:solidFill>
                  <a:srgbClr val="2C3E50"/>
                </a:solidFill>
                <a:latin typeface="Carlito"/>
              </a:rPr>
              <a:t> intégrable, avec conditions d'arrêt nécessaires.</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le rapport de vraisemblance </a:t>
            </a:r>
            <a:r>
              <a:rPr sz="1000" b="0">
                <a:solidFill>
                  <a:srgbClr val="2C3E50"/>
                </a:solidFill>
                <a:latin typeface="Carlito"/>
              </a:rPr>
              <a:t>, où </a:t>
            </a:r>
            <a:r>
              <a:rPr sz="1000" b="0">
                <a:solidFill>
                  <a:srgbClr val="2C3E50"/>
                </a:solidFill>
                <a:latin typeface="Carlito"/>
              </a:rPr>
              <a:t>. Par changement de mesure, </a:t>
            </a:r>
            <a:r>
              <a:rPr sz="1000" b="0">
                <a:solidFill>
                  <a:srgbClr val="2C3E50"/>
                </a:solidFill>
                <a:latin typeface="Carlito"/>
              </a:rPr>
              <a:t> est une surmartingale positive sous </a:t>
            </a:r>
            <a:r>
              <a:rPr sz="1000" b="0">
                <a:solidFill>
                  <a:srgbClr val="2C3E50"/>
                </a:solidFill>
                <a:latin typeface="Carlito"/>
              </a:rPr>
              <a:t>.</a:t>
            </a:r>
          </a:p>
        </p:txBody>
      </p:sp>
      <p:sp>
        <p:nvSpPr>
          <p:cNvPr id="12" name="TextBox 11"/>
          <p:cNvSpPr txBox="1"/>
          <p:nvPr/>
        </p:nvSpPr>
        <p:spPr>
          <a:xfrm>
            <a:off x="402336" y="24033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Arrêt optionnel : </a:t>
            </a:r>
            <a:r>
              <a:rPr sz="1000" b="0">
                <a:solidFill>
                  <a:srgbClr val="2C3E50"/>
                </a:solidFill>
                <a:latin typeface="Carlito"/>
              </a:rPr>
              <a:t>. Jensen : </a:t>
            </a:r>
            <a:r>
              <a:rPr sz="1000" b="0">
                <a:solidFill>
                  <a:srgbClr val="2C3E50"/>
                </a:solidFill>
                <a:latin typeface="Carlito"/>
              </a:rPr>
              <a:t>. Comme </a:t>
            </a:r>
            <a:r>
              <a:rPr sz="1000" b="0">
                <a:solidFill>
                  <a:srgbClr val="2C3E50"/>
                </a:solidFill>
                <a:latin typeface="Carlito"/>
              </a:rPr>
              <a:t>, alors </a:t>
            </a:r>
            <a:r>
              <a:rPr sz="1000" b="0">
                <a:solidFill>
                  <a:srgbClr val="2C3E50"/>
                </a:solidFill>
                <a:latin typeface="Carlito"/>
              </a:rPr>
              <a:t> (identité de Wald conditionnelle).</a:t>
            </a:r>
          </a:p>
        </p:txBody>
      </p:sp>
      <p:sp>
        <p:nvSpPr>
          <p:cNvPr id="13" name="TextBox 12"/>
          <p:cNvSpPr txBox="1"/>
          <p:nvPr/>
        </p:nvSpPr>
        <p:spPr>
          <a:xfrm>
            <a:off x="402336" y="27960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a:t>
            </a:r>
            <a:r>
              <a:rPr sz="1000" b="0">
                <a:solidFill>
                  <a:srgbClr val="2C3E50"/>
                </a:solidFill>
                <a:latin typeface="Carlito"/>
              </a:rPr>
              <a:t> constant, </a:t>
            </a:r>
            <a:r>
              <a:rPr sz="1000" b="0">
                <a:solidFill>
                  <a:srgbClr val="2C3E50"/>
                </a:solidFill>
                <a:latin typeface="Carlito"/>
              </a:rPr>
              <a:t>. Pour un changement de moyenne gaussien scalaire de Sharpe annuel </a:t>
            </a:r>
            <a:r>
              <a:rPr sz="1000" b="0">
                <a:solidFill>
                  <a:srgbClr val="2C3E50"/>
                </a:solidFill>
                <a:latin typeface="Carlito"/>
              </a:rPr>
              <a:t> sur 252 jours, </a:t>
            </a:r>
            <a:r>
              <a:rPr sz="1000" b="0">
                <a:solidFill>
                  <a:srgbClr val="2C3E50"/>
                </a:solidFill>
                <a:latin typeface="Carlito"/>
              </a:rPr>
              <a:t>.</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surmartingale P0</a:t>
            </a:r>
          </a:p>
          <a:p>
            <a:pPr algn="l">
              <a:lnSpc>
                <a:spcPts val="919"/>
              </a:lnSpc>
              <a:spcAft>
                <a:spcPts val="0"/>
              </a:spcAft>
            </a:pPr>
            <a:r>
              <a:rPr sz="800" b="0">
                <a:solidFill>
                  <a:srgbClr val="2D3748"/>
                </a:solidFill>
                <a:latin typeface="Carlito"/>
              </a:rPr>
              <a:t>→ ratio sous P1</a:t>
            </a:r>
          </a:p>
          <a:p>
            <a:pPr algn="l">
              <a:lnSpc>
                <a:spcPts val="919"/>
              </a:lnSpc>
              <a:spcAft>
                <a:spcPts val="0"/>
              </a:spcAft>
            </a:pPr>
            <a:r>
              <a:rPr sz="800" b="0">
                <a:solidFill>
                  <a:srgbClr val="2D3748"/>
                </a:solidFill>
                <a:latin typeface="Carlito"/>
              </a:rPr>
              <a:t>→ arrêt + Jensen</a:t>
            </a:r>
          </a:p>
          <a:p>
            <a:pPr algn="l">
              <a:lnSpc>
                <a:spcPts val="919"/>
              </a:lnSpc>
              <a:spcAft>
                <a:spcPts val="0"/>
              </a:spcAft>
            </a:pPr>
            <a:r>
              <a:rPr sz="800" b="0">
                <a:solidFill>
                  <a:srgbClr val="2D3748"/>
                </a:solidFill>
                <a:latin typeface="Carlito"/>
              </a:rPr>
              <a:t>→ budget log(gamma)/I</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log(gamma) &lt;= E1[log(E_T)] &lt;= E1[log(Lambda_T)] = E1[somme(t&lt;=T,I_t)]</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E1[T] &gt;= log(gamma)/I = 504*log(gamma)/SR^2</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A2 bis. Trois délais, un même modèle gaussien</a:t>
            </a:r>
          </a:p>
        </p:txBody>
      </p:sp>
      <p:sp>
        <p:nvSpPr>
          <p:cNvPr id="4" name="Rectangle 3"/>
          <p:cNvSpPr/>
          <p:nvPr/>
        </p:nvSpPr>
        <p:spPr>
          <a:xfrm>
            <a:off x="7516367" y="64008"/>
            <a:ext cx="1353312"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16367" y="64008"/>
            <a:ext cx="1353312"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DÉMONSTRATION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Annexe A2 bis — Budget de preuve, seuil de e-détecteur et ARL-calibré (corps : 2 et 20)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À information quotidienne </a:t>
            </a:r>
            <a:r>
              <a:rPr sz="1000" b="0">
                <a:solidFill>
                  <a:srgbClr val="2C3E50"/>
                </a:solidFill>
                <a:latin typeface="Carlito"/>
              </a:rPr>
              <a:t>, trois procédures </a:t>
            </a:r>
            <a:r>
              <a:rPr sz="1000" i="1">
                <a:solidFill>
                  <a:srgbClr val="2C3E50"/>
                </a:solidFill>
                <a:latin typeface="Carlito"/>
              </a:rPr>
              <a:t>distinctes</a:t>
            </a:r>
            <a:r>
              <a:rPr sz="1000" b="0">
                <a:solidFill>
                  <a:srgbClr val="2C3E50"/>
                </a:solidFill>
                <a:latin typeface="Carlito"/>
              </a:rPr>
              <a:t> sont considérées dans les simulations déjà résumées par les </a:t>
            </a:r>
            <a:r>
              <a:rPr sz="1000" i="1">
                <a:solidFill>
                  <a:srgbClr val="2C3E50"/>
                </a:solidFill>
                <a:latin typeface="Carlito"/>
              </a:rPr>
              <a:t>46/46 cellules validées</a:t>
            </a:r>
            <a:r>
              <a:rPr sz="1000" b="0">
                <a:solidFill>
                  <a:srgbClr val="2C3E50"/>
                </a:solidFill>
                <a:latin typeface="Carlito"/>
              </a:rPr>
              <a:t> : test lancé au changement, e-détecteur à seuil de preuve et CUSUM réglé par sa durée moyenne sans rupture.</a:t>
            </a:r>
          </a:p>
        </p:txBody>
      </p:sp>
      <p:sp>
        <p:nvSpPr>
          <p:cNvPr id="11" name="TextBox 10"/>
          <p:cNvSpPr txBox="1"/>
          <p:nvPr/>
        </p:nvSpPr>
        <p:spPr>
          <a:xfrm>
            <a:off x="402336" y="1864614"/>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Ces trois lectures utilisent </a:t>
            </a:r>
            <a:r>
              <a:rPr sz="1000" i="1">
                <a:solidFill>
                  <a:srgbClr val="2C3E50"/>
                </a:solidFill>
                <a:latin typeface="Carlito"/>
              </a:rPr>
              <a:t>des mécanismes de seuil différents</a:t>
            </a:r>
            <a:r>
              <a:rPr sz="1000" b="0">
                <a:solidFill>
                  <a:srgbClr val="2C3E50"/>
                </a:solidFill>
                <a:latin typeface="Carlito"/>
              </a:rPr>
              <a:t>. La formule </a:t>
            </a:r>
            <a:r>
              <a:rPr sz="1000" b="0">
                <a:solidFill>
                  <a:srgbClr val="2C3E50"/>
                </a:solidFill>
                <a:latin typeface="Carlito"/>
              </a:rPr>
              <a:t> borne le budget moyen d'un test démarré au changement ; la loi du temps d'arrêt et la calibration CUSUM déterminent les autres délais. Les chiffres d'ajustement détaillés restent dans les résultats sources et ne sont pas introduits ici comme nouvel acquis.</a:t>
            </a:r>
          </a:p>
        </p:txBody>
      </p:sp>
      <p:sp>
        <p:nvSpPr>
          <p:cNvPr id="12" name="TextBox 11"/>
          <p:cNvSpPr txBox="1"/>
          <p:nvPr/>
        </p:nvSpPr>
        <p:spPr>
          <a:xfrm>
            <a:off x="402336" y="2549397"/>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Les formules brutes </a:t>
            </a:r>
            <a:r>
              <a:rPr sz="1000" b="0">
                <a:solidFill>
                  <a:srgbClr val="2C3E50"/>
                </a:solidFill>
                <a:latin typeface="Carlito"/>
              </a:rPr>
              <a:t> sont une information de comparaison, pas un délai universel lorsque gamma est un ARL fini. </a:t>
            </a:r>
            <a:r>
              <a:rPr sz="1000" b="0">
                <a:solidFill>
                  <a:srgbClr val="2C3E50"/>
                </a:solidFill>
                <a:latin typeface="Carlito"/>
                <a:hlinkClick r:id="rId2"/>
              </a:rPr>
              <a:t>Lorden (1971)</a:t>
            </a:r>
            <a:r>
              <a:rPr sz="1000" b="0">
                <a:solidFill>
                  <a:srgbClr val="2C3E50"/>
                </a:solidFill>
                <a:latin typeface="Carlito"/>
              </a:rPr>
              <a:t> et </a:t>
            </a:r>
            <a:r>
              <a:rPr sz="1000" b="0">
                <a:solidFill>
                  <a:srgbClr val="2C3E50"/>
                </a:solidFill>
                <a:latin typeface="Carlito"/>
                <a:hlinkClick r:id="rId3"/>
              </a:rPr>
              <a:t>Moustakides (1986)</a:t>
            </a:r>
            <a:r>
              <a:rPr sz="1000" b="0">
                <a:solidFill>
                  <a:srgbClr val="2C3E50"/>
                </a:solidFill>
                <a:latin typeface="Carlito"/>
              </a:rPr>
              <a:t> fixent les objectifs de détection séquentielle ; la lecture par surmartingale relève d'un autre contrat.</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I = SR²/(2*252)</a:t>
            </a:r>
          </a:p>
          <a:p>
            <a:pPr algn="l">
              <a:lnSpc>
                <a:spcPts val="919"/>
              </a:lnSpc>
              <a:spcAft>
                <a:spcPts val="0"/>
              </a:spcAft>
            </a:pPr>
            <a:r>
              <a:rPr sz="800" b="0">
                <a:solidFill>
                  <a:srgbClr val="2D3748"/>
                </a:solidFill>
                <a:latin typeface="Carlito"/>
              </a:rPr>
              <a:t>τ_evidence = ln(gamma)/I</a:t>
            </a:r>
          </a:p>
          <a:p>
            <a:pPr algn="l">
              <a:lnSpc>
                <a:spcPts val="919"/>
              </a:lnSpc>
              <a:spcAft>
                <a:spcPts val="0"/>
              </a:spcAft>
            </a:pPr>
            <a:r>
              <a:rPr sz="800" b="0">
                <a:solidFill>
                  <a:srgbClr val="2D3748"/>
                </a:solidFill>
                <a:latin typeface="Carlito"/>
              </a:rPr>
              <a:t>3 procédures distinctes</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 = SR^2/(2*252) ; tau_evidence = log(gamma)/I</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A3. Diffusion réfléchie : dérivation</a:t>
            </a:r>
          </a:p>
        </p:txBody>
      </p:sp>
      <p:sp>
        <p:nvSpPr>
          <p:cNvPr id="4" name="Rectangle 3"/>
          <p:cNvSpPr/>
          <p:nvPr/>
        </p:nvSpPr>
        <p:spPr>
          <a:xfrm>
            <a:off x="8010144" y="64008"/>
            <a:ext cx="85953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10144" y="64008"/>
            <a:ext cx="85953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Annexe A3 — Temps d'atteinte sous P0 et P1 : équation différentielle (corps : 2, 9 et 20)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Modèle : incréments de log-vraisemblance gaussienne de moyenne </a:t>
            </a:r>
            <a:r>
              <a:rPr sz="1000" b="0">
                <a:solidFill>
                  <a:srgbClr val="2C3E50"/>
                </a:solidFill>
                <a:latin typeface="Carlito"/>
              </a:rPr>
              <a:t> après la rupture et </a:t>
            </a:r>
            <a:r>
              <a:rPr sz="1000" b="0">
                <a:solidFill>
                  <a:srgbClr val="2C3E50"/>
                </a:solidFill>
                <a:latin typeface="Carlito"/>
              </a:rPr>
              <a:t> avant ; variance </a:t>
            </a:r>
            <a:r>
              <a:rPr sz="1000" b="0">
                <a:solidFill>
                  <a:srgbClr val="2C3E50"/>
                </a:solidFill>
                <a:latin typeface="Carlito"/>
              </a:rPr>
              <a:t> dans les deux régimes. Remplacer la marche de CUSUM par une diffusion de variance instantanée </a:t>
            </a:r>
            <a:r>
              <a:rPr sz="1000" b="0">
                <a:solidFill>
                  <a:srgbClr val="2C3E50"/>
                </a:solidFill>
                <a:latin typeface="Carlito"/>
              </a:rPr>
              <a:t>, réfléchie à zéro, arrêtée en </a:t>
            </a:r>
            <a:r>
              <a:rPr sz="1000" b="0">
                <a:solidFill>
                  <a:srgbClr val="2C3E50"/>
                </a:solidFill>
                <a:latin typeface="Carlito"/>
              </a:rPr>
              <a:t>.</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Soit </a:t>
            </a:r>
            <a:r>
              <a:rPr sz="1000" b="0">
                <a:solidFill>
                  <a:srgbClr val="2C3E50"/>
                </a:solidFill>
                <a:latin typeface="Carlito"/>
              </a:rPr>
              <a:t> le temps moyen restant pour atteindre </a:t>
            </a:r>
            <a:r>
              <a:rPr sz="1000" b="0">
                <a:solidFill>
                  <a:srgbClr val="2C3E50"/>
                </a:solidFill>
                <a:latin typeface="Carlito"/>
              </a:rPr>
              <a:t> à partir de </a:t>
            </a:r>
            <a:r>
              <a:rPr sz="1000" b="0">
                <a:solidFill>
                  <a:srgbClr val="2C3E50"/>
                </a:solidFill>
                <a:latin typeface="Carlito"/>
              </a:rPr>
              <a:t>, avec dérive </a:t>
            </a:r>
            <a:r>
              <a:rPr sz="1000" b="0">
                <a:solidFill>
                  <a:srgbClr val="2C3E50"/>
                </a:solidFill>
                <a:latin typeface="Carlito"/>
              </a:rPr>
              <a:t> ou </a:t>
            </a:r>
            <a:r>
              <a:rPr sz="1000" b="0">
                <a:solidFill>
                  <a:srgbClr val="2C3E50"/>
                </a:solidFill>
                <a:latin typeface="Carlito"/>
              </a:rPr>
              <a:t>. Son équation rétrograde est </a:t>
            </a:r>
            <a:r>
              <a:rPr sz="1000" b="0">
                <a:solidFill>
                  <a:srgbClr val="2C3E50"/>
                </a:solidFill>
                <a:latin typeface="Carlito"/>
              </a:rPr>
              <a:t>, et ses bords sont </a:t>
            </a:r>
            <a:r>
              <a:rPr sz="1000" b="0">
                <a:solidFill>
                  <a:srgbClr val="2C3E50"/>
                </a:solidFill>
                <a:latin typeface="Carlito"/>
              </a:rPr>
              <a:t> (réflexion), </a:t>
            </a:r>
            <a:r>
              <a:rPr sz="1000" b="0">
                <a:solidFill>
                  <a:srgbClr val="2C3E50"/>
                </a:solidFill>
                <a:latin typeface="Carlito"/>
              </a:rPr>
              <a:t> (arrêt).</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a:t>
            </a:r>
            <a:r>
              <a:rPr sz="1000" b="0">
                <a:solidFill>
                  <a:srgbClr val="2C3E50"/>
                </a:solidFill>
                <a:latin typeface="Carlito"/>
              </a:rPr>
              <a:t>, résoudre </a:t>
            </a:r>
            <a:r>
              <a:rPr sz="1000" b="0">
                <a:solidFill>
                  <a:srgbClr val="2C3E50"/>
                </a:solidFill>
                <a:latin typeface="Carlito"/>
              </a:rPr>
              <a:t>. Avec </a:t>
            </a:r>
            <a:r>
              <a:rPr sz="1000" b="0">
                <a:solidFill>
                  <a:srgbClr val="2C3E50"/>
                </a:solidFill>
                <a:latin typeface="Carlito"/>
              </a:rPr>
              <a:t>, </a:t>
            </a:r>
            <a:r>
              <a:rPr sz="1000" b="0">
                <a:solidFill>
                  <a:srgbClr val="2C3E50"/>
                </a:solidFill>
                <a:latin typeface="Carlito"/>
              </a:rPr>
              <a:t>. Intégrer puis imposer </a:t>
            </a:r>
            <a:r>
              <a:rPr sz="1000" b="0">
                <a:solidFill>
                  <a:srgbClr val="2C3E50"/>
                </a:solidFill>
                <a:latin typeface="Carlito"/>
              </a:rPr>
              <a:t> pour obtenir </a:t>
            </a:r>
            <a:r>
              <a:rPr sz="1000" b="0">
                <a:solidFill>
                  <a:srgbClr val="2C3E50"/>
                </a:solidFill>
                <a:latin typeface="Carlito"/>
              </a:rPr>
              <a:t>.</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a:t>
            </a:r>
            <a:r>
              <a:rPr sz="1000" b="0">
                <a:solidFill>
                  <a:srgbClr val="2C3E50"/>
                </a:solidFill>
                <a:latin typeface="Carlito"/>
              </a:rPr>
              <a:t>, résoudre </a:t>
            </a:r>
            <a:r>
              <a:rPr sz="1000" b="0">
                <a:solidFill>
                  <a:srgbClr val="2C3E50"/>
                </a:solidFill>
                <a:latin typeface="Carlito"/>
              </a:rPr>
              <a:t>. Avec </a:t>
            </a:r>
            <a:r>
              <a:rPr sz="1000" b="0">
                <a:solidFill>
                  <a:srgbClr val="2C3E50"/>
                </a:solidFill>
                <a:latin typeface="Carlito"/>
              </a:rPr>
              <a:t>, </a:t>
            </a:r>
            <a:r>
              <a:rPr sz="1000" b="0">
                <a:solidFill>
                  <a:srgbClr val="2C3E50"/>
                </a:solidFill>
                <a:latin typeface="Carlito"/>
              </a:rPr>
              <a:t>. Intégrer puis </a:t>
            </a:r>
            <a:r>
              <a:rPr sz="1000" b="0">
                <a:solidFill>
                  <a:srgbClr val="2C3E50"/>
                </a:solidFill>
                <a:latin typeface="Carlito"/>
              </a:rPr>
              <a:t> : </a:t>
            </a:r>
            <a:r>
              <a:rPr sz="1000" b="0">
                <a:solidFill>
                  <a:srgbClr val="2C3E50"/>
                </a:solidFill>
                <a:latin typeface="Carlito"/>
              </a:rPr>
              <a:t>.</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I v'' + μ v' = -1</a:t>
            </a:r>
          </a:p>
          <a:p>
            <a:pPr algn="l">
              <a:lnSpc>
                <a:spcPts val="919"/>
              </a:lnSpc>
              <a:spcAft>
                <a:spcPts val="0"/>
              </a:spcAft>
            </a:pPr>
            <a:r>
              <a:rPr sz="800" b="0">
                <a:solidFill>
                  <a:srgbClr val="2D3748"/>
                </a:solidFill>
                <a:latin typeface="Carlito"/>
              </a:rPr>
              <a:t>v'(0)=0, v(h)=0</a:t>
            </a:r>
          </a:p>
          <a:p>
            <a:pPr algn="l">
              <a:lnSpc>
                <a:spcPts val="919"/>
              </a:lnSpc>
              <a:spcAft>
                <a:spcPts val="0"/>
              </a:spcAft>
            </a:pPr>
            <a:r>
              <a:rPr sz="800" b="0">
                <a:solidFill>
                  <a:srgbClr val="2D3748"/>
                </a:solidFill>
                <a:latin typeface="Carlito"/>
              </a:rPr>
              <a:t>ADD = [h-1+e^(-h)]/I</a:t>
            </a:r>
          </a:p>
          <a:p>
            <a:pPr algn="l">
              <a:lnSpc>
                <a:spcPts val="919"/>
              </a:lnSpc>
              <a:spcAft>
                <a:spcPts val="0"/>
              </a:spcAft>
            </a:pPr>
            <a:r>
              <a:rPr sz="800" b="0">
                <a:solidFill>
                  <a:srgbClr val="2D3748"/>
                </a:solidFill>
                <a:latin typeface="Carlito"/>
              </a:rPr>
              <a:t>ARL0 = [e^h-h-1]/I</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I*v_mu''(y) + mu*v_mu'(y) = -1 ; v_mu'(0)=0 ; v_mu(h)=0</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ADD_brownian = [h-1+exp(-h)]/I ; ARL0_brownian = [exp(h)-h-1]/I</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A4. Caractéristiques quotidiennes : formules</a:t>
            </a:r>
          </a:p>
        </p:txBody>
      </p:sp>
      <p:sp>
        <p:nvSpPr>
          <p:cNvPr id="4" name="Rectangle 3"/>
          <p:cNvSpPr/>
          <p:nvPr/>
        </p:nvSpPr>
        <p:spPr>
          <a:xfrm>
            <a:off x="7955279" y="64008"/>
            <a:ext cx="91440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A4 — Définition calculable des quatre caractéristiques (corps : 3)</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Au jour </a:t>
            </a:r>
            <a:r>
              <a:rPr sz="1000" b="0">
                <a:solidFill>
                  <a:srgbClr val="2C3E50"/>
                </a:solidFill>
                <a:latin typeface="Carlito"/>
              </a:rPr>
              <a:t>, utiliser uniquement les journées </a:t>
            </a:r>
            <a:r>
              <a:rPr sz="1000" b="0">
                <a:solidFill>
                  <a:srgbClr val="2C3E50"/>
                </a:solidFill>
                <a:latin typeface="Carlito"/>
              </a:rPr>
              <a:t> où les observations sont disponibles. </a:t>
            </a:r>
            <a:r>
              <a:rPr sz="1000" b="0">
                <a:solidFill>
                  <a:srgbClr val="2C3E50"/>
                </a:solidFill>
                <a:latin typeface="Carlito"/>
              </a:rPr>
              <a:t> est la moyenne de marché des titres disponibles au jour </a:t>
            </a:r>
            <a:r>
              <a:rPr sz="1000" b="0">
                <a:solidFill>
                  <a:srgbClr val="2C3E50"/>
                </a:solidFill>
                <a:latin typeface="Carlito"/>
              </a:rPr>
              <a:t>; </a:t>
            </a:r>
            <a:r>
              <a:rPr sz="1000" b="0">
                <a:solidFill>
                  <a:srgbClr val="2C3E50"/>
                </a:solidFill>
                <a:latin typeface="Carlito"/>
              </a:rPr>
              <a:t> est le rendement de l'action </a:t>
            </a:r>
            <a:r>
              <a:rPr sz="1000" b="0">
                <a:solidFill>
                  <a:srgbClr val="2C3E50"/>
                </a:solidFill>
                <a:latin typeface="Carlito"/>
              </a:rPr>
              <a:t>.</a:t>
            </a:r>
          </a:p>
        </p:txBody>
      </p:sp>
      <p:sp>
        <p:nvSpPr>
          <p:cNvPr id="11" name="TextBox 10"/>
          <p:cNvSpPr txBox="1"/>
          <p:nvPr/>
        </p:nvSpPr>
        <p:spPr>
          <a:xfrm>
            <a:off x="402336" y="1718563"/>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est la pente OLS </a:t>
            </a:r>
            <a:r>
              <a:rPr sz="1000" b="0">
                <a:solidFill>
                  <a:srgbClr val="2C3E50"/>
                </a:solidFill>
                <a:latin typeface="Carlito"/>
              </a:rPr>
              <a:t> sur les observations appariées des 252 jours précédents (minimum 126). </a:t>
            </a:r>
            <a:r>
              <a:rPr sz="1000" b="0">
                <a:solidFill>
                  <a:srgbClr val="2C3E50"/>
                </a:solidFill>
                <a:latin typeface="Carlito"/>
              </a:rPr>
              <a:t> est l'écart-type empirique sur les 63 derniers jours disponibles (minimum deux observations).</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additionne les rendements </a:t>
            </a:r>
            <a:r>
              <a:rPr sz="1000" b="0">
                <a:solidFill>
                  <a:srgbClr val="2C3E50"/>
                </a:solidFill>
                <a:latin typeface="Carlito"/>
              </a:rPr>
              <a:t> ; </a:t>
            </a:r>
            <a:r>
              <a:rPr sz="1000" b="0">
                <a:solidFill>
                  <a:srgbClr val="2C3E50"/>
                </a:solidFill>
                <a:latin typeface="Carlito"/>
              </a:rPr>
              <a:t> additionne </a:t>
            </a:r>
            <a:r>
              <a:rPr sz="1000" b="0">
                <a:solidFill>
                  <a:srgbClr val="2C3E50"/>
                </a:solidFill>
                <a:latin typeface="Carlito"/>
              </a:rPr>
              <a:t>. Les indices sont des jours de bourse, pas des mois civils exacts.</a:t>
            </a:r>
          </a:p>
        </p:txBody>
      </p:sp>
      <p:sp>
        <p:nvSpPr>
          <p:cNvPr id="13" name="TextBox 12"/>
          <p:cNvSpPr txBox="1"/>
          <p:nvPr/>
        </p:nvSpPr>
        <p:spPr>
          <a:xfrm>
            <a:off x="402336" y="26499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Au jour t, chaque caractéristique brute est convertie en </a:t>
            </a:r>
            <a:r>
              <a:rPr sz="1000" b="0">
                <a:solidFill>
                  <a:srgbClr val="2C3E50"/>
                </a:solidFill>
                <a:latin typeface="Carlito"/>
              </a:rPr>
              <a:t>, parmi les </a:t>
            </a:r>
            <a:r>
              <a:rPr sz="1000" b="0">
                <a:solidFill>
                  <a:srgbClr val="2C3E50"/>
                </a:solidFill>
                <a:latin typeface="Carlito"/>
              </a:rPr>
              <a:t> actions pour lesquelles cette caractéristique est définie. Les ex æquo ont le rang moyen et les valeurs manquantes restent manquantes.</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beta_i(t) = Cov/Var</a:t>
            </a:r>
          </a:p>
          <a:p>
            <a:pPr algn="l">
              <a:lnSpc>
                <a:spcPts val="919"/>
              </a:lnSpc>
              <a:spcAft>
                <a:spcPts val="0"/>
              </a:spcAft>
            </a:pPr>
            <a:r>
              <a:rPr sz="800" b="0">
                <a:solidFill>
                  <a:srgbClr val="2D3748"/>
                </a:solidFill>
                <a:latin typeface="Carlito"/>
              </a:rPr>
              <a:t>vol_63 = écart-type 63j</a:t>
            </a:r>
          </a:p>
          <a:p>
            <a:pPr algn="l">
              <a:lnSpc>
                <a:spcPts val="919"/>
              </a:lnSpc>
              <a:spcAft>
                <a:spcPts val="0"/>
              </a:spcAft>
            </a:pPr>
            <a:r>
              <a:rPr sz="800" b="0">
                <a:solidFill>
                  <a:srgbClr val="2D3748"/>
                </a:solidFill>
                <a:latin typeface="Carlito"/>
              </a:rPr>
              <a:t>mom_12_1 = somme [t-252,t-21)</a:t>
            </a:r>
          </a:p>
          <a:p>
            <a:pPr algn="l">
              <a:lnSpc>
                <a:spcPts val="919"/>
              </a:lnSpc>
              <a:spcAft>
                <a:spcPts val="0"/>
              </a:spcAft>
            </a:pPr>
            <a:r>
              <a:rPr sz="800" b="0">
                <a:solidFill>
                  <a:srgbClr val="2D3748"/>
                </a:solidFill>
                <a:latin typeface="Carlito"/>
              </a:rPr>
              <a:t>rev_21 = somme [t-21,t)</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vol_i(t) = sqrt[somme(s dans W63,(r_i(s)-moyenne_W63(r_i))^2)/nombre(W63)]</a:t>
            </a:r>
          </a:p>
        </p:txBody>
      </p:sp>
      <p:sp>
        <p:nvSpPr>
          <p:cNvPr id="19" name="TextBox 18"/>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mom_i(t) = somme(s=t-252..t-22, r_i(s)) ; rev_i(t) = somme(s=t-21..t-1, r_i(s))</a:t>
            </a:r>
          </a:p>
        </p:txBody>
      </p:sp>
      <p:sp>
        <p:nvSpPr>
          <p:cNvPr id="20" name="TextBox 19"/>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char_rang_i(t) = rang_t(i)/n_valides(t) - 0.5</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A5. Covariance et rétrécissement : formule</a:t>
            </a:r>
          </a:p>
        </p:txBody>
      </p:sp>
      <p:sp>
        <p:nvSpPr>
          <p:cNvPr id="4" name="Rectangle 3"/>
          <p:cNvSpPr/>
          <p:nvPr/>
        </p:nvSpPr>
        <p:spPr>
          <a:xfrm>
            <a:off x="8074152" y="64008"/>
            <a:ext cx="795528"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4152" y="64008"/>
            <a:ext cx="79552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A5 — De la covariance empirique à l'ACP Ledoit–Wolf (corps : 8 et 10)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des rendements </a:t>
            </a:r>
            <a:r>
              <a:rPr sz="1000" b="0">
                <a:solidFill>
                  <a:srgbClr val="2C3E50"/>
                </a:solidFill>
                <a:latin typeface="Carlito"/>
              </a:rPr>
              <a:t> en dimension </a:t>
            </a:r>
            <a:r>
              <a:rPr sz="1000" b="0">
                <a:solidFill>
                  <a:srgbClr val="2C3E50"/>
                </a:solidFill>
                <a:latin typeface="Carlito"/>
              </a:rPr>
              <a:t>, moyenne </a:t>
            </a:r>
            <a:r>
              <a:rPr sz="1000" b="0">
                <a:solidFill>
                  <a:srgbClr val="2C3E50"/>
                </a:solidFill>
                <a:latin typeface="Carlito"/>
              </a:rPr>
              <a:t> et matrice centrée </a:t>
            </a:r>
            <a:r>
              <a:rPr sz="1000" b="0">
                <a:solidFill>
                  <a:srgbClr val="2C3E50"/>
                </a:solidFill>
                <a:latin typeface="Carlito"/>
              </a:rPr>
              <a:t> de </a:t>
            </a:r>
            <a:r>
              <a:rPr sz="1000" b="0">
                <a:solidFill>
                  <a:srgbClr val="2C3E50"/>
                </a:solidFill>
                <a:latin typeface="Carlito"/>
              </a:rPr>
              <a:t> lignes, former </a:t>
            </a:r>
            <a:r>
              <a:rPr sz="1000" b="0">
                <a:solidFill>
                  <a:srgbClr val="2C3E50"/>
                </a:solidFill>
                <a:latin typeface="Carlito"/>
              </a:rPr>
              <a:t>. Elle est positive semi-définie, mais ses petites valeurs propres sont instables si </a:t>
            </a:r>
            <a:r>
              <a:rPr sz="1000" b="0">
                <a:solidFill>
                  <a:srgbClr val="2C3E50"/>
                </a:solidFill>
                <a:latin typeface="Carlito"/>
              </a:rPr>
              <a:t> est non négligeable.</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Cible de rétrécissement </a:t>
            </a:r>
            <a:r>
              <a:rPr sz="1000" b="0">
                <a:solidFill>
                  <a:srgbClr val="2C3E50"/>
                </a:solidFill>
                <a:latin typeface="Carlito"/>
              </a:rPr>
              <a:t>, avec </a:t>
            </a:r>
            <a:r>
              <a:rPr sz="1000" b="0">
                <a:solidFill>
                  <a:srgbClr val="2C3E50"/>
                </a:solidFill>
                <a:latin typeface="Carlito"/>
              </a:rPr>
              <a:t>. Combiner </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 est estimé suivant Ledoit–Wolf, plutôt que choisi manuellement dans les expériences principales.</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Calculer </a:t>
            </a:r>
            <a:r>
              <a:rPr sz="1000" b="0">
                <a:solidFill>
                  <a:srgbClr val="2C3E50"/>
                </a:solidFill>
                <a:latin typeface="Carlito"/>
              </a:rPr>
              <a:t>, normaliser </a:t>
            </a:r>
            <a:r>
              <a:rPr sz="1000" b="0">
                <a:solidFill>
                  <a:srgbClr val="2C3E50"/>
                </a:solidFill>
                <a:latin typeface="Carlito"/>
              </a:rPr>
              <a:t>, classer </a:t>
            </a:r>
            <a:r>
              <a:rPr sz="1000" b="0">
                <a:solidFill>
                  <a:srgbClr val="2C3E50"/>
                </a:solidFill>
                <a:latin typeface="Carlito"/>
              </a:rPr>
              <a:t>. Stocker </a:t>
            </a:r>
            <a:r>
              <a:rPr sz="1000" b="0">
                <a:solidFill>
                  <a:srgbClr val="2C3E50"/>
                </a:solidFill>
                <a:latin typeface="Carlito"/>
              </a:rPr>
              <a:t> et </a:t>
            </a:r>
            <a:r>
              <a:rPr sz="1000" b="0">
                <a:solidFill>
                  <a:srgbClr val="2C3E50"/>
                </a:solidFill>
                <a:latin typeface="Carlito"/>
              </a:rPr>
              <a:t> </a:t>
            </a:r>
            <a:r>
              <a:rPr sz="1000" i="1">
                <a:solidFill>
                  <a:srgbClr val="2C3E50"/>
                </a:solidFill>
                <a:latin typeface="Carlito"/>
              </a:rPr>
              <a:t>une fois</a:t>
            </a:r>
            <a:r>
              <a:rPr sz="1000" b="0">
                <a:solidFill>
                  <a:srgbClr val="2C3E50"/>
                </a:solidFill>
                <a:latin typeface="Carlito"/>
              </a:rPr>
              <a:t>. Sur chaque nouveau jour, </a:t>
            </a:r>
            <a:r>
              <a:rPr sz="1000" b="0">
                <a:solidFill>
                  <a:srgbClr val="2C3E50"/>
                </a:solidFill>
                <a:latin typeface="Carlito"/>
              </a:rPr>
              <a:t>, </a:t>
            </a:r>
            <a:r>
              <a:rPr sz="1000" i="1">
                <a:solidFill>
                  <a:srgbClr val="2C3E50"/>
                </a:solidFill>
                <a:latin typeface="Carlito"/>
              </a:rPr>
              <a:t>sans</a:t>
            </a:r>
            <a:r>
              <a:rPr sz="1000" b="0">
                <a:solidFill>
                  <a:srgbClr val="2C3E50"/>
                </a:solidFill>
                <a:latin typeface="Carlito"/>
              </a:rPr>
              <a:t> réestimer la covariance.</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Sigma_LW = (1-δ)S + δμI</a:t>
            </a:r>
          </a:p>
          <a:p>
            <a:pPr algn="l">
              <a:lnSpc>
                <a:spcPts val="919"/>
              </a:lnSpc>
              <a:spcAft>
                <a:spcPts val="0"/>
              </a:spcAft>
            </a:pPr>
            <a:r>
              <a:rPr sz="800" b="0">
                <a:solidFill>
                  <a:srgbClr val="2D3748"/>
                </a:solidFill>
                <a:latin typeface="Carlito"/>
              </a:rPr>
              <a:t>μ = tr(S)/N</a:t>
            </a:r>
          </a:p>
          <a:p>
            <a:pPr algn="l">
              <a:lnSpc>
                <a:spcPts val="919"/>
              </a:lnSpc>
              <a:spcAft>
                <a:spcPts val="0"/>
              </a:spcAft>
            </a:pPr>
            <a:r>
              <a:rPr sz="800" b="0">
                <a:solidFill>
                  <a:srgbClr val="2D3748"/>
                </a:solidFill>
                <a:latin typeface="Carlito"/>
              </a:rPr>
              <a:t>v_k, λ_k de Sigma_LW</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Sigma_emp = (1/T)*somme(t=1..T,(r_t-r_bar)*(r_t-r_bar)')</a:t>
            </a:r>
          </a:p>
        </p:txBody>
      </p:sp>
      <p:sp>
        <p:nvSpPr>
          <p:cNvPr id="18" name="TextBox 17"/>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Sigma_LW = (1-delta)*Sigma_emp + delta*(trace(Sigma_emp)/N)*Id ; z_k(t)=v_k'*r_t/sqrt(lambda_k)</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A5 bis. Corrélation et seuil MP</a:t>
            </a:r>
          </a:p>
        </p:txBody>
      </p:sp>
      <p:sp>
        <p:nvSpPr>
          <p:cNvPr id="4" name="Rectangle 3"/>
          <p:cNvSpPr/>
          <p:nvPr/>
        </p:nvSpPr>
        <p:spPr>
          <a:xfrm>
            <a:off x="8074152" y="64008"/>
            <a:ext cx="795528"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4152" y="64008"/>
            <a:ext cx="79552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A5 bis — Corrélation empirique et sélection d'axes (corps : 10)</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Partir de </a:t>
            </a:r>
            <a:r>
              <a:rPr sz="1000" b="0">
                <a:solidFill>
                  <a:srgbClr val="2C3E50"/>
                </a:solidFill>
                <a:latin typeface="Carlito"/>
              </a:rPr>
              <a:t> et de sa diagonale </a:t>
            </a:r>
            <a:r>
              <a:rPr sz="1000" b="0">
                <a:solidFill>
                  <a:srgbClr val="2C3E50"/>
                </a:solidFill>
                <a:latin typeface="Carlito"/>
              </a:rPr>
              <a:t>, avec variances non nulles. Former </a:t>
            </a:r>
            <a:r>
              <a:rPr sz="1000" b="0">
                <a:solidFill>
                  <a:srgbClr val="2C3E50"/>
                </a:solidFill>
                <a:latin typeface="Carlito"/>
              </a:rPr>
              <a:t>. Chaque diagonale de R vaut 1 ; hors diagonale, l'élément </a:t>
            </a:r>
            <a:r>
              <a:rPr sz="1000" b="0">
                <a:solidFill>
                  <a:srgbClr val="2C3E50"/>
                </a:solidFill>
                <a:latin typeface="Carlito"/>
              </a:rPr>
              <a:t> est la covariance entre actifs i et j divisée par le produit de leurs écarts-types.</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un repère de bruit à variables standardisées indépendantes et </a:t>
            </a:r>
            <a:r>
              <a:rPr sz="1000" b="0">
                <a:solidFill>
                  <a:srgbClr val="2C3E50"/>
                </a:solidFill>
                <a:latin typeface="Carlito"/>
              </a:rPr>
              <a:t> fixé, la borne supérieure asymptotique du spectre de Marčenko–Pastur est </a:t>
            </a:r>
            <a:r>
              <a:rPr sz="1000" b="0">
                <a:solidFill>
                  <a:srgbClr val="2C3E50"/>
                </a:solidFill>
                <a:latin typeface="Carlito"/>
              </a:rPr>
              <a:t>. Compter </a:t>
            </a:r>
            <a:r>
              <a:rPr sz="1000" b="0">
                <a:solidFill>
                  <a:srgbClr val="2C3E50"/>
                </a:solidFill>
                <a:latin typeface="Carlito"/>
              </a:rPr>
              <a:t>.</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Dans le mode factoriel exécuté, fixer </a:t>
            </a:r>
            <a:r>
              <a:rPr sz="1000" b="0">
                <a:solidFill>
                  <a:srgbClr val="2C3E50"/>
                </a:solidFill>
                <a:latin typeface="Carlito"/>
              </a:rPr>
              <a:t> puis sélectionner les </a:t>
            </a:r>
            <a:r>
              <a:rPr sz="1000" b="0">
                <a:solidFill>
                  <a:srgbClr val="2C3E50"/>
                </a:solidFill>
                <a:latin typeface="Carlito"/>
              </a:rPr>
              <a:t> premières directions de </a:t>
            </a:r>
            <a:r>
              <a:rPr sz="1000" i="1">
                <a:solidFill>
                  <a:srgbClr val="2C3E50"/>
                </a:solidFill>
                <a:latin typeface="Carlito"/>
              </a:rPr>
              <a:t>Sigma_LW</a:t>
            </a:r>
            <a:r>
              <a:rPr sz="1000" b="0">
                <a:solidFill>
                  <a:srgbClr val="2C3E50"/>
                </a:solidFill>
                <a:latin typeface="Carlito"/>
              </a:rPr>
              <a:t>, avec la première comme marché séparé. Avec les fenêtres utilisées, les comptes observés sont 6 et 11 </a:t>
            </a:r>
            <a:r>
              <a:rPr sz="1000" i="1">
                <a:solidFill>
                  <a:srgbClr val="2C3E50"/>
                </a:solidFill>
                <a:latin typeface="Carlito"/>
              </a:rPr>
              <a:t>axes totaux</a:t>
            </a:r>
            <a:r>
              <a:rPr sz="1000" b="0">
                <a:solidFill>
                  <a:srgbClr val="2C3E50"/>
                </a:solidFill>
                <a:latin typeface="Carlito"/>
              </a:rPr>
              <a:t>.</a:t>
            </a:r>
          </a:p>
        </p:txBody>
      </p:sp>
      <p:sp>
        <p:nvSpPr>
          <p:cNvPr id="13" name="TextBox 12"/>
          <p:cNvSpPr txBox="1"/>
          <p:nvPr/>
        </p:nvSpPr>
        <p:spPr>
          <a:xfrm>
            <a:off x="402336" y="29420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En présence de dépendance temporelle, de t de Student ou de volatilité variable, le seuil théorique de bruit n'est pas calibré exactement : c'est une règle de sélection, non un intervalle de confiance de chaque valeur propre.</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R = D^(-1/2) S D^(-1/2)</a:t>
            </a:r>
          </a:p>
          <a:p>
            <a:pPr algn="l">
              <a:lnSpc>
                <a:spcPts val="919"/>
              </a:lnSpc>
              <a:spcAft>
                <a:spcPts val="0"/>
              </a:spcAft>
            </a:pPr>
            <a:r>
              <a:rPr sz="800" b="0">
                <a:solidFill>
                  <a:srgbClr val="2D3748"/>
                </a:solidFill>
                <a:latin typeface="Carlito"/>
              </a:rPr>
              <a:t>λ₊ = [1+√(N/T)]²</a:t>
            </a:r>
          </a:p>
          <a:p>
            <a:pPr algn="l">
              <a:lnSpc>
                <a:spcPts val="919"/>
              </a:lnSpc>
              <a:spcAft>
                <a:spcPts val="0"/>
              </a:spcAft>
            </a:pPr>
            <a:r>
              <a:rPr sz="800" b="0">
                <a:solidFill>
                  <a:srgbClr val="2D3748"/>
                </a:solidFill>
                <a:latin typeface="Carlito"/>
              </a:rPr>
              <a:t>compter k &gt; λ₊</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R_ij = Sigma_emp_ij / sqrt(Sigma_emp_ii*Sigma_emp_jj) ; n_above = nombre{lambda_j(R) &gt; (1+sqrt(N/T))^2}</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A6. KL d'un déplacement gaussien</a:t>
            </a:r>
          </a:p>
        </p:txBody>
      </p:sp>
      <p:sp>
        <p:nvSpPr>
          <p:cNvPr id="4" name="Rectangle 3"/>
          <p:cNvSpPr/>
          <p:nvPr/>
        </p:nvSpPr>
        <p:spPr>
          <a:xfrm>
            <a:off x="8037575" y="64008"/>
            <a:ext cx="83210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37575" y="64008"/>
            <a:ext cx="83210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A6 — Des densités de gaussiennes à l'information par axe (corps : 11)</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Avant rupture, </a:t>
            </a:r>
            <a:r>
              <a:rPr sz="1000" b="0">
                <a:solidFill>
                  <a:srgbClr val="2C3E50"/>
                </a:solidFill>
                <a:latin typeface="Carlito"/>
              </a:rPr>
              <a:t> ; après, </a:t>
            </a:r>
            <a:r>
              <a:rPr sz="1000" b="0">
                <a:solidFill>
                  <a:srgbClr val="2C3E50"/>
                </a:solidFill>
                <a:latin typeface="Carlito"/>
              </a:rPr>
              <a:t> ; covariance définie positive </a:t>
            </a:r>
            <a:r>
              <a:rPr sz="1000" i="1">
                <a:solidFill>
                  <a:srgbClr val="2C3E50"/>
                </a:solidFill>
                <a:latin typeface="Carlito"/>
              </a:rPr>
              <a:t>identique</a:t>
            </a:r>
            <a:r>
              <a:rPr sz="1000" b="0">
                <a:solidFill>
                  <a:srgbClr val="2C3E50"/>
                </a:solidFill>
                <a:latin typeface="Carlito"/>
              </a:rPr>
              <a:t>. Le log du quotient des deux densités est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Prendre l'espérance sous la loi après, où </a:t>
            </a:r>
            <a:r>
              <a:rPr sz="1000" b="0">
                <a:solidFill>
                  <a:srgbClr val="2C3E50"/>
                </a:solidFill>
                <a:latin typeface="Carlito"/>
              </a:rPr>
              <a:t>. On trouve </a:t>
            </a:r>
            <a:r>
              <a:rPr sz="1000" b="0">
                <a:solidFill>
                  <a:srgbClr val="2C3E50"/>
                </a:solidFill>
                <a:latin typeface="Carlito"/>
              </a:rPr>
              <a:t>.</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Diagonaliser </a:t>
            </a:r>
            <a:r>
              <a:rPr sz="1000" b="0">
                <a:solidFill>
                  <a:srgbClr val="2C3E50"/>
                </a:solidFill>
                <a:latin typeface="Carlito"/>
              </a:rPr>
              <a:t> ; </a:t>
            </a:r>
            <a:r>
              <a:rPr sz="1000" b="0">
                <a:solidFill>
                  <a:srgbClr val="2C3E50"/>
                </a:solidFill>
                <a:latin typeface="Carlito"/>
              </a:rPr>
              <a:t> orthonormale. Alors </a:t>
            </a:r>
            <a:r>
              <a:rPr sz="1000" b="0">
                <a:solidFill>
                  <a:srgbClr val="2C3E50"/>
                </a:solidFill>
                <a:latin typeface="Carlito"/>
              </a:rPr>
              <a:t>. La contribution </a:t>
            </a:r>
            <a:r>
              <a:rPr sz="1000" b="0">
                <a:solidFill>
                  <a:srgbClr val="2C3E50"/>
                </a:solidFill>
                <a:latin typeface="Carlito"/>
              </a:rPr>
              <a:t> est additive dans </a:t>
            </a:r>
            <a:r>
              <a:rPr sz="1000" i="1">
                <a:solidFill>
                  <a:srgbClr val="2C3E50"/>
                </a:solidFill>
                <a:latin typeface="Carlito"/>
              </a:rPr>
              <a:t>ce</a:t>
            </a:r>
            <a:r>
              <a:rPr sz="1000" b="0">
                <a:solidFill>
                  <a:srgbClr val="2C3E50"/>
                </a:solidFill>
                <a:latin typeface="Carlito"/>
              </a:rPr>
              <a:t> modèle.</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Avec axes estimés ou distributions non gaussiennes, cette somme peut ne pas être la KL conjointe du flux projeté ; ne pas présenter une simple dispersion spectrale comme une mesure de KL.</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KL(P1||P0)</a:t>
            </a:r>
          </a:p>
          <a:p>
            <a:pPr algn="l">
              <a:lnSpc>
                <a:spcPts val="919"/>
              </a:lnSpc>
              <a:spcAft>
                <a:spcPts val="0"/>
              </a:spcAft>
            </a:pPr>
            <a:r>
              <a:rPr sz="800" b="0">
                <a:solidFill>
                  <a:srgbClr val="2D3748"/>
                </a:solidFill>
                <a:latin typeface="Carlito"/>
              </a:rPr>
              <a:t>= E_P1[ln(p1/p0)]</a:t>
            </a:r>
          </a:p>
          <a:p>
            <a:pPr algn="l">
              <a:lnSpc>
                <a:spcPts val="919"/>
              </a:lnSpc>
              <a:spcAft>
                <a:spcPts val="0"/>
              </a:spcAft>
            </a:pPr>
            <a:r>
              <a:rPr sz="800" b="0">
                <a:solidFill>
                  <a:srgbClr val="2D3748"/>
                </a:solidFill>
                <a:latin typeface="Carlito"/>
              </a:rPr>
              <a:t>I_k = (v_k'Δ)²/(2λ_k)</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ell(x) = Delta'*Sigma^(-1)*x - Delta'*Sigma^(-1)*Delta/2</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I_full = Delta'*Sigma^(-1)*Delta/2 = somme(k=1..N, (v_k'*Delta)^2/(2*lambda_k))</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A6 bis. Inégalité de traitement des données</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A6 bis — Pourquoi une représentation ne crée pas de KL (corps : 11)</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Soient </a:t>
            </a:r>
            <a:r>
              <a:rPr sz="1000" b="0">
                <a:solidFill>
                  <a:srgbClr val="2C3E50"/>
                </a:solidFill>
                <a:latin typeface="Carlito"/>
              </a:rPr>
              <a:t> et </a:t>
            </a:r>
            <a:r>
              <a:rPr sz="1000" b="0">
                <a:solidFill>
                  <a:srgbClr val="2C3E50"/>
                </a:solidFill>
                <a:latin typeface="Carlito"/>
              </a:rPr>
              <a:t> les lois sur les observations complètes </a:t>
            </a:r>
            <a:r>
              <a:rPr sz="1000" b="0">
                <a:solidFill>
                  <a:srgbClr val="2C3E50"/>
                </a:solidFill>
                <a:latin typeface="Carlito"/>
              </a:rPr>
              <a:t> (y compris les caractéristiques si elles sont utilisées). Soit </a:t>
            </a:r>
            <a:r>
              <a:rPr sz="1000" b="0">
                <a:solidFill>
                  <a:srgbClr val="2C3E50"/>
                </a:solidFill>
                <a:latin typeface="Carlito"/>
              </a:rPr>
              <a:t> leur transformation fixe ; les probabilités conditionnelles </a:t>
            </a:r>
            <a:r>
              <a:rPr sz="1000" b="0">
                <a:solidFill>
                  <a:srgbClr val="2C3E50"/>
                </a:solidFill>
                <a:latin typeface="Carlito"/>
              </a:rPr>
              <a:t> sont supposées bien définies.</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Factoriser chaque densité jointe </a:t>
            </a:r>
            <a:r>
              <a:rPr sz="1000" b="0">
                <a:solidFill>
                  <a:srgbClr val="2C3E50"/>
                </a:solidFill>
                <a:latin typeface="Carlito"/>
              </a:rPr>
              <a:t>. Le log du rapport joint devient la somme des logs du rapport marginal </a:t>
            </a:r>
            <a:r>
              <a:rPr sz="1000" b="0">
                <a:solidFill>
                  <a:srgbClr val="2C3E50"/>
                </a:solidFill>
                <a:latin typeface="Carlito"/>
              </a:rPr>
              <a:t> et conditionnel </a:t>
            </a:r>
            <a:r>
              <a:rPr sz="1000" b="0">
                <a:solidFill>
                  <a:srgbClr val="2C3E50"/>
                </a:solidFill>
                <a:latin typeface="Carlito"/>
              </a:rPr>
              <a:t>.</a:t>
            </a:r>
          </a:p>
        </p:txBody>
      </p:sp>
      <p:sp>
        <p:nvSpPr>
          <p:cNvPr id="12" name="TextBox 11"/>
          <p:cNvSpPr txBox="1"/>
          <p:nvPr/>
        </p:nvSpPr>
        <p:spPr>
          <a:xfrm>
            <a:off x="402336" y="225729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Prendre l'espérance sous P1 : la KL complète se décompose en </a:t>
            </a:r>
            <a:r>
              <a:rPr sz="1000" b="0">
                <a:solidFill>
                  <a:srgbClr val="2C3E50"/>
                </a:solidFill>
                <a:latin typeface="Carlito"/>
              </a:rPr>
              <a:t> plus la moyenne sous P1 des KL conditionnelles non négatives. Donc </a:t>
            </a:r>
            <a:r>
              <a:rPr sz="1000" b="0">
                <a:solidFill>
                  <a:srgbClr val="2C3E50"/>
                </a:solidFill>
                <a:latin typeface="Carlito"/>
              </a:rPr>
              <a:t>. Une projection inversible conserve l'information ; un masquage ou une quantification peut en perdre.</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DPI : KL ne peut augmenter</a:t>
            </a:r>
          </a:p>
          <a:p>
            <a:pPr algn="l">
              <a:lnSpc>
                <a:spcPts val="919"/>
              </a:lnSpc>
              <a:spcAft>
                <a:spcPts val="0"/>
              </a:spcAft>
            </a:pPr>
            <a:r>
              <a:rPr sz="800" b="0">
                <a:solidFill>
                  <a:srgbClr val="2D3748"/>
                </a:solidFill>
                <a:latin typeface="Carlito"/>
              </a:rPr>
              <a:t>KL(P1_X||P0_X)</a:t>
            </a:r>
          </a:p>
          <a:p>
            <a:pPr algn="l">
              <a:lnSpc>
                <a:spcPts val="919"/>
              </a:lnSpc>
              <a:spcAft>
                <a:spcPts val="0"/>
              </a:spcAft>
            </a:pPr>
            <a:r>
              <a:rPr sz="800" b="0">
                <a:solidFill>
                  <a:srgbClr val="2D3748"/>
                </a:solidFill>
                <a:latin typeface="Carlito"/>
              </a:rPr>
              <a:t>≥ KL(P1_Z||P0_Z)</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KL(P1_X||P0_X) = KL(P1_Z||P0_Z) + E_(Z~P1)[KL(P1_(X|Z)||P0_(X|Z))] &gt;= KL(P1_Z||P0_Z)</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A7. Symétrie conditionnelle et signes exacts</a:t>
            </a:r>
          </a:p>
        </p:txBody>
      </p:sp>
      <p:sp>
        <p:nvSpPr>
          <p:cNvPr id="4" name="Rectangle 3"/>
          <p:cNvSpPr/>
          <p:nvPr/>
        </p:nvSpPr>
        <p:spPr>
          <a:xfrm>
            <a:off x="8074152" y="64008"/>
            <a:ext cx="795528"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4152" y="64008"/>
            <a:ext cx="79552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A7 — Du retournement de signe à l'i.i.d. temporel (corps : 7 et 12)</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désigne l'information avant le jour t. Supposer </a:t>
            </a:r>
            <a:r>
              <a:rPr sz="1000" b="0">
                <a:solidFill>
                  <a:srgbClr val="2C3E50"/>
                </a:solidFill>
                <a:latin typeface="Carlito"/>
              </a:rPr>
              <a:t> et </a:t>
            </a:r>
            <a:r>
              <a:rPr sz="1000" b="0">
                <a:solidFill>
                  <a:srgbClr val="2C3E50"/>
                </a:solidFill>
                <a:latin typeface="Carlito"/>
              </a:rPr>
              <a:t> de même loi. Choisir une statistique </a:t>
            </a:r>
            <a:r>
              <a:rPr sz="1000" b="0">
                <a:solidFill>
                  <a:srgbClr val="2C3E50"/>
                </a:solidFill>
                <a:latin typeface="Carlito"/>
              </a:rPr>
              <a:t> impaire, fixée en fonction du passé ; définir le bit </a:t>
            </a:r>
            <a:r>
              <a:rPr sz="1000" b="0">
                <a:solidFill>
                  <a:srgbClr val="2C3E50"/>
                </a:solidFill>
                <a:latin typeface="Carlito"/>
              </a:rPr>
              <a:t> si </a:t>
            </a:r>
            <a:r>
              <a:rPr sz="1000" b="0">
                <a:solidFill>
                  <a:srgbClr val="2C3E50"/>
                </a:solidFill>
                <a:latin typeface="Carlito"/>
              </a:rPr>
              <a:t>, </a:t>
            </a:r>
            <a:r>
              <a:rPr sz="1000" b="0">
                <a:solidFill>
                  <a:srgbClr val="2C3E50"/>
                </a:solidFill>
                <a:latin typeface="Carlito"/>
              </a:rPr>
              <a:t> si négatif.</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Par symétrie, </a:t>
            </a:r>
            <a:r>
              <a:rPr sz="1000" b="0">
                <a:solidFill>
                  <a:srgbClr val="2C3E50"/>
                </a:solidFill>
                <a:latin typeface="Carlito"/>
              </a:rPr>
              <a:t>, avec </a:t>
            </a:r>
            <a:r>
              <a:rPr sz="1000" b="0">
                <a:solidFill>
                  <a:srgbClr val="2C3E50"/>
                </a:solidFill>
                <a:latin typeface="Carlito"/>
              </a:rPr>
              <a:t>. Au zéro, tirer une pièce Bernoulli(1/2) indépendante, ce qui ajoute </a:t>
            </a:r>
            <a:r>
              <a:rPr sz="1000" b="0">
                <a:solidFill>
                  <a:srgbClr val="2C3E50"/>
                </a:solidFill>
                <a:latin typeface="Carlito"/>
              </a:rPr>
              <a:t> à la probabilité de bit positif. Le total vaut 1/2.</a:t>
            </a:r>
          </a:p>
        </p:txBody>
      </p:sp>
      <p:sp>
        <p:nvSpPr>
          <p:cNvPr id="12" name="TextBox 11"/>
          <p:cNvSpPr txBox="1"/>
          <p:nvPr/>
        </p:nvSpPr>
        <p:spPr>
          <a:xfrm>
            <a:off x="402336" y="225729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tout motif </a:t>
            </a:r>
            <a:r>
              <a:rPr sz="1000" b="0">
                <a:solidFill>
                  <a:srgbClr val="2C3E50"/>
                </a:solidFill>
                <a:latin typeface="Carlito"/>
              </a:rPr>
              <a:t>, utiliser la règle des probabilités conditionnelles successives : la probabilité est </a:t>
            </a:r>
            <a:r>
              <a:rPr sz="1000" b="0">
                <a:solidFill>
                  <a:srgbClr val="2C3E50"/>
                </a:solidFill>
                <a:latin typeface="Carlito"/>
              </a:rPr>
              <a:t>. C'est l'indépendance temporelle d'</a:t>
            </a:r>
            <a:r>
              <a:rPr sz="1000" i="1">
                <a:solidFill>
                  <a:srgbClr val="2C3E50"/>
                </a:solidFill>
                <a:latin typeface="Carlito"/>
              </a:rPr>
              <a:t>un canal</a:t>
            </a:r>
            <a:r>
              <a:rPr sz="1000" b="0">
                <a:solidFill>
                  <a:srgbClr val="2C3E50"/>
                </a:solidFill>
                <a:latin typeface="Carlito"/>
              </a:rPr>
              <a:t> sous le null, pas entre coordonnées le même jour.</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P[b_t=1|F_(t-1)] = 1/2</a:t>
            </a:r>
          </a:p>
          <a:p>
            <a:pPr algn="l">
              <a:lnSpc>
                <a:spcPts val="919"/>
              </a:lnSpc>
              <a:spcAft>
                <a:spcPts val="0"/>
              </a:spcAft>
            </a:pPr>
            <a:r>
              <a:rPr sz="800" b="0">
                <a:solidFill>
                  <a:srgbClr val="2D3748"/>
                </a:solidFill>
                <a:latin typeface="Carlito"/>
              </a:rPr>
              <a:t>symétrie centrale</a:t>
            </a:r>
          </a:p>
          <a:p>
            <a:pPr algn="l">
              <a:lnSpc>
                <a:spcPts val="919"/>
              </a:lnSpc>
              <a:spcAft>
                <a:spcPts val="0"/>
              </a:spcAft>
            </a:pPr>
            <a:r>
              <a:rPr sz="800" b="0">
                <a:solidFill>
                  <a:srgbClr val="2D3748"/>
                </a:solidFill>
                <a:latin typeface="Carlito"/>
              </a:rPr>
              <a:t>+ statistique impaire</a:t>
            </a:r>
          </a:p>
          <a:p>
            <a:pPr algn="l">
              <a:lnSpc>
                <a:spcPts val="919"/>
              </a:lnSpc>
              <a:spcAft>
                <a:spcPts val="0"/>
              </a:spcAft>
            </a:pPr>
            <a:r>
              <a:rPr sz="800" b="0">
                <a:solidFill>
                  <a:srgbClr val="2D3748"/>
                </a:solidFill>
                <a:latin typeface="Carlito"/>
              </a:rPr>
              <a:t>+ pièce aux zéros</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P0(b_t=1 | F_(t-1)) = (1-p0)/2 + p0/2 = 1/2</a:t>
            </a:r>
          </a:p>
        </p:txBody>
      </p:sp>
      <p:sp>
        <p:nvSpPr>
          <p:cNvPr id="18" name="TextBox 17"/>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P0(b_1=c_1,...,b_n=c_n) = 2^(-n)</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A7 bis. Calibrer un treillis fini et analyser l'asymétrie</a:t>
            </a:r>
          </a:p>
        </p:txBody>
      </p:sp>
      <p:sp>
        <p:nvSpPr>
          <p:cNvPr id="4" name="Rectangle 3"/>
          <p:cNvSpPr/>
          <p:nvPr/>
        </p:nvSpPr>
        <p:spPr>
          <a:xfrm>
            <a:off x="8092440" y="64008"/>
            <a:ext cx="77724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92440" y="64008"/>
            <a:ext cx="7772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Annexe A7 bis — Niveau discret, probabilité positive estimée, chocs simulés (corps : 12)</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Treillis exact :</a:t>
            </a:r>
            <a:r>
              <a:rPr sz="1000" b="0">
                <a:solidFill>
                  <a:srgbClr val="2C3E50"/>
                </a:solidFill>
                <a:latin typeface="Carlito"/>
              </a:rPr>
              <a:t> un CUSUM de signes avec mise et incréments discrets possède un nombre fini d'états atteignables sur </a:t>
            </a:r>
            <a:r>
              <a:rPr sz="1000" b="0">
                <a:solidFill>
                  <a:srgbClr val="2C3E50"/>
                </a:solidFill>
                <a:latin typeface="Carlito"/>
              </a:rPr>
              <a:t>. La récurrence sur ces états donne exactement la probabilité de franchir chaque seuil sous une pièce équitable. Le seuil choisi donne </a:t>
            </a:r>
            <a:r>
              <a:rPr sz="1000" b="0">
                <a:solidFill>
                  <a:srgbClr val="2C3E50"/>
                </a:solidFill>
                <a:latin typeface="Carlito"/>
              </a:rPr>
              <a:t>, juste sous 0,05 ; le palier suivant dépasse le niveau admissible.</a:t>
            </a:r>
          </a:p>
        </p:txBody>
      </p:sp>
      <p:sp>
        <p:nvSpPr>
          <p:cNvPr id="11" name="TextBox 10"/>
          <p:cNvSpPr txBox="1"/>
          <p:nvPr/>
        </p:nvSpPr>
        <p:spPr>
          <a:xfrm>
            <a:off x="402336" y="201066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Évaluation du null :</a:t>
            </a:r>
            <a:r>
              <a:rPr sz="1000" b="0">
                <a:solidFill>
                  <a:srgbClr val="2C3E50"/>
                </a:solidFill>
                <a:latin typeface="Carlito"/>
              </a:rPr>
              <a:t> sur chaque répétition, enregistrer l'indicatrice </a:t>
            </a:r>
            <a:r>
              <a:rPr sz="1000" b="0">
                <a:solidFill>
                  <a:srgbClr val="2C3E50"/>
                </a:solidFill>
                <a:latin typeface="Carlito"/>
              </a:rPr>
              <a:t>. Sa moyenne produit le taux observé. Le test binomial à 99 % porte sur la variabilité des répétitions et sur les hypothèses du générateur, </a:t>
            </a:r>
            <a:r>
              <a:rPr sz="1000" i="1">
                <a:solidFill>
                  <a:srgbClr val="2C3E50"/>
                </a:solidFill>
                <a:latin typeface="Carlito"/>
              </a:rPr>
              <a:t>pas</a:t>
            </a:r>
            <a:r>
              <a:rPr sz="1000" b="0">
                <a:solidFill>
                  <a:srgbClr val="2C3E50"/>
                </a:solidFill>
                <a:latin typeface="Carlito"/>
              </a:rPr>
              <a:t> sur les 941 jours en tant que répétitions.</a:t>
            </a:r>
          </a:p>
        </p:txBody>
      </p:sp>
      <p:sp>
        <p:nvSpPr>
          <p:cNvPr id="12" name="TextBox 11"/>
          <p:cNvSpPr txBox="1"/>
          <p:nvPr/>
        </p:nvSpPr>
        <p:spPr>
          <a:xfrm>
            <a:off x="402336" y="2549398"/>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Choc asymétrique de simulation</a:t>
            </a:r>
            <a:r>
              <a:rPr sz="1000" b="0">
                <a:solidFill>
                  <a:srgbClr val="2C3E50"/>
                </a:solidFill>
                <a:latin typeface="Carlito"/>
              </a:rPr>
              <a:t> d'intensité </a:t>
            </a:r>
            <a:r>
              <a:rPr sz="1000" b="0">
                <a:solidFill>
                  <a:srgbClr val="2C3E50"/>
                </a:solidFill>
                <a:latin typeface="Carlito"/>
              </a:rPr>
              <a:t> modifie la probabilité de signe positif du canal marché ; </a:t>
            </a:r>
            <a:r>
              <a:rPr sz="1000" b="0">
                <a:solidFill>
                  <a:srgbClr val="2C3E50"/>
                </a:solidFill>
                <a:latin typeface="Carlito"/>
              </a:rPr>
              <a:t> déséquilibre la probabilité de signe positif, ce qui peut expliquer une FPR proche de 0,39 même sans changement économique voulu. Le témoin apparié emploie le générateur symétrisé à paramètres comparables.</a:t>
            </a:r>
          </a:p>
        </p:txBody>
      </p:sp>
      <p:sp>
        <p:nvSpPr>
          <p:cNvPr id="13" name="TextBox 12"/>
          <p:cNvSpPr txBox="1"/>
          <p:nvPr/>
        </p:nvSpPr>
        <p:spPr>
          <a:xfrm>
            <a:off x="402336" y="32341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Recentrement estimé :</a:t>
            </a:r>
            <a:r>
              <a:rPr sz="1000" b="0">
                <a:solidFill>
                  <a:srgbClr val="2C3E50"/>
                </a:solidFill>
                <a:latin typeface="Carlito"/>
              </a:rPr>
              <a:t> sur la calibration, </a:t>
            </a:r>
            <a:r>
              <a:rPr sz="1000" b="0">
                <a:solidFill>
                  <a:srgbClr val="2C3E50"/>
                </a:solidFill>
                <a:latin typeface="Carlito"/>
              </a:rPr>
              <a:t>, puis le moniteur traite </a:t>
            </a:r>
            <a:r>
              <a:rPr sz="1000" b="0">
                <a:solidFill>
                  <a:srgbClr val="2C3E50"/>
                </a:solidFill>
                <a:latin typeface="Carlito"/>
              </a:rPr>
              <a:t> comme probabilité de référence. Son erreur n'est pas dans le treillis calculé comme si q était connu ; la calibration devient approximative.</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treillis fini</a:t>
            </a:r>
          </a:p>
          <a:p>
            <a:pPr algn="l">
              <a:lnSpc>
                <a:spcPts val="919"/>
              </a:lnSpc>
              <a:spcAft>
                <a:spcPts val="0"/>
              </a:spcAft>
            </a:pPr>
            <a:r>
              <a:rPr sz="800" b="0">
                <a:solidFill>
                  <a:srgbClr val="2D3748"/>
                </a:solidFill>
                <a:latin typeface="Carlito"/>
              </a:rPr>
              <a:t>seuil exact H=750</a:t>
            </a:r>
          </a:p>
          <a:p>
            <a:pPr algn="l">
              <a:lnSpc>
                <a:spcPts val="919"/>
              </a:lnSpc>
              <a:spcAft>
                <a:spcPts val="0"/>
              </a:spcAft>
            </a:pPr>
            <a:r>
              <a:rPr sz="800" b="0">
                <a:solidFill>
                  <a:srgbClr val="2D3748"/>
                </a:solidFill>
                <a:latin typeface="Carlito"/>
              </a:rPr>
              <a:t>niveau 4,3947 %</a:t>
            </a:r>
          </a:p>
          <a:p>
            <a:pPr algn="l">
              <a:lnSpc>
                <a:spcPts val="919"/>
              </a:lnSpc>
              <a:spcAft>
                <a:spcPts val="0"/>
              </a:spcAft>
            </a:pPr>
            <a:r>
              <a:rPr sz="800" b="0">
                <a:solidFill>
                  <a:srgbClr val="2D3748"/>
                </a:solidFill>
                <a:latin typeface="Carlito"/>
              </a:rPr>
              <a:t>&lt; cible 5 %</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FPR_observee = somme(rep=1..R, 1{T_rep&lt;=H})/R ; q_hat = somme(t=1..941,1{z_t&gt;0})/941</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A8. Energie gaussienne et rotations</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A8 — De la covariance à l'énergie détectée (corps : 7 et 13)</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Supposer </a:t>
            </a:r>
            <a:r>
              <a:rPr sz="1000" b="0">
                <a:solidFill>
                  <a:srgbClr val="2C3E50"/>
                </a:solidFill>
                <a:latin typeface="Carlito"/>
              </a:rPr>
              <a:t> gaussien centré à covariance identité en dimension </a:t>
            </a:r>
            <a:r>
              <a:rPr sz="1000" b="0">
                <a:solidFill>
                  <a:srgbClr val="2C3E50"/>
                </a:solidFill>
                <a:latin typeface="Carlito"/>
              </a:rPr>
              <a:t> sous le null. Alors </a:t>
            </a:r>
            <a:r>
              <a:rPr sz="1000" b="0">
                <a:solidFill>
                  <a:srgbClr val="2C3E50"/>
                </a:solidFill>
                <a:latin typeface="Carlito"/>
              </a:rPr>
              <a:t> a une loi chi-carré à </a:t>
            </a:r>
            <a:r>
              <a:rPr sz="1000" b="0">
                <a:solidFill>
                  <a:srgbClr val="2C3E50"/>
                </a:solidFill>
                <a:latin typeface="Carlito"/>
              </a:rPr>
              <a:t> degrés de liberté : </a:t>
            </a:r>
            <a:r>
              <a:rPr sz="1000" b="0">
                <a:solidFill>
                  <a:srgbClr val="2C3E50"/>
                </a:solidFill>
                <a:latin typeface="Carlito"/>
              </a:rPr>
              <a:t> et </a:t>
            </a:r>
            <a:r>
              <a:rPr sz="1000" b="0">
                <a:solidFill>
                  <a:srgbClr val="2C3E50"/>
                </a:solidFill>
                <a:latin typeface="Carlito"/>
              </a:rPr>
              <a:t>. L'énergie standardisée est donc </a:t>
            </a:r>
            <a:r>
              <a:rPr sz="1000" b="0">
                <a:solidFill>
                  <a:srgbClr val="2C3E50"/>
                </a:solidFill>
                <a:latin typeface="Carlito"/>
              </a:rPr>
              <a:t>.</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alternative de covariance </a:t>
            </a:r>
            <a:r>
              <a:rPr sz="1000" b="0">
                <a:solidFill>
                  <a:srgbClr val="2C3E50"/>
                </a:solidFill>
                <a:latin typeface="Carlito"/>
              </a:rPr>
              <a:t>, l'information complète gaussienne provient du rapport des densités, incluant une trace et un déterminant ; elle peut être positive </a:t>
            </a:r>
            <a:r>
              <a:rPr sz="1000" i="1">
                <a:solidFill>
                  <a:srgbClr val="2C3E50"/>
                </a:solidFill>
                <a:latin typeface="Carlito"/>
              </a:rPr>
              <a:t>sans</a:t>
            </a:r>
            <a:r>
              <a:rPr sz="1000" b="0">
                <a:solidFill>
                  <a:srgbClr val="2C3E50"/>
                </a:solidFill>
                <a:latin typeface="Carlito"/>
              </a:rPr>
              <a:t> que l'énergie dans une direction choisie augmente.</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Une rotation orthogonale </a:t>
            </a:r>
            <a:r>
              <a:rPr sz="1000" b="0">
                <a:solidFill>
                  <a:srgbClr val="2C3E50"/>
                </a:solidFill>
                <a:latin typeface="Carlito"/>
              </a:rPr>
              <a:t> appliquée à la covariance de référence produit </a:t>
            </a:r>
            <a:r>
              <a:rPr sz="1000" b="0">
                <a:solidFill>
                  <a:srgbClr val="2C3E50"/>
                </a:solidFill>
                <a:latin typeface="Carlito"/>
              </a:rPr>
              <a:t>. Si deux valeurs propres sont égales, une rotation dans leur sous-espace peut laisser Sigma inchangée ; sinon elle peut changer des variances projetées sans changer le déterminant global.</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q_t = [Σ z_k² - d_R]/√(2d_R)</a:t>
            </a:r>
          </a:p>
          <a:p>
            <a:pPr algn="l">
              <a:lnSpc>
                <a:spcPts val="919"/>
              </a:lnSpc>
              <a:spcAft>
                <a:spcPts val="0"/>
              </a:spcAft>
            </a:pPr>
            <a:r>
              <a:rPr sz="800" b="0">
                <a:solidFill>
                  <a:srgbClr val="2D3748"/>
                </a:solidFill>
                <a:latin typeface="Carlito"/>
              </a:rPr>
              <a:t>CUSUM unilatéral</a:t>
            </a:r>
          </a:p>
          <a:p>
            <a:pPr algn="l">
              <a:lnSpc>
                <a:spcPts val="919"/>
              </a:lnSpc>
              <a:spcAft>
                <a:spcPts val="0"/>
              </a:spcAft>
            </a:pPr>
            <a:r>
              <a:rPr sz="800" b="0">
                <a:solidFill>
                  <a:srgbClr val="2D3748"/>
                </a:solidFill>
                <a:latin typeface="Carlito"/>
              </a:rPr>
              <a:t>énergie résiduelle</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q = [somme(k=1..d_R,Z_k^2)-d_R] / sqrt(2*d_R)</a:t>
            </a:r>
          </a:p>
        </p:txBody>
      </p:sp>
      <p:sp>
        <p:nvSpPr>
          <p:cNvPr id="18" name="TextBox 17"/>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KL_cov = [trace(Sigma0^(-1)*Sigma1) - log(det(Sigma0^(-1)*Sigma1)) - N]/2</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A8 bis. Transformations et comparateur unilatéral</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A8 bis — Pourquoi l'indice équipondéré peut être aveugle (corps : 13)</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a:t>
            </a:r>
            <a:r>
              <a:rPr sz="1000" b="0">
                <a:solidFill>
                  <a:srgbClr val="2C3E50"/>
                </a:solidFill>
                <a:latin typeface="Carlito"/>
              </a:rPr>
              <a:t> et l'indice du jour </a:t>
            </a:r>
            <a:r>
              <a:rPr sz="1000" b="0">
                <a:solidFill>
                  <a:srgbClr val="2C3E50"/>
                </a:solidFill>
                <a:latin typeface="Carlito"/>
              </a:rPr>
              <a:t>. Sous une covariance </a:t>
            </a:r>
            <a:r>
              <a:rPr sz="1000" b="0">
                <a:solidFill>
                  <a:srgbClr val="2C3E50"/>
                </a:solidFill>
                <a:latin typeface="Carlito"/>
              </a:rPr>
              <a:t>, sa variance vaut </a:t>
            </a:r>
            <a:r>
              <a:rPr sz="1000" b="0">
                <a:solidFill>
                  <a:srgbClr val="2C3E50"/>
                </a:solidFill>
                <a:latin typeface="Carlito"/>
              </a:rPr>
              <a:t>. Le détecteur de référence surveille la hausse de la dispersion de </a:t>
            </a:r>
            <a:r>
              <a:rPr sz="1000" b="0">
                <a:solidFill>
                  <a:srgbClr val="2C3E50"/>
                </a:solidFill>
                <a:latin typeface="Carlito"/>
              </a:rPr>
              <a:t>.</a:t>
            </a:r>
          </a:p>
        </p:txBody>
      </p:sp>
      <p:sp>
        <p:nvSpPr>
          <p:cNvPr id="11" name="TextBox 10"/>
          <p:cNvSpPr txBox="1"/>
          <p:nvPr/>
        </p:nvSpPr>
        <p:spPr>
          <a:xfrm>
            <a:off x="402336" y="1718563"/>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une transformation </a:t>
            </a:r>
            <a:r>
              <a:rPr sz="1000" b="0">
                <a:solidFill>
                  <a:srgbClr val="2C3E50"/>
                </a:solidFill>
                <a:latin typeface="Carlito"/>
              </a:rPr>
              <a:t>, la covariance devient </a:t>
            </a:r>
            <a:r>
              <a:rPr sz="1000" b="0">
                <a:solidFill>
                  <a:srgbClr val="2C3E50"/>
                </a:solidFill>
                <a:latin typeface="Carlito"/>
              </a:rPr>
              <a:t>. Sa projection sur l'indice devient </a:t>
            </a:r>
            <a:r>
              <a:rPr sz="1000" b="0">
                <a:solidFill>
                  <a:srgbClr val="2C3E50"/>
                </a:solidFill>
                <a:latin typeface="Carlito"/>
              </a:rPr>
              <a:t>. Si elle </a:t>
            </a:r>
            <a:r>
              <a:rPr sz="1000" i="1">
                <a:solidFill>
                  <a:srgbClr val="2C3E50"/>
                </a:solidFill>
                <a:latin typeface="Carlito"/>
              </a:rPr>
              <a:t>diminue</a:t>
            </a:r>
            <a:r>
              <a:rPr sz="1000" b="0">
                <a:solidFill>
                  <a:srgbClr val="2C3E50"/>
                </a:solidFill>
                <a:latin typeface="Carlito"/>
              </a:rPr>
              <a:t>, le CUSUM conçu uniquement pour une augmentation de </a:t>
            </a:r>
            <a:r>
              <a:rPr sz="1000" b="0">
                <a:solidFill>
                  <a:srgbClr val="2C3E50"/>
                </a:solidFill>
                <a:latin typeface="Carlito"/>
              </a:rPr>
              <a:t> peut réagir </a:t>
            </a:r>
            <a:r>
              <a:rPr sz="1000" i="1">
                <a:solidFill>
                  <a:srgbClr val="2C3E50"/>
                </a:solidFill>
                <a:latin typeface="Carlito"/>
              </a:rPr>
              <a:t>moins</a:t>
            </a:r>
            <a:r>
              <a:rPr sz="1000" b="0">
                <a:solidFill>
                  <a:srgbClr val="2C3E50"/>
                </a:solidFill>
                <a:latin typeface="Carlito"/>
              </a:rPr>
              <a:t> que sous le null.</a:t>
            </a:r>
          </a:p>
        </p:txBody>
      </p:sp>
      <p:sp>
        <p:nvSpPr>
          <p:cNvPr id="12" name="TextBox 11"/>
          <p:cNvSpPr txBox="1"/>
          <p:nvPr/>
        </p:nvSpPr>
        <p:spPr>
          <a:xfrm>
            <a:off x="402336" y="2257298"/>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Les facteurs de déformation </a:t>
            </a:r>
            <a:r>
              <a:rPr sz="1000" b="0">
                <a:solidFill>
                  <a:srgbClr val="2C3E50"/>
                </a:solidFill>
                <a:latin typeface="Carlito"/>
              </a:rPr>
              <a:t> sont des </a:t>
            </a:r>
            <a:r>
              <a:rPr sz="1000" i="1">
                <a:solidFill>
                  <a:srgbClr val="2C3E50"/>
                </a:solidFill>
                <a:latin typeface="Carlito"/>
              </a:rPr>
              <a:t>rapports de variance</a:t>
            </a:r>
            <a:r>
              <a:rPr sz="1000" b="0">
                <a:solidFill>
                  <a:srgbClr val="2C3E50"/>
                </a:solidFill>
                <a:latin typeface="Carlito"/>
              </a:rPr>
              <a:t> sur les axes sélectionnés, avec matrice de transformation utilisant </a:t>
            </a:r>
            <a:r>
              <a:rPr sz="1000" b="0">
                <a:solidFill>
                  <a:srgbClr val="2C3E50"/>
                </a:solidFill>
                <a:latin typeface="Carlito"/>
              </a:rPr>
              <a:t> ; ils ne sont pas des angles de rotation. Pour les rotations du corps, les angles </a:t>
            </a:r>
            <a:r>
              <a:rPr sz="1000" i="1">
                <a:solidFill>
                  <a:srgbClr val="2C3E50"/>
                </a:solidFill>
                <a:latin typeface="Carlito"/>
              </a:rPr>
              <a:t>15° / 30° / 45°</a:t>
            </a:r>
            <a:r>
              <a:rPr sz="1000" b="0">
                <a:solidFill>
                  <a:srgbClr val="2C3E50"/>
                </a:solidFill>
                <a:latin typeface="Carlito"/>
              </a:rPr>
              <a:t> et les KL nominales correspondantes sont des paramètres de construction, non des mesures empiriques de dérive.</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R'R = Id</a:t>
            </a:r>
          </a:p>
          <a:p>
            <a:pPr algn="l">
              <a:lnSpc>
                <a:spcPts val="919"/>
              </a:lnSpc>
              <a:spcAft>
                <a:spcPts val="0"/>
              </a:spcAft>
            </a:pPr>
            <a:r>
              <a:rPr sz="800" b="0">
                <a:solidFill>
                  <a:srgbClr val="2D3748"/>
                </a:solidFill>
                <a:latin typeface="Carlito"/>
              </a:rPr>
              <a:t>det(Σ₁) = det(Σ₀)</a:t>
            </a:r>
          </a:p>
          <a:p>
            <a:pPr algn="l">
              <a:lnSpc>
                <a:spcPts val="919"/>
              </a:lnSpc>
              <a:spcAft>
                <a:spcPts val="0"/>
              </a:spcAft>
            </a:pPr>
            <a:r>
              <a:rPr sz="800" b="0">
                <a:solidFill>
                  <a:srgbClr val="2D3748"/>
                </a:solidFill>
                <a:latin typeface="Carlito"/>
              </a:rPr>
              <a:t>rotation marché-axe 2</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Var(m) = a'*Sigma*a ; Var(m_new)=a'*M*Sigma*M'*a</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A9. Décomposition degré zéro et signes</a:t>
            </a:r>
          </a:p>
        </p:txBody>
      </p:sp>
      <p:sp>
        <p:nvSpPr>
          <p:cNvPr id="4" name="Rectangle 3"/>
          <p:cNvSpPr/>
          <p:nvPr/>
        </p:nvSpPr>
        <p:spPr>
          <a:xfrm>
            <a:off x="7543800" y="64008"/>
            <a:ext cx="132588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64008"/>
            <a:ext cx="13258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DÉMONSTRATION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A9 — Parité, invariance d'échelle et nécessité du canal de norme (corps : 14)</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est un vecteur unitaire (</a:t>
            </a:r>
            <a:r>
              <a:rPr sz="1000" b="0">
                <a:solidFill>
                  <a:srgbClr val="2C3E50"/>
                </a:solidFill>
                <a:latin typeface="Carlito"/>
              </a:rPr>
              <a:t>) estimé une fois sur calibration. </a:t>
            </a:r>
            <a:r>
              <a:rPr sz="1000" b="0">
                <a:solidFill>
                  <a:srgbClr val="2C3E50"/>
                </a:solidFill>
                <a:latin typeface="Carlito"/>
              </a:rPr>
              <a:t> est le projecteur orthogonal sur son complément : </a:t>
            </a:r>
            <a:r>
              <a:rPr sz="1000" b="0">
                <a:solidFill>
                  <a:srgbClr val="2C3E50"/>
                </a:solidFill>
                <a:latin typeface="Carlito"/>
              </a:rPr>
              <a:t>. </a:t>
            </a:r>
            <a:r>
              <a:rPr sz="1000" b="0">
                <a:solidFill>
                  <a:srgbClr val="2C3E50"/>
                </a:solidFill>
                <a:latin typeface="Carlito"/>
              </a:rPr>
              <a:t> contient des directions résiduelles orthonormées, fixées en calibration.</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tout scalaire </a:t>
            </a:r>
            <a:r>
              <a:rPr sz="1000" b="0">
                <a:solidFill>
                  <a:srgbClr val="2C3E50"/>
                </a:solidFill>
                <a:latin typeface="Carlito"/>
              </a:rPr>
              <a:t>, </a:t>
            </a:r>
            <a:r>
              <a:rPr sz="1000" b="0">
                <a:solidFill>
                  <a:srgbClr val="2C3E50"/>
                </a:solidFill>
                <a:latin typeface="Carlito"/>
              </a:rPr>
              <a:t>, et </a:t>
            </a:r>
            <a:r>
              <a:rPr sz="1000" b="0">
                <a:solidFill>
                  <a:srgbClr val="2C3E50"/>
                </a:solidFill>
                <a:latin typeface="Carlito"/>
              </a:rPr>
              <a:t>. Cette homogénéité est de degré 0. Pour </a:t>
            </a:r>
            <a:r>
              <a:rPr sz="1000" b="0">
                <a:solidFill>
                  <a:srgbClr val="2C3E50"/>
                </a:solidFill>
                <a:latin typeface="Carlito"/>
              </a:rPr>
              <a:t>, le vecteur normalisé change de signe ; la parité impaire est donc préservée.</a:t>
            </a:r>
          </a:p>
        </p:txBody>
      </p:sp>
      <p:sp>
        <p:nvSpPr>
          <p:cNvPr id="12" name="TextBox 11"/>
          <p:cNvSpPr txBox="1"/>
          <p:nvPr/>
        </p:nvSpPr>
        <p:spPr>
          <a:xfrm>
            <a:off x="402336" y="21112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chaque axe résiduel </a:t>
            </a:r>
            <a:r>
              <a:rPr sz="1000" b="0">
                <a:solidFill>
                  <a:srgbClr val="2C3E50"/>
                </a:solidFill>
                <a:latin typeface="Carlito"/>
              </a:rPr>
              <a:t>, </a:t>
            </a:r>
            <a:r>
              <a:rPr sz="1000" b="0">
                <a:solidFill>
                  <a:srgbClr val="2C3E50"/>
                </a:solidFill>
                <a:latin typeface="Carlito"/>
              </a:rPr>
              <a:t> tant que la norme est positive. Les bits seuls ne changent pas. L'énergie </a:t>
            </a:r>
            <a:r>
              <a:rPr sz="1000" b="0">
                <a:solidFill>
                  <a:srgbClr val="2C3E50"/>
                </a:solidFill>
                <a:latin typeface="Carlito"/>
              </a:rPr>
              <a:t> serait </a:t>
            </a:r>
            <a:r>
              <a:rPr sz="1000" i="1">
                <a:solidFill>
                  <a:srgbClr val="2C3E50"/>
                </a:solidFill>
                <a:latin typeface="Carlito"/>
              </a:rPr>
              <a:t>modifiée</a:t>
            </a:r>
            <a:r>
              <a:rPr sz="1000" b="0">
                <a:solidFill>
                  <a:srgbClr val="2C3E50"/>
                </a:solidFill>
                <a:latin typeface="Carlito"/>
              </a:rPr>
              <a:t> par une division par </a:t>
            </a:r>
            <a:r>
              <a:rPr sz="1000" b="0">
                <a:solidFill>
                  <a:srgbClr val="2C3E50"/>
                </a:solidFill>
                <a:latin typeface="Carlito"/>
              </a:rPr>
              <a:t> ; ne pas la traiter comme le même moniteur que l'énergie ACP sur valeurs blanchies.</a:t>
            </a:r>
          </a:p>
        </p:txBody>
      </p:sp>
      <p:sp>
        <p:nvSpPr>
          <p:cNvPr id="13" name="TextBox 12"/>
          <p:cNvSpPr txBox="1"/>
          <p:nvPr/>
        </p:nvSpPr>
        <p:spPr>
          <a:xfrm>
            <a:off x="402336" y="26499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norme </a:t>
            </a:r>
            <a:r>
              <a:rPr sz="1000" b="0">
                <a:solidFill>
                  <a:srgbClr val="2C3E50"/>
                </a:solidFill>
                <a:latin typeface="Carlito"/>
              </a:rPr>
              <a:t> est retournée séparément. Elle constitue une statistique potentiellement utile pour la dispersion, mais la comparaison exécutée de degré zéro repose sur des mises de </a:t>
            </a:r>
            <a:r>
              <a:rPr sz="1000" i="1">
                <a:solidFill>
                  <a:srgbClr val="2C3E50"/>
                </a:solidFill>
                <a:latin typeface="Carlito"/>
              </a:rPr>
              <a:t>signes</a:t>
            </a:r>
            <a:r>
              <a:rPr sz="1000" b="0">
                <a:solidFill>
                  <a:srgbClr val="2C3E50"/>
                </a:solidFill>
                <a:latin typeface="Carlito"/>
              </a:rPr>
              <a:t>, non sur une énergie ACP reconstruite a posteriori.</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degré zéro</a:t>
            </a:r>
          </a:p>
          <a:p>
            <a:pPr algn="l">
              <a:lnSpc>
                <a:spcPts val="919"/>
              </a:lnSpc>
              <a:spcAft>
                <a:spcPts val="0"/>
              </a:spcAft>
            </a:pPr>
            <a:r>
              <a:rPr sz="800" b="0">
                <a:solidFill>
                  <a:srgbClr val="2D3748"/>
                </a:solidFill>
                <a:latin typeface="Carlito"/>
              </a:rPr>
              <a:t>z_t = U'p_t/||p_t||</a:t>
            </a:r>
          </a:p>
          <a:p>
            <a:pPr algn="l">
              <a:lnSpc>
                <a:spcPts val="919"/>
              </a:lnSpc>
              <a:spcAft>
                <a:spcPts val="0"/>
              </a:spcAft>
            </a:pPr>
            <a:r>
              <a:rPr sz="800" b="0">
                <a:solidFill>
                  <a:srgbClr val="2D3748"/>
                </a:solidFill>
                <a:latin typeface="Carlito"/>
              </a:rPr>
              <a:t>canal signe + amplitude</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P=Id-b*b' ; p=P*r ; z=U'*p/||p|| ; z(a*r)=z(r) (a&gt;0)</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A10. Mélange gaussien : intégration détaillée</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A10 — Intégrer des rapports de vraisemblance directionnels (corps : 15)</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a:t>
            </a:r>
            <a:r>
              <a:rPr sz="1000" b="0">
                <a:solidFill>
                  <a:srgbClr val="2C3E50"/>
                </a:solidFill>
                <a:latin typeface="Carlito"/>
              </a:rPr>
              <a:t>, </a:t>
            </a:r>
            <a:r>
              <a:rPr sz="1000" b="0">
                <a:solidFill>
                  <a:srgbClr val="2C3E50"/>
                </a:solidFill>
                <a:latin typeface="Carlito"/>
              </a:rPr>
              <a:t> indépendants ; sous alternative, </a:t>
            </a:r>
            <a:r>
              <a:rPr sz="1000" b="0">
                <a:solidFill>
                  <a:srgbClr val="2C3E50"/>
                </a:solidFill>
                <a:latin typeface="Carlito"/>
              </a:rPr>
              <a:t>. Pour une moyenne candidate </a:t>
            </a:r>
            <a:r>
              <a:rPr sz="1000" b="0">
                <a:solidFill>
                  <a:srgbClr val="2C3E50"/>
                </a:solidFill>
                <a:latin typeface="Carlito"/>
              </a:rPr>
              <a:t>, la vraisemblance cumulée à n jours est </a:t>
            </a:r>
            <a:r>
              <a:rPr sz="1000" b="0">
                <a:solidFill>
                  <a:srgbClr val="2C3E50"/>
                </a:solidFill>
                <a:latin typeface="Carlito"/>
              </a:rPr>
              <a:t> où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Mélanger u selon la loi normale </a:t>
            </a:r>
            <a:r>
              <a:rPr sz="1000" b="0">
                <a:solidFill>
                  <a:srgbClr val="2C3E50"/>
                </a:solidFill>
                <a:latin typeface="Carlito"/>
              </a:rPr>
              <a:t> (s&gt;0). Multiplier les deux densités et rassembler les exposants </a:t>
            </a:r>
            <a:r>
              <a:rPr sz="1000" b="0">
                <a:solidFill>
                  <a:srgbClr val="2C3E50"/>
                </a:solidFill>
                <a:latin typeface="Carlito"/>
              </a:rPr>
              <a:t>.</a:t>
            </a:r>
          </a:p>
        </p:txBody>
      </p:sp>
      <p:sp>
        <p:nvSpPr>
          <p:cNvPr id="12" name="TextBox 11"/>
          <p:cNvSpPr txBox="1"/>
          <p:nvPr/>
        </p:nvSpPr>
        <p:spPr>
          <a:xfrm>
            <a:off x="402336" y="2111248"/>
            <a:ext cx="5303520" cy="2009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Poser </a:t>
            </a:r>
            <a:r>
              <a:rPr sz="1000" b="0">
                <a:solidFill>
                  <a:srgbClr val="2C3E50"/>
                </a:solidFill>
                <a:latin typeface="Carlito"/>
              </a:rPr>
              <a:t> et compléter le carré : </a:t>
            </a:r>
            <a:r>
              <a:rPr sz="1000" b="0">
                <a:solidFill>
                  <a:srgbClr val="2C3E50"/>
                </a:solidFill>
                <a:latin typeface="Carlito"/>
              </a:rPr>
              <a:t>.</a:t>
            </a:r>
          </a:p>
        </p:txBody>
      </p:sp>
      <p:sp>
        <p:nvSpPr>
          <p:cNvPr id="13" name="TextBox 12"/>
          <p:cNvSpPr txBox="1"/>
          <p:nvPr/>
        </p:nvSpPr>
        <p:spPr>
          <a:xfrm>
            <a:off x="402336" y="23578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L'intégrale du terme centré est </a:t>
            </a:r>
            <a:r>
              <a:rPr sz="1000" b="0">
                <a:solidFill>
                  <a:srgbClr val="2C3E50"/>
                </a:solidFill>
                <a:latin typeface="Carlito"/>
              </a:rPr>
              <a:t> ; avec le normalisateur de la loi candidate, elle donne </a:t>
            </a:r>
            <a:r>
              <a:rPr sz="1000" b="0">
                <a:solidFill>
                  <a:srgbClr val="2C3E50"/>
                </a:solidFill>
                <a:latin typeface="Carlito"/>
              </a:rPr>
              <a:t>. Réintroduire l'exponentielle restante.</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mélange gaussien</a:t>
            </a:r>
          </a:p>
          <a:p>
            <a:pPr algn="l">
              <a:lnSpc>
                <a:spcPts val="919"/>
              </a:lnSpc>
              <a:spcAft>
                <a:spcPts val="0"/>
              </a:spcAft>
            </a:pPr>
            <a:r>
              <a:rPr sz="800" b="0">
                <a:solidFill>
                  <a:srgbClr val="2D3748"/>
                </a:solidFill>
                <a:latin typeface="Carlito"/>
              </a:rPr>
              <a:t>L_n = (1+n s²)^(-d/2)</a:t>
            </a:r>
          </a:p>
          <a:p>
            <a:pPr algn="l">
              <a:lnSpc>
                <a:spcPts val="919"/>
              </a:lnSpc>
              <a:spcAft>
                <a:spcPts val="0"/>
              </a:spcAft>
            </a:pPr>
            <a:r>
              <a:rPr sz="800" b="0">
                <a:solidFill>
                  <a:srgbClr val="2D3748"/>
                </a:solidFill>
                <a:latin typeface="Carlito"/>
              </a:rPr>
              <a:t>× exp[s²||S_n||²/(2(1+n s²))]</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L_n = integrale exp[u'*S_n - n*||u||^2/2] dNormal(u;0,s^2*Id)</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u'*S_n - a*||u||^2/2 = -a*||u-S_n/a||^2/2 + ||S_n||^2/(2*a)</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A10 bis. Formule fermée du mélange</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A10 bis — Où intervient le facteur de dimension ? (corps : 15)</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Continuer la preuve de la slide A10 : le facteur constant de la densité </a:t>
            </a:r>
            <a:r>
              <a:rPr sz="1000" b="0">
                <a:solidFill>
                  <a:srgbClr val="2C3E50"/>
                </a:solidFill>
                <a:latin typeface="Carlito"/>
              </a:rPr>
              <a:t> vaut </a:t>
            </a:r>
            <a:r>
              <a:rPr sz="1000" b="0">
                <a:solidFill>
                  <a:srgbClr val="2C3E50"/>
                </a:solidFill>
                <a:latin typeface="Carlito"/>
              </a:rPr>
              <a:t> ; l'intégrale du carré centré produit </a:t>
            </a:r>
            <a:r>
              <a:rPr sz="1000" b="0">
                <a:solidFill>
                  <a:srgbClr val="2C3E50"/>
                </a:solidFill>
                <a:latin typeface="Carlito"/>
              </a:rPr>
              <a:t>, avec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rapport des normalisateurs vaut </a:t>
            </a:r>
            <a:r>
              <a:rPr sz="1000" b="0">
                <a:solidFill>
                  <a:srgbClr val="2C3E50"/>
                </a:solidFill>
                <a:latin typeface="Carlito"/>
              </a:rPr>
              <a:t> ; le terme indépendant de u vaut </a:t>
            </a:r>
            <a:r>
              <a:rPr sz="1000" b="0">
                <a:solidFill>
                  <a:srgbClr val="2C3E50"/>
                </a:solidFill>
                <a:latin typeface="Carlito"/>
              </a:rPr>
              <a:t>.</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Ainsi la formule fermée contient le </a:t>
            </a:r>
            <a:r>
              <a:rPr sz="1000" i="1">
                <a:solidFill>
                  <a:srgbClr val="2C3E50"/>
                </a:solidFill>
                <a:latin typeface="Carlito"/>
              </a:rPr>
              <a:t>coût de dimension</a:t>
            </a:r>
            <a:r>
              <a:rPr sz="1000" b="0">
                <a:solidFill>
                  <a:srgbClr val="2C3E50"/>
                </a:solidFill>
                <a:latin typeface="Carlito"/>
              </a:rPr>
              <a:t> </a:t>
            </a:r>
            <a:r>
              <a:rPr sz="1000" b="0">
                <a:solidFill>
                  <a:srgbClr val="2C3E50"/>
                </a:solidFill>
                <a:latin typeface="Carlito"/>
              </a:rPr>
              <a:t> et une contribution des données </a:t>
            </a:r>
            <a:r>
              <a:rPr sz="1000" b="0">
                <a:solidFill>
                  <a:srgbClr val="2C3E50"/>
                </a:solidFill>
                <a:latin typeface="Carlito"/>
              </a:rPr>
              <a:t> de dimension d. Elle n'est pas encore un temps moyen de détection.</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x_d racine positive</a:t>
            </a:r>
          </a:p>
          <a:p>
            <a:pPr algn="l">
              <a:lnSpc>
                <a:spcPts val="919"/>
              </a:lnSpc>
              <a:spcAft>
                <a:spcPts val="0"/>
              </a:spcAft>
            </a:pPr>
            <a:r>
              <a:rPr sz="800" b="0">
                <a:solidFill>
                  <a:srgbClr val="2D3748"/>
                </a:solidFill>
                <a:latin typeface="Carlito"/>
              </a:rPr>
              <a:t>ln(504) + (d/2)ln(1+2x_d/d)</a:t>
            </a:r>
          </a:p>
          <a:p>
            <a:pPr algn="l">
              <a:lnSpc>
                <a:spcPts val="919"/>
              </a:lnSpc>
              <a:spcAft>
                <a:spcPts val="0"/>
              </a:spcAft>
            </a:pPr>
            <a:r>
              <a:rPr sz="800" b="0">
                <a:solidFill>
                  <a:srgbClr val="2D3748"/>
                </a:solidFill>
                <a:latin typeface="Carlito"/>
              </a:rPr>
              <a:t>M(d,504) = x_d/ln(504)</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L_n = (1+n*s^2)^(-d/2) * exp[s^2*||S_n||^2/(2*(1+n*s^2))]</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A11. Espérance et budget fluide</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A11 — De la preuve mélangée aux coûts numériques (corps : 15)</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la moyenne après rupture </a:t>
            </a:r>
            <a:r>
              <a:rPr sz="1000" b="0">
                <a:solidFill>
                  <a:srgbClr val="2C3E50"/>
                </a:solidFill>
                <a:latin typeface="Carlito"/>
              </a:rPr>
              <a:t>, </a:t>
            </a:r>
            <a:r>
              <a:rPr sz="1000" b="0">
                <a:solidFill>
                  <a:srgbClr val="2C3E50"/>
                </a:solidFill>
                <a:latin typeface="Carlito"/>
              </a:rPr>
              <a:t> a moyenne </a:t>
            </a:r>
            <a:r>
              <a:rPr sz="1000" b="0">
                <a:solidFill>
                  <a:srgbClr val="2C3E50"/>
                </a:solidFill>
                <a:latin typeface="Carlito"/>
              </a:rPr>
              <a:t> et covariance </a:t>
            </a:r>
            <a:r>
              <a:rPr sz="1000" b="0">
                <a:solidFill>
                  <a:srgbClr val="2C3E50"/>
                </a:solidFill>
                <a:latin typeface="Carlito"/>
              </a:rPr>
              <a:t> ; donc </a:t>
            </a:r>
            <a:r>
              <a:rPr sz="1000" b="0">
                <a:solidFill>
                  <a:srgbClr val="2C3E50"/>
                </a:solidFill>
                <a:latin typeface="Carlito"/>
              </a:rPr>
              <a:t>, où </a:t>
            </a:r>
            <a:r>
              <a:rPr sz="1000" b="0">
                <a:solidFill>
                  <a:srgbClr val="2C3E50"/>
                </a:solidFill>
                <a:latin typeface="Carlito"/>
              </a:rPr>
              <a:t>.</a:t>
            </a:r>
          </a:p>
        </p:txBody>
      </p:sp>
      <p:sp>
        <p:nvSpPr>
          <p:cNvPr id="11" name="TextBox 10"/>
          <p:cNvSpPr txBox="1"/>
          <p:nvPr/>
        </p:nvSpPr>
        <p:spPr>
          <a:xfrm>
            <a:off x="402336" y="1718563"/>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Utiliser pour l'analyse le prior </a:t>
            </a:r>
            <a:r>
              <a:rPr sz="920">
                <a:solidFill>
                  <a:srgbClr val="2C3E50"/>
                </a:solidFill>
                <a:latin typeface="Consolas"/>
              </a:rPr>
              <a:t>apparié</a:t>
            </a:r>
            <a:r>
              <a:rPr sz="1000" b="0">
                <a:solidFill>
                  <a:srgbClr val="2C3E50"/>
                </a:solidFill>
                <a:latin typeface="Carlito"/>
              </a:rPr>
              <a:t> </a:t>
            </a:r>
            <a:r>
              <a:rPr sz="1000" b="0">
                <a:solidFill>
                  <a:srgbClr val="2C3E50"/>
                </a:solidFill>
                <a:latin typeface="Carlito"/>
              </a:rPr>
              <a:t> (sa largeur dépend de l'alternative, donc ce n'est pas une règle pour direction/amplitude inconnues sans adaptation). Substituer dans la formule de log L : le terme exponentiel moyen se réduit </a:t>
            </a:r>
            <a:r>
              <a:rPr sz="1000" i="1">
                <a:solidFill>
                  <a:srgbClr val="2C3E50"/>
                </a:solidFill>
                <a:latin typeface="Carlito"/>
              </a:rPr>
              <a:t>exactement</a:t>
            </a:r>
            <a:r>
              <a:rPr sz="1000" b="0">
                <a:solidFill>
                  <a:srgbClr val="2C3E50"/>
                </a:solidFill>
                <a:latin typeface="Carlito"/>
              </a:rPr>
              <a:t> à </a:t>
            </a:r>
            <a:r>
              <a:rPr sz="1000" b="0">
                <a:solidFill>
                  <a:srgbClr val="2C3E50"/>
                </a:solidFill>
                <a:latin typeface="Carlito"/>
              </a:rPr>
              <a:t> ; le déterminant donne </a:t>
            </a:r>
            <a:r>
              <a:rPr sz="1000" b="0">
                <a:solidFill>
                  <a:srgbClr val="2C3E50"/>
                </a:solidFill>
                <a:latin typeface="Carlito"/>
              </a:rPr>
              <a:t>.</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le budget moyen fluide </a:t>
            </a:r>
            <a:r>
              <a:rPr sz="1000" b="0">
                <a:solidFill>
                  <a:srgbClr val="2C3E50"/>
                </a:solidFill>
                <a:latin typeface="Carlito"/>
              </a:rPr>
              <a:t> comme l'unique solution où l'</a:t>
            </a:r>
            <a:r>
              <a:rPr sz="1000" i="1">
                <a:solidFill>
                  <a:srgbClr val="2C3E50"/>
                </a:solidFill>
                <a:latin typeface="Carlito"/>
              </a:rPr>
              <a:t>espérance</a:t>
            </a:r>
            <a:r>
              <a:rPr sz="1000" b="0">
                <a:solidFill>
                  <a:srgbClr val="2C3E50"/>
                </a:solidFill>
                <a:latin typeface="Carlito"/>
              </a:rPr>
              <a:t> atteint </a:t>
            </a:r>
            <a:r>
              <a:rPr sz="1000" b="0">
                <a:solidFill>
                  <a:srgbClr val="2C3E50"/>
                </a:solidFill>
                <a:latin typeface="Carlito"/>
              </a:rPr>
              <a:t>, pas comme l'espérance exacte du premier franchissement.</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E[ln L_n] = x - (d/2)ln(1+2x/d)</a:t>
            </a:r>
          </a:p>
          <a:p>
            <a:pPr algn="l">
              <a:lnSpc>
                <a:spcPts val="919"/>
              </a:lnSpc>
              <a:spcAft>
                <a:spcPts val="0"/>
              </a:spcAft>
            </a:pPr>
            <a:r>
              <a:rPr sz="800" b="0">
                <a:solidFill>
                  <a:srgbClr val="2D3748"/>
                </a:solidFill>
                <a:latin typeface="Carlito"/>
              </a:rPr>
              <a:t>budget fluide</a:t>
            </a:r>
          </a:p>
          <a:p>
            <a:pPr algn="l">
              <a:lnSpc>
                <a:spcPts val="919"/>
              </a:lnSpc>
              <a:spcAft>
                <a:spcPts val="0"/>
              </a:spcAft>
            </a:pPr>
            <a:r>
              <a:rPr sz="800" b="0">
                <a:solidFill>
                  <a:srgbClr val="2D3748"/>
                </a:solidFill>
                <a:latin typeface="Carlito"/>
              </a:rPr>
              <a:t>temps avant alarme</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E1[||S_n||^2] = 2*n^2*I + n*d ; x=n*I</a:t>
            </a:r>
          </a:p>
        </p:txBody>
      </p:sp>
      <p:sp>
        <p:nvSpPr>
          <p:cNvPr id="18" name="TextBox 17"/>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E1[log(L_n)] = x-(d/2)*log(1+2*x/d) ; x_d = A+(d/2)*log(1+2*x_d/d)</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A11 bis. Valeurs de V calculées</a:t>
            </a:r>
          </a:p>
        </p:txBody>
      </p:sp>
      <p:sp>
        <p:nvSpPr>
          <p:cNvPr id="4" name="Rectangle 3"/>
          <p:cNvSpPr/>
          <p:nvPr/>
        </p:nvSpPr>
        <p:spPr>
          <a:xfrm>
            <a:off x="8055863" y="64008"/>
            <a:ext cx="813816"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55863" y="64008"/>
            <a:ext cx="813816"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A11 bis — Construire explicitement l'information et l'objectif (corps : 15)</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Sur le modèle d'illustration </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 et </a:t>
            </a:r>
            <a:r>
              <a:rPr sz="1000" b="0">
                <a:solidFill>
                  <a:srgbClr val="2C3E50"/>
                </a:solidFill>
                <a:latin typeface="Carlito"/>
              </a:rPr>
              <a:t> (somme harmonique).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À </a:t>
            </a:r>
            <a:r>
              <a:rPr sz="1000" b="0">
                <a:solidFill>
                  <a:srgbClr val="2C3E50"/>
                </a:solidFill>
                <a:latin typeface="Carlito"/>
              </a:rPr>
              <a:t>, </a:t>
            </a:r>
            <a:r>
              <a:rPr sz="1000" b="0">
                <a:solidFill>
                  <a:srgbClr val="2C3E50"/>
                </a:solidFill>
                <a:latin typeface="Carlito"/>
              </a:rPr>
              <a:t>. Résoudre pour chaque d </a:t>
            </a:r>
            <a:r>
              <a:rPr sz="1000" b="0">
                <a:solidFill>
                  <a:srgbClr val="2C3E50"/>
                </a:solidFill>
                <a:latin typeface="Carlito"/>
              </a:rPr>
              <a:t> (équation monotone) ; puis </a:t>
            </a:r>
            <a:r>
              <a:rPr sz="1000" b="0">
                <a:solidFill>
                  <a:srgbClr val="2C3E50"/>
                </a:solidFill>
                <a:latin typeface="Carlito"/>
              </a:rPr>
              <a:t> et </a:t>
            </a:r>
            <a:r>
              <a:rPr sz="1000" b="0">
                <a:solidFill>
                  <a:srgbClr val="2C3E50"/>
                </a:solidFill>
                <a:latin typeface="Carlito"/>
              </a:rPr>
              <a:t>.</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Exemple pour </a:t>
            </a:r>
            <a:r>
              <a:rPr sz="1000" b="0">
                <a:solidFill>
                  <a:srgbClr val="2C3E50"/>
                </a:solidFill>
                <a:latin typeface="Carlito"/>
              </a:rPr>
              <a:t> : </a:t>
            </a:r>
            <a:r>
              <a:rPr sz="1000" b="0">
                <a:solidFill>
                  <a:srgbClr val="2C3E50"/>
                </a:solidFill>
                <a:latin typeface="Carlito"/>
              </a:rPr>
              <a:t> ; </a:t>
            </a:r>
            <a:r>
              <a:rPr sz="1000" b="0">
                <a:solidFill>
                  <a:srgbClr val="2C3E50"/>
                </a:solidFill>
                <a:latin typeface="Carlito"/>
              </a:rPr>
              <a:t> ; </a:t>
            </a:r>
            <a:r>
              <a:rPr sz="1000" b="0">
                <a:solidFill>
                  <a:srgbClr val="2C3E50"/>
                </a:solidFill>
                <a:latin typeface="Carlito"/>
              </a:rPr>
              <a:t> ; </a:t>
            </a:r>
            <a:r>
              <a:rPr sz="1000" b="0">
                <a:solidFill>
                  <a:srgbClr val="2C3E50"/>
                </a:solidFill>
                <a:latin typeface="Carlito"/>
              </a:rPr>
              <a:t>. Pour </a:t>
            </a:r>
            <a:r>
              <a:rPr sz="1000" b="0">
                <a:solidFill>
                  <a:srgbClr val="2C3E50"/>
                </a:solidFill>
                <a:latin typeface="Carlito"/>
              </a:rPr>
              <a:t> : </a:t>
            </a:r>
            <a:r>
              <a:rPr sz="1000" b="0">
                <a:solidFill>
                  <a:srgbClr val="2C3E50"/>
                </a:solidFill>
                <a:latin typeface="Carlito"/>
              </a:rPr>
              <a:t>, </a:t>
            </a:r>
            <a:r>
              <a:rPr sz="1000" b="0">
                <a:solidFill>
                  <a:srgbClr val="2C3E50"/>
                </a:solidFill>
                <a:latin typeface="Carlito"/>
              </a:rPr>
              <a:t>, </a:t>
            </a:r>
            <a:r>
              <a:rPr sz="1000" b="0">
                <a:solidFill>
                  <a:srgbClr val="2C3E50"/>
                </a:solidFill>
                <a:latin typeface="Carlito"/>
              </a:rPr>
              <a:t>.</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table du corps pour </a:t>
            </a:r>
            <a:r>
              <a:rPr sz="1000" b="0">
                <a:solidFill>
                  <a:srgbClr val="2C3E50"/>
                </a:solidFill>
                <a:latin typeface="Carlito"/>
              </a:rPr>
              <a:t> est un </a:t>
            </a:r>
            <a:r>
              <a:rPr sz="1000" i="1">
                <a:solidFill>
                  <a:srgbClr val="2C3E50"/>
                </a:solidFill>
                <a:latin typeface="Carlito"/>
              </a:rPr>
              <a:t>scénario analytique construit</a:t>
            </a:r>
            <a:r>
              <a:rPr sz="1000" b="0">
                <a:solidFill>
                  <a:srgbClr val="2C3E50"/>
                </a:solidFill>
                <a:latin typeface="Carlito"/>
              </a:rPr>
              <a:t>. Elle ne permet pas de conclure à la dimension optimale d'une représentation financière ou du JEPA.</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V(d) = r(d)/M(d,504)</a:t>
            </a:r>
          </a:p>
          <a:p>
            <a:pPr algn="l">
              <a:lnSpc>
                <a:spcPts val="919"/>
              </a:lnSpc>
              <a:spcAft>
                <a:spcPts val="0"/>
              </a:spcAft>
            </a:pPr>
            <a:r>
              <a:rPr sz="800" b="0">
                <a:solidFill>
                  <a:srgbClr val="2D3748"/>
                </a:solidFill>
                <a:latin typeface="Carlito"/>
              </a:rPr>
              <a:t>r(d) = I(d)/I(500)</a:t>
            </a:r>
          </a:p>
          <a:p>
            <a:pPr algn="l">
              <a:lnSpc>
                <a:spcPts val="919"/>
              </a:lnSpc>
              <a:spcAft>
                <a:spcPts val="0"/>
              </a:spcAft>
            </a:pPr>
            <a:r>
              <a:rPr sz="800" b="0">
                <a:solidFill>
                  <a:srgbClr val="2D3748"/>
                </a:solidFill>
                <a:latin typeface="Carlito"/>
              </a:rPr>
              <a:t>tableau 5 valeurs</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I(d) = somme(k=1..d,1/k) ; r(d)=I(d)/I(500) ; V(d)=r(d)/M(d,504)</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A12. Critère marginal d'optimalité</a:t>
            </a:r>
          </a:p>
        </p:txBody>
      </p:sp>
      <p:sp>
        <p:nvSpPr>
          <p:cNvPr id="4" name="Rectangle 3"/>
          <p:cNvSpPr/>
          <p:nvPr/>
        </p:nvSpPr>
        <p:spPr>
          <a:xfrm>
            <a:off x="8083296" y="64008"/>
            <a:ext cx="786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83296" y="64008"/>
            <a:ext cx="786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A12 — Différence de scores entre d et d+1 (corps : 16)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une liste </a:t>
            </a:r>
            <a:r>
              <a:rPr sz="1000" i="1">
                <a:solidFill>
                  <a:srgbClr val="2C3E50"/>
                </a:solidFill>
                <a:latin typeface="Carlito"/>
              </a:rPr>
              <a:t>emboîtée</a:t>
            </a:r>
            <a:r>
              <a:rPr sz="1000" b="0">
                <a:solidFill>
                  <a:srgbClr val="2C3E50"/>
                </a:solidFill>
                <a:latin typeface="Carlito"/>
              </a:rPr>
              <a:t> de directions, poser </a:t>
            </a:r>
            <a:r>
              <a:rPr sz="1000" b="0">
                <a:solidFill>
                  <a:srgbClr val="2C3E50"/>
                </a:solidFill>
                <a:latin typeface="Carlito"/>
              </a:rPr>
              <a:t>, avec </a:t>
            </a:r>
            <a:r>
              <a:rPr sz="1000" b="0">
                <a:solidFill>
                  <a:srgbClr val="2C3E50"/>
                </a:solidFill>
                <a:latin typeface="Carlito"/>
              </a:rPr>
              <a:t>, et un coût </a:t>
            </a:r>
            <a:r>
              <a:rPr sz="1000" b="0">
                <a:solidFill>
                  <a:srgbClr val="2C3E50"/>
                </a:solidFill>
                <a:latin typeface="Carlito"/>
              </a:rPr>
              <a:t>. Alors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Comparer </a:t>
            </a:r>
            <a:r>
              <a:rPr sz="1000" b="0">
                <a:solidFill>
                  <a:srgbClr val="2C3E50"/>
                </a:solidFill>
                <a:latin typeface="Carlito"/>
              </a:rPr>
              <a:t> à </a:t>
            </a:r>
            <a:r>
              <a:rPr sz="1000" b="0">
                <a:solidFill>
                  <a:srgbClr val="2C3E50"/>
                </a:solidFill>
                <a:latin typeface="Carlito"/>
              </a:rPr>
              <a:t>. Réduire au même dénominateur </a:t>
            </a:r>
            <a:r>
              <a:rPr sz="1000" b="0">
                <a:solidFill>
                  <a:srgbClr val="2C3E50"/>
                </a:solidFill>
                <a:latin typeface="Carlito"/>
              </a:rPr>
              <a:t> ; le dénominateur étant positif, seul le numérateur détermine le signe.</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condition finale est </a:t>
            </a:r>
            <a:r>
              <a:rPr sz="1000" b="0">
                <a:solidFill>
                  <a:srgbClr val="2C3E50"/>
                </a:solidFill>
                <a:latin typeface="Carlito"/>
              </a:rPr>
              <a:t>. Elle est exacte pour l'</a:t>
            </a:r>
            <a:r>
              <a:rPr sz="1000" i="1">
                <a:solidFill>
                  <a:srgbClr val="2C3E50"/>
                </a:solidFill>
                <a:latin typeface="Carlito"/>
              </a:rPr>
              <a:t>objectif V donné</a:t>
            </a:r>
            <a:r>
              <a:rPr sz="1000" b="0">
                <a:solidFill>
                  <a:srgbClr val="2C3E50"/>
                </a:solidFill>
                <a:latin typeface="Carlito"/>
              </a:rPr>
              <a:t>, pas une affirmation sur l'ADD de n'importe quel détecteur.</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V(d+1)-V(d)</a:t>
            </a:r>
          </a:p>
          <a:p>
            <a:pPr algn="l">
              <a:lnSpc>
                <a:spcPts val="919"/>
              </a:lnSpc>
              <a:spcAft>
                <a:spcPts val="0"/>
              </a:spcAft>
            </a:pPr>
            <a:r>
              <a:rPr sz="800" b="0">
                <a:solidFill>
                  <a:srgbClr val="2D3748"/>
                </a:solidFill>
                <a:latin typeface="Carlito"/>
              </a:rPr>
              <a:t>= [q_(d+1)C(d) - I(d)(C(d+1)-C(d))]</a:t>
            </a:r>
          </a:p>
          <a:p>
            <a:pPr algn="l">
              <a:lnSpc>
                <a:spcPts val="919"/>
              </a:lnSpc>
              <a:spcAft>
                <a:spcPts val="0"/>
              </a:spcAft>
            </a:pPr>
            <a:r>
              <a:rPr sz="800" b="0">
                <a:solidFill>
                  <a:srgbClr val="2D3748"/>
                </a:solidFill>
                <a:latin typeface="Carlito"/>
              </a:rPr>
              <a:t>/[C(d)C(d+1)]</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V(d+1)-V(d) = [q_(d+1)*C(d) - I(d)*(C(d+1)-C(d))]/[C(d)*C(d+1)]</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A12 bis. Unicité conditionnelle avec coût affine</a:t>
            </a:r>
          </a:p>
        </p:txBody>
      </p:sp>
      <p:sp>
        <p:nvSpPr>
          <p:cNvPr id="4" name="Rectangle 3"/>
          <p:cNvSpPr/>
          <p:nvPr/>
        </p:nvSpPr>
        <p:spPr>
          <a:xfrm>
            <a:off x="8083296" y="64008"/>
            <a:ext cx="786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83296" y="64008"/>
            <a:ext cx="786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A12 bis — Pourquoi décroissance de q_k et taxe affine suffisent (corps : 16)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Supposer </a:t>
            </a:r>
            <a:r>
              <a:rPr sz="1000" b="0">
                <a:solidFill>
                  <a:srgbClr val="2C3E50"/>
                </a:solidFill>
                <a:latin typeface="Carlito"/>
              </a:rPr>
              <a:t>, </a:t>
            </a:r>
            <a:r>
              <a:rPr sz="1000" b="0">
                <a:solidFill>
                  <a:srgbClr val="2C3E50"/>
                </a:solidFill>
                <a:latin typeface="Carlito"/>
              </a:rPr>
              <a:t> et informations marginales </a:t>
            </a:r>
            <a:r>
              <a:rPr sz="1000" b="0">
                <a:solidFill>
                  <a:srgbClr val="2C3E50"/>
                </a:solidFill>
                <a:latin typeface="Carlito"/>
              </a:rPr>
              <a:t>. Définir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a même signe que </a:t>
            </a:r>
            <a:r>
              <a:rPr sz="1000" b="0">
                <a:solidFill>
                  <a:srgbClr val="2C3E50"/>
                </a:solidFill>
                <a:latin typeface="Carlito"/>
              </a:rPr>
              <a:t>. Développer la différence suivante avec </a:t>
            </a:r>
            <a:r>
              <a:rPr sz="1000" b="0">
                <a:solidFill>
                  <a:srgbClr val="2C3E50"/>
                </a:solidFill>
                <a:latin typeface="Carlito"/>
              </a:rPr>
              <a:t> et </a:t>
            </a:r>
            <a:r>
              <a:rPr sz="1000" b="0">
                <a:solidFill>
                  <a:srgbClr val="2C3E50"/>
                </a:solidFill>
                <a:latin typeface="Carlito"/>
              </a:rPr>
              <a:t>.</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Les termes en </a:t>
            </a:r>
            <a:r>
              <a:rPr sz="1000" b="0">
                <a:solidFill>
                  <a:srgbClr val="2C3E50"/>
                </a:solidFill>
                <a:latin typeface="Carlito"/>
              </a:rPr>
              <a:t> s'annulent. Il reste </a:t>
            </a:r>
            <a:r>
              <a:rPr sz="1000" b="0">
                <a:solidFill>
                  <a:srgbClr val="2C3E50"/>
                </a:solidFill>
                <a:latin typeface="Carlito"/>
              </a:rPr>
              <a:t> : les incréments passent une seule fois de positifs à négatifs.</a:t>
            </a:r>
          </a:p>
        </p:txBody>
      </p:sp>
      <p:sp>
        <p:nvSpPr>
          <p:cNvPr id="13" name="TextBox 12"/>
          <p:cNvSpPr txBox="1"/>
          <p:nvPr/>
        </p:nvSpPr>
        <p:spPr>
          <a:xfrm>
            <a:off x="402336" y="250393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l'un des H_d est exactement zéro, deux dimensions voisines ont le même score. Les bornes numériques de l'optimum exigent des conditions supplémentaires sur H_d ; </a:t>
            </a:r>
            <a:r>
              <a:rPr sz="1000" i="1">
                <a:solidFill>
                  <a:srgbClr val="2C3E50"/>
                </a:solidFill>
                <a:latin typeface="Carlito"/>
              </a:rPr>
              <a:t>aucune conclusion générale d∈[2,8]</a:t>
            </a:r>
            <a:r>
              <a:rPr sz="1000" b="0">
                <a:solidFill>
                  <a:srgbClr val="2C3E50"/>
                </a:solidFill>
                <a:latin typeface="Carlito"/>
              </a:rPr>
              <a:t> ne suit des seules valeurs propres financières.</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coût affine C(d)=a+cd</a:t>
            </a:r>
          </a:p>
          <a:p>
            <a:pPr algn="l">
              <a:lnSpc>
                <a:spcPts val="919"/>
              </a:lnSpc>
              <a:spcAft>
                <a:spcPts val="0"/>
              </a:spcAft>
            </a:pPr>
            <a:r>
              <a:rPr sz="800" b="0">
                <a:solidFill>
                  <a:srgbClr val="2D3748"/>
                </a:solidFill>
                <a:latin typeface="Carlito"/>
              </a:rPr>
              <a:t>signe change une fois</a:t>
            </a:r>
          </a:p>
          <a:p>
            <a:pPr algn="l">
              <a:lnSpc>
                <a:spcPts val="919"/>
              </a:lnSpc>
              <a:spcAft>
                <a:spcPts val="0"/>
              </a:spcAft>
            </a:pPr>
            <a:r>
              <a:rPr sz="800" b="0">
                <a:solidFill>
                  <a:srgbClr val="2D3748"/>
                </a:solidFill>
                <a:latin typeface="Carlito"/>
              </a:rPr>
              <a:t>optimum au croisement</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H_d=q_(d+1)*(a+c*d)-c*I(d) ; H_(d+1)-H_d=[q_(d+2)-q_(d+1)]*[a+c*(d+1)] &lt; 0</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A13. Dictionnaire et alignement</a:t>
            </a:r>
          </a:p>
        </p:txBody>
      </p:sp>
      <p:sp>
        <p:nvSpPr>
          <p:cNvPr id="4" name="Rectangle 3"/>
          <p:cNvSpPr/>
          <p:nvPr/>
        </p:nvSpPr>
        <p:spPr>
          <a:xfrm>
            <a:off x="8074152" y="64008"/>
            <a:ext cx="795528"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4152" y="64008"/>
            <a:ext cx="79552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A13 — Combiner K directions fixées coûte log K (corps : 16)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Soient </a:t>
            </a:r>
            <a:r>
              <a:rPr sz="1000" b="0">
                <a:solidFill>
                  <a:srgbClr val="2C3E50"/>
                </a:solidFill>
                <a:latin typeface="Carlito"/>
              </a:rPr>
              <a:t> directions unitaires </a:t>
            </a:r>
            <a:r>
              <a:rPr sz="1000" b="0">
                <a:solidFill>
                  <a:srgbClr val="2C3E50"/>
                </a:solidFill>
                <a:latin typeface="Carlito"/>
              </a:rPr>
              <a:t> fixées avant test. Chacune définit un rapport de vraisemblance </a:t>
            </a:r>
            <a:r>
              <a:rPr sz="1000" b="0">
                <a:solidFill>
                  <a:srgbClr val="2C3E50"/>
                </a:solidFill>
                <a:latin typeface="Carlito"/>
              </a:rPr>
              <a:t>; la moyenne </a:t>
            </a:r>
            <a:r>
              <a:rPr sz="1000" b="0">
                <a:solidFill>
                  <a:srgbClr val="2C3E50"/>
                </a:solidFill>
                <a:latin typeface="Carlito"/>
              </a:rPr>
              <a:t> reste valide sous le null. Puisque </a:t>
            </a:r>
            <a:r>
              <a:rPr sz="1000" b="0">
                <a:solidFill>
                  <a:srgbClr val="2C3E50"/>
                </a:solidFill>
                <a:latin typeface="Carlito"/>
              </a:rPr>
              <a:t>, le franchissement </a:t>
            </a:r>
            <a:r>
              <a:rPr sz="1000" b="0">
                <a:solidFill>
                  <a:srgbClr val="2C3E50"/>
                </a:solidFill>
                <a:latin typeface="Carlito"/>
              </a:rPr>
              <a:t> suffit à </a:t>
            </a:r>
            <a:r>
              <a:rPr sz="1000" b="0">
                <a:solidFill>
                  <a:srgbClr val="2C3E50"/>
                </a:solidFill>
                <a:latin typeface="Carlito"/>
              </a:rPr>
              <a:t>.</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un décalage gaussien complet </a:t>
            </a:r>
            <a:r>
              <a:rPr sz="1000" b="0">
                <a:solidFill>
                  <a:srgbClr val="2C3E50"/>
                </a:solidFill>
                <a:latin typeface="Carlito"/>
              </a:rPr>
              <a:t>, information </a:t>
            </a:r>
            <a:r>
              <a:rPr sz="1000" b="0">
                <a:solidFill>
                  <a:srgbClr val="2C3E50"/>
                </a:solidFill>
                <a:latin typeface="Carlito"/>
              </a:rPr>
              <a:t>. Sur un candidat </a:t>
            </a:r>
            <a:r>
              <a:rPr sz="1000" b="0">
                <a:solidFill>
                  <a:srgbClr val="2C3E50"/>
                </a:solidFill>
                <a:latin typeface="Carlito"/>
              </a:rPr>
              <a:t>, l'information scalaire disponible vaut </a:t>
            </a:r>
            <a:r>
              <a:rPr sz="1000" b="0">
                <a:solidFill>
                  <a:srgbClr val="2C3E50"/>
                </a:solidFill>
                <a:latin typeface="Carlito"/>
              </a:rPr>
              <a:t>, où </a:t>
            </a:r>
            <a:r>
              <a:rPr sz="1000" b="0">
                <a:solidFill>
                  <a:srgbClr val="2C3E50"/>
                </a:solidFill>
                <a:latin typeface="Carlito"/>
              </a:rPr>
              <a:t> est celui entre u et theta.</a:t>
            </a:r>
          </a:p>
        </p:txBody>
      </p:sp>
      <p:sp>
        <p:nvSpPr>
          <p:cNvPr id="12" name="TextBox 11"/>
          <p:cNvSpPr txBox="1"/>
          <p:nvPr/>
        </p:nvSpPr>
        <p:spPr>
          <a:xfrm>
            <a:off x="402336" y="2403348"/>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le candidat le mieux aligné connaît aussi sa bonne amplitude, son budget logarithmique suffisant est </a:t>
            </a:r>
            <a:r>
              <a:rPr sz="1000" b="0">
                <a:solidFill>
                  <a:srgbClr val="2C3E50"/>
                </a:solidFill>
                <a:latin typeface="Carlito"/>
              </a:rPr>
              <a:t>. Une approximation de délai est donc </a:t>
            </a:r>
            <a:r>
              <a:rPr sz="1000" b="0">
                <a:solidFill>
                  <a:srgbClr val="2C3E50"/>
                </a:solidFill>
                <a:latin typeface="Carlito"/>
              </a:rPr>
              <a:t> ; ce n'est pas l'égalité exacte de l'ADD, ni une correction garantissant la performance sur rendements non gaussiens.</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dictionnaire</a:t>
            </a:r>
          </a:p>
          <a:p>
            <a:pPr algn="l">
              <a:lnSpc>
                <a:spcPts val="919"/>
              </a:lnSpc>
              <a:spcAft>
                <a:spcPts val="0"/>
              </a:spcAft>
            </a:pPr>
            <a:r>
              <a:rPr sz="800" b="0">
                <a:solidFill>
                  <a:srgbClr val="2D3748"/>
                </a:solidFill>
                <a:latin typeface="Carlito"/>
              </a:rPr>
              <a:t>alignement a_max</a:t>
            </a:r>
          </a:p>
          <a:p>
            <a:pPr algn="l">
              <a:lnSpc>
                <a:spcPts val="919"/>
              </a:lnSpc>
              <a:spcAft>
                <a:spcPts val="0"/>
              </a:spcAft>
            </a:pPr>
            <a:r>
              <a:rPr sz="800" b="0">
                <a:solidFill>
                  <a:srgbClr val="2D3748"/>
                </a:solidFill>
                <a:latin typeface="Carlito"/>
              </a:rPr>
              <a:t>I_projection = I cos²(θ)</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 = somme(j=1..K,L_j)/K &gt;= L_j/K ; I_u = I*cos(angle)^2</a:t>
            </a:r>
          </a:p>
        </p:txBody>
      </p:sp>
      <p:sp>
        <p:nvSpPr>
          <p:cNvPr id="18" name="TextBox 17"/>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temps_budget ≈ [log(gamma)+log(K)] / [I*cos(angle)^2]</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A14. Absorption : calcul discret</a:t>
            </a:r>
          </a:p>
        </p:txBody>
      </p:sp>
      <p:sp>
        <p:nvSpPr>
          <p:cNvPr id="4" name="Rectangle 3"/>
          <p:cNvSpPr/>
          <p:nvPr/>
        </p:nvSpPr>
        <p:spPr>
          <a:xfrm>
            <a:off x="8083296" y="64008"/>
            <a:ext cx="786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83296" y="64008"/>
            <a:ext cx="786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A14 — Budget fini d'information sous atténuation exponentielle (corps : 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Modèle supposé : changement de moyenne initial </a:t>
            </a:r>
            <a:r>
              <a:rPr sz="1000" b="0">
                <a:solidFill>
                  <a:srgbClr val="2C3E50"/>
                </a:solidFill>
                <a:latin typeface="Carlito"/>
              </a:rPr>
              <a:t> dans un espace gaussien de covariance identité ; un mécanisme adaptatif réduit la moyenne au jour t à </a:t>
            </a:r>
            <a:r>
              <a:rPr sz="1000" b="0">
                <a:solidFill>
                  <a:srgbClr val="2C3E50"/>
                </a:solidFill>
                <a:latin typeface="Carlito"/>
              </a:rPr>
              <a:t>. Alors </a:t>
            </a:r>
            <a:r>
              <a:rPr sz="1000" b="0">
                <a:solidFill>
                  <a:srgbClr val="2C3E50"/>
                </a:solidFill>
                <a:latin typeface="Carlito"/>
              </a:rPr>
              <a:t>.</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Somme sur les jours </a:t>
            </a:r>
            <a:r>
              <a:rPr sz="1000" b="0">
                <a:solidFill>
                  <a:srgbClr val="2C3E50"/>
                </a:solidFill>
                <a:latin typeface="Carlito"/>
              </a:rPr>
              <a:t> : série géométrique de raison </a:t>
            </a:r>
            <a:r>
              <a:rPr sz="1000" b="0">
                <a:solidFill>
                  <a:srgbClr val="2C3E50"/>
                </a:solidFill>
                <a:latin typeface="Carlito"/>
              </a:rPr>
              <a:t>. Son résultat est </a:t>
            </a:r>
            <a:r>
              <a:rPr sz="1000" b="0">
                <a:solidFill>
                  <a:srgbClr val="2C3E50"/>
                </a:solidFill>
                <a:latin typeface="Carlito"/>
              </a:rPr>
              <a:t>.</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Un budget total inférieur au logarithme du seuil de preuve ne peut conduire à une </a:t>
            </a:r>
            <a:r>
              <a:rPr sz="1000" i="1">
                <a:solidFill>
                  <a:srgbClr val="2C3E50"/>
                </a:solidFill>
                <a:latin typeface="Carlito"/>
              </a:rPr>
              <a:t>détection certaine</a:t>
            </a:r>
            <a:r>
              <a:rPr sz="1000" b="0">
                <a:solidFill>
                  <a:srgbClr val="2C3E50"/>
                </a:solidFill>
                <a:latin typeface="Carlito"/>
              </a:rPr>
              <a:t> par un test valide, mais des trajectoires peuvent franchir le seuil malgré un budget moyen insuffisant.</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I_t = I_0 exp[-2(t-1)/τ_a]</a:t>
            </a:r>
          </a:p>
          <a:p>
            <a:pPr algn="l">
              <a:lnSpc>
                <a:spcPts val="919"/>
              </a:lnSpc>
              <a:spcAft>
                <a:spcPts val="0"/>
              </a:spcAft>
            </a:pPr>
            <a:r>
              <a:rPr sz="800" b="0">
                <a:solidFill>
                  <a:srgbClr val="2D3748"/>
                </a:solidFill>
                <a:latin typeface="Carlito"/>
              </a:rPr>
              <a:t>B_total = I_0/(1-e^(-2/τ_a))</a:t>
            </a:r>
          </a:p>
          <a:p>
            <a:pPr algn="l">
              <a:lnSpc>
                <a:spcPts val="919"/>
              </a:lnSpc>
              <a:spcAft>
                <a:spcPts val="0"/>
              </a:spcAft>
            </a:pPr>
            <a:r>
              <a:rPr sz="800" b="0">
                <a:solidFill>
                  <a:srgbClr val="2D3748"/>
                </a:solidFill>
                <a:latin typeface="Carlito"/>
              </a:rPr>
              <a:t>B &lt; ln(gamma) → non-détection</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I_t=I_0*exp[-2*(t-1)/tau_a] ; B_total=somme(t&gt;=1,I_t)=I_0/[1-exp(-2/tau_a)]</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A14 bis. DPI et non-détection certaine</a:t>
            </a:r>
          </a:p>
        </p:txBody>
      </p:sp>
      <p:sp>
        <p:nvSpPr>
          <p:cNvPr id="4" name="Rectangle 3"/>
          <p:cNvSpPr/>
          <p:nvPr/>
        </p:nvSpPr>
        <p:spPr>
          <a:xfrm>
            <a:off x="8083296" y="64008"/>
            <a:ext cx="786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83296" y="64008"/>
            <a:ext cx="786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A14 bis — Preuve par l'événement d'alarme (corps : 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Soit </a:t>
            </a:r>
            <a:r>
              <a:rPr sz="1000" b="0">
                <a:solidFill>
                  <a:srgbClr val="2C3E50"/>
                </a:solidFill>
                <a:latin typeface="Carlito"/>
              </a:rPr>
              <a:t> l'événement « le test donne un jour une alarme ». Supposer </a:t>
            </a:r>
            <a:r>
              <a:rPr sz="1000" b="0">
                <a:solidFill>
                  <a:srgbClr val="2C3E50"/>
                </a:solidFill>
                <a:latin typeface="Carlito"/>
              </a:rPr>
              <a:t> (test de preuve anytime-valid au seuil gamma). Supposer que la KL des trajectoires infinies après/avant est bornée par </a:t>
            </a:r>
            <a:r>
              <a:rPr sz="1000" b="0">
                <a:solidFill>
                  <a:srgbClr val="2C3E50"/>
                </a:solidFill>
                <a:latin typeface="Carlito"/>
              </a:rPr>
              <a:t> (modèle de translation gaussienne conditionnellement indépendante).</a:t>
            </a:r>
          </a:p>
        </p:txBody>
      </p:sp>
      <p:sp>
        <p:nvSpPr>
          <p:cNvPr id="11" name="TextBox 10"/>
          <p:cNvSpPr txBox="1"/>
          <p:nvPr/>
        </p:nvSpPr>
        <p:spPr>
          <a:xfrm>
            <a:off x="402336" y="201066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Par traitement des données, appliquer la fonction binaire </a:t>
            </a:r>
            <a:r>
              <a:rPr sz="1000" b="0">
                <a:solidFill>
                  <a:srgbClr val="2C3E50"/>
                </a:solidFill>
                <a:latin typeface="Carlito"/>
              </a:rPr>
              <a:t> aux trajectoires : </a:t>
            </a:r>
            <a:r>
              <a:rPr sz="1000" b="0">
                <a:solidFill>
                  <a:srgbClr val="2C3E50"/>
                </a:solidFill>
                <a:latin typeface="Carlito"/>
              </a:rPr>
              <a:t> avec </a:t>
            </a:r>
            <a:r>
              <a:rPr sz="1000" b="0">
                <a:solidFill>
                  <a:srgbClr val="2C3E50"/>
                </a:solidFill>
                <a:latin typeface="Carlito"/>
              </a:rPr>
              <a:t>.</a:t>
            </a:r>
          </a:p>
        </p:txBody>
      </p:sp>
      <p:sp>
        <p:nvSpPr>
          <p:cNvPr id="12" name="TextBox 11"/>
          <p:cNvSpPr txBox="1"/>
          <p:nvPr/>
        </p:nvSpPr>
        <p:spPr>
          <a:xfrm>
            <a:off x="402336" y="24033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a:t>
            </a:r>
            <a:r>
              <a:rPr sz="1000" b="0">
                <a:solidFill>
                  <a:srgbClr val="2C3E50"/>
                </a:solidFill>
                <a:latin typeface="Carlito"/>
              </a:rPr>
              <a:t>, la KL binaire vaut </a:t>
            </a:r>
            <a:r>
              <a:rPr sz="1000" b="0">
                <a:solidFill>
                  <a:srgbClr val="2C3E50"/>
                </a:solidFill>
                <a:latin typeface="Carlito"/>
              </a:rPr>
              <a:t>. Si </a:t>
            </a:r>
            <a:r>
              <a:rPr sz="1000" b="0">
                <a:solidFill>
                  <a:srgbClr val="2C3E50"/>
                </a:solidFill>
                <a:latin typeface="Carlito"/>
              </a:rPr>
              <a:t>, contradiction. Donc </a:t>
            </a:r>
            <a:r>
              <a:rPr sz="1000" b="0">
                <a:solidFill>
                  <a:srgbClr val="2C3E50"/>
                </a:solidFill>
                <a:latin typeface="Carlito"/>
              </a:rPr>
              <a:t>. Cette conclusion ne dit rien d'une absence complète d'alarmes.</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DPI : pas d'augmentation KL</a:t>
            </a:r>
          </a:p>
          <a:p>
            <a:pPr algn="l">
              <a:lnSpc>
                <a:spcPts val="919"/>
              </a:lnSpc>
              <a:spcAft>
                <a:spcPts val="0"/>
              </a:spcAft>
            </a:pPr>
            <a:r>
              <a:rPr sz="800" b="0">
                <a:solidFill>
                  <a:srgbClr val="2D3748"/>
                </a:solidFill>
                <a:latin typeface="Carlito"/>
              </a:rPr>
              <a:t>absorption = perte d'information</a:t>
            </a:r>
          </a:p>
          <a:p>
            <a:pPr algn="l">
              <a:lnSpc>
                <a:spcPts val="919"/>
              </a:lnSpc>
              <a:spcAft>
                <a:spcPts val="0"/>
              </a:spcAft>
            </a:pPr>
            <a:r>
              <a:rPr sz="800" b="0">
                <a:solidFill>
                  <a:srgbClr val="2D3748"/>
                </a:solidFill>
                <a:latin typeface="Carlito"/>
              </a:rPr>
              <a:t>modèle discret</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B_total &gt;= KL(P1||P0) &gt;= kl(P1(A_event)||P0(A_event)) ; P1(A_event)=1 implique B_total&gt;=log(gamma)</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A14 ter. Modèle continu de temps fluide</a:t>
            </a:r>
          </a:p>
        </p:txBody>
      </p:sp>
      <p:sp>
        <p:nvSpPr>
          <p:cNvPr id="4" name="Rectangle 3"/>
          <p:cNvSpPr/>
          <p:nvPr/>
        </p:nvSpPr>
        <p:spPr>
          <a:xfrm>
            <a:off x="8083296" y="64008"/>
            <a:ext cx="786384"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83296" y="64008"/>
            <a:ext cx="78638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A14 ter — Seuil et temps sous absorption continue (corps : 6)</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Remplacer la suite par </a:t>
            </a:r>
            <a:r>
              <a:rPr sz="1000" b="0">
                <a:solidFill>
                  <a:srgbClr val="2C3E50"/>
                </a:solidFill>
                <a:latin typeface="Carlito"/>
              </a:rPr>
              <a:t> et intégrer jusqu'à t :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a:t>
            </a:r>
            <a:r>
              <a:rPr sz="1000" b="0">
                <a:solidFill>
                  <a:srgbClr val="2C3E50"/>
                </a:solidFill>
                <a:latin typeface="Carlito"/>
              </a:rPr>
              <a:t> et résoudre </a:t>
            </a:r>
            <a:r>
              <a:rPr sz="1000" b="0">
                <a:solidFill>
                  <a:srgbClr val="2C3E50"/>
                </a:solidFill>
                <a:latin typeface="Carlito"/>
              </a:rPr>
              <a:t>. On trouve </a:t>
            </a:r>
            <a:r>
              <a:rPr sz="1000" b="0">
                <a:solidFill>
                  <a:srgbClr val="2C3E50"/>
                </a:solidFill>
                <a:latin typeface="Carlito"/>
              </a:rPr>
              <a:t>. Une solution finie existe si et seulement si </a:t>
            </a:r>
            <a:r>
              <a:rPr sz="1000" b="0">
                <a:solidFill>
                  <a:srgbClr val="2C3E50"/>
                </a:solidFill>
                <a:latin typeface="Carlito"/>
              </a:rPr>
              <a:t>.</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Prendre le logarithme et isoler t : </a:t>
            </a:r>
            <a:r>
              <a:rPr sz="1000" b="0">
                <a:solidFill>
                  <a:srgbClr val="2C3E50"/>
                </a:solidFill>
                <a:latin typeface="Carlito"/>
              </a:rPr>
              <a:t>. À égalité, le seuil moyen n'est approché qu'à l'infini ; en dessous, le cumul moyen ne l'atteint jamais.</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Ce </a:t>
            </a:r>
            <a:r>
              <a:rPr sz="1000" b="0">
                <a:solidFill>
                  <a:srgbClr val="2C3E50"/>
                </a:solidFill>
                <a:latin typeface="Carlito"/>
              </a:rPr>
              <a:t> est le temps d'atteinte </a:t>
            </a:r>
            <a:r>
              <a:rPr sz="1000" i="1">
                <a:solidFill>
                  <a:srgbClr val="2C3E50"/>
                </a:solidFill>
                <a:latin typeface="Carlito"/>
              </a:rPr>
              <a:t>d'une courbe moyenne continue</a:t>
            </a:r>
            <a:r>
              <a:rPr sz="1000" b="0">
                <a:solidFill>
                  <a:srgbClr val="2C3E50"/>
                </a:solidFill>
                <a:latin typeface="Carlito"/>
              </a:rPr>
              <a:t>, pas l'espérance du temps d'alarme de trajectoires aléatoires.</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temps fluide</a:t>
            </a:r>
          </a:p>
          <a:p>
            <a:pPr algn="l">
              <a:lnSpc>
                <a:spcPts val="919"/>
              </a:lnSpc>
              <a:spcAft>
                <a:spcPts val="0"/>
              </a:spcAft>
            </a:pPr>
            <a:r>
              <a:rPr sz="800" b="0">
                <a:solidFill>
                  <a:srgbClr val="2D3748"/>
                </a:solidFill>
                <a:latin typeface="Carlito"/>
              </a:rPr>
              <a:t>B(t) = I_0 τ_a [1-e^(-2t/τ_a)]/2</a:t>
            </a:r>
          </a:p>
          <a:p>
            <a:pPr algn="l">
              <a:lnSpc>
                <a:spcPts val="919"/>
              </a:lnSpc>
              <a:spcAft>
                <a:spcPts val="0"/>
              </a:spcAft>
            </a:pPr>
            <a:r>
              <a:rPr sz="800" b="0">
                <a:solidFill>
                  <a:srgbClr val="2D3748"/>
                </a:solidFill>
                <a:latin typeface="Carlito"/>
              </a:rPr>
              <a:t>t = -(τ_a/2) ln(1-2B/(I_0 τ_a))</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B(t) = I_0*tau_a*[1-exp(-2*t/tau_a)]/2 ; t = -(tau_a/2)*log(1-2*tau_0/tau_a)</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A15. Fuite de cible et masquage JEPA</a:t>
            </a:r>
          </a:p>
        </p:txBody>
      </p:sp>
      <p:sp>
        <p:nvSpPr>
          <p:cNvPr id="4" name="Rectangle 3"/>
          <p:cNvSpPr/>
          <p:nvPr/>
        </p:nvSpPr>
        <p:spPr>
          <a:xfrm>
            <a:off x="7991855" y="64008"/>
            <a:ext cx="877824"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91855" y="64008"/>
            <a:ext cx="877824"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Annexe A15 — Le masque doit précéder toute estimation factorielle du contexte (corps : 17–18)</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Supposer </a:t>
            </a:r>
            <a:r>
              <a:rPr sz="1000" b="0">
                <a:solidFill>
                  <a:srgbClr val="2C3E50"/>
                </a:solidFill>
                <a:latin typeface="Carlito"/>
              </a:rPr>
              <a:t> actifs et un facteur commun instantané simplifié </a:t>
            </a:r>
            <a:r>
              <a:rPr sz="1000" b="0">
                <a:solidFill>
                  <a:srgbClr val="2C3E50"/>
                </a:solidFill>
                <a:latin typeface="Carlito"/>
              </a:rPr>
              <a:t>. Le résidu visible </a:t>
            </a:r>
            <a:r>
              <a:rPr sz="1000" b="0">
                <a:solidFill>
                  <a:srgbClr val="2C3E50"/>
                </a:solidFill>
                <a:latin typeface="Carlito"/>
              </a:rPr>
              <a:t> dépend de chaque rendement masqué </a:t>
            </a:r>
            <a:r>
              <a:rPr sz="1000" b="0">
                <a:solidFill>
                  <a:srgbClr val="2C3E50"/>
                </a:solidFill>
                <a:latin typeface="Carlito"/>
              </a:rPr>
              <a:t>, puisque </a:t>
            </a:r>
            <a:r>
              <a:rPr sz="1000" b="0">
                <a:solidFill>
                  <a:srgbClr val="2C3E50"/>
                </a:solidFill>
                <a:latin typeface="Carlito"/>
              </a:rPr>
              <a:t> pour i≠j.</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l'on calcule tous les résidus avant masquage, le contexte a déjà vu une fonction des cibles. Le masquage n'établit donc pas un test honnête de prédictibilité transversale.</a:t>
            </a:r>
          </a:p>
        </p:txBody>
      </p:sp>
      <p:sp>
        <p:nvSpPr>
          <p:cNvPr id="12" name="TextBox 11"/>
          <p:cNvSpPr txBox="1"/>
          <p:nvPr/>
        </p:nvSpPr>
        <p:spPr>
          <a:xfrm>
            <a:off x="402336" y="21112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Première solution : ne pas retirer de facteur prétexte avant masquage. Deuxième solution : choisir d'abord le masque visible </a:t>
            </a:r>
            <a:r>
              <a:rPr sz="1000" b="0">
                <a:solidFill>
                  <a:srgbClr val="2C3E50"/>
                </a:solidFill>
                <a:latin typeface="Carlito"/>
              </a:rPr>
              <a:t>, estimer </a:t>
            </a:r>
            <a:r>
              <a:rPr sz="1000" b="0">
                <a:solidFill>
                  <a:srgbClr val="2C3E50"/>
                </a:solidFill>
                <a:latin typeface="Carlito"/>
              </a:rPr>
              <a:t>, préparer les résidus visibles avec </a:t>
            </a:r>
            <a:r>
              <a:rPr sz="1000" b="0">
                <a:solidFill>
                  <a:srgbClr val="2C3E50"/>
                </a:solidFill>
                <a:latin typeface="Carlito"/>
              </a:rPr>
              <a:t> ; la cible est calculée par une branche séparée sans fuite vers le contexte.</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Cas multifactoriel : utiliser uniquement la sous-matrice de chargements </a:t>
            </a:r>
            <a:r>
              <a:rPr sz="1000" b="0">
                <a:solidFill>
                  <a:srgbClr val="2C3E50"/>
                </a:solidFill>
                <a:latin typeface="Carlito"/>
              </a:rPr>
              <a:t> et une pondération </a:t>
            </a:r>
            <a:r>
              <a:rPr sz="1000" b="0">
                <a:solidFill>
                  <a:srgbClr val="2C3E50"/>
                </a:solidFill>
                <a:latin typeface="Carlito"/>
              </a:rPr>
              <a:t> sur les visibles. Exiger l'inversibilité de </a:t>
            </a:r>
            <a:r>
              <a:rPr sz="1000" b="0">
                <a:solidFill>
                  <a:srgbClr val="2C3E50"/>
                </a:solidFill>
                <a:latin typeface="Carlito"/>
              </a:rPr>
              <a:t> ou une règle de régularisation préfixée.</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masquer → prédire</a:t>
            </a:r>
          </a:p>
          <a:p>
            <a:pPr algn="l">
              <a:lnSpc>
                <a:spcPts val="919"/>
              </a:lnSpc>
              <a:spcAft>
                <a:spcPts val="0"/>
              </a:spcAft>
            </a:pPr>
            <a:r>
              <a:rPr sz="800" b="0">
                <a:solidFill>
                  <a:srgbClr val="2D3748"/>
                </a:solidFill>
                <a:latin typeface="Carlito"/>
              </a:rPr>
              <a:t>rendement masqué hors contexte</a:t>
            </a:r>
          </a:p>
          <a:p>
            <a:pPr algn="l">
              <a:lnSpc>
                <a:spcPts val="919"/>
              </a:lnSpc>
              <a:spcAft>
                <a:spcPts val="0"/>
              </a:spcAft>
            </a:pPr>
            <a:r>
              <a:rPr sz="800" b="0">
                <a:solidFill>
                  <a:srgbClr val="2D3748"/>
                </a:solidFill>
                <a:latin typeface="Carlito"/>
              </a:rPr>
              <a:t>perte = erreur quadratique</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dp_i/dr_j = -1/N (i != j) ; m_V = somme(i dans V,r_i)/taille(V)</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A15 bis. Perte JEPA, variance des sorties</a:t>
            </a:r>
          </a:p>
        </p:txBody>
      </p:sp>
      <p:sp>
        <p:nvSpPr>
          <p:cNvPr id="4" name="Rectangle 3"/>
          <p:cNvSpPr/>
          <p:nvPr/>
        </p:nvSpPr>
        <p:spPr>
          <a:xfrm>
            <a:off x="8092440" y="64008"/>
            <a:ext cx="77724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92440" y="64008"/>
            <a:ext cx="7772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A15 bis — Loss de prédiction et anti-effondrement (corps : 17–19)</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un masque </a:t>
            </a:r>
            <a:r>
              <a:rPr sz="1000" b="0">
                <a:solidFill>
                  <a:srgbClr val="2C3E50"/>
                </a:solidFill>
                <a:latin typeface="Carlito"/>
              </a:rPr>
              <a:t> d'actifs cachés au jour t, le prédicteur fournit </a:t>
            </a:r>
            <a:r>
              <a:rPr sz="1000" b="0">
                <a:solidFill>
                  <a:srgbClr val="2C3E50"/>
                </a:solidFill>
                <a:latin typeface="Carlito"/>
              </a:rPr>
              <a:t> à partir des visibles ; l'encodeur cible EMA fournit </a:t>
            </a:r>
            <a:r>
              <a:rPr sz="1000" b="0">
                <a:solidFill>
                  <a:srgbClr val="2C3E50"/>
                </a:solidFill>
                <a:latin typeface="Carlito"/>
              </a:rPr>
              <a:t> (gradient arrêté). La perte JEPA est la moyenne des erreurs quadratiques sur </a:t>
            </a:r>
            <a:r>
              <a:rPr sz="1000" b="0">
                <a:solidFill>
                  <a:srgbClr val="2C3E50"/>
                </a:solidFill>
                <a:latin typeface="Carlito"/>
              </a:rPr>
              <a:t>.</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Sur un lot de B jours, soit </a:t>
            </a:r>
            <a:r>
              <a:rPr sz="1000" b="0">
                <a:solidFill>
                  <a:srgbClr val="2C3E50"/>
                </a:solidFill>
                <a:latin typeface="Carlito"/>
              </a:rPr>
              <a:t> la matrice </a:t>
            </a:r>
            <a:r>
              <a:rPr sz="1000" b="0">
                <a:solidFill>
                  <a:srgbClr val="2C3E50"/>
                </a:solidFill>
                <a:latin typeface="Carlito"/>
              </a:rPr>
              <a:t> de représentations </a:t>
            </a:r>
            <a:r>
              <a:rPr sz="1000" i="1">
                <a:solidFill>
                  <a:srgbClr val="2C3E50"/>
                </a:solidFill>
                <a:latin typeface="Carlito"/>
              </a:rPr>
              <a:t>quotidiennes compactes</a:t>
            </a:r>
            <a:r>
              <a:rPr sz="1000" b="0">
                <a:solidFill>
                  <a:srgbClr val="2C3E50"/>
                </a:solidFill>
                <a:latin typeface="Carlito"/>
              </a:rPr>
              <a:t>. Une pénalité de variance par coordonnée est </a:t>
            </a:r>
            <a:r>
              <a:rPr sz="1000" b="0">
                <a:solidFill>
                  <a:srgbClr val="2C3E50"/>
                </a:solidFill>
                <a:latin typeface="Carlito"/>
              </a:rPr>
              <a:t>. Si la sortie d'une dimension devient constante, sa contribution est positive.</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Une pénalité de covariance supplémentaire </a:t>
            </a:r>
            <a:r>
              <a:rPr sz="1000" b="0">
                <a:solidFill>
                  <a:srgbClr val="2C3E50"/>
                </a:solidFill>
                <a:latin typeface="Carlito"/>
              </a:rPr>
              <a:t> serait une ablation explicite. L'entraînement principal prévu initialement retient l'erreur prédictive et une pénalité variance ; la variante avec décorrélation n'est pas encore exécutée.</a:t>
            </a:r>
          </a:p>
        </p:txBody>
      </p:sp>
      <p:sp>
        <p:nvSpPr>
          <p:cNvPr id="13" name="TextBox 12"/>
          <p:cNvSpPr txBox="1"/>
          <p:nvPr/>
        </p:nvSpPr>
        <p:spPr>
          <a:xfrm>
            <a:off x="402336" y="29420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Ni une petite loss, ni une variance positive, ni des dimensions décorrélées ne garantissent la conservation de la KL d'un </a:t>
            </a:r>
            <a:r>
              <a:rPr sz="1000" i="1">
                <a:solidFill>
                  <a:srgbClr val="2C3E50"/>
                </a:solidFill>
                <a:latin typeface="Carlito"/>
              </a:rPr>
              <a:t>changement non vu</a:t>
            </a:r>
            <a:r>
              <a:rPr sz="1000" b="0">
                <a:solidFill>
                  <a:srgbClr val="2C3E50"/>
                </a:solidFill>
                <a:latin typeface="Carlito"/>
              </a:rPr>
              <a:t>.</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L_var = (1/d)Σ max(0,1-sd(Z_j))²</a:t>
            </a:r>
          </a:p>
          <a:p>
            <a:pPr algn="l">
              <a:lnSpc>
                <a:spcPts val="919"/>
              </a:lnSpc>
              <a:spcAft>
                <a:spcPts val="0"/>
              </a:spcAft>
            </a:pPr>
            <a:r>
              <a:rPr sz="800" b="0">
                <a:solidFill>
                  <a:srgbClr val="2D3748"/>
                </a:solidFill>
                <a:latin typeface="Carlito"/>
              </a:rPr>
              <a:t>pénalité variance sorties</a:t>
            </a:r>
          </a:p>
          <a:p>
            <a:pPr algn="l">
              <a:lnSpc>
                <a:spcPts val="919"/>
              </a:lnSpc>
              <a:spcAft>
                <a:spcPts val="0"/>
              </a:spcAft>
            </a:pPr>
            <a:r>
              <a:rPr sz="800" b="0">
                <a:solidFill>
                  <a:srgbClr val="2D3748"/>
                </a:solidFill>
                <a:latin typeface="Carlito"/>
              </a:rPr>
              <a:t>quotidiennes B×d</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L_JEPA = moyenne(i dans M, ||h_hat_i-h_target_i||^2) ; L = L_JEPA + lambda_v*L_var</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L_var=(1/d)*somme(j=1..d,max(0,1-sd_batch(Z_j))^2)</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A16. Combinaison des moniteurs et contrôle de fausse alarme</a:t>
            </a:r>
          </a:p>
        </p:txBody>
      </p:sp>
      <p:sp>
        <p:nvSpPr>
          <p:cNvPr id="4" name="Rectangle 3"/>
          <p:cNvSpPr/>
          <p:nvPr/>
        </p:nvSpPr>
        <p:spPr>
          <a:xfrm>
            <a:off x="8092440" y="64008"/>
            <a:ext cx="77724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92440" y="64008"/>
            <a:ext cx="7772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12"/>
              </a:lnSpc>
              <a:spcAft>
                <a:spcPts val="0"/>
              </a:spcAft>
            </a:pPr>
            <a:r>
              <a:rPr sz="1750" b="0" i="0">
                <a:solidFill>
                  <a:srgbClr val="2C3E50"/>
                </a:solidFill>
                <a:latin typeface="Carlito"/>
              </a:rPr>
              <a:t/>
            </a:r>
            <a:r>
              <a:rPr sz="1750" b="1">
                <a:solidFill>
                  <a:srgbClr val="2C3E50"/>
                </a:solidFill>
                <a:latin typeface="Carlito"/>
              </a:rPr>
              <a:t>Annexe A16 — Mélanger les preuves de signes ≠ fusionner signes et énergie (corps : 7 et 9)</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chaque direction scalaire k de signes, un e-détecteur non négatif </a:t>
            </a:r>
            <a:r>
              <a:rPr sz="1000" b="0">
                <a:solidFill>
                  <a:srgbClr val="2C3E50"/>
                </a:solidFill>
                <a:latin typeface="Carlito"/>
              </a:rPr>
              <a:t> combine des mises bilatérales et des redémarrages potentiels selon des règles fixées. La </a:t>
            </a:r>
            <a:r>
              <a:rPr sz="1000" i="1">
                <a:solidFill>
                  <a:srgbClr val="2C3E50"/>
                </a:solidFill>
                <a:latin typeface="Carlito"/>
              </a:rPr>
              <a:t>moyenne des e-détecteurs directionnels</a:t>
            </a:r>
            <a:r>
              <a:rPr sz="1000" b="0">
                <a:solidFill>
                  <a:srgbClr val="2C3E50"/>
                </a:solidFill>
                <a:latin typeface="Carlito"/>
              </a:rPr>
              <a:t> </a:t>
            </a:r>
            <a:r>
              <a:rPr sz="1000" b="0">
                <a:solidFill>
                  <a:srgbClr val="2C3E50"/>
                </a:solidFill>
                <a:latin typeface="Carlito"/>
              </a:rPr>
              <a:t> conserve la propriété définissant l'e-détecteur sous son null, </a:t>
            </a:r>
            <a:r>
              <a:rPr sz="1000" i="1">
                <a:solidFill>
                  <a:srgbClr val="2C3E50"/>
                </a:solidFill>
                <a:latin typeface="Carlito"/>
              </a:rPr>
              <a:t>sans exiger l'indépendance entre directions</a:t>
            </a:r>
            <a:r>
              <a:rPr sz="1000" b="0">
                <a:solidFill>
                  <a:srgbClr val="2C3E50"/>
                </a:solidFill>
                <a:latin typeface="Carlito"/>
              </a:rPr>
              <a:t>.</a:t>
            </a:r>
          </a:p>
        </p:txBody>
      </p:sp>
      <p:sp>
        <p:nvSpPr>
          <p:cNvPr id="11" name="TextBox 10"/>
          <p:cNvSpPr txBox="1"/>
          <p:nvPr/>
        </p:nvSpPr>
        <p:spPr>
          <a:xfrm>
            <a:off x="402336" y="2010664"/>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procédure </a:t>
            </a:r>
            <a:r>
              <a:rPr sz="1000" b="0">
                <a:solidFill>
                  <a:srgbClr val="2C3E50"/>
                </a:solidFill>
                <a:latin typeface="Carlito"/>
                <a:hlinkClick r:id="rId2"/>
              </a:rPr>
              <a:t>Shin, Ramdas et Rinaldo (2024)</a:t>
            </a:r>
            <a:r>
              <a:rPr sz="1000" b="0">
                <a:solidFill>
                  <a:srgbClr val="2C3E50"/>
                </a:solidFill>
                <a:latin typeface="Carlito"/>
              </a:rPr>
              <a:t> fournit précisément des e-détecteurs de type CUSUM ou Shiryaev–Roberts construits à partir de e-processus redémarrés, avec </a:t>
            </a:r>
            <a:r>
              <a:rPr sz="1000" i="1">
                <a:solidFill>
                  <a:srgbClr val="2C3E50"/>
                </a:solidFill>
                <a:latin typeface="Carlito"/>
              </a:rPr>
              <a:t>contrôle non asymptotique de l'ARL</a:t>
            </a:r>
            <a:r>
              <a:rPr sz="1000" b="0">
                <a:solidFill>
                  <a:srgbClr val="2C3E50"/>
                </a:solidFill>
                <a:latin typeface="Carlito"/>
              </a:rPr>
              <a:t> et des bornes de délai dans certains modèles non paramétriques. Elle ne démontre pas qu'un maximum non corrigé de toutes les alarmes signe et énergie conserve ce contrôle.</a:t>
            </a:r>
          </a:p>
        </p:txBody>
      </p:sp>
      <p:sp>
        <p:nvSpPr>
          <p:cNvPr id="12" name="TextBox 11"/>
          <p:cNvSpPr txBox="1"/>
          <p:nvPr/>
        </p:nvSpPr>
        <p:spPr>
          <a:xfrm>
            <a:off x="402336" y="26954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une garantie </a:t>
            </a:r>
            <a:r>
              <a:rPr sz="1000" b="0">
                <a:solidFill>
                  <a:srgbClr val="2C3E50"/>
                </a:solidFill>
                <a:latin typeface="Carlito"/>
              </a:rPr>
              <a:t> pour un e-détecteur, on dispose aussi de la borne opérationnelle </a:t>
            </a:r>
            <a:r>
              <a:rPr sz="1000" b="0">
                <a:solidFill>
                  <a:srgbClr val="2C3E50"/>
                </a:solidFill>
                <a:latin typeface="Carlito"/>
              </a:rPr>
              <a:t>. Elle est généralement conservatrice. Pour une cible </a:t>
            </a:r>
            <a:r>
              <a:rPr sz="1000" b="0">
                <a:solidFill>
                  <a:srgbClr val="2C3E50"/>
                </a:solidFill>
                <a:latin typeface="Carlito"/>
              </a:rPr>
              <a:t>, </a:t>
            </a:r>
            <a:r>
              <a:rPr sz="1000" b="0">
                <a:solidFill>
                  <a:srgbClr val="2C3E50"/>
                </a:solidFill>
                <a:latin typeface="Carlito"/>
              </a:rPr>
              <a:t> donne une borne ≤alpha, non une mesure exacte du FPR.</a:t>
            </a:r>
          </a:p>
        </p:txBody>
      </p:sp>
      <p:sp>
        <p:nvSpPr>
          <p:cNvPr id="13" name="TextBox 12"/>
          <p:cNvSpPr txBox="1"/>
          <p:nvPr/>
        </p:nvSpPr>
        <p:spPr>
          <a:xfrm>
            <a:off x="402336" y="32341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capteur d'énergie possède son propre CUSUM et son seuil empirique. Aucun détecteur unique « signe OU énergie » n'est mesuré et calibré en tant que tel dans les résultats actuels.</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moyenne de e-détecteurs</a:t>
            </a:r>
          </a:p>
          <a:p>
            <a:pPr algn="l">
              <a:lnSpc>
                <a:spcPts val="919"/>
              </a:lnSpc>
              <a:spcAft>
                <a:spcPts val="0"/>
              </a:spcAft>
            </a:pPr>
            <a:r>
              <a:rPr sz="800" b="0">
                <a:solidFill>
                  <a:srgbClr val="2D3748"/>
                </a:solidFill>
                <a:latin typeface="Carlito"/>
              </a:rPr>
              <a:t>L = Σ L_j / K ≥ L_j/K</a:t>
            </a:r>
          </a:p>
          <a:p>
            <a:pPr algn="l">
              <a:lnSpc>
                <a:spcPts val="919"/>
              </a:lnSpc>
              <a:spcAft>
                <a:spcPts val="0"/>
              </a:spcAft>
            </a:pPr>
            <a:r>
              <a:rPr sz="800" b="0">
                <a:solidFill>
                  <a:srgbClr val="2D3748"/>
                </a:solidFill>
                <a:latin typeface="Carlito"/>
              </a:rPr>
              <a:t>jamais de produit</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M_t = somme(k=1..K, M_k,t)/K ; P0(T&lt;=H) &lt;= H/gamma</a:t>
            </a:r>
          </a:p>
        </p:txBody>
      </p:sp>
      <p:sp>
        <p:nvSpPr>
          <p:cNvPr id="19" name="TextBox 1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A16 bis. Effets de censure, FPR, RMST</a:t>
            </a:r>
          </a:p>
        </p:txBody>
      </p:sp>
      <p:sp>
        <p:nvSpPr>
          <p:cNvPr id="4" name="Rectangle 3"/>
          <p:cNvSpPr/>
          <p:nvPr/>
        </p:nvSpPr>
        <p:spPr>
          <a:xfrm>
            <a:off x="8028431" y="64008"/>
            <a:ext cx="841248"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28431" y="64008"/>
            <a:ext cx="841248"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A16 bis — Ce que chaque chiffre de détection signifie (corps : 9, 13 et 19)</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 est la durée moyenne avant fausse alarme sous le null. </a:t>
            </a:r>
            <a:r>
              <a:rPr sz="1000" b="0">
                <a:solidFill>
                  <a:srgbClr val="2C3E50"/>
                </a:solidFill>
                <a:latin typeface="Carlito"/>
              </a:rPr>
              <a:t> est la probabilité d'au moins une fausse alarme avant H ; à ARL fixé, elle dépend de toute la distribution de T. Les lectures fondées sur une preuve garantie et les seuils par bootstrap ne fixent pas exactement la même quantité.</a:t>
            </a:r>
          </a:p>
        </p:txBody>
      </p:sp>
      <p:sp>
        <p:nvSpPr>
          <p:cNvPr id="11" name="TextBox 10"/>
          <p:cNvSpPr txBox="1"/>
          <p:nvPr/>
        </p:nvSpPr>
        <p:spPr>
          <a:xfrm>
            <a:off x="402336" y="201066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une injection à date connue, le délai </a:t>
            </a:r>
            <a:r>
              <a:rPr sz="1000" b="0">
                <a:solidFill>
                  <a:srgbClr val="2C3E50"/>
                </a:solidFill>
                <a:latin typeface="Carlito"/>
              </a:rPr>
              <a:t> part du premier jour perturbé. Un essai non détecté avant H est </a:t>
            </a:r>
            <a:r>
              <a:rPr sz="1000" i="1">
                <a:solidFill>
                  <a:srgbClr val="2C3E50"/>
                </a:solidFill>
                <a:latin typeface="Carlito"/>
              </a:rPr>
              <a:t>censuré</a:t>
            </a:r>
            <a:r>
              <a:rPr sz="1000" b="0">
                <a:solidFill>
                  <a:srgbClr val="2C3E50"/>
                </a:solidFill>
                <a:latin typeface="Carlito"/>
              </a:rPr>
              <a:t> ; on rapporte </a:t>
            </a:r>
            <a:r>
              <a:rPr sz="1000" b="0">
                <a:solidFill>
                  <a:srgbClr val="2C3E50"/>
                </a:solidFill>
                <a:latin typeface="Carlito"/>
              </a:rPr>
              <a:t>, le taux de détection </a:t>
            </a:r>
            <a:r>
              <a:rPr sz="1000" b="0">
                <a:solidFill>
                  <a:srgbClr val="2C3E50"/>
                </a:solidFill>
                <a:latin typeface="Carlito"/>
              </a:rPr>
              <a:t> et la fraction censurée.</a:t>
            </a:r>
          </a:p>
        </p:txBody>
      </p:sp>
      <p:sp>
        <p:nvSpPr>
          <p:cNvPr id="12" name="TextBox 11"/>
          <p:cNvSpPr txBox="1"/>
          <p:nvPr/>
        </p:nvSpPr>
        <p:spPr>
          <a:xfrm>
            <a:off x="402336" y="2549398"/>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deux méthodes évaluées sur les mêmes trajectoires, le rapport de délais restreints </a:t>
            </a:r>
            <a:r>
              <a:rPr sz="1000" b="0">
                <a:solidFill>
                  <a:srgbClr val="2C3E50"/>
                </a:solidFill>
                <a:latin typeface="Carlito"/>
              </a:rPr>
              <a:t> est calculé par répétition appariée et assorti d'un intervalle tenant compte des comparaisons. On ne doit pas traduire G_H directement en ratio de délais moyens non censurés lorsque les taux censurés sont élevés.</a:t>
            </a:r>
          </a:p>
        </p:txBody>
      </p:sp>
      <p:sp>
        <p:nvSpPr>
          <p:cNvPr id="13" name="Rectangle 12"/>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5" name="TextBox 14"/>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2D3748"/>
                </a:solidFill>
                <a:latin typeface="Carlito"/>
              </a:rPr>
              <a:t>RMST(H) = E[min(T,H)]</a:t>
            </a:r>
          </a:p>
          <a:p>
            <a:pPr algn="l">
              <a:lnSpc>
                <a:spcPts val="919"/>
              </a:lnSpc>
              <a:spcAft>
                <a:spcPts val="0"/>
              </a:spcAft>
            </a:pPr>
            <a:r>
              <a:rPr sz="800" b="0">
                <a:solidFill>
                  <a:srgbClr val="2D3748"/>
                </a:solidFill>
                <a:latin typeface="Carlito"/>
              </a:rPr>
              <a:t>FPR(H) = P(T ≤ H)</a:t>
            </a:r>
          </a:p>
          <a:p>
            <a:pPr algn="l">
              <a:lnSpc>
                <a:spcPts val="919"/>
              </a:lnSpc>
              <a:spcAft>
                <a:spcPts val="0"/>
              </a:spcAft>
            </a:pPr>
            <a:r>
              <a:rPr sz="800" b="0">
                <a:solidFill>
                  <a:srgbClr val="2D3748"/>
                </a:solidFill>
                <a:latin typeface="Carlito"/>
              </a:rPr>
              <a:t>censure à H jours</a:t>
            </a:r>
          </a:p>
        </p:txBody>
      </p:sp>
      <p:sp>
        <p:nvSpPr>
          <p:cNvPr id="16" name="Rectangle 1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ARL0=E0[T] ; FPR(H)=P0(T&lt;=H) ; RMST_H=E1[min(T,H)]</a:t>
            </a:r>
          </a:p>
        </p:txBody>
      </p:sp>
      <p:sp>
        <p:nvSpPr>
          <p:cNvPr id="18" name="TextBox 1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 Hebdo JEPA-Drift 2026-10-26 v4_CGPT</dc:title>
  <dc:subject/>
  <dc:creator>JEPA-Drift</dc:creator>
  <cp:keywords/>
  <dc:description>generated using python-pptx</dc:description>
  <cp:lastModifiedBy>Steve Canny</cp:lastModifiedBy>
  <cp:revision>1</cp:revision>
  <dcterms:created xsi:type="dcterms:W3CDTF">2026-10-26T00:00:00Z</dcterms:created>
  <dcterms:modified xsi:type="dcterms:W3CDTF">2026-10-26T00:00:00Z</dcterms:modified>
  <cp:category/>
</cp:coreProperties>
</file>