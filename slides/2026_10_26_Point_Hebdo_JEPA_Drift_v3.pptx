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9144000" cy="513892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porte sur la détection d'un changement de distribution, pas sur la prédiction du prochain cours. Aucun avantage empirique de JEPA n'est établi dans les pièces consultées.</a:t>
            </a:r>
          </a:p>
          <a:p/>
          <a:p>
            <a:r>
              <a:t>CANONICAL BULLET POINTS</a:t>
            </a:r>
          </a:p>
          <a:p>
            <a:r>
              <a:t>**26 octobre 2026.** Chaque jour, nous observons les rendements d'un ensemble d'actions. Nous cherchons un changement durable de leur comportement.</a:t>
            </a:r>
          </a:p>
          <a:p>
            <a:r>
              <a:t>**L'hypothèse :** résumer ces rendements dans quelques coordonnées peut faciliter la détection, si ces coordonnées conservent le changement recherché.</a:t>
            </a:r>
          </a:p>
          <a:p>
            <a:r>
              <a:t>Nous comparons une méthode linéaire, l'**analyse en composantes principales (ACP)**, à un réseau à entraîner, **JEPA** : *Joint Embedding Predictive Architecture*, une architecture qui apprend à prédire des représentations.</a:t>
            </a:r>
          </a:p>
          <a:p/>
          <a:p>
            <a:r>
              <a:t>VISUAL SOURCE</a:t>
            </a:r>
          </a:p>
          <a:p>
            <a:r>
              <a:t>Titre, date et une seule chaîne : « rendements du jour → quelques coordonnées → alarme ». Définir sous la chaîne : « représentation = nouvelle description des mêmes observations ». Aucun graphique de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résultats sont détaillés ensuite, avec leurs données et leurs hypothèses. « Symétrie » sera définie avant l'énoncé de la garantie.</a:t>
            </a:r>
          </a:p>
          <a:p/>
          <a:p>
            <a:r>
              <a:t>CANONICAL BULLET POINTS</a:t>
            </a:r>
          </a:p>
          <a:p>
            <a:r>
              <a:t>[TABLE]</a:t>
            </a:r>
          </a:p>
          <a:p>
            <a:r>
              <a:t>| Ce qui est disponible | Ce que cela établit | Limite actuelle |</a:t>
            </a:r>
          </a:p>
          <a:p>
            <a:r>
              <a:t>|---|---|---|</a:t>
            </a:r>
          </a:p>
          <a:p>
            <a:r>
              <a:t>| Détecteurs sur projections ACP | Certains changements simulés deviennent visibles | Pas de supériorité générale |</a:t>
            </a:r>
          </a:p>
          <a:p>
            <a:r>
              <a:t>| Détecteurs sur signes positifs ou négatifs | Le risque d'alarme se calcule sous symétrie | Cette hypothèse échoue sur certaines données brutes |</a:t>
            </a:r>
          </a:p>
          <a:p>
            <a:r>
              <a:t>| Calcul du coût de plusieurs directions | Réduire la dimension peut aider | Les directions utiles dépendent du changement |</a:t>
            </a:r>
          </a:p>
          <a:p>
            <a:r>
              <a:t>| Conception du réseau JEPA | Un protocole d'apprentissage à comparer à l'ACP | Aucun gain JEPA mesuré |</a:t>
            </a:r>
          </a:p>
          <a:p/>
          <a:p>
            <a:r>
              <a:t>VISUAL SOURCE</a:t>
            </a:r>
          </a:p>
          <a:p>
            <a:r>
              <a:t>Le tableau constitue la diapositive ; aucune répétition sous forme de cartes. Faire ressortir la dernière colonne autant que la deuxième. Texte lisible à distance.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caractéristiques sont la sensibilité au marché sur 252 jours, la volatilité sur 63 jours, la performance de 12 à 1 mois et la variation sur 21 jours. La liste des 239 titres est une sélection opérationnelle, pas la reproduction d'une liste externe indisponible. Sources de travail : profils des données et manifeste du dépôt ; aucun rendement individuel à afficher.</a:t>
            </a:r>
          </a:p>
          <a:p/>
          <a:p>
            <a:r>
              <a:t>CANONICAL BULLET POINTS</a:t>
            </a:r>
          </a:p>
          <a:p>
            <a:r>
              <a:t>Deux panels : **97 actions américaines** sur 5 154 séances, de janvier 2005 à juin 2025 ; **239 actions du S&amp;P 500**, retenues parmi les 503 constituants recensés en octobre 2026 pour la longueur de leur historique.</a:t>
            </a:r>
          </a:p>
          <a:p>
            <a:r>
              <a:t>Les prix ajustés des opérations sur titres deviennent des **log-rendements** : le logarithme du rapport entre deux prix successifs.</a:t>
            </a:r>
          </a:p>
          <a:p>
            <a:r>
              <a:t>Pour les 239 actions, quatre caractéristiques connues avant le rendement : sensibilité au marché, amplitude des fluctuations, performance passée et variation récente.</a:t>
            </a:r>
          </a:p>
          <a:p>
            <a:r>
              <a:t>**Biais de sélection :** privilégier les titres encore présents ou les longs historiques ne reconstitue pas l'univers d'investissement passé.</a:t>
            </a:r>
          </a:p>
          <a:p/>
          <a:p>
            <a:r>
              <a:t>VISUAL SOURCE</a:t>
            </a:r>
          </a:p>
          <a:p>
            <a:r>
              <a:t>Matrice « jours × actions » et deux étiquettes « 97 actions » / « 239 actions ». Une case porte le mot « rendement ». Mention visible : « univers de titres survivants ».</a:t>
            </a:r>
          </a:p>
          <a:p/>
          <a:p>
            <a:r>
              <a:t>EQUATION SOURCES (StarMath — for manual replacement only)</a:t>
            </a:r>
          </a:p>
          <a:p>
            <a:r>
              <a:t>ASCII: r(i,t) = ln[P(i,t) / P(i,t-1)]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941 séances documentées vont du 7 avril 2016 au 31 décembre 2019. Les 65 séances constituent une séparation temporelle ; elles ne rendent pas indépendantes toutes les variables calculées sur de longs historiques. La disponibilité de chaque caractéristique doit être contrôlée séparément. L'absorption est ici un mécanisme théorique, pas un échec mesuré de JEPA ; ses régimes et leur dérivation figurent en annexe 11.</a:t>
            </a:r>
          </a:p>
          <a:p/>
          <a:p>
            <a:r>
              <a:t>CANONICAL BULLET POINTS</a:t>
            </a:r>
          </a:p>
          <a:p>
            <a:r>
              <a:t>**2005–2015 : apprendre.** Historique prévu pour entraîner le réseau.</a:t>
            </a:r>
          </a:p>
          <a:p>
            <a:r>
              <a:t>**2016–2019 : choisir et régler.** Ajuster l'ACP et les seuils d'alarme. Pour JEPA, séparer le choix du modèle du réglage final des seuils ; ce partage reste à fixer.</a:t>
            </a:r>
          </a:p>
          <a:p>
            <a:r>
              <a:t>**À partir de 2020 : tester avec des paramètres figés.** Les résultats rétrospectifs présentés ne constituent pas ce test indépendant.</a:t>
            </a:r>
          </a:p>
          <a:p>
            <a:r>
              <a:t>**Pourquoi figer la représentation ?** Si elle s'adapte au changement, elle peut l'effacer progressivement : c'est l'**absorption**. Dans le modèle de décroissance étudié, l'information totale peut devenir insuffisante pour atteindre le seuil.</a:t>
            </a:r>
          </a:p>
          <a:p/>
          <a:p>
            <a:r>
              <a:t>VISUAL SOURCE</a:t>
            </a:r>
          </a:p>
          <a:p>
            <a:r>
              <a:t>Frise à trois segments. Après chaque frontière, zone hachurée « 65 séances exclues ». Sous 2016–2019 : « 941 séances après séparation ». Cadenas avant le test. Petit schéma : « référence fixe : changement visible » / « référence qui s'adapte : changement atténué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signes sont calculés directement sur les projections, sans classifieur ni étiquettes à prédire. Pour le CUSUM utilisé sur les signes ou l'énergie, l'alarme exige un dépassement strict du seuil. Les détails de calcul figurent dans les annexes rattachées aux résultats.</a:t>
            </a:r>
          </a:p>
          <a:p/>
          <a:p>
            <a:r>
              <a:t>CANONICAL BULLET POINTS</a:t>
            </a:r>
          </a:p>
          <a:p>
            <a:r>
              <a:t>**Changement de moyenne :** une projection des rendements devient durablement plus positive ou négative. On suit la fréquence de son signe positif.</a:t>
            </a:r>
          </a:p>
          <a:p>
            <a:r>
              <a:t>**Changement de covariance :** les amplitudes ou les relations entre actions changent. On suit une **énergie**, la somme des carrés de projections mises à la même échelle.</a:t>
            </a:r>
          </a:p>
          <a:p>
            <a:r>
              <a:t>Le **CUSUM**, pour *cumulative sum*, accumule les écarts et déclenche une alarme au franchissement d'un seuil, selon [Page (1954)](https://doi.org/10.1093/biomet/41.1-2.100).</a:t>
            </a:r>
          </a:p>
          <a:p>
            <a:r>
              <a:t>Ces mesures sont complémentaires : un signe isolé ne voit pas un changement qui préserve la symétrie ; une énergie agrégée ne voit pas toutes les transformations de covariance.</a:t>
            </a:r>
          </a:p>
          <a:p/>
          <a:p>
            <a:r>
              <a:t>VISUAL SOURCE</a:t>
            </a:r>
          </a:p>
          <a:p>
            <a:r>
              <a:t>Deux schémas explicitement étiquetés : moyenne qui se déplace → « fréquence des signes » ; dispersion qui change → « somme de carrés ». Chaque branche mène à un accumulateur puis à un seuil. Les zéros sont départagés par un tirage indépendant à pile ou face.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volatilité variable signifie que l'amplitude typique des fluctuations change avec le temps. Retourner une journée entière conserve ses produits entre rendements et ses amplitudes, mais efface notamment la relation asymétrique entre signe du choc et volatilité future. Ce fond ne reproduit donc pas toutes les propriétés des données brutes. Un décalage constant crée un changement de moyenne ; une transformation linéaire peut modifier la covariance.</a:t>
            </a:r>
          </a:p>
          <a:p/>
          <a:p>
            <a:r>
              <a:t>CANONICAL BULLET POINTS</a:t>
            </a:r>
          </a:p>
          <a:p>
            <a:r>
              <a:t>[TABLE]</a:t>
            </a:r>
          </a:p>
          <a:p>
            <a:r>
              <a:t>| Fond de données | Construction | Ce que l'essai permet de mesurer |</a:t>
            </a:r>
          </a:p>
          <a:p>
            <a:r>
              <a:t>|---|---|---|</a:t>
            </a:r>
          </a:p>
          <a:p>
            <a:r>
              <a:t>| Entièrement simulé | Rendements corrélés, avec volatilité constante ou variable | Fausses alarmes sans changement ; délai après une injection connue |</a:t>
            </a:r>
          </a:p>
          <a:p>
            <a:r>
              <a:t>| Réel rendu symétrique | Chaque journée entière est multipliée par +1 ou -1, au hasard | Détection sur des amplitudes réelles, sous une symétrie imposée |</a:t>
            </a:r>
          </a:p>
          <a:p>
            <a:r>
              <a:t>| Réel brut | Rendements tels qu'observés | Diagnostic rétrospectif ; la vraie date de changement reste inconnue |</a:t>
            </a:r>
          </a:p>
          <a:p>
            <a:r>
              <a:t>Les changements sont injectés **dans les rendements**, avant toute projection. Les méthodes reçoivent les mêmes observations.</a:t>
            </a:r>
          </a:p>
          <a:p>
            <a:r>
              <a:t>Les données servant à ajuster la représentation et le seuil doivent être distinctes des trajectoires servant à les évaluer.</a:t>
            </a:r>
          </a:p>
          <a:p/>
          <a:p>
            <a:r>
              <a:t>VISUAL SOURCE</a:t>
            </a:r>
          </a:p>
          <a:p>
            <a:r>
              <a:t>Le tableau tient lieu de visuel. Sous la ligne symétrisée : « amplitudes conservées ; orientation des signes randomisée ». Éviter toute illustration laissant croire que chaque action est retournée indépendamment.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chiffre 0,26 vient de l'expérience historique, pas d'une constante universelle des panels. Le calcul de variance est en annexe 1. La réduction d'un budget et celle d'un écart-type ne sont pas des grandeurs interchangeables.</a:t>
            </a:r>
          </a:p>
          <a:p/>
          <a:p>
            <a:r>
              <a:t>CANONICAL BULLET POINTS</a:t>
            </a:r>
          </a:p>
          <a:p>
            <a:r>
              <a:t>Si les signes des actions étaient indépendants, leur moyenne annulerait progressivement le bruit.</a:t>
            </a:r>
          </a:p>
          <a:p>
            <a:r>
              <a:t>Dans l'expérience historique sur 97 actions, leur corrélation moyenne est proche de **0,26** : une partie du mouvement est commune.</a:t>
            </a:r>
          </a:p>
          <a:p>
            <a:r>
              <a:t>Avec cette corrélation supposée identique entre paires, le gain maximal sur l'**écart-type**, mesure de dispersion, est **1,96**. Le nombre d'actions indépendantes équivalent plafonne à **3,85**.</a:t>
            </a:r>
          </a:p>
          <a:p>
            <a:r>
              <a:t>La figure historique montre aussi une réduction du budget de détection proche de **2**. C'est une mesure différente : la formule de variance ne suffit pas à la déduire.</a:t>
            </a:r>
          </a:p>
          <a:p/>
          <a:p>
            <a:r>
              <a:t>VISUAL SOURCE</a:t>
            </a:r>
          </a:p>
          <a:p>
            <a:r>
              <a:t>Réutiliser les deux panneaux de `Fig30_RealCrossSectional_Escape_UPDATED.png`, sans en modifier les données. Donner à chacun son intitulé : « risque de fausse alarme » / « réduction du budget de détection ». Conserver les légendes lisibles et ajouter « étude historique sur titres survivants ». Si le texte du graphique est trop petit, montrer les panneaux successivement.</a:t>
            </a:r>
          </a:p>
          <a:p/>
          <a:p>
            <a:r>
              <a:t>EQUATION SOURCES (StarMath — for manual replacement only)</a:t>
            </a:r>
          </a:p>
          <a:p>
            <a:r>
              <a:t>ASCII: gain_limite_sur_ecart_type = 1 / sqrt(rho)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le code StarMath, v_k est le vecteur de poids, T indique sa transposition, r_t contient les rendements et lambda_k est la variance estimée de l'axe. L'orthogonalité n'implique pas l'indépendance hors du modèle gaussien. Avec une covariance estimée et stabilisée, le blanchiment ne garantit pas une variance égale à un sur de nouvelles données.</a:t>
            </a:r>
          </a:p>
          <a:p/>
          <a:p>
            <a:r>
              <a:t>CANONICAL BULLET POINTS</a:t>
            </a:r>
          </a:p>
          <a:p>
            <a:r>
              <a:t>Une **direction** est une combinaison pondérée des rendements. L'ACP cherche d'abord celle qui varie le plus, puis des directions perpendiculaires.</a:t>
            </a:r>
          </a:p>
          <a:p>
            <a:r>
              <a:t>La première ressemble souvent au mouvement du marché. Les suivantes décrivent des écarts entre actions : ce sont les **directions résiduelles**.</a:t>
            </a:r>
          </a:p>
          <a:p>
            <a:r>
              <a:t>Chaque rendement quotidien est projeté sur ces axes, puis divisé par une échelle historique. Cette normalisation, appelée **blanchiment**, rend les scores plus comparables.</a:t>
            </a:r>
          </a:p>
          <a:p>
            <a:r>
              <a:t>La première direction reste surveillée séparément. Retirer le marché de l'analyse résiduelle ne signifie pas l'ignorer.</a:t>
            </a:r>
          </a:p>
          <a:p/>
          <a:p>
            <a:r>
              <a:t>VISUAL SOURCE</a:t>
            </a:r>
          </a:p>
          <a:p>
            <a:r>
              <a:t>Ellipse : axe long « mouvement commun », axe court « différences entre actions ». Projeter un même point sur les deux axes. Étiquette « schéma explicatif ». Garder visible une branche « marché surveillé ».</a:t>
            </a:r>
          </a:p>
          <a:p/>
          <a:p>
            <a:r>
              <a:t>EQUATION SOURCES (StarMath — for manual replacement only)</a:t>
            </a:r>
          </a:p>
          <a:p>
            <a:r>
              <a:t>ASCII: score_k(t) = projection_sur_axe_k(t) / echelle_k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Stabiliser la covariance consiste à combiner son estimation empirique avec une matrice plus régulière. Les accumulateurs admissibles sont moyennés, sans supposer l'indépendance des directions. Le seuil combiné doit couvrir la règle d'alarme effectivement utilisée ; prendre simplement la première de plusieurs alarmes réglées chacune à 5 % change le risque global. Pour les e-détecteurs employés, un seuil H/alpha borne le risque à l'horizon H par alpha ; cette borne peut être conservatrice.</a:t>
            </a:r>
          </a:p>
          <a:p/>
          <a:p>
            <a:r>
              <a:t>CANONICAL BULLET POINTS</a:t>
            </a:r>
          </a:p>
          <a:p>
            <a:r>
              <a:t>**Ajuster.** Estimer comment les actions varient ensemble avec la covariance stabilisée de [Ledoit et Wolf (2004)](https://www.ledoit.net/Well-conditioned2004.pdf), puis fixer les axes et leurs échelles.</a:t>
            </a:r>
          </a:p>
          <a:p>
            <a:r>
              <a:t>**Observer.** Chaque nouveau jour, projeter les rendements avec ces mêmes paramètres ; transmettre les signes ou l'énergie au détecteur.</a:t>
            </a:r>
          </a:p>
          <a:p>
            <a:r>
              <a:t>**Régler le risque.** Ici, la cible est la probabilité d'**au moins une fausse alarme sur une durée fixée**. Elle diffère du temps moyen avant fausse alarme.</a:t>
            </a:r>
          </a:p>
          <a:p>
            <a:r>
              <a:t>Pour combiner plusieurs directions, on peut moyenner des **accumulateurs de preuve**, des statistiques construites pour contrôler ce risque sous leurs hypothèses, selon [Shin, Ramdas et Rinaldo (2024)](https://nejsds.nestat.org/journal/NEJSDS/article/59/text).</a:t>
            </a:r>
          </a:p>
          <a:p/>
          <a:p>
            <a:r>
              <a:t>VISUAL SOURCE</a:t>
            </a:r>
          </a:p>
          <a:p>
            <a:r>
              <a:t>Deux lignes : « calibration : rendements → covariance → axes et échelles → seuils » ; « surveillance : rendements du jour → projections figées → signes / énergie → alarme ». Verrou entre les lignes. Mention « une garantie par direction ne donne pas automatiquement une garantie globale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N actions et T jours, le repère est (1 + sqrt(N/T))^2 sur la corrélation. Son emploi est une règle approximative dans des données financières dépendantes et à volatilité variable. La surveillance de tous les axes reste une comparaison possible. Les dimensions 6 et 11 sont aussi consignées dans les états de représentation ; aucun histogramme empirique ne doit être inventé.</a:t>
            </a:r>
          </a:p>
          <a:p/>
          <a:p>
            <a:r>
              <a:t>CANONICAL BULLET POINTS</a:t>
            </a:r>
          </a:p>
          <a:p>
            <a:r>
              <a:t>[TABLE]</a:t>
            </a:r>
          </a:p>
          <a:p>
            <a:r>
              <a:t>| Panel | Direction principale | Directions résiduelles | Total |</a:t>
            </a:r>
          </a:p>
          <a:p>
            <a:r>
              <a:t>|---|---:|---:|---:|</a:t>
            </a:r>
          </a:p>
          <a:p>
            <a:r>
              <a:t>| 97 actions | 1 | 5 | **6** |</a:t>
            </a:r>
          </a:p>
          <a:p>
            <a:r>
              <a:t>| 239 actions | 1 | 10 | **11** |</a:t>
            </a:r>
          </a:p>
          <a:p>
            <a:r>
              <a:t>Le nombre d'axes est choisi avec un seuil de bruit inspiré de [Marčenko et Pastur (1967)](https://www.mathnet.ru/eng/msb4101) : on retient les variations collectives qui dépassent ce repère.</a:t>
            </a:r>
          </a:p>
          <a:p>
            <a:r>
              <a:t>Cette règle utilise la **corrélation empirique** ; les axes sont ensuite calculés sur la **covariance stabilisée**. La première mesure des relations sans unité, la seconde conserve les échelles des rendements.</a:t>
            </a:r>
          </a:p>
          <a:p>
            <a:r>
              <a:t>Ces nombres décrivent un ajustement historique. Ils ne disent pas quelles directions porteront un changement futur.</a:t>
            </a:r>
          </a:p>
          <a:p/>
          <a:p>
            <a:r>
              <a:t>VISUAL SOURCE</a:t>
            </a:r>
          </a:p>
          <a:p>
            <a:r>
              <a:t>Le tableau constitue le résultat. À côté, un unique schéma de valeurs propres, définies comme les variances des axes, avec une ligne « repère de bruit ». Étiquette « schéma, pas spectre mesuré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L'information est exprimée en nats, l'unité liée au logarithme naturel. Une transformation inversible conserve la KL ; une réduction de dimension ou le passage au signe peut en perdre. Avec des caractéristiques, comparer les mêmes entrées disponibles avant et après transformation. L'annexe 2 dérive la formule et l'additivité dans le modèle gaussien à covariance connue.</a:t>
            </a:r>
          </a:p>
          <a:p/>
          <a:p>
            <a:r>
              <a:t>CANONICAL BULLET POINTS</a:t>
            </a:r>
          </a:p>
          <a:p>
            <a:r>
              <a:t>La **divergence de Kullback–Leibler (KL)** mesure combien les observations distinguent, en moyenne, la loi après changement de celle d'avant.</a:t>
            </a:r>
          </a:p>
          <a:p>
            <a:r>
              <a:t>Dans un modèle **gaussien**, dont les projections suivent des lois en cloche, l'information d'un axe augmente avec le déplacement de moyenne au carré, et diminue avec sa variance.</a:t>
            </a:r>
          </a:p>
          <a:p>
            <a:r>
              <a:t>Selon l'inégalité de traitement des données présentée par [Cover et Thomas (2006)](https://onlinelibrary.wiley.com/doi/book/10.1002/047174882X), transformer les mêmes observations ne crée pas d'information. L'enjeu est de **concentrer celle que le détecteur peut exploiter**.</a:t>
            </a:r>
          </a:p>
          <a:p>
            <a:r>
              <a:t>Le profil complet d'information par axe et par changement reste à mesurer. Rien n'établit que les 6 ou 11 axes retenus soient les meilleurs pour détecter.</a:t>
            </a:r>
          </a:p>
          <a:p/>
          <a:p>
            <a:r>
              <a:t>VISUAL SOURCE</a:t>
            </a:r>
          </a:p>
          <a:p>
            <a:r>
              <a:t>Deux flèches de changement de même longueur dans une ellipse : le long de l'axe bruyant / le long de l'axe calme. Puis un troisième cas : aucun déplacement sur l'axe observé. Légende « intuition géométrique, pas estimation financière ».</a:t>
            </a:r>
          </a:p>
          <a:p/>
          <a:p>
            <a:r>
              <a:t>EQUATION SOURCES (StarMath — for manual replacement only)</a:t>
            </a:r>
          </a:p>
          <a:p>
            <a:r>
              <a:t>ASCII: information_axe = deplacement_moyen^2 / (2 * variance_axe)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317 configurations viennent des lignes à symétrie valide, recentrage théorique à 1/2 et calibration exacte du tableau de stress tests. Leurs résultats ne sont pas tous indépendants. Le niveau 4,395 %, inférieur à 5 %, provient des paliers atteignables par le CUSUM sur signes. La garantie est démontrée en annexe 7 ; elle ne découle pas de ces simulations.</a:t>
            </a:r>
          </a:p>
          <a:p/>
          <a:p>
            <a:r>
              <a:t>CANONICAL BULLET POINTS</a:t>
            </a:r>
          </a:p>
          <a:p>
            <a:r>
              <a:t>**Symétrie conditionnelle :** sachant le passé, les rendements et leurs opposés ont la même loi. Une projection **impaire**, qui s'inverse avec eux, donne des signes équilibrés et indépendants dans le temps ; les zéros sont tirés à pile ou face.</a:t>
            </a:r>
          </a:p>
          <a:p>
            <a:r>
              <a:t>[TABLE]</a:t>
            </a:r>
          </a:p>
          <a:p>
            <a:r>
              <a:t>| Essai sur 750 jours | Taux d'au moins une alarme | Lecture |</a:t>
            </a:r>
          </a:p>
          <a:p>
            <a:r>
              <a:t>|---|---:|---|</a:t>
            </a:r>
          </a:p>
          <a:p>
            <a:r>
              <a:t>| 317 configurations sous symétrie | **4,425 %** en moyenne ; niveau calculé **4,395 %** | Accord moyen, pas une preuve |</a:t>
            </a:r>
          </a:p>
          <a:p>
            <a:r>
              <a:t>| Choc asymétrique / contrôle symétrique apparié | **39,15 % / 4,45 %** | La garantie ne couvre pas l'asymétrie |</a:t>
            </a:r>
          </a:p>
          <a:p>
            <a:r>
              <a:t>| Fréquence positive estimée, sur fonds symétriques | **5,9–7,75 %** | Corriger la fréquence ne conserve pas la calibration exacte |</a:t>
            </a:r>
          </a:p>
          <a:p>
            <a:r>
              <a:t>Plusieurs projections des données brutes échouent aux diagnostics de symétrie : **la garantie ne s'y applique pas**.</a:t>
            </a:r>
          </a:p>
          <a:p/>
          <a:p>
            <a:r>
              <a:t>VISUAL SOURCE</a:t>
            </a:r>
          </a:p>
          <a:p>
            <a:r>
              <a:t>Le tableau est le résultat central. Garder « 750 jours » visible. Sous le premier résultat : « un flux scalaire ; pas une indépendance entre axes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Résultats du tableau local des expériences de covariance, horizon 250 et une direction résiduelle pour la première ligne. Le rapport vaut la moyenne des délais plafonnés du comparateur divisée par celle de l'ACP ; ce n'est pas un rapport de délais non censurés. La covariance est une propriété de la loi entière : sa modification n'implique pas que chaque projection change. L'annexe 8 détaille ce calcul d'information.</a:t>
            </a:r>
          </a:p>
          <a:p/>
          <a:p>
            <a:r>
              <a:t>CANONICAL BULLET POINTS</a:t>
            </a:r>
          </a:p>
          <a:p>
            <a:r>
              <a:t>**Essai synthétique :** tourner la covariance à moyenne nulle. Comparer l'énergie résiduelle ACP au carré d'un indice donnant le même poids à chaque action.</a:t>
            </a:r>
          </a:p>
          <a:p>
            <a:r>
              <a:t>**Délai restreint :** jours jusqu'à l'alarme, jour d'alarme inclus ; 250 jours en l'absence d'alarme avant cet horizon.</a:t>
            </a:r>
          </a:p>
          <a:p>
            <a:r>
              <a:t>[TABLE]</a:t>
            </a:r>
          </a:p>
          <a:p>
            <a:r>
              <a:t>| Changement injecté | Rapport des délais restreints, référence / ACP | Conclusion |</a:t>
            </a:r>
          </a:p>
          <a:p>
            <a:r>
              <a:t>|---|---:|---|</a:t>
            </a:r>
          </a:p>
          <a:p>
            <a:r>
              <a:t>| Rotation marché–deuxième axe ; un axe résiduel | **14,6 à 105** | Contraste exploratoire |</a:t>
            </a:r>
          </a:p>
          <a:p>
            <a:r>
              <a:t>| Rotation deuxième–troisième axe | Pas de détection au-delà du niveau sans changement | Pas d'avantage établi |</a:t>
            </a:r>
          </a:p>
          <a:p>
            <a:r>
              <a:t>| Déformation des axes deux à quatre | **1,03 à 1,16** | Résultat non concluant |</a:t>
            </a:r>
          </a:p>
          <a:p>
            <a:r>
              <a:t>**Limite décisive :** la première rotation réduit la variance de l'indice, dont le détecteur cherche seulement une hausse. Ce comparateur défavorable interdit de généraliser les grands rapports.</a:t>
            </a:r>
          </a:p>
          <a:p/>
          <a:p>
            <a:r>
              <a:t>VISUAL SOURCE</a:t>
            </a:r>
          </a:p>
          <a:p>
            <a:r>
              <a:t>Une ellipse tournée devant une direction d'indice fixe, puis le tableau. Mention « trajectoires de calibration et d'évaluation distinctes ; fausse alarme visée : 5 % ». Aucun classement général des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le code StarMath, r est le vecteur de rendements, b l'axe de marché de longueur un, p le résidu et les colonnes de U les axes résiduels ; T signifie transposition. Le poids utilise une moyenne exponentielle passée de l'amplitude résiduelle, de demi-vie 20 séances : après 20 séances, une observation pèse moitié moins. La normalisation seule ne permet pas d'attribuer un gain de délai à ce système.</a:t>
            </a:r>
          </a:p>
          <a:p/>
          <a:p>
            <a:r>
              <a:t>CANONICAL BULLET POINTS</a:t>
            </a:r>
          </a:p>
          <a:p>
            <a:r>
              <a:t>**Retirer la composante commune :** soustraire du rendement quotidien sa projection sur la première direction ACP, fixée en calibration.</a:t>
            </a:r>
          </a:p>
          <a:p>
            <a:r>
              <a:t>**Normaliser le résidu :** diviser le vecteur restant par sa longueur. On conserve sa direction entre actions et on retire son amplitude globale ; un résidu nul reste nul.</a:t>
            </a:r>
          </a:p>
          <a:p>
            <a:r>
              <a:t>**Point essentiel :** cette division positive ne change pas les signes des projections. Elle ne crée donc aucun gain pour un détecteur qui n'utilise que ces mêmes signes.</a:t>
            </a:r>
          </a:p>
          <a:p>
            <a:r>
              <a:t>La méthode implémentée adapte aussi le poids des observations à l'amplitude des jours **passés**. C'est un mécanisme distinct, à comparer séparément.</a:t>
            </a:r>
          </a:p>
          <a:p/>
          <a:p>
            <a:r>
              <a:t>VISUAL SOURCE</a:t>
            </a:r>
          </a:p>
          <a:p>
            <a:r>
              <a:t>Trois étapes : vecteur du jour → résidu perpendiculaire au marché → même résidu ramené sur le cercle unité. Conserver une branche séparée « marché surveillé ». Un encart distingue « normalisation du jour » et « poids fondé sur le passé ».</a:t>
            </a:r>
          </a:p>
          <a:p/>
          <a:p>
            <a:r>
              <a:t>EQUATION SOURCES (StarMath — for manual replacement only)</a:t>
            </a:r>
          </a:p>
          <a:p>
            <a:r>
              <a:t>ASCII: residu = rendements - composante_marche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estimations brutes sont 1,96795 et 1,99788 dans le tableau d'audit de potentiel informationnel. Le modèle suppose une dérive fixe et une covariance de forme constante multipliée par sigma^2. La référence à covariance moyenne n'est pas la vraie loi marginale du mélange de volatilités. La dérivation et cette distinction sont explicitées en annexe 3.</a:t>
            </a:r>
          </a:p>
          <a:p/>
          <a:p>
            <a:r>
              <a:t>CANONICAL BULLET POINTS</a:t>
            </a:r>
          </a:p>
          <a:p>
            <a:r>
              <a:t>[TABLE]</a:t>
            </a:r>
          </a:p>
          <a:p>
            <a:r>
              <a:t>| Chiffre | Mécanisme | Grandeur comparée |</a:t>
            </a:r>
          </a:p>
          <a:p>
            <a:r>
              <a:t>|---|---|---|</a:t>
            </a:r>
          </a:p>
          <a:p>
            <a:r>
              <a:t>| **1,96** | Corrélation entre actions d'une même journée | Réduction maximale de l'écart-type d'une moyenne |</a:t>
            </a:r>
          </a:p>
          <a:p>
            <a:r>
              <a:t>| **1,97 et 2,00** | Volatilité variable entre journées, panels de 97 et 239 actions | Rapport de deux expressions d'information sous un modèle de moyenne fixe |</a:t>
            </a:r>
          </a:p>
          <a:p>
            <a:r>
              <a:t>Le second calcul compare un modèle qui connaît l'échelle de chaque journée à une référence gaussienne utilisant une covariance moyenne.</a:t>
            </a:r>
          </a:p>
          <a:p>
            <a:r>
              <a:t>**Il ne mesure pas un délai divisé par deux**, ni l'information effectivement récupérée par la méthode normalisée ou par JEPA.</a:t>
            </a:r>
          </a:p>
          <a:p/>
          <a:p>
            <a:r>
              <a:t>VISUAL SOURCE</a:t>
            </a:r>
          </a:p>
          <a:p>
            <a:r>
              <a:t>Le tableau, puis deux petites séries schématiques : actions qui bougent ensemble / jours calmes et agités. Aucune flèche de ce rapport vers un gain JEPA.</a:t>
            </a:r>
          </a:p>
          <a:p/>
          <a:p>
            <a:r>
              <a:t>EQUATION SOURCES (StarMath — for manual replacement only)</a:t>
            </a:r>
          </a:p>
          <a:p>
            <a:r>
              <a:t>ASCII: eta = moyenne(sigma^2) * moyenne(1/sigma^2) &gt;= 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coût compare l'instant où l'espérance du logarithme de la preuve atteint le seuil, pour des données gaussiennes et un mélange gaussien de directions de largeur idéale. Les annexes 4 et 5 donnent l'intégration et la résolution. Une approximation de diffusion remplace les incréments quotidiens par un mouvement aléatoire continu ; les formules de temps de franchissement sont exactes dans ce modèle continu, approchées pour les observations quotidiennes (annexe 10). Le seuil 504 n'est pas la calibration à 5 % sur 750 jours.</a:t>
            </a:r>
          </a:p>
          <a:p/>
          <a:p>
            <a:r>
              <a:t>CANONICAL BULLET POINTS</a:t>
            </a:r>
          </a:p>
          <a:p>
            <a:r>
              <a:t>Si la direction du changement est inconnue, un **mélange** moyenne les preuves de plusieurs directions candidates. Ce mot désigne la construction du détecteur.</a:t>
            </a:r>
          </a:p>
          <a:p>
            <a:r>
              <a:t>Dans un modèle gaussien indépendant, de covariance identité — variances un et covariances nulles — un mélange idéal donne un coût de **1,57** pour 4 directions et **9,64** pour 500, à seuil de preuve 504.</a:t>
            </a:r>
          </a:p>
          <a:p>
            <a:r>
              <a:t>Quatre directions sont préférables aux 500 si elles conservent plus de **16,3 %** de l'information, **dans ce calcul et avec une largeur de mélange adaptée au changement**.</a:t>
            </a:r>
          </a:p>
          <a:p>
            <a:r>
              <a:t>Ces coûts sont des budgets d'information approchés. **Ils ne sont pas des délais moyens d'alarme.** L'approximation de diffusion remplace les pas quotidiens par un mouvement aléatoire continu pour calculer ces temps, dans le cadre de [Taylor (1975)](https://doi.org/10.1214/aop/1176996395).</a:t>
            </a:r>
          </a:p>
          <a:p/>
          <a:p>
            <a:r>
              <a:t>VISUAL SOURCE</a:t>
            </a:r>
          </a:p>
          <a:p>
            <a:r>
              <a:t>Deux colonnes : « 4 directions : coût 1,57 » / « 500 directions : coût 9,64 ». Entre elles, condition « conserver plus de 16,3 % de l'information ». Étiquette « calcul théorique ; pas résultat financier ».</a:t>
            </a:r>
          </a:p>
          <a:p/>
          <a:p>
            <a:r>
              <a:t>EQUATION SOURCES (StarMath — for manual replacement only)</a:t>
            </a:r>
          </a:p>
          <a:p>
            <a:r>
              <a:t>ASCII: efficacite(d) = information_conservee(d) / cout(d)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L'annexe 6 établit le critère marginal et le cas d'un coût affine, c'est-à-dire un coût fixe plus un coût constant par axe. Ce modèle ne doit pas être confondu avec le coût du mélange gaussien. L'annexe 12 traite le nombre et l'alignement d'une liste finie de directions. Le classement ACP par variance ne garantit pas des contributions d'information décroissantes.</a:t>
            </a:r>
          </a:p>
          <a:p/>
          <a:p>
            <a:r>
              <a:t>CANONICAL BULLET POINTS</a:t>
            </a:r>
          </a:p>
          <a:p>
            <a:r>
              <a:t>La **dimension optimale**, notée `d*`, maximise le rapport information conservée / coût du détecteur.</a:t>
            </a:r>
          </a:p>
          <a:p>
            <a:r>
              <a:t>Ajouter une direction aide si l'augmentation relative d'information dépasse l'augmentation relative du coût. Si l'apport de chaque axe diminue et que le coût ajouté reste constant, ce critère situe l'optimum ; la preuve est en annexe.</a:t>
            </a:r>
          </a:p>
          <a:p>
            <a:r>
              <a:t>**Aucune plage optimale n'est établie sur les données.** Les tailles 2, 4, 8 et 16 sont des candidates à comparer, pas un résultat.</a:t>
            </a:r>
          </a:p>
          <a:p>
            <a:r>
              <a:t>Avec une liste finie de directions candidates, le coût dépend aussi de leur **alignement**, c'est-à-dire de l'angle avec le changement. Augmenter leur nombre coûte ; mieux les orienter peut compenser.</a:t>
            </a:r>
          </a:p>
          <a:p/>
          <a:p>
            <a:r>
              <a:t>VISUAL SOURCE</a:t>
            </a:r>
          </a:p>
          <a:p>
            <a:r>
              <a:t>Deux cas schématiques utilisant les mêmes axes : changement porté par le premier / changement porté par un axe tardif. Sous chacun, montrer ce qu'une réduction de dimension conserverait ou supprimerait. Pas de courbe empirique de dimension optimale.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représentation est un vecteur de nombres appris, distinct du rendement lui-même. Le réseau cible suit lentement les paramètres du réseau de contexte pendant l'entraînement ; il n'est pas réajusté en surveillance. La taille interne du réseau ne doit pas être confondue avec le petit nombre de coordonnées surveillées. Les détails de construction sont en annexe 9.</a:t>
            </a:r>
          </a:p>
          <a:p/>
          <a:p>
            <a:r>
              <a:t>CANONICAL BULLET POINTS</a:t>
            </a:r>
          </a:p>
          <a:p>
            <a:r>
              <a:t>Chaque action fournit au réseau son rendement et ses caractéristiques connues. Un mécanisme d'**attention** pondère les autres actions pour construire sa représentation.</a:t>
            </a:r>
          </a:p>
          <a:p>
            <a:r>
              <a:t>Le réseau prédit la représentation d'actions cachées à partir des actions visibles. Il apprend ainsi sans étiquette de « vraie dérive ».</a:t>
            </a:r>
          </a:p>
          <a:p>
            <a:r>
              <a:t>[Thimonier et al. (2025)](https://proceedings.iclr.cc/paper_files/paper/2025/hash/93f01c8d9b355d7bbe3f353b44ccde66-Abstract-Conference.html) étudient cette prédiction de représentations sur données tabulaires. L'appliquer aux actions d'une journée pour détecter des changements reste **notre hypothèse à tester**.</a:t>
            </a:r>
          </a:p>
          <a:p>
            <a:r>
              <a:t>**État actuel :** conception disponible ; aucune performance de détection d'un JEPA entraîné établie par les éléments vérifiés.</a:t>
            </a:r>
          </a:p>
          <a:p/>
          <a:p>
            <a:r>
              <a:t>VISUAL SOURCE</a:t>
            </a:r>
          </a:p>
          <a:p>
            <a:r>
              <a:t>Actions visibles → réseau de contexte → représentation prédite. Actions cachées → réseau cible → représentation cible. Une liaison « écart à réduire pendant l'entraînement », sans retour de la cible dans les entrées visibles. Mention « architecture proposée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de masquage est un paramètre proposé, pas un résultat. Le masquage de secteurs entiers demande des appartenances sectorielles datées fiables ; il n'est pas présenté comme une méthode prête à exécuter. L'annexe 9 détaille la fuite par une moyenne commune et les deux options de construction.</a:t>
            </a:r>
          </a:p>
          <a:p/>
          <a:p>
            <a:r>
              <a:t>CANONICAL BULLET POINTS</a:t>
            </a:r>
          </a:p>
          <a:p>
            <a:r>
              <a:t>**À une même date**, cacher 30 à 50 % des rendements d'actions ; conserver les caractéristiques déjà connues. Les autres actions servent de contexte.</a:t>
            </a:r>
          </a:p>
          <a:p>
            <a:r>
              <a:t>**Piège :** calculer d'abord la moyenne de toutes les actions, puis masquer certaines actions. Cette moyenne contient déjà une partie de ce qu'il fallait cacher.</a:t>
            </a:r>
          </a:p>
          <a:p>
            <a:r>
              <a:t>**Solution proposée :** construire le contexte sur les seules actions visibles, ou ne pas retirer le marché avant cette tâche.</a:t>
            </a:r>
          </a:p>
          <a:p>
            <a:r>
              <a:t>La prédiction du lendemain est une variante distincte. La méthode principale apprend les relations **entre actions d'une même journée**.</a:t>
            </a:r>
          </a:p>
          <a:p/>
          <a:p>
            <a:r>
              <a:t>VISUAL SOURCE</a:t>
            </a:r>
          </a:p>
          <a:p>
            <a:r>
              <a:t>Une ligne « jour t », huit colonnes « actions », trois rendements cachés. Flèches uniquement depuis les cases visibles vers le contexte. À côté : « masquer → préparer les entrées visibles → prédire ». Ne pas faire apparaître de flèche depuis une cible cachée vers le contexte.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sortie impaire ne rend pas symétriques les données brutes. Une sortie paire n'est pas automatiquement une énergie positive ni un détecteur spécifique de covariance : il faut définir sa statistique et la calibrer. Les contrôles de variance visent les représentations quotidiennes surveillées. Une sortie compacte directe est proposée ; son avantage face à une projection linéaire après réseau reste à tester.</a:t>
            </a:r>
          </a:p>
          <a:p/>
          <a:p>
            <a:r>
              <a:t>CANONICAL BULLET POINTS</a:t>
            </a:r>
          </a:p>
          <a:p>
            <a:r>
              <a:t>**Pendant l'apprentissage :** vérifier que les représentations varient. La pénalité de variance de [Bardes, Ponce et LeCun (2022)](https://arxiv.org/abs/2105.04906) vise à éviter des sorties constantes ; elle ne garantit pas de conserver la dérive.</a:t>
            </a:r>
          </a:p>
          <a:p>
            <a:r>
              <a:t>**Avant le test :** choisir la taille et la variante, puis régler les seuils sur des données distinctes. Figer le réseau et les transformations.</a:t>
            </a:r>
          </a:p>
          <a:p>
            <a:r>
              <a:t>**En surveillance :** une sortie impaire change de signe quand les rendements sont inversés ; une sortie paire reste identique. Elles alimentent respectivement les statistiques de signe et d'énergie.</a:t>
            </a:r>
          </a:p>
          <a:p>
            <a:r>
              <a:t>Comparer d'abord à l'ACP et à la normalisation sans réseau. Une ACP guidée par caractéristiques, selon [Kelly, Pruitt et Su (2019)](https://doi.org/10.1016/j.jfineco.2019.05.001), est une comparaison supplémentaire à réaliser.</a:t>
            </a:r>
          </a:p>
          <a:p/>
          <a:p>
            <a:r>
              <a:t>VISUAL SOURCE</a:t>
            </a:r>
          </a:p>
          <a:p>
            <a:r>
              <a:t>Une chaîne « apprendre → choisir → calibrer → figer → surveiller ». Sous la surveillance, branches signes et énergie. Mettre l'ACP et la normalisation sur des lignes parallèles recevant les mêmes données.</a:t>
            </a:r>
          </a:p>
          <a:p/>
          <a:p>
            <a:r>
              <a:t>EQUATION SOURCES (StarMath — for manual replacement only)</a:t>
            </a:r>
          </a:p>
          <a:p>
            <a:r>
              <a:t>ASCII: impaire(r) = [g(r) - g(-r)] / 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règle est une proposition expérimentale, pas un seuil de succès déjà atteint. Le rapport de moyennes plafonnées ne suffit pas à comparer des délais moyens sans plafond. La probabilité de détection avant H et la proportion sans alarme doivent être rapportées. L'incertitude doit tenir compte des trajectoires appariées et de la dépendance entre fenêtres. Une même borne théorique à 5 % ne garantit pas des taux effectifs identiques.</a:t>
            </a:r>
          </a:p>
          <a:p/>
          <a:p>
            <a:r>
              <a:t>CANONICAL BULLET POINTS</a:t>
            </a:r>
          </a:p>
          <a:p>
            <a:r>
              <a:t>[TABLE]</a:t>
            </a:r>
          </a:p>
          <a:p>
            <a:r>
              <a:t>| Travail | Mesure attendue |</a:t>
            </a:r>
          </a:p>
          <a:p>
            <a:r>
              <a:t>|---|---|</a:t>
            </a:r>
          </a:p>
          <a:p>
            <a:r>
              <a:t>| Identifier les directions utiles | Information par axe et information cumulée |</a:t>
            </a:r>
          </a:p>
          <a:p>
            <a:r>
              <a:t>| Vérifier les seuils | Probabilité d'au moins une fausse alarme, sur le même horizon |</a:t>
            </a:r>
          </a:p>
          <a:p>
            <a:r>
              <a:t>| Entraîner JEPA | Représentations non constantes et changement conservé |</a:t>
            </a:r>
          </a:p>
          <a:p>
            <a:r>
              <a:t>| Comparer les méthodes | Délai plafonné, probabilité de détection et incertitude |</a:t>
            </a:r>
          </a:p>
          <a:p>
            <a:r>
              <a:t>**Règle proposée :** un rapport de délais d'au moins **1,25**, sur au moins deux familles de changements : moyenne, moyenne liée aux caractéristiques, ou covariance.</a:t>
            </a:r>
          </a:p>
          <a:p>
            <a:r>
              <a:t>L'**intervalle de confiance à 95 %**, qui quantifie l'incertitude d'échantillonnage, doit rester entièrement au-dessus de 1 après prise en compte des comparaisons multiples.</a:t>
            </a:r>
          </a:p>
          <a:p>
            <a:r>
              <a:t>**Décision :** conserver la méthode la plus convaincante à risque comparable, même si elle ne comporte aucun réseau.</a:t>
            </a:r>
          </a:p>
          <a:p/>
          <a:p>
            <a:r>
              <a:t>VISUAL SOURCE</a:t>
            </a:r>
          </a:p>
          <a:p>
            <a:r>
              <a:t>Tableau, puis une règle de décision en trois cases : « risque comparable → gain et incertitude → méthode retenue ». Aucun résultat JEPA anticipé.</a:t>
            </a:r>
          </a:p>
          <a:p/>
          <a:p>
            <a:r>
              <a:t>EQUATION SOURCES (StarMath — for manual replacement only)</a:t>
            </a:r>
          </a:p>
          <a:p>
            <a:r>
              <a:t>ASCII: G_H = moyenne[min(T_reference,H)] / moyenne[min(T_methode,H)]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covariances sont comptées comme paires ordonnées, d'où K(K-1). À corrélation nulle, la variance décroît comme 1/K ; cette limite diffère du cas de corrélation strictement positive. Aucune borne sur tous les détecteurs multivariés ne découle de ce calcul.</a:t>
            </a:r>
          </a:p>
          <a:p/>
          <a:p>
            <a:r>
              <a:t>CANONICAL BULLET POINTS</a:t>
            </a:r>
          </a:p>
          <a:p>
            <a:r>
              <a:t>**Rattachement : diapositive 7.** Considérer K signaux de même variance `s^2`, avec une corrélation commune `rho` strictement comprise entre zéro et un.</a:t>
            </a:r>
          </a:p>
          <a:p>
            <a:r>
              <a:t>La variance de leur somme comporte K variances individuelles et K(K-1) covariances. Diviser par K au calcul de la moyenne divise sa variance par K au carré.</a:t>
            </a:r>
          </a:p>
          <a:p>
            <a:r>
              <a:t>Définir le **nombre indépendant équivalent** `K_eff` en égalant cette variance à celle d'une moyenne de signaux indépendants de même variance.</a:t>
            </a:r>
          </a:p>
          <a:p>
            <a:r>
              <a:t>Le rapport des écarts-types, signal individuel / moyenne, vaut la racine de K_eff. Quand K augmente sans limite, on retrouve les plafonds 3,85 et 1,96 pour rho proche de 0,26.</a:t>
            </a:r>
          </a:p>
          <a:p/>
          <a:p>
            <a:r>
              <a:t>VISUAL SOURCE</a:t>
            </a:r>
          </a:p>
          <a:p>
            <a:r>
              <a:t>Quatre lignes de calcul, sans nouvelle série de données. Reprendre le résultat 1,96 déjà présenté. Distinguer visuellement « variance » et « délai ».</a:t>
            </a:r>
          </a:p>
          <a:p/>
          <a:p>
            <a:r>
              <a:t>EQUATION SOURCES (StarMath — for manual replacement only)</a:t>
            </a:r>
          </a:p>
          <a:p>
            <a:r>
              <a:t>ASCII: Var(m) = [K*s^2 + K*(K-1)*rho*s^2]/K^2 = s^2*[rho + (1-rho)/K]</a:t>
            </a:r>
          </a:p>
          <a:p>
            <a:r>
              <a:t>ASCII: K_eff = K/[1+(K-1)*rho] ; limite(K_eff) = 1/rho ; limite(gain_ecart_type) = 1/sqrt(rho)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calcul gaussien porte sur la vraie covariance connue. Avec des axes estimés, des scores non gaussiens ou une covariance changeante, additionner mécaniquement les ratios par axe ne donne pas nécessairement la KL conjointe. La division par une échelle non nulle conserve l'information d'un axe complet, mais le passage au signe peut en perdre.</a:t>
            </a:r>
          </a:p>
          <a:p/>
          <a:p>
            <a:r>
              <a:t>CANONICAL BULLET POINTS</a:t>
            </a:r>
          </a:p>
          <a:p>
            <a:r>
              <a:t>**Rattachement : diapositives 11 et 17.** Avant le changement, le vecteur r suit une loi gaussienne de moyenne nulle et de covariance Sigma ; après, sa moyenne devient Delta. Sigma est connue, inchangée et définie positive : sa variance est positive dans toute direction non nulle.</a:t>
            </a:r>
          </a:p>
          <a:p>
            <a:r>
              <a:t>Ses axes propres `v_k` sont perpendiculaires et de longueur un. La projection `y_k` a variance `lambda_k` et déplacement `delta_k`.</a:t>
            </a:r>
          </a:p>
          <a:p>
            <a:r>
              <a:t>Soustraire les logarithmes des densités après et avant changement donne le log-rapport ci-dessous. Son espérance après changement, où la moyenne de y_k vaut delta_k, donne I_k.</a:t>
            </a:r>
          </a:p>
          <a:p>
            <a:r>
              <a:t>Dans cette base propre et sous ce modèle gaussien, les projections sont indépendantes. Le log-rapport conjoint est une somme : les informations s'ajoutent.</a:t>
            </a:r>
          </a:p>
          <a:p>
            <a:r>
              <a:t>Pour une transformation quelconque des mêmes observations, la décomposition de KL en information conservée et information conditionnelle perdue donne l'inégalité de [Cover et Thomas (2006)](https://onlinelibrary.wiley.com/doi/book/10.1002/047174882X), puisque le terme perdu est positif ou nul.</a:t>
            </a:r>
          </a:p>
          <a:p/>
          <a:p>
            <a:r>
              <a:t>VISUAL SOURCE</a:t>
            </a:r>
          </a:p>
          <a:p>
            <a:r>
              <a:t>Calcul par axe, puis somme. Reprendre le schéma géométrique de la diapositive 11 sans ajouter de valeurs fictives.</a:t>
            </a:r>
          </a:p>
          <a:p/>
          <a:p>
            <a:r>
              <a:t>EQUATION SOURCES (StarMath — for manual replacement only)</a:t>
            </a:r>
          </a:p>
          <a:p>
            <a:r>
              <a:t>ASCII: y_k = v_k' * r ; delta_k = v_k' * Delta ; ell_k = delta_k*y_k/lambda_k - delta_k^2/(2*lambda_k)</a:t>
            </a:r>
          </a:p>
          <a:p>
            <a:r>
              <a:t>ASCII: I_k = E_apres[ell_k] = delta_k^2/(2*lambda_k) ; I(d) = somme(k=1..d, I_k)</a:t>
            </a:r>
          </a:p>
          <a:p>
            <a:r>
              <a:t>ASCII: KL(P1_X,P0_X) = KL(P1_Z,P0_Z) + E_P1_Z[KL(P1_X_sachant_Z,P0_X_sachant_Z)] &gt;= KL(P1_Z,P0_Z)</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matrice inverse pondère les déplacements selon leur covariance. L'inégalité devient une égalité lorsque sigma est constante. Sur les panels, la dispersion résiduelle est une estimation de l'échelle ; la capacité d'un détecteur opérationnel à exploiter ce potentiel reste à mesurer.</a:t>
            </a:r>
          </a:p>
          <a:p/>
          <a:p>
            <a:r>
              <a:t>CANONICAL BULLET POINTS</a:t>
            </a:r>
          </a:p>
          <a:p>
            <a:r>
              <a:t>**Rattachement : diapositive 15.** Supposer un déplacement de moyenne fixe Delta et une covariance conditionnelle `sigma^2 * Sigma_0`. Sigma_0 est une matrice de forme constante, définie positive ; sigma est une échelle quotidienne strictement positive.</a:t>
            </a:r>
          </a:p>
          <a:p>
            <a:r>
              <a:t>Par le calcul gaussien de l'annexe 2, connaître sigma donne l'information `A/sigma^2`, où A rassemble les termes constants. Sa moyenne vaut A multiplié par la moyenne de l'inverse de sigma au carré.</a:t>
            </a:r>
          </a:p>
          <a:p>
            <a:r>
              <a:t>Remplacer la covariance par sa moyenne dans une **référence gaussienne statique** donne A divisé par la moyenne de sigma au carré. Le quotient des deux expressions est eta.</a:t>
            </a:r>
          </a:p>
          <a:p>
            <a:r>
              <a:t>L'inégalité de Cauchy–Schwarz, appliquée à sigma et à son inverse, montre que ce produit est au moins égal à un.</a:t>
            </a:r>
          </a:p>
          <a:p>
            <a:r>
              <a:t>Les estimations 1,97 et 2,00 présentées dans le corps décrivent ce quotient. Elles ne mesurent ni un délai, ni la KL de la vraie loi marginale lorsque la volatilité est mélangée.</a:t>
            </a:r>
          </a:p>
          <a:p/>
          <a:p>
            <a:r>
              <a:t>VISUAL SOURCE</a:t>
            </a:r>
          </a:p>
          <a:p>
            <a:r>
              <a:t>Deux colonnes « échelle quotidienne connue » / « covariance moyenne de référence », avec les deux expressions d'information. Aucune courbe de performance.</a:t>
            </a:r>
          </a:p>
          <a:p/>
          <a:p>
            <a:r>
              <a:t>EQUATION SOURCES (StarMath — for manual replacement only)</a:t>
            </a:r>
          </a:p>
          <a:p>
            <a:r>
              <a:t>ASCII: A = Delta' * Sigma_0^(-1) * Delta / 2 ; I_conditionnelle = A*E[1/sigma^2] ; I_reference = A/E[sigma^2]</a:t>
            </a:r>
          </a:p>
          <a:p>
            <a:r>
              <a:t>ASCII: eta = I_conditionnelle/I_reference = E[sigma^2]*E[1/sigma^2] &gt;= (E[sigma*(1/sigma)])^2 = 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mélange porte sur les moyennes candidates, donc à la fois leur orientation et leur amplitude. Une moyenne de rapports de vraisemblance construits avant les observations conserve leur validité sous la loi de référence. Ce calcul gaussien ne se transfère pas automatiquement à des signes dépendants entre axes.</a:t>
            </a:r>
          </a:p>
          <a:p/>
          <a:p>
            <a:r>
              <a:t>CANONICAL BULLET POINTS</a:t>
            </a:r>
          </a:p>
          <a:p>
            <a:r>
              <a:t>**Rattachement : diapositive 16.** Les observations z_t sont des vecteurs gaussiens indépendants de dimension d, de covariance identité. Leur moyenne est nulle avant le changement, puis vaut theta.</a:t>
            </a:r>
          </a:p>
          <a:p>
            <a:r>
              <a:t>Définir S_n comme la somme des n observations depuis le changement. Pour une moyenne candidate u, le rapport de vraisemblance, densité alternative divisée par densité de référence, vaut l'exponentielle ci-dessous.</a:t>
            </a:r>
          </a:p>
          <a:p>
            <a:r>
              <a:t>Mélanger les candidats selon une loi gaussienne de moyenne nulle et de covariance `s^2 * Id`, où Id est la matrice identité et s une largeur positive fixée.</a:t>
            </a:r>
          </a:p>
          <a:p>
            <a:r>
              <a:t>Multiplier par la densité du candidat, puis compléter le carré en u. Poser `a = n + 1/s^2`.</a:t>
            </a:r>
          </a:p>
          <a:p>
            <a:r>
              <a:t>L'intégrale du terme gaussien centré vaut `(2*pi/a)^(d/2)`. Le produit avec la constante de densité du mélange donne le facteur de dimension annoncé.</a:t>
            </a:r>
          </a:p>
          <a:p/>
          <a:p>
            <a:r>
              <a:t>VISUAL SOURCE</a:t>
            </a:r>
          </a:p>
          <a:p>
            <a:r>
              <a:t>Trois étapes : densité du candidat → complétion du carré → intégrale. Mettre en évidence le facteur dépendant de d. Aucun résultat numérique supplémentaire.</a:t>
            </a:r>
          </a:p>
          <a:p/>
          <a:p>
            <a:r>
              <a:t>EQUATION SOURCES (StarMath — for manual replacement only)</a:t>
            </a:r>
          </a:p>
          <a:p>
            <a:r>
              <a:t>ASCII: S_n = somme(t=1..n, z_t) ; L_n = integrale exp(u'*S_n - n*norme(u)^2/2) dPi(u)</a:t>
            </a:r>
          </a:p>
          <a:p>
            <a:r>
              <a:t>ASCII: u'*S_n - a*norme(u)^2/2 = -a*norme(u-S_n/a)^2/2 + norme(S_n)^2/(2*a)</a:t>
            </a:r>
          </a:p>
          <a:p>
            <a:r>
              <a:t>ASCII: L_n = (1+n*s^2)^(-d/2) * exp[s^2*norme(S_n)^2 / (2*(1+n*s^2))]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x positif, la dérivée de x - (d/2)*ln(1+2*x/d) vaut 2*x/(d+2*x), donc est positive. La fonction part de zéro et tend vers l'infini : chaque A positif possède une unique solution. Le budget x_d/I(d) est une approximation par la croissance moyenne du logarithme, sans égalité revendiquée avec le délai d'arrêt.</a:t>
            </a:r>
          </a:p>
          <a:p/>
          <a:p>
            <a:r>
              <a:t>CANONICAL BULLET POINTS</a:t>
            </a:r>
          </a:p>
          <a:p>
            <a:r>
              <a:t>**Rattachement : diapositive 16.** Définir l'information quotidienne `I = norme(theta)^2/2` et l'information accumulée `x = n*I`.</a:t>
            </a:r>
          </a:p>
          <a:p>
            <a:r>
              <a:t>Sous le changement, S_n a moyenne n*theta et covariance n fois l'identité. L'espérance de sa norme au carré est la norme de sa moyenne au carré, plus la somme des variances.</a:t>
            </a:r>
          </a:p>
          <a:p>
            <a:r>
              <a:t>Dans l'expression de l'annexe 4, choisir la largeur idéale `s^2 = 2*I/d`. Le terme quadratique moyen se simplifie exactement en x.</a:t>
            </a:r>
          </a:p>
          <a:p>
            <a:r>
              <a:t>Poser `A = ln(gamma)`, où gamma est le seuil de preuve. Résoudre l'équation de l'espérance définit x_d ; ce n'est pas calculer un temps moyen de premier franchissement.</a:t>
            </a:r>
          </a:p>
          <a:p>
            <a:r>
              <a:t>À gamma = 504, les multiplicateurs `x_d/A` sont 1,56958 pour d = 4 et 9,64266 pour d = 500. Comparer les budgets en jours donne la condition de rétention **supérieure à 16,3 %**, déjà présentée.</a:t>
            </a:r>
          </a:p>
          <a:p/>
          <a:p>
            <a:r>
              <a:t>VISUAL SOURCE</a:t>
            </a:r>
          </a:p>
          <a:p>
            <a:r>
              <a:t>Uniquement les deux dimensions déjà comparées dans le corps, avec les étapes du calcul. Aucun tableau de nouvelles dimensions.</a:t>
            </a:r>
          </a:p>
          <a:p/>
          <a:p>
            <a:r>
              <a:t>EQUATION SOURCES (StarMath — for manual replacement only)</a:t>
            </a:r>
          </a:p>
          <a:p>
            <a:r>
              <a:t>ASCII: E[norme(S_n)^2] = 2*n^2*I + n*d ; E[ln(L_n)] = -(d/2)*ln(1+n*s^2) + s^2*(2*n^2*I+n*d)/(2*(1+n*s^2))</a:t>
            </a:r>
          </a:p>
          <a:p>
            <a:r>
              <a:t>ASCII: E[ln(L_n)] = x - (d/2)*ln(1+2*x/d) ; x_d - (d/2)*ln(1+2*x_d/d) = A</a:t>
            </a:r>
          </a:p>
          <a:p>
            <a:r>
              <a:t>ASCII: x_4/I(4) &lt; x_500/I(500) si et seulement si I(4)/I(500) &gt; x_4/x_500 = 0.162775...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Développer H_(d+1), puis utiliser I(d+1)=I(d)+q_(d+1) et C(d+1)=C(d)+c pour obtenir la seconde identité. La décroissance des q_k n'est pas garantie par leur classement ACP en variance. Ce coût affine est un modèle illustratif ; la preuve ne s'applique pas sans adaptation au coût du mélange gaussien.</a:t>
            </a:r>
          </a:p>
          <a:p/>
          <a:p>
            <a:r>
              <a:t>CANONICAL BULLET POINTS</a:t>
            </a:r>
          </a:p>
          <a:p>
            <a:r>
              <a:t>**Rattachement : diapositive 17.** Fixer un ordre de N axes. Noter q_k leur contribution d'information, I(d) leur somme jusqu'à d, et C(d) un coût positif. L'efficacité V(d) est I(d)/C(d).</a:t>
            </a:r>
          </a:p>
          <a:p>
            <a:r>
              <a:t>Soustraire les efficacités aux dimensions d+1 et d donne le critère marginal ci-dessous, sans hypothèse de coût affine.</a:t>
            </a:r>
          </a:p>
          <a:p>
            <a:r>
              <a:t>Pour étudier un optimum global, supposer des q_k strictement décroissants et positifs ou nuls, et un coût `C(d)=a+c*d` : a est le coût fixe, c le coût par axe, tous deux strictement positifs.</a:t>
            </a:r>
          </a:p>
          <a:p>
            <a:r>
              <a:t>Le signe de l'accroissement est celui de H_d. Sa différence à l'étape suivante est strictement négative : les accroissements changent de signe au plus une fois.</a:t>
            </a:r>
          </a:p>
          <a:p>
            <a:r>
              <a:t>Le maximum est donc au premier d où H_d devient négatif, ou à une extrémité. Si H_d vaut exactement zéro, deux dimensions voisines sont ex aequo. **Aucun intervalle numérique pour d* n'en découle sans hypothèses supplémentaires.**</a:t>
            </a:r>
          </a:p>
          <a:p/>
          <a:p>
            <a:r>
              <a:t>VISUAL SOURCE</a:t>
            </a:r>
          </a:p>
          <a:p>
            <a:r>
              <a:t>Une ligne de signes « positif, positif, éventuellement zéro, négatif ». Aucun emplacement numérique pour le maximum. Les hypothèses apparaissent dans le même bloc que la conclusion.</a:t>
            </a:r>
          </a:p>
          <a:p/>
          <a:p>
            <a:r>
              <a:t>EQUATION SOURCES (StarMath — for manual replacement only)</a:t>
            </a:r>
          </a:p>
          <a:p>
            <a:r>
              <a:t>ASCII: V(d+1)-V(d) = [q_(d+1)*C(d) - I(d)*(C(d+1)-C(d))]/[C(d)*C(d+1)]</a:t>
            </a:r>
          </a:p>
          <a:p>
            <a:r>
              <a:t>ASCII: H_d = q_(d+1)*C(d) - c*I(d) ; H_(d+1)-H_d = [q_(d+2)-q_(d+1)]*C(d+1) &lt; 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choix de g peut évoluer avec le passé si son imparité est conservée. Il ne doit pas utiliser le rendement du jour pour choisir une orientation favorable. L'égalité temporelle rend possible le calcul exact des niveaux atteignables du CUSUM sur signes ; elle ne garantit pas le même niveau pour plusieurs CUSUM combinés sans correction.</a:t>
            </a:r>
          </a:p>
          <a:p/>
          <a:p>
            <a:r>
              <a:t>CANONICAL BULLET POINTS</a:t>
            </a:r>
          </a:p>
          <a:p>
            <a:r>
              <a:t>**Rattachement : diapositive 12.** F_(t-1) désigne toute l'information disponible avant le jour t. Sous la loi sans changement, r_t et son opposé ont la même loi conditionnelle sachant ce passé.</a:t>
            </a:r>
          </a:p>
          <a:p>
            <a:r>
              <a:t>Une fonction g choisie à partir du passé est **impaire** : inverser r inverse g(r). L'inversion échange donc les événements g(r_t) positif et g(r_t) négatif. Le bit b_t code le signe positif par un, le signe négatif par zéro.</a:t>
            </a:r>
          </a:p>
          <a:p>
            <a:r>
              <a:t>Noter p_0 la probabilité conditionnelle d'obtenir zéro. Chaque signe strict a probabilité (1-p_0)/2. Un tirage indépendant équilibré aux zéros ajoute p_0/2 : la probabilité du bit b_t égal à un est exactement 1/2.</a:t>
            </a:r>
          </a:p>
          <a:p>
            <a:r>
              <a:t>Pour toute séquence fixée de bits, conditionner le dernier bit sur le passé multiplie sa probabilité par 1/2. Répéter l'opération donne la probabilité de la séquence entière.</a:t>
            </a:r>
          </a:p>
          <a:p>
            <a:r>
              <a:t>Cela établit l'indépendance **temporelle de ce flux scalaire**. Cela n'établit ni l'indépendance entre axes, ni la symétrie des rendements bruts.</a:t>
            </a:r>
          </a:p>
          <a:p/>
          <a:p>
            <a:r>
              <a:t>VISUAL SOURCE</a:t>
            </a:r>
          </a:p>
          <a:p>
            <a:r>
              <a:t>Les quatre étapes du raisonnement, sans graphique supplémentaire. Conserver la réserve « conditionnellement au passé » au début et à la conclusion.</a:t>
            </a:r>
          </a:p>
          <a:p/>
          <a:p>
            <a:r>
              <a:t>EQUATION SOURCES (StarMath — for manual replacement only)</a:t>
            </a:r>
          </a:p>
          <a:p>
            <a:r>
              <a:t>ASCII: P[b_t=1 sachant F_(t-1)] = (1-p_0)/2 + p_0/2 = 1/2</a:t>
            </a:r>
          </a:p>
          <a:p>
            <a:r>
              <a:t>ASCII: P[b_1=c_1,...,b_n=c_n] = P[b_1=c_1,...,b_(n-1)=c_(n-1)]/2 = 2^(-n)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rotation à l'intérieur d'un sous-espace de variances égales peut laisser la covariance inchangée ; toutes les rotations ne produisent donc pas une alternative distincte. Le calcul gaussien explicite l'information disponible, sans attribuer au détecteur d'énergie toute cette information.</a:t>
            </a:r>
          </a:p>
          <a:p/>
          <a:p>
            <a:r>
              <a:t>CANONICAL BULLET POINTS</a:t>
            </a:r>
          </a:p>
          <a:p>
            <a:r>
              <a:t>**Rattachement : diapositives 5 et 13.** Considérer deux lois gaussiennes de moyenne nulle, de covariances Sigma_0 avant changement et Sigma_1 après. Les matrices sont définies positives et portent sur N rendements.</a:t>
            </a:r>
          </a:p>
          <a:p>
            <a:r>
              <a:t>Le logarithme d'une densité gaussienne contient un terme de déterminant et un terme quadratique. Soustraire les deux log-densités donne ell(r).</a:t>
            </a:r>
          </a:p>
          <a:p>
            <a:r>
              <a:t>Sous la loi après changement, la moyenne de r*r' est Sigma_1. L'espérance d'une forme quadratique est donc la trace de sa matrice multipliée par Sigma_1 ; la **trace** est la somme des éléments diagonaux.</a:t>
            </a:r>
          </a:p>
          <a:p>
            <a:r>
              <a:t>En prenant l'espérance de ell, on obtient la KL. Pour une rotation orthogonale R, les déterminants sont égaux ; si la covariance change effectivement, l'information peut être non nulle.</a:t>
            </a:r>
          </a:p>
          <a:p>
            <a:r>
              <a:t>Cette information concerne le vecteur entier. Une projection fixe peut voir sa variance baisser ; un détecteur de hausse d'énergie peut alors manquer le changement.</a:t>
            </a:r>
          </a:p>
          <a:p/>
          <a:p>
            <a:r>
              <a:t>VISUAL SOURCE</a:t>
            </a:r>
          </a:p>
          <a:p>
            <a:r>
              <a:t>Reprendre l'ellipse tournée et l'indice fixe de la diapositive 13. Aucun nouveau résultat de délai.</a:t>
            </a:r>
          </a:p>
          <a:p/>
          <a:p>
            <a:r>
              <a:t>EQUATION SOURCES (StarMath — for manual replacement only)</a:t>
            </a:r>
          </a:p>
          <a:p>
            <a:r>
              <a:t>ASCII: ell(r) = [ln(det(Sigma_0)/det(Sigma_1)) + r'*(Sigma_0^(-1)-Sigma_1^(-1))*r]/2</a:t>
            </a:r>
          </a:p>
          <a:p>
            <a:r>
              <a:t>ASCII: E_1[r'*B*r] = trace(B*Sigma_1) ; KL = [trace(Sigma_0^(-1)*Sigma_1)-ln(det(Sigma_0^(-1)*Sigma_1))-N]/2</a:t>
            </a:r>
          </a:p>
          <a:p>
            <a:r>
              <a:t>ASCII: Sigma_1 = R*Sigma_0*R' ; R'*R = Id ; det(Sigma_1) = det(Sigma_0)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moyenne est l'exemple le plus simple ; une projection factorielle utilisant les rendements cachés crée la même difficulté. Une estimation de facteurs sur V demande suffisamment d'actions visibles et une matrice inversible, ou une régularisation définie à l'avance. Au test, toutes les actions disponibles sont observées : le masque est une tâche d'entraînement. Les caractéristiques sont conservées lors de l'inversion des rendements qui construit les sorties paire et impaire.</a:t>
            </a:r>
          </a:p>
          <a:p/>
          <a:p>
            <a:r>
              <a:t>CANONICAL BULLET POINTS</a:t>
            </a:r>
          </a:p>
          <a:p>
            <a:r>
              <a:t>**Rattachement : diapositives 18 à 20.** Séparer les actions d'une journée en un ensemble visible V et un ensemble masqué M, sans intersection. Le contexte reçoit les rendements visibles et les caractéristiques connues ; la cible est calculée séparément.</a:t>
            </a:r>
          </a:p>
          <a:p>
            <a:r>
              <a:t>Si la moyenne des N rendements est soustraite avant le masquage, modifier un rendement caché modifie chaque résidu visible. La dépendance à la cible existe donc même après avoir supprimé sa case.</a:t>
            </a:r>
          </a:p>
          <a:p>
            <a:r>
              <a:t>Option sans neutralisation préalable : aucun rendement caché n'intervient dans les entrées visibles. Option avec neutralisation : estimer le mouvement commun uniquement sur V et appliquer cette estimation pour préparer la tâche.</a:t>
            </a:r>
          </a:p>
          <a:p>
            <a:r>
              <a:t>Le réseau cible suit une **moyenne mobile exponentielle** des paramètres du contexte : un poids fixe combine son ancien état et les paramètres récents. Les cibles restent hors des entrées et du chemin de mise à jour directe par l'erreur.</a:t>
            </a:r>
          </a:p>
          <a:p>
            <a:r>
              <a:t>La conception comporte deux à quatre couches d'attention, une largeur interne de 64 et quatre groupes de pondération, appelés têtes d'attention. Ces choix sont des paramètres proposés ; les coordonnées finalement surveillées sont choisies séparément.</a:t>
            </a:r>
          </a:p>
          <a:p/>
          <a:p>
            <a:r>
              <a:t>VISUAL SOURCE</a:t>
            </a:r>
          </a:p>
          <a:p>
            <a:r>
              <a:t>Deux chemins : « toutes les actions → moyenne → masque » avec dépendance à la cible ; « masque → préparation sur visibles » sans cette dépendance. Une seconde ligne sépare « entraînement avec cibles » et « surveillance avec réseau figé ».</a:t>
            </a:r>
          </a:p>
          <a:p/>
          <a:p>
            <a:r>
              <a:t>EQUATION SOURCES (StarMath — for manual replacement only)</a:t>
            </a:r>
          </a:p>
          <a:p>
            <a:r>
              <a:t>ASCII: m_visible(t) = somme(i dans V, r(i,t)) / nombre(V)</a:t>
            </a:r>
          </a:p>
          <a:p>
            <a:r>
              <a:t>ASCII: r_visible - moyenne_toutes_actions = r_visible - [somme_visible + somme_masquee]/N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un seuil de preuve gamma, h=ln(gamma). Pour un temps moyen avant fausse alarme L, il faut au contraire résoudre exp(h)-h-1=L*I. Le budget ln(gamma)/I ne peut remplacer indifféremment ces deux calculs. Pour les observations quotidiennes, il faut aussi traiter le dépassement du seuil entre deux observations et vérifier la calibration numérique.</a:t>
            </a:r>
          </a:p>
          <a:p/>
          <a:p>
            <a:r>
              <a:t>CANONICAL BULLET POINTS</a:t>
            </a:r>
          </a:p>
          <a:p>
            <a:r>
              <a:t>**Rattachement : diapositives 9 et 16.** Dans le modèle gaussien à covariance identité, le log-rapport quotidien ell vaut theta'*z moins I, avec `I = norme(theta)^2/2`. Sa moyenne est -I avant changement, +I après ; sa variance est 2I dans les deux cas.</a:t>
            </a:r>
          </a:p>
          <a:p>
            <a:r>
              <a:t>Remplacer cette marche quotidienne par une diffusion revient à utiliser des incréments continus de mêmes moyenne et variance. Le CUSUM correspond à la diffusion réfléchie à zéro, arrêtée au seuil h positif.</a:t>
            </a:r>
          </a:p>
          <a:p>
            <a:r>
              <a:t>Noter v_mu(y) le temps moyen restant jusqu'au seuil en partant de y, pour une dérive mu égale à -I ou +I. L'équation des temps de sortie donne l'équation différentielle ci-dessous ; réflexion et arrêt imposent ses conditions aux bords.</a:t>
            </a:r>
          </a:p>
          <a:p>
            <a:r>
              <a:t>Intégrer une fois avec la dérivée nulle à zéro, puis une seconde fois avec la valeur nulle au seuil, donne les deux temps moyens. C'est le cadre brownien de [Taylor (1975)](https://doi.org/10.1214/aop/1176996395).</a:t>
            </a:r>
          </a:p>
          <a:p>
            <a:r>
              <a:t>**Portée :** les formules sont exactes pour cette diffusion, approchées pour des observations quotidiennes. Fixer un temps moyen avant fausse alarme, fixer un seuil de preuve et fixer un risque à horizon donné sont trois réglages distincts.</a:t>
            </a:r>
          </a:p>
          <a:p/>
          <a:p>
            <a:r>
              <a:t>VISUAL SOURCE</a:t>
            </a:r>
          </a:p>
          <a:p>
            <a:r>
              <a:t>Trois colonnes : hypothèses gaussiennes → équation avec réflexion → deux temps moyens. Aucun chiffre de délai supplémentaire.</a:t>
            </a:r>
          </a:p>
          <a:p/>
          <a:p>
            <a:r>
              <a:t>EQUATION SOURCES (StarMath — for manual replacement only)</a:t>
            </a:r>
          </a:p>
          <a:p>
            <a:r>
              <a:t>ASCII: I*v_mu''(y) + mu*v_mu'(y) = -1 ; v_mu'(0) = 0 ; v_mu(h) = 0</a:t>
            </a:r>
          </a:p>
          <a:p>
            <a:r>
              <a:t>ASCII: v_-I'(y) = [1-exp(y)]/I ; v_+I'(y) = [exp(-y)-1]/I</a:t>
            </a:r>
          </a:p>
          <a:p>
            <a:r>
              <a:t>ASCII: temps_avant_fausse_alarme = [exp(h)-h-1]/I ; delai_apres_changement = [h-1+exp(-h)]/I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partie centrée du log-rapport a variance totale 2B ; sa convergence en moyenne quadratique autorise l'arrêt utilisé. Les relations entre lois donnent que Q_n/Lambda_n a une espérance conditionnelle non croissante sous le changement ; son espérance arrêtée est au plus un et Jensen borne l'espérance de son logarithme par zéro. Une absence de franchissement dans l'approximation moyenne n'interdit pas une alarme sur une trajectoire bruitée. L'énoncé ne concerne pas tous les détecteurs redémarrés à chaque date.</a:t>
            </a:r>
          </a:p>
          <a:p/>
          <a:p>
            <a:r>
              <a:t>CANONICAL BULLET POINTS</a:t>
            </a:r>
          </a:p>
          <a:p>
            <a:r>
              <a:t>**Rattachement : diapositive 4.** Modèle : observations gaussiennes indépendantes, covariance identité, moyenne après changement `theta*exp(-(t-1)/tau_a)`. Le vecteur theta est le déplacement initial non nul ; tau_a est un temps d'adaptation positif ; I_0, l'information du premier jour, vaut la moitié de la longueur de theta au carré.</a:t>
            </a:r>
          </a:p>
          <a:p>
            <a:r>
              <a:t>L'information décroît comme le carré de la moyenne. Sa somme discrète est une série géométrique finie. Dans l'approximation continue, son intégrale jusqu'à t donne B(t).</a:t>
            </a:r>
          </a:p>
          <a:p>
            <a:r>
              <a:t>Avec un seuil logarithmique A positif, poser `tau_0=A/I_0`. Résoudre B(t)=A donne le délai du modèle de croissance moyenne si tau_a dépasse 2*tau_0 ; à égalité, le seuil n'est approché qu'à l'infini ; en dessous, il n'est pas atteint par cette croissance moyenne.</a:t>
            </a:r>
          </a:p>
          <a:p>
            <a:r>
              <a:t>**Énoncé probabiliste distinct :** si le budget discret total B est inférieur à A, une preuve Q non négative, d'espérance conditionnelle non croissante sous la loi sans changement, initialisée au plus à un au début du changement, a une probabilité strictement positive de ne jamais franchir exp(A).</a:t>
            </a:r>
          </a:p>
          <a:p>
            <a:r>
              <a:t>Preuve par contradiction : supposer le temps de franchissement T fini presque sûrement. Le logarithme du rapport de vraisemblance Lambda a moyenne arrêtée au plus B ; sa partie centrée a une variance totale finie. Le quotient de la preuve par Lambda a une espérance arrêtée au plus un. La concavité du logarithme donne alors une espérance du log de la preuve au plus B, alors qu'au franchissement elle est au moins A.</a:t>
            </a:r>
          </a:p>
          <a:p/>
          <a:p>
            <a:r>
              <a:t>VISUAL SOURCE</a:t>
            </a:r>
          </a:p>
          <a:p>
            <a:r>
              <a:t>Information quotidienne décroissante, puis cumul approchant un plafond. Dessiner trois positions du seuil : sous le plafond, au plafond, au-dessus. Étiquette « modèle théorique ; pas expérience JEPA ».</a:t>
            </a:r>
          </a:p>
          <a:p/>
          <a:p>
            <a:r>
              <a:t>EQUATION SOURCES (StarMath — for manual replacement only)</a:t>
            </a:r>
          </a:p>
          <a:p>
            <a:r>
              <a:t>ASCII: I_t = I_0*exp(-2*(t-1)/tau_a) ; B = somme(t&gt;=1,I_t) = I_0/[1-exp(-2/tau_a)]</a:t>
            </a:r>
          </a:p>
          <a:p>
            <a:r>
              <a:t>ASCII: B(t) = I_0*tau_a*[1-exp(-2*t/tau_a)]/2 ; t = -(tau_a/2)*ln(1-2*tau_0/tau_a)</a:t>
            </a:r>
          </a:p>
          <a:p>
            <a:r>
              <a:t>ASCII: A &lt;= E_1[ln(Q_T)] = E_1[ln(Q_T/Lambda_T)] + E_1[ln(Lambda_T)] &lt;= B &lt; 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raisonnement est au niveau des rapports de vraisemblance démarrés à une origine commune. Pour un détecteur réellement utilisé, préciser aussi les dates de redémarrage, la calibration et le coût d'une amplitude inconnue. Le mélange gaussien continu et la liste finie sont deux constructions différentes ; leurs multiplicateurs ne se substituent pas l'un à l'autre.</a:t>
            </a:r>
          </a:p>
          <a:p/>
          <a:p>
            <a:r>
              <a:t>CANONICAL BULLET POINTS</a:t>
            </a:r>
          </a:p>
          <a:p>
            <a:r>
              <a:t>**Rattachement : diapositive 17.** Considérer K directions unitaires fixées avant les observations. Chaque direction définit un rapport de vraisemblance L_j ; leur moyenne L reste une preuve valide sous la loi sans changement.</a:t>
            </a:r>
          </a:p>
          <a:p>
            <a:r>
              <a:t>La moyenne est au moins égale à chaque terme divisé par K. Il suffit donc que l'un des rapports atteigne K fois le seuil gamma pour que la moyenne atteigne gamma.</a:t>
            </a:r>
          </a:p>
          <a:p>
            <a:r>
              <a:t>Dans le modèle gaussien de moyenne theta, une projection unitaire u conserve l'information `I*cos(angle)^2`, où I est l'information complète et angle celui entre u et theta.</a:t>
            </a:r>
          </a:p>
          <a:p>
            <a:r>
              <a:t>Pour un rapport scalaire idéalement ajusté au déplacement projeté, sa croissance logarithmique moyenne a ce taux. Il faut donc le budget A+ln(K), avec A=ln(gamma), au lieu de A.</a:t>
            </a:r>
          </a:p>
          <a:p>
            <a:r>
              <a:t>Ce calcul fournit une voie suffisante et une approximation de budget. Il ne donne pas une égalité de délais moyens et suppose un candidat bien orienté, avec une amplitude adaptée.</a:t>
            </a:r>
          </a:p>
          <a:p/>
          <a:p>
            <a:r>
              <a:t>VISUAL SOURCE</a:t>
            </a:r>
          </a:p>
          <a:p>
            <a:r>
              <a:t>Un vecteur de changement et quelques directions candidates. Montrer la projection sur la mieux alignée, puis les deux termes « nombre de candidats » et « information conservée ». Aucun résultat empirique ajouté.</a:t>
            </a:r>
          </a:p>
          <a:p/>
          <a:p>
            <a:r>
              <a:t>EQUATION SOURCES (StarMath — for manual replacement only)</a:t>
            </a:r>
          </a:p>
          <a:p>
            <a:r>
              <a:t>ASCII: L = somme(j=1..K,L_j)/K &gt;= L_j/K ; L_j &gt;= K*gamma implique L &gt;= gamma</a:t>
            </a:r>
          </a:p>
          <a:p>
            <a:r>
              <a:t>ASCII: I_projection = (u'*theta)^2/2 = I*cos(angle)^2 ; budget_jours = [A+ln(K)]/[I*cos(angle)^2]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93/biomet/41.1-2.100"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ledoit.net/Well-conditioned2004.pdf" TargetMode="External"/><Relationship Id="rId3" Type="http://schemas.openxmlformats.org/officeDocument/2006/relationships/hyperlink" Target="https://nejsds.nestat.org/journal/NEJSDS/article/59/text"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athnet.ru/eng/msb4101"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nlinelibrary.wiley.com/doi/book/10.1002/047174882X"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214/aop/1176996395"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ceedings.iclr.cc/paper_files/paper/2025/hash/93f01c8d9b355d7bbe3f353b44ccde66-Abstract-Conference.html"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105.04906" TargetMode="External"/><Relationship Id="rId3" Type="http://schemas.openxmlformats.org/officeDocument/2006/relationships/hyperlink" Target="https://doi.org/10.1016/j.jfineco.2019.05.001"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nlinelibrary.wiley.com/doi/book/10.1002/047174882X"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214/aop/1176996395" TargetMode="Externa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8046720" cy="2011680"/>
          </a:xfrm>
          <a:prstGeom prst="rect">
            <a:avLst/>
          </a:prstGeom>
          <a:solidFill>
            <a:srgbClr val="00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694944"/>
            <a:ext cx="7635240" cy="548640"/>
          </a:xfrm>
          <a:prstGeom prst="rect">
            <a:avLst/>
          </a:prstGeom>
          <a:noFill/>
        </p:spPr>
        <p:txBody>
          <a:bodyPr wrap="square" lIns="45720" rIns="45720" tIns="13716" bIns="13716" anchor="t">
            <a:spAutoFit/>
          </a:bodyPr>
          <a:lstStyle/>
          <a:p>
            <a:pPr algn="l">
              <a:lnSpc>
                <a:spcPts val="3450"/>
              </a:lnSpc>
              <a:spcAft>
                <a:spcPts val="0"/>
              </a:spcAft>
            </a:pPr>
            <a:r>
              <a:rPr sz="3000" b="0" i="0">
                <a:solidFill>
                  <a:srgbClr val="2C3E50"/>
                </a:solidFill>
                <a:latin typeface="Carlito"/>
              </a:rPr>
              <a:t/>
            </a:r>
            <a:r>
              <a:rPr sz="3000" b="1">
                <a:solidFill>
                  <a:srgbClr val="FFFFFF"/>
                </a:solidFill>
                <a:latin typeface="Carlito"/>
              </a:rPr>
              <a:t>JEPA-Drift</a:t>
            </a:r>
          </a:p>
        </p:txBody>
      </p:sp>
      <p:sp>
        <p:nvSpPr>
          <p:cNvPr id="4" name="TextBox 3"/>
          <p:cNvSpPr txBox="1"/>
          <p:nvPr/>
        </p:nvSpPr>
        <p:spPr>
          <a:xfrm>
            <a:off x="749808" y="1280160"/>
            <a:ext cx="7498079" cy="886968"/>
          </a:xfrm>
          <a:prstGeom prst="rect">
            <a:avLst/>
          </a:prstGeom>
          <a:noFill/>
        </p:spPr>
        <p:txBody>
          <a:bodyPr wrap="square" lIns="45720" rIns="45720" tIns="13716" bIns="13716" anchor="t">
            <a:spAutoFit/>
          </a:bodyPr>
          <a:lstStyle/>
          <a:p>
            <a:pPr algn="l">
              <a:lnSpc>
                <a:spcPts val="2529"/>
              </a:lnSpc>
              <a:spcAft>
                <a:spcPts val="0"/>
              </a:spcAft>
            </a:pPr>
            <a:r>
              <a:rPr sz="2200" b="0" i="0">
                <a:solidFill>
                  <a:srgbClr val="2C3E50"/>
                </a:solidFill>
                <a:latin typeface="Carlito"/>
              </a:rPr>
              <a:t/>
            </a:r>
            <a:r>
              <a:rPr sz="2200" b="1">
                <a:solidFill>
                  <a:srgbClr val="FFFFFF"/>
                </a:solidFill>
                <a:latin typeface="Carlito"/>
              </a:rPr>
              <a:t>Détecter plus vite, à risque de fausse alarme maîtrisé</a:t>
            </a:r>
          </a:p>
        </p:txBody>
      </p:sp>
      <p:sp>
        <p:nvSpPr>
          <p:cNvPr id="5" name="Rectangle 4"/>
          <p:cNvSpPr/>
          <p:nvPr/>
        </p:nvSpPr>
        <p:spPr>
          <a:xfrm>
            <a:off x="548640" y="2560320"/>
            <a:ext cx="8046720" cy="54864"/>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743200"/>
            <a:ext cx="9144000" cy="1645920"/>
          </a:xfrm>
          <a:prstGeom prst="rect">
            <a:avLst/>
          </a:prstGeom>
          <a:solidFill>
            <a:srgbClr val="3B6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834640"/>
            <a:ext cx="8046720" cy="420624"/>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907792"/>
            <a:ext cx="7818120" cy="283464"/>
          </a:xfrm>
          <a:prstGeom prst="rect">
            <a:avLst/>
          </a:prstGeom>
          <a:noFill/>
        </p:spPr>
        <p:txBody>
          <a:bodyPr wrap="square" lIns="45720" rIns="45720" tIns="13716" bIns="13716" anchor="t">
            <a:spAutoFit/>
          </a:bodyPr>
          <a:lstStyle/>
          <a:p>
            <a:pPr algn="l">
              <a:lnSpc>
                <a:spcPts val="1609"/>
              </a:lnSpc>
              <a:spcAft>
                <a:spcPts val="0"/>
              </a:spcAft>
            </a:pPr>
            <a:r>
              <a:rPr sz="1400" b="0" i="0">
                <a:solidFill>
                  <a:srgbClr val="2C3E50"/>
                </a:solidFill>
                <a:latin typeface="Carlito"/>
              </a:rPr>
              <a:t/>
            </a:r>
            <a:r>
              <a:rPr sz="1400" b="1">
                <a:solidFill>
                  <a:srgbClr val="FFFFFF"/>
                </a:solidFill>
                <a:latin typeface="Carlito"/>
              </a:rPr>
              <a:t>Point hebdomadaire — lundi 26 octobre 2026</a:t>
            </a:r>
          </a:p>
        </p:txBody>
      </p:sp>
      <p:sp>
        <p:nvSpPr>
          <p:cNvPr id="9" name="TextBox 8"/>
          <p:cNvSpPr txBox="1"/>
          <p:nvPr/>
        </p:nvSpPr>
        <p:spPr>
          <a:xfrm>
            <a:off x="658368" y="3383280"/>
            <a:ext cx="7818120" cy="320040"/>
          </a:xfrm>
          <a:prstGeom prst="rect">
            <a:avLst/>
          </a:prstGeom>
          <a:noFill/>
        </p:spPr>
        <p:txBody>
          <a:bodyPr wrap="square" lIns="45720" rIns="45720" tIns="13716" bIns="13716" anchor="t">
            <a:spAutoFit/>
          </a:bodyPr>
          <a:lstStyle/>
          <a:p>
            <a:pPr algn="ctr">
              <a:lnSpc>
                <a:spcPts val="1839"/>
              </a:lnSpc>
              <a:spcAft>
                <a:spcPts val="0"/>
              </a:spcAft>
            </a:pPr>
            <a:r>
              <a:rPr sz="1600" b="0" i="0">
                <a:solidFill>
                  <a:srgbClr val="2C3E50"/>
                </a:solidFill>
                <a:latin typeface="Carlito"/>
              </a:rPr>
              <a:t/>
            </a:r>
            <a:r>
              <a:rPr sz="1600" b="1">
                <a:solidFill>
                  <a:srgbClr val="FFFFFF"/>
                </a:solidFill>
                <a:latin typeface="Carlito"/>
              </a:rPr>
              <a:t>rendements du jour  →  quelques coordonnées  →  alarme</a:t>
            </a:r>
          </a:p>
        </p:txBody>
      </p:sp>
      <p:sp>
        <p:nvSpPr>
          <p:cNvPr id="10" name="TextBox 9"/>
          <p:cNvSpPr txBox="1"/>
          <p:nvPr/>
        </p:nvSpPr>
        <p:spPr>
          <a:xfrm>
            <a:off x="658368" y="3794760"/>
            <a:ext cx="7818120" cy="274320"/>
          </a:xfrm>
          <a:prstGeom prst="rect">
            <a:avLst/>
          </a:prstGeom>
          <a:noFill/>
        </p:spPr>
        <p:txBody>
          <a:bodyPr wrap="square" lIns="45720" rIns="45720" tIns="13716" bIns="13716" anchor="t">
            <a:spAutoFit/>
          </a:bodyPr>
          <a:lstStyle/>
          <a:p>
            <a:pPr algn="ctr">
              <a:lnSpc>
                <a:spcPts val="1264"/>
              </a:lnSpc>
              <a:spcAft>
                <a:spcPts val="0"/>
              </a:spcAft>
            </a:pPr>
            <a:r>
              <a:rPr sz="1100" b="0" i="0">
                <a:solidFill>
                  <a:srgbClr val="2C3E50"/>
                </a:solidFill>
                <a:latin typeface="Carlito"/>
              </a:rPr>
              <a:t/>
            </a:r>
            <a:r>
              <a:rPr sz="1100" b="1">
                <a:solidFill>
                  <a:srgbClr val="D5DBDB"/>
                </a:solidFill>
                <a:latin typeface="Carlito"/>
              </a:rPr>
              <a:t>représentation = nouvelle description des mêmes observations</a:t>
            </a:r>
          </a:p>
        </p:txBody>
      </p:sp>
      <p:sp>
        <p:nvSpPr>
          <p:cNvPr id="11" name="Rectangle 10"/>
          <p:cNvSpPr/>
          <p:nvPr/>
        </p:nvSpPr>
        <p:spPr>
          <a:xfrm>
            <a:off x="6995160" y="182880"/>
            <a:ext cx="1280160"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182880"/>
            <a:ext cx="1280160" cy="246888"/>
          </a:xfrm>
          <a:prstGeom prst="rect">
            <a:avLst/>
          </a:prstGeom>
          <a:noFill/>
        </p:spPr>
        <p:txBody>
          <a:bodyPr wrap="square" lIns="45720" rIns="45720" tIns="18288" bIns="18288" anchor="ctr">
            <a:spAutoFit/>
          </a:bodyPr>
          <a:lstStyle/>
          <a:p>
            <a:pPr algn="ctr"/>
            <a:r>
              <a:rPr sz="800" b="1" i="0">
                <a:solidFill>
                  <a:srgbClr val="FFFFFF"/>
                </a:solidFill>
                <a:latin typeface="Calibri"/>
              </a:rPr>
              <a:t>RECHERCHE</a:t>
            </a:r>
          </a:p>
        </p:txBody>
      </p:sp>
      <p:sp>
        <p:nvSpPr>
          <p:cNvPr id="13" name="TextBox 12"/>
          <p:cNvSpPr txBox="1"/>
          <p:nvPr/>
        </p:nvSpPr>
        <p:spPr>
          <a:xfrm>
            <a:off x="612648" y="4489704"/>
            <a:ext cx="7863840" cy="256032"/>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5D6D7E"/>
                </a:solidFill>
                <a:latin typeface="Carlito"/>
              </a:rPr>
              <a:t>Méthode linéaire (ACP)  vs  réseau à entraîner (JEPA)</a:t>
            </a:r>
          </a:p>
        </p:txBody>
      </p:sp>
      <p:sp>
        <p:nvSpPr>
          <p:cNvPr id="14" name="TextBox 13"/>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Ce que les résultats permettent de dire</a:t>
            </a:r>
          </a:p>
        </p:txBody>
      </p:sp>
      <p:sp>
        <p:nvSpPr>
          <p:cNvPr id="4" name="Rectangle 3"/>
          <p:cNvSpPr/>
          <p:nvPr/>
        </p:nvSpPr>
        <p:spPr>
          <a:xfrm>
            <a:off x="7863840" y="64008"/>
            <a:ext cx="100584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0" y="64008"/>
            <a:ext cx="100584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SYNTHÈSE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Les méthodes simples sont évaluées ; le gain du réseau reste à établir</a:t>
            </a:r>
          </a:p>
        </p:txBody>
      </p:sp>
      <p:graphicFrame>
        <p:nvGraphicFramePr>
          <p:cNvPr id="8" name="Table 7"/>
          <p:cNvGraphicFramePr>
            <a:graphicFrameLocks noGrp="1"/>
          </p:cNvGraphicFramePr>
          <p:nvPr/>
        </p:nvGraphicFramePr>
        <p:xfrm>
          <a:off x="438912" y="1399032"/>
          <a:ext cx="8275320" cy="1463040"/>
        </p:xfrm>
        <a:graphic>
          <a:graphicData uri="http://schemas.openxmlformats.org/drawingml/2006/table">
            <a:tbl>
              <a:tblPr firstRow="1" bandRow="1">
                <a:tableStyleId>{5C22544A-7EE6-4342-B048-85BDC9FD1C3A}</a:tableStyleId>
              </a:tblPr>
              <a:tblGrid>
                <a:gridCol w="2758440"/>
                <a:gridCol w="2758440"/>
                <a:gridCol w="2758440"/>
              </a:tblGrid>
              <a:tr h="292608">
                <a:tc>
                  <a:txBody>
                    <a:bodyPr/>
                    <a:lstStyle/>
                    <a:p>
                      <a:pPr algn="ctr"/>
                      <a:r>
                        <a:rPr sz="1000" b="1">
                          <a:solidFill>
                            <a:srgbClr val="FFFFFF"/>
                          </a:solidFill>
                          <a:latin typeface="Carlito"/>
                        </a:rPr>
                        <a:t>Ce qui est disponible</a:t>
                      </a:r>
                    </a:p>
                  </a:txBody>
                  <a:tcPr marL="54864" marR="54864" marT="18288" marB="18288">
                    <a:solidFill>
                      <a:srgbClr val="1B7A8A"/>
                    </a:solidFill>
                  </a:tcPr>
                </a:tc>
                <a:tc>
                  <a:txBody>
                    <a:bodyPr/>
                    <a:lstStyle/>
                    <a:p>
                      <a:pPr algn="ctr"/>
                      <a:r>
                        <a:rPr sz="1000" b="1">
                          <a:solidFill>
                            <a:srgbClr val="FFFFFF"/>
                          </a:solidFill>
                          <a:latin typeface="Carlito"/>
                        </a:rPr>
                        <a:t>Ce que cela établit</a:t>
                      </a:r>
                    </a:p>
                  </a:txBody>
                  <a:tcPr marL="54864" marR="54864" marT="18288" marB="18288">
                    <a:solidFill>
                      <a:srgbClr val="1B7A8A"/>
                    </a:solidFill>
                  </a:tcPr>
                </a:tc>
                <a:tc>
                  <a:txBody>
                    <a:bodyPr/>
                    <a:lstStyle/>
                    <a:p>
                      <a:pPr algn="ctr"/>
                      <a:r>
                        <a:rPr sz="1000" b="1">
                          <a:solidFill>
                            <a:srgbClr val="FFFFFF"/>
                          </a:solidFill>
                          <a:latin typeface="Carlito"/>
                        </a:rPr>
                        <a:t>Limite actuelle</a:t>
                      </a:r>
                    </a:p>
                  </a:txBody>
                  <a:tcPr marL="54864" marR="54864" marT="18288" marB="18288">
                    <a:solidFill>
                      <a:srgbClr val="1B7A8A"/>
                    </a:solidFill>
                  </a:tcPr>
                </a:tc>
              </a:tr>
              <a:tr h="292608">
                <a:tc>
                  <a:txBody>
                    <a:bodyPr/>
                    <a:lstStyle/>
                    <a:p>
                      <a:pPr algn="l"/>
                      <a:r>
                        <a:rPr sz="900" b="0">
                          <a:solidFill>
                            <a:srgbClr val="2C3E50"/>
                          </a:solidFill>
                          <a:latin typeface="Carlito"/>
                        </a:rPr>
                        <a:t>Détecteurs sur projections ACP</a:t>
                      </a:r>
                    </a:p>
                  </a:txBody>
                  <a:tcPr marL="54864" marR="54864" marT="18288" marB="18288">
                    <a:solidFill>
                      <a:srgbClr val="EBF2FA"/>
                    </a:solidFill>
                  </a:tcPr>
                </a:tc>
                <a:tc>
                  <a:txBody>
                    <a:bodyPr/>
                    <a:lstStyle/>
                    <a:p>
                      <a:pPr algn="ctr"/>
                      <a:r>
                        <a:rPr sz="900" b="0">
                          <a:solidFill>
                            <a:srgbClr val="2C3E50"/>
                          </a:solidFill>
                          <a:latin typeface="Carlito"/>
                        </a:rPr>
                        <a:t>Certains changements simulés deviennent visibles</a:t>
                      </a:r>
                    </a:p>
                  </a:txBody>
                  <a:tcPr marL="54864" marR="54864" marT="18288" marB="18288">
                    <a:solidFill>
                      <a:srgbClr val="EBF2FA"/>
                    </a:solidFill>
                  </a:tcPr>
                </a:tc>
                <a:tc>
                  <a:txBody>
                    <a:bodyPr/>
                    <a:lstStyle/>
                    <a:p>
                      <a:pPr algn="ctr"/>
                      <a:r>
                        <a:rPr sz="900" b="0">
                          <a:solidFill>
                            <a:srgbClr val="2C3E50"/>
                          </a:solidFill>
                          <a:latin typeface="Carlito"/>
                        </a:rPr>
                        <a:t>Pas de supériorité générale</a:t>
                      </a:r>
                    </a:p>
                  </a:txBody>
                  <a:tcPr marL="54864" marR="54864" marT="18288" marB="18288">
                    <a:solidFill>
                      <a:srgbClr val="EBF2FA"/>
                    </a:solidFill>
                  </a:tcPr>
                </a:tc>
              </a:tr>
              <a:tr h="292608">
                <a:tc>
                  <a:txBody>
                    <a:bodyPr/>
                    <a:lstStyle/>
                    <a:p>
                      <a:pPr algn="l"/>
                      <a:r>
                        <a:rPr sz="900" b="0">
                          <a:solidFill>
                            <a:srgbClr val="2C3E50"/>
                          </a:solidFill>
                          <a:latin typeface="Carlito"/>
                        </a:rPr>
                        <a:t>Détecteurs sur signes positifs ou négatifs</a:t>
                      </a:r>
                    </a:p>
                  </a:txBody>
                  <a:tcPr marL="54864" marR="54864" marT="18288" marB="18288">
                    <a:solidFill>
                      <a:srgbClr val="FFFFFF"/>
                    </a:solidFill>
                  </a:tcPr>
                </a:tc>
                <a:tc>
                  <a:txBody>
                    <a:bodyPr/>
                    <a:lstStyle/>
                    <a:p>
                      <a:pPr algn="ctr"/>
                      <a:r>
                        <a:rPr sz="900" b="0">
                          <a:solidFill>
                            <a:srgbClr val="2C3E50"/>
                          </a:solidFill>
                          <a:latin typeface="Carlito"/>
                        </a:rPr>
                        <a:t>Le risque d'alarme se calcule sous symétrie</a:t>
                      </a:r>
                    </a:p>
                  </a:txBody>
                  <a:tcPr marL="54864" marR="54864" marT="18288" marB="18288">
                    <a:solidFill>
                      <a:srgbClr val="FFFFFF"/>
                    </a:solidFill>
                  </a:tcPr>
                </a:tc>
                <a:tc>
                  <a:txBody>
                    <a:bodyPr/>
                    <a:lstStyle/>
                    <a:p>
                      <a:pPr algn="ctr"/>
                      <a:r>
                        <a:rPr sz="900" b="0">
                          <a:solidFill>
                            <a:srgbClr val="2C3E50"/>
                          </a:solidFill>
                          <a:latin typeface="Carlito"/>
                        </a:rPr>
                        <a:t>Cette hypothèse échoue sur certaines données brutes</a:t>
                      </a:r>
                    </a:p>
                  </a:txBody>
                  <a:tcPr marL="54864" marR="54864" marT="18288" marB="18288">
                    <a:solidFill>
                      <a:srgbClr val="FFFFFF"/>
                    </a:solidFill>
                  </a:tcPr>
                </a:tc>
              </a:tr>
              <a:tr h="292608">
                <a:tc>
                  <a:txBody>
                    <a:bodyPr/>
                    <a:lstStyle/>
                    <a:p>
                      <a:pPr algn="l"/>
                      <a:r>
                        <a:rPr sz="900" b="0">
                          <a:solidFill>
                            <a:srgbClr val="2C3E50"/>
                          </a:solidFill>
                          <a:latin typeface="Carlito"/>
                        </a:rPr>
                        <a:t>Calcul du coût de plusieurs directions</a:t>
                      </a:r>
                    </a:p>
                  </a:txBody>
                  <a:tcPr marL="54864" marR="54864" marT="18288" marB="18288">
                    <a:solidFill>
                      <a:srgbClr val="EBF2FA"/>
                    </a:solidFill>
                  </a:tcPr>
                </a:tc>
                <a:tc>
                  <a:txBody>
                    <a:bodyPr/>
                    <a:lstStyle/>
                    <a:p>
                      <a:pPr algn="ctr"/>
                      <a:r>
                        <a:rPr sz="900" b="0">
                          <a:solidFill>
                            <a:srgbClr val="2C3E50"/>
                          </a:solidFill>
                          <a:latin typeface="Carlito"/>
                        </a:rPr>
                        <a:t>Réduire la dimension peut aider</a:t>
                      </a:r>
                    </a:p>
                  </a:txBody>
                  <a:tcPr marL="54864" marR="54864" marT="18288" marB="18288">
                    <a:solidFill>
                      <a:srgbClr val="EBF2FA"/>
                    </a:solidFill>
                  </a:tcPr>
                </a:tc>
                <a:tc>
                  <a:txBody>
                    <a:bodyPr/>
                    <a:lstStyle/>
                    <a:p>
                      <a:pPr algn="ctr"/>
                      <a:r>
                        <a:rPr sz="900" b="0">
                          <a:solidFill>
                            <a:srgbClr val="2C3E50"/>
                          </a:solidFill>
                          <a:latin typeface="Carlito"/>
                        </a:rPr>
                        <a:t>Les directions utiles dépendent du changement</a:t>
                      </a:r>
                    </a:p>
                  </a:txBody>
                  <a:tcPr marL="54864" marR="54864" marT="18288" marB="18288">
                    <a:solidFill>
                      <a:srgbClr val="EBF2FA"/>
                    </a:solidFill>
                  </a:tcPr>
                </a:tc>
              </a:tr>
              <a:tr h="292608">
                <a:tc>
                  <a:txBody>
                    <a:bodyPr/>
                    <a:lstStyle/>
                    <a:p>
                      <a:pPr algn="l"/>
                      <a:r>
                        <a:rPr sz="900" b="0">
                          <a:solidFill>
                            <a:srgbClr val="2C3E50"/>
                          </a:solidFill>
                          <a:latin typeface="Carlito"/>
                        </a:rPr>
                        <a:t>Conception du réseau JEPA</a:t>
                      </a:r>
                    </a:p>
                  </a:txBody>
                  <a:tcPr marL="54864" marR="54864" marT="18288" marB="18288">
                    <a:solidFill>
                      <a:srgbClr val="FFFFFF"/>
                    </a:solidFill>
                  </a:tcPr>
                </a:tc>
                <a:tc>
                  <a:txBody>
                    <a:bodyPr/>
                    <a:lstStyle/>
                    <a:p>
                      <a:pPr algn="ctr"/>
                      <a:r>
                        <a:rPr sz="900" b="0">
                          <a:solidFill>
                            <a:srgbClr val="2C3E50"/>
                          </a:solidFill>
                          <a:latin typeface="Carlito"/>
                        </a:rPr>
                        <a:t>Un protocole d'apprentissage à comparer à l'ACP</a:t>
                      </a:r>
                    </a:p>
                  </a:txBody>
                  <a:tcPr marL="54864" marR="54864" marT="18288" marB="18288">
                    <a:solidFill>
                      <a:srgbClr val="FFFFFF"/>
                    </a:solidFill>
                  </a:tcPr>
                </a:tc>
                <a:tc>
                  <a:txBody>
                    <a:bodyPr/>
                    <a:lstStyle/>
                    <a:p>
                      <a:pPr algn="ctr"/>
                      <a:r>
                        <a:rPr sz="900" b="0">
                          <a:solidFill>
                            <a:srgbClr val="2C3E50"/>
                          </a:solidFill>
                          <a:latin typeface="Carlito"/>
                        </a:rPr>
                        <a:t>Aucun gain JEPA mesuré</a:t>
                      </a:r>
                    </a:p>
                  </a:txBody>
                  <a:tcPr marL="54864" marR="54864" marT="18288" marB="18288">
                    <a:solidFill>
                      <a:srgbClr val="FFFFFF"/>
                    </a:solidFill>
                  </a:tcPr>
                </a:tc>
              </a:tr>
            </a:tbl>
          </a:graphicData>
        </a:graphic>
      </p:graphicFrame>
      <p:sp>
        <p:nvSpPr>
          <p:cNvPr id="9" name="TextBox 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Les données observées</a:t>
            </a:r>
          </a:p>
        </p:txBody>
      </p:sp>
      <p:sp>
        <p:nvSpPr>
          <p:cNvPr id="4" name="Rectangle 3"/>
          <p:cNvSpPr/>
          <p:nvPr/>
        </p:nvSpPr>
        <p:spPr>
          <a:xfrm>
            <a:off x="7955279" y="64008"/>
            <a:ext cx="914400"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79"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DONNÉES</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Une ligne par jour, une colonne par action</a:t>
            </a:r>
          </a:p>
        </p:txBody>
      </p:sp>
      <p:sp>
        <p:nvSpPr>
          <p:cNvPr id="8" name="Rectangle 7"/>
          <p:cNvSpPr/>
          <p:nvPr/>
        </p:nvSpPr>
        <p:spPr>
          <a:xfrm>
            <a:off x="438912" y="1325880"/>
            <a:ext cx="4114800" cy="2286000"/>
          </a:xfrm>
          <a:prstGeom prst="rect">
            <a:avLst/>
          </a:prstGeom>
          <a:solidFill>
            <a:srgbClr val="FFFFFF"/>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371600"/>
            <a:ext cx="3931920" cy="22860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1B7A8A"/>
                </a:solidFill>
                <a:latin typeface="Carlito"/>
              </a:rPr>
              <a:t>jours × actions</a:t>
            </a:r>
          </a:p>
        </p:txBody>
      </p:sp>
      <p:sp>
        <p:nvSpPr>
          <p:cNvPr id="10" name="Rectangle 9"/>
          <p:cNvSpPr/>
          <p:nvPr/>
        </p:nvSpPr>
        <p:spPr>
          <a:xfrm>
            <a:off x="621792" y="1645919"/>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0422" y="1645919"/>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59051" y="1645919"/>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27681" y="1645919"/>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96311" y="1645919"/>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4941" y="1645919"/>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33572" y="1645919"/>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02201" y="1645919"/>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 y="1993391"/>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0422" y="1993391"/>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559051" y="1993391"/>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27681" y="1993391"/>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96311" y="1993391"/>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64941" y="1993391"/>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33572" y="1993391"/>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902201" y="1993391"/>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 y="2340863"/>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0422" y="2340863"/>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559051" y="2340863"/>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27681" y="2340863"/>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496311" y="2340863"/>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64941" y="2340863"/>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433572" y="2340863"/>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02201" y="2340863"/>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 y="2688336"/>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90422" y="2688336"/>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559051" y="2688336"/>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027681" y="2688336"/>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496311" y="2688336"/>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964941" y="2688336"/>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433572" y="2688336"/>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902201" y="2688336"/>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792" y="3035808"/>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90422" y="3035808"/>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559051" y="3035808"/>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027681" y="3035808"/>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496311" y="3035808"/>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964941" y="3035808"/>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433572" y="3035808"/>
            <a:ext cx="441197" cy="320040"/>
          </a:xfrm>
          <a:prstGeom prst="rect">
            <a:avLst/>
          </a:prstGeom>
          <a:solidFill>
            <a:srgbClr val="EBF2FA"/>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902201" y="3035808"/>
            <a:ext cx="441197" cy="32004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0352" y="3355848"/>
            <a:ext cx="1828800" cy="201168"/>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1">
                <a:solidFill>
                  <a:srgbClr val="2980B9"/>
                </a:solidFill>
                <a:latin typeface="Carlito"/>
              </a:rPr>
              <a:t>97 actions</a:t>
            </a:r>
          </a:p>
        </p:txBody>
      </p:sp>
      <p:sp>
        <p:nvSpPr>
          <p:cNvPr id="51" name="TextBox 50"/>
          <p:cNvSpPr txBox="1"/>
          <p:nvPr/>
        </p:nvSpPr>
        <p:spPr>
          <a:xfrm>
            <a:off x="2542032" y="3355848"/>
            <a:ext cx="1920240" cy="201168"/>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8E44AD"/>
                </a:solidFill>
                <a:latin typeface="Carlito"/>
              </a:rPr>
              <a:t>239 actions</a:t>
            </a:r>
          </a:p>
        </p:txBody>
      </p:sp>
      <p:sp>
        <p:nvSpPr>
          <p:cNvPr id="52" name="TextBox 51"/>
          <p:cNvSpPr txBox="1"/>
          <p:nvPr/>
        </p:nvSpPr>
        <p:spPr>
          <a:xfrm>
            <a:off x="530352" y="3154680"/>
            <a:ext cx="3931920"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E08000"/>
                </a:solidFill>
                <a:latin typeface="Carlito"/>
              </a:rPr>
              <a:t>univers de titres survivants</a:t>
            </a:r>
          </a:p>
        </p:txBody>
      </p:sp>
      <p:sp>
        <p:nvSpPr>
          <p:cNvPr id="53" name="TextBox 52"/>
          <p:cNvSpPr txBox="1"/>
          <p:nvPr/>
        </p:nvSpPr>
        <p:spPr>
          <a:xfrm>
            <a:off x="4846320" y="1325880"/>
            <a:ext cx="3840480" cy="69748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Deux panels : </a:t>
            </a:r>
            <a:r>
              <a:rPr sz="1100" i="1">
                <a:solidFill>
                  <a:srgbClr val="2C3E50"/>
                </a:solidFill>
                <a:latin typeface="Carlito"/>
              </a:rPr>
              <a:t>97 actions américaines</a:t>
            </a:r>
            <a:r>
              <a:rPr sz="1100" b="0">
                <a:solidFill>
                  <a:srgbClr val="2C3E50"/>
                </a:solidFill>
                <a:latin typeface="Carlito"/>
              </a:rPr>
              <a:t> sur 5 154 séances, de janvier 2005 à juin 2025 ; </a:t>
            </a:r>
            <a:r>
              <a:rPr sz="1100" i="1">
                <a:solidFill>
                  <a:srgbClr val="2C3E50"/>
                </a:solidFill>
                <a:latin typeface="Carlito"/>
              </a:rPr>
              <a:t>239 actions du S&amp;P 500</a:t>
            </a:r>
            <a:r>
              <a:rPr sz="1100" b="0">
                <a:solidFill>
                  <a:srgbClr val="2C3E50"/>
                </a:solidFill>
                <a:latin typeface="Carlito"/>
              </a:rPr>
              <a:t>, retenues parmi les 503 constituants recensés en octobre 2026 pour la longueur de leur historique.</a:t>
            </a:r>
          </a:p>
        </p:txBody>
      </p:sp>
      <p:sp>
        <p:nvSpPr>
          <p:cNvPr id="54" name="TextBox 53"/>
          <p:cNvSpPr txBox="1"/>
          <p:nvPr/>
        </p:nvSpPr>
        <p:spPr>
          <a:xfrm>
            <a:off x="4846320" y="2078228"/>
            <a:ext cx="384048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Les prix ajustés des opérations sur titres deviennent des </a:t>
            </a:r>
            <a:r>
              <a:rPr sz="1100" i="1">
                <a:solidFill>
                  <a:srgbClr val="2C3E50"/>
                </a:solidFill>
                <a:latin typeface="Carlito"/>
              </a:rPr>
              <a:t>log-rendements</a:t>
            </a:r>
            <a:r>
              <a:rPr sz="1100" b="0">
                <a:solidFill>
                  <a:srgbClr val="2C3E50"/>
                </a:solidFill>
                <a:latin typeface="Carlito"/>
              </a:rPr>
              <a:t> : le logarithme du rapport entre deux prix successifs.</a:t>
            </a:r>
          </a:p>
        </p:txBody>
      </p:sp>
      <p:sp>
        <p:nvSpPr>
          <p:cNvPr id="55" name="TextBox 54"/>
          <p:cNvSpPr txBox="1"/>
          <p:nvPr/>
        </p:nvSpPr>
        <p:spPr>
          <a:xfrm>
            <a:off x="4846320" y="2669921"/>
            <a:ext cx="384048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Pour les 239 actions, quatre caractéristiques connues avant le rendement : sensibilité au marché, amplitude des fluctuations, performance passée et variation récente.</a:t>
            </a:r>
          </a:p>
        </p:txBody>
      </p:sp>
      <p:sp>
        <p:nvSpPr>
          <p:cNvPr id="56" name="TextBox 55"/>
          <p:cNvSpPr txBox="1"/>
          <p:nvPr/>
        </p:nvSpPr>
        <p:spPr>
          <a:xfrm>
            <a:off x="4846320" y="3261614"/>
            <a:ext cx="384048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Biais de sélection :</a:t>
            </a:r>
            <a:r>
              <a:rPr sz="1100" b="0">
                <a:solidFill>
                  <a:srgbClr val="2C3E50"/>
                </a:solidFill>
                <a:latin typeface="Carlito"/>
              </a:rPr>
              <a:t> privilégier les titres encore présents ou les longs historiques ne reconstitue pas l'univers d'investissement passé.</a:t>
            </a:r>
          </a:p>
        </p:txBody>
      </p:sp>
      <p:sp>
        <p:nvSpPr>
          <p:cNvPr id="57" name="Rectangle 5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r(i,t) = ln[P(i,t) / P(i,t-1)]</a:t>
            </a:r>
          </a:p>
        </p:txBody>
      </p:sp>
      <p:sp>
        <p:nvSpPr>
          <p:cNvPr id="59" name="TextBox 58"/>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Séparer les usages dans le temps</a:t>
            </a:r>
          </a:p>
        </p:txBody>
      </p:sp>
      <p:sp>
        <p:nvSpPr>
          <p:cNvPr id="4" name="Rectangle 3"/>
          <p:cNvSpPr/>
          <p:nvPr/>
        </p:nvSpPr>
        <p:spPr>
          <a:xfrm>
            <a:off x="7772400" y="64008"/>
            <a:ext cx="109728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0" y="64008"/>
            <a:ext cx="109728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PROTOCOLE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Apprendre sur le passé, décider avant le test</a:t>
            </a:r>
          </a:p>
        </p:txBody>
      </p:sp>
      <p:sp>
        <p:nvSpPr>
          <p:cNvPr id="8" name="Rectangle 7"/>
          <p:cNvSpPr/>
          <p:nvPr/>
        </p:nvSpPr>
        <p:spPr>
          <a:xfrm>
            <a:off x="438912" y="1325880"/>
            <a:ext cx="2670048" cy="5029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1344168"/>
            <a:ext cx="2578608" cy="228600"/>
          </a:xfrm>
          <a:prstGeom prst="rect">
            <a:avLst/>
          </a:prstGeom>
          <a:noFill/>
        </p:spPr>
        <p:txBody>
          <a:bodyPr wrap="square" lIns="45720" rIns="45720" tIns="13716" bIns="13716" anchor="t">
            <a:spAutoFit/>
          </a:bodyPr>
          <a:lstStyle/>
          <a:p>
            <a:pPr algn="ctr">
              <a:lnSpc>
                <a:spcPts val="1380"/>
              </a:lnSpc>
              <a:spcAft>
                <a:spcPts val="0"/>
              </a:spcAft>
            </a:pPr>
            <a:r>
              <a:rPr sz="1200" b="0" i="0">
                <a:solidFill>
                  <a:srgbClr val="2C3E50"/>
                </a:solidFill>
                <a:latin typeface="Carlito"/>
              </a:rPr>
              <a:t/>
            </a:r>
            <a:r>
              <a:rPr sz="1200" b="1">
                <a:solidFill>
                  <a:srgbClr val="FFFFFF"/>
                </a:solidFill>
                <a:latin typeface="Carlito"/>
              </a:rPr>
              <a:t>2005–2015</a:t>
            </a:r>
          </a:p>
        </p:txBody>
      </p:sp>
      <p:sp>
        <p:nvSpPr>
          <p:cNvPr id="10" name="TextBox 9"/>
          <p:cNvSpPr txBox="1"/>
          <p:nvPr/>
        </p:nvSpPr>
        <p:spPr>
          <a:xfrm>
            <a:off x="484632" y="1581912"/>
            <a:ext cx="2578608"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0">
                <a:solidFill>
                  <a:srgbClr val="FFFFFF"/>
                </a:solidFill>
                <a:latin typeface="Carlito"/>
              </a:rPr>
              <a:t>apprendre</a:t>
            </a:r>
          </a:p>
        </p:txBody>
      </p:sp>
      <p:sp>
        <p:nvSpPr>
          <p:cNvPr id="11" name="Rectangle 10"/>
          <p:cNvSpPr/>
          <p:nvPr/>
        </p:nvSpPr>
        <p:spPr>
          <a:xfrm>
            <a:off x="3182112" y="1325880"/>
            <a:ext cx="2670048" cy="5029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27832" y="1344168"/>
            <a:ext cx="2578608" cy="228600"/>
          </a:xfrm>
          <a:prstGeom prst="rect">
            <a:avLst/>
          </a:prstGeom>
          <a:noFill/>
        </p:spPr>
        <p:txBody>
          <a:bodyPr wrap="square" lIns="45720" rIns="45720" tIns="13716" bIns="13716" anchor="t">
            <a:spAutoFit/>
          </a:bodyPr>
          <a:lstStyle/>
          <a:p>
            <a:pPr algn="ctr">
              <a:lnSpc>
                <a:spcPts val="1380"/>
              </a:lnSpc>
              <a:spcAft>
                <a:spcPts val="0"/>
              </a:spcAft>
            </a:pPr>
            <a:r>
              <a:rPr sz="1200" b="0" i="0">
                <a:solidFill>
                  <a:srgbClr val="2C3E50"/>
                </a:solidFill>
                <a:latin typeface="Carlito"/>
              </a:rPr>
              <a:t/>
            </a:r>
            <a:r>
              <a:rPr sz="1200" b="1">
                <a:solidFill>
                  <a:srgbClr val="FFFFFF"/>
                </a:solidFill>
                <a:latin typeface="Carlito"/>
              </a:rPr>
              <a:t>2016–2019</a:t>
            </a:r>
          </a:p>
        </p:txBody>
      </p:sp>
      <p:sp>
        <p:nvSpPr>
          <p:cNvPr id="13" name="TextBox 12"/>
          <p:cNvSpPr txBox="1"/>
          <p:nvPr/>
        </p:nvSpPr>
        <p:spPr>
          <a:xfrm>
            <a:off x="3227832" y="1581912"/>
            <a:ext cx="2578608"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0">
                <a:solidFill>
                  <a:srgbClr val="FFFFFF"/>
                </a:solidFill>
                <a:latin typeface="Carlito"/>
              </a:rPr>
              <a:t>choisir et régler</a:t>
            </a:r>
          </a:p>
        </p:txBody>
      </p:sp>
      <p:sp>
        <p:nvSpPr>
          <p:cNvPr id="14" name="Rectangle 13"/>
          <p:cNvSpPr/>
          <p:nvPr/>
        </p:nvSpPr>
        <p:spPr>
          <a:xfrm>
            <a:off x="5925312" y="1325880"/>
            <a:ext cx="2715768" cy="502920"/>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71032" y="1344168"/>
            <a:ext cx="2624328" cy="228600"/>
          </a:xfrm>
          <a:prstGeom prst="rect">
            <a:avLst/>
          </a:prstGeom>
          <a:noFill/>
        </p:spPr>
        <p:txBody>
          <a:bodyPr wrap="square" lIns="45720" rIns="45720" tIns="13716" bIns="13716" anchor="t">
            <a:spAutoFit/>
          </a:bodyPr>
          <a:lstStyle/>
          <a:p>
            <a:pPr algn="ctr">
              <a:lnSpc>
                <a:spcPts val="1380"/>
              </a:lnSpc>
              <a:spcAft>
                <a:spcPts val="0"/>
              </a:spcAft>
            </a:pPr>
            <a:r>
              <a:rPr sz="1200" b="0" i="0">
                <a:solidFill>
                  <a:srgbClr val="2C3E50"/>
                </a:solidFill>
                <a:latin typeface="Carlito"/>
              </a:rPr>
              <a:t/>
            </a:r>
            <a:r>
              <a:rPr sz="1200" b="1">
                <a:solidFill>
                  <a:srgbClr val="FFFFFF"/>
                </a:solidFill>
                <a:latin typeface="Carlito"/>
              </a:rPr>
              <a:t>2020+</a:t>
            </a:r>
          </a:p>
        </p:txBody>
      </p:sp>
      <p:sp>
        <p:nvSpPr>
          <p:cNvPr id="16" name="TextBox 15"/>
          <p:cNvSpPr txBox="1"/>
          <p:nvPr/>
        </p:nvSpPr>
        <p:spPr>
          <a:xfrm>
            <a:off x="5971032" y="1581912"/>
            <a:ext cx="2624328"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0">
                <a:solidFill>
                  <a:srgbClr val="FFFFFF"/>
                </a:solidFill>
                <a:latin typeface="Carlito"/>
              </a:rPr>
              <a:t>tester (figé)</a:t>
            </a:r>
          </a:p>
        </p:txBody>
      </p:sp>
      <p:sp>
        <p:nvSpPr>
          <p:cNvPr id="17" name="Rectangle 16"/>
          <p:cNvSpPr/>
          <p:nvPr/>
        </p:nvSpPr>
        <p:spPr>
          <a:xfrm>
            <a:off x="3182112" y="1856231"/>
            <a:ext cx="320040" cy="164592"/>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44952" y="1856231"/>
            <a:ext cx="594360" cy="164592"/>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FFFFFF"/>
                </a:solidFill>
                <a:latin typeface="Carlito"/>
              </a:rPr>
              <a:t>65 j.</a:t>
            </a:r>
          </a:p>
        </p:txBody>
      </p:sp>
      <p:sp>
        <p:nvSpPr>
          <p:cNvPr id="19" name="Rectangle 18"/>
          <p:cNvSpPr/>
          <p:nvPr/>
        </p:nvSpPr>
        <p:spPr>
          <a:xfrm>
            <a:off x="5925312" y="1856231"/>
            <a:ext cx="320040" cy="164592"/>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88152" y="1856231"/>
            <a:ext cx="594360" cy="164592"/>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FFFFFF"/>
                </a:solidFill>
                <a:latin typeface="Carlito"/>
              </a:rPr>
              <a:t>65 j.</a:t>
            </a:r>
          </a:p>
        </p:txBody>
      </p:sp>
      <p:sp>
        <p:nvSpPr>
          <p:cNvPr id="21" name="TextBox 20"/>
          <p:cNvSpPr txBox="1"/>
          <p:nvPr/>
        </p:nvSpPr>
        <p:spPr>
          <a:xfrm>
            <a:off x="5925312" y="2057400"/>
            <a:ext cx="2743200" cy="201168"/>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1">
                <a:solidFill>
                  <a:srgbClr val="E08000"/>
                </a:solidFill>
                <a:latin typeface="Carlito"/>
              </a:rPr>
              <a:t>paramètres figés</a:t>
            </a:r>
          </a:p>
        </p:txBody>
      </p:sp>
      <p:sp>
        <p:nvSpPr>
          <p:cNvPr id="22" name="TextBox 21"/>
          <p:cNvSpPr txBox="1"/>
          <p:nvPr/>
        </p:nvSpPr>
        <p:spPr>
          <a:xfrm>
            <a:off x="438912" y="2423160"/>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2005–2015 : apprendre.</a:t>
            </a:r>
            <a:r>
              <a:rPr sz="1100" b="0">
                <a:solidFill>
                  <a:srgbClr val="2C3E50"/>
                </a:solidFill>
                <a:latin typeface="Carlito"/>
              </a:rPr>
              <a:t> Historique prévu pour entraîner le réseau.</a:t>
            </a:r>
          </a:p>
        </p:txBody>
      </p:sp>
      <p:sp>
        <p:nvSpPr>
          <p:cNvPr id="23" name="TextBox 22"/>
          <p:cNvSpPr txBox="1"/>
          <p:nvPr/>
        </p:nvSpPr>
        <p:spPr>
          <a:xfrm>
            <a:off x="438912" y="2693543"/>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2016–2019 : choisir et régler.</a:t>
            </a:r>
            <a:r>
              <a:rPr sz="1100" b="0">
                <a:solidFill>
                  <a:srgbClr val="2C3E50"/>
                </a:solidFill>
                <a:latin typeface="Carlito"/>
              </a:rPr>
              <a:t> Ajuster l'ACP et les seuils d'alarme. Pour JEPA, séparer le choix du modèle du réglage final des seuils ; ce partage reste à fixer.</a:t>
            </a:r>
          </a:p>
        </p:txBody>
      </p:sp>
      <p:sp>
        <p:nvSpPr>
          <p:cNvPr id="24" name="TextBox 23"/>
          <p:cNvSpPr txBox="1"/>
          <p:nvPr/>
        </p:nvSpPr>
        <p:spPr>
          <a:xfrm>
            <a:off x="438912" y="3124581"/>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À partir de 2020 : tester avec des paramètres figés.</a:t>
            </a:r>
            <a:r>
              <a:rPr sz="1100" b="0">
                <a:solidFill>
                  <a:srgbClr val="2C3E50"/>
                </a:solidFill>
                <a:latin typeface="Carlito"/>
              </a:rPr>
              <a:t> Les résultats rétrospectifs présentés ne constituent pas ce test indépendant.</a:t>
            </a:r>
          </a:p>
        </p:txBody>
      </p:sp>
      <p:sp>
        <p:nvSpPr>
          <p:cNvPr id="25" name="TextBox 24"/>
          <p:cNvSpPr txBox="1"/>
          <p:nvPr/>
        </p:nvSpPr>
        <p:spPr>
          <a:xfrm>
            <a:off x="438912" y="3394964"/>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Pourquoi figer la représentation ?</a:t>
            </a:r>
            <a:r>
              <a:rPr sz="1100" b="0">
                <a:solidFill>
                  <a:srgbClr val="2C3E50"/>
                </a:solidFill>
                <a:latin typeface="Carlito"/>
              </a:rPr>
              <a:t> Si elle s'adapte au changement, elle peut l'effacer progressivement : c'est l'</a:t>
            </a:r>
            <a:r>
              <a:rPr sz="1100" i="1">
                <a:solidFill>
                  <a:srgbClr val="2C3E50"/>
                </a:solidFill>
                <a:latin typeface="Carlito"/>
              </a:rPr>
              <a:t>absorption</a:t>
            </a:r>
            <a:r>
              <a:rPr sz="1100" b="0">
                <a:solidFill>
                  <a:srgbClr val="2C3E50"/>
                </a:solidFill>
                <a:latin typeface="Carlito"/>
              </a:rPr>
              <a:t>. Dans le modèle de décroissance étudié, l'information totale peut devenir insuffisante pour atteindre le seuil.</a:t>
            </a:r>
          </a:p>
        </p:txBody>
      </p:sp>
      <p:sp>
        <p:nvSpPr>
          <p:cNvPr id="26" name="TextBox 25"/>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Deux changements, deux mesures</a:t>
            </a:r>
          </a:p>
        </p:txBody>
      </p:sp>
      <p:sp>
        <p:nvSpPr>
          <p:cNvPr id="4" name="Rectangle 3"/>
          <p:cNvSpPr/>
          <p:nvPr/>
        </p:nvSpPr>
        <p:spPr>
          <a:xfrm>
            <a:off x="7955279" y="64008"/>
            <a:ext cx="914400"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79"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MÉTHODE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Le signe vise la moyenne ; les carrés visent la dispersion</a:t>
            </a:r>
          </a:p>
        </p:txBody>
      </p:sp>
      <p:sp>
        <p:nvSpPr>
          <p:cNvPr id="8" name="Rectangle 7"/>
          <p:cNvSpPr/>
          <p:nvPr/>
        </p:nvSpPr>
        <p:spPr>
          <a:xfrm>
            <a:off x="438912" y="1325880"/>
            <a:ext cx="4091940" cy="32004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1344168"/>
            <a:ext cx="4000500" cy="274320"/>
          </a:xfrm>
          <a:prstGeom prst="rect">
            <a:avLst/>
          </a:prstGeom>
          <a:noFill/>
        </p:spPr>
        <p:txBody>
          <a:bodyPr wrap="square" lIns="45720" rIns="45720" tIns="13716" bIns="13716" anchor="t">
            <a:spAutoFit/>
          </a:bodyPr>
          <a:lstStyle/>
          <a:p>
            <a:pPr algn="ctr">
              <a:lnSpc>
                <a:spcPts val="1264"/>
              </a:lnSpc>
              <a:spcAft>
                <a:spcPts val="0"/>
              </a:spcAft>
            </a:pPr>
            <a:r>
              <a:rPr sz="1100" b="0" i="0">
                <a:solidFill>
                  <a:srgbClr val="2C3E50"/>
                </a:solidFill>
                <a:latin typeface="Carlito"/>
              </a:rPr>
              <a:t/>
            </a:r>
            <a:r>
              <a:rPr sz="1100" b="1">
                <a:solidFill>
                  <a:srgbClr val="FFFFFF"/>
                </a:solidFill>
                <a:latin typeface="Carlito"/>
              </a:rPr>
              <a:t>Changement de moyenne</a:t>
            </a:r>
          </a:p>
        </p:txBody>
      </p:sp>
      <p:sp>
        <p:nvSpPr>
          <p:cNvPr id="10" name="TextBox 9"/>
          <p:cNvSpPr txBox="1"/>
          <p:nvPr/>
        </p:nvSpPr>
        <p:spPr>
          <a:xfrm>
            <a:off x="530352" y="1737360"/>
            <a:ext cx="3909060" cy="22860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1B7A8A"/>
                </a:solidFill>
                <a:latin typeface="Carlito"/>
              </a:rPr>
              <a:t>→  fréquence des signes</a:t>
            </a:r>
          </a:p>
        </p:txBody>
      </p:sp>
      <p:sp>
        <p:nvSpPr>
          <p:cNvPr id="11" name="Rectangle 10"/>
          <p:cNvSpPr/>
          <p:nvPr/>
        </p:nvSpPr>
        <p:spPr>
          <a:xfrm>
            <a:off x="2119122" y="2057400"/>
            <a:ext cx="731520" cy="256032"/>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37410" y="2075688"/>
            <a:ext cx="694944" cy="219456"/>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1B7A8A"/>
                </a:solidFill>
                <a:latin typeface="Carlito"/>
              </a:rPr>
              <a:t>CUSUM</a:t>
            </a:r>
          </a:p>
        </p:txBody>
      </p:sp>
      <p:cxnSp>
        <p:nvCxnSpPr>
          <p:cNvPr id="13" name="Connector 12"/>
          <p:cNvCxnSpPr/>
          <p:nvPr/>
        </p:nvCxnSpPr>
        <p:spPr>
          <a:xfrm>
            <a:off x="2484882" y="1965960"/>
            <a:ext cx="0" cy="9144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027682" y="2377439"/>
            <a:ext cx="914400" cy="2011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45970" y="2386584"/>
            <a:ext cx="877824"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FFFFFF"/>
                </a:solidFill>
                <a:latin typeface="Carlito"/>
              </a:rPr>
              <a:t>seuil → alarme</a:t>
            </a:r>
          </a:p>
        </p:txBody>
      </p:sp>
      <p:cxnSp>
        <p:nvCxnSpPr>
          <p:cNvPr id="16" name="Connector 15"/>
          <p:cNvCxnSpPr/>
          <p:nvPr/>
        </p:nvCxnSpPr>
        <p:spPr>
          <a:xfrm>
            <a:off x="2484882" y="2313432"/>
            <a:ext cx="0" cy="64007"/>
          </a:xfrm>
          <a:prstGeom prst="line">
            <a:avLst/>
          </a:prstGeom>
          <a:ln w="25400">
            <a:solidFill>
              <a:srgbClr val="E0800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22292" y="1325880"/>
            <a:ext cx="4091940" cy="32004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8012" y="1344168"/>
            <a:ext cx="4000500" cy="274320"/>
          </a:xfrm>
          <a:prstGeom prst="rect">
            <a:avLst/>
          </a:prstGeom>
          <a:noFill/>
        </p:spPr>
        <p:txBody>
          <a:bodyPr wrap="square" lIns="45720" rIns="45720" tIns="13716" bIns="13716" anchor="t">
            <a:spAutoFit/>
          </a:bodyPr>
          <a:lstStyle/>
          <a:p>
            <a:pPr algn="ctr">
              <a:lnSpc>
                <a:spcPts val="1264"/>
              </a:lnSpc>
              <a:spcAft>
                <a:spcPts val="0"/>
              </a:spcAft>
            </a:pPr>
            <a:r>
              <a:rPr sz="1100" b="0" i="0">
                <a:solidFill>
                  <a:srgbClr val="2C3E50"/>
                </a:solidFill>
                <a:latin typeface="Carlito"/>
              </a:rPr>
              <a:t/>
            </a:r>
            <a:r>
              <a:rPr sz="1100" b="1">
                <a:solidFill>
                  <a:srgbClr val="FFFFFF"/>
                </a:solidFill>
                <a:latin typeface="Carlito"/>
              </a:rPr>
              <a:t>Changement de covariance</a:t>
            </a:r>
          </a:p>
        </p:txBody>
      </p:sp>
      <p:sp>
        <p:nvSpPr>
          <p:cNvPr id="19" name="TextBox 18"/>
          <p:cNvSpPr txBox="1"/>
          <p:nvPr/>
        </p:nvSpPr>
        <p:spPr>
          <a:xfrm>
            <a:off x="4713731" y="1737360"/>
            <a:ext cx="3909060" cy="22860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8E44AD"/>
                </a:solidFill>
                <a:latin typeface="Carlito"/>
              </a:rPr>
              <a:t>→  somme des carrés</a:t>
            </a:r>
          </a:p>
        </p:txBody>
      </p:sp>
      <p:sp>
        <p:nvSpPr>
          <p:cNvPr id="20" name="Rectangle 19"/>
          <p:cNvSpPr/>
          <p:nvPr/>
        </p:nvSpPr>
        <p:spPr>
          <a:xfrm>
            <a:off x="6302502" y="2057400"/>
            <a:ext cx="731520" cy="256032"/>
          </a:xfrm>
          <a:prstGeom prst="rect">
            <a:avLst/>
          </a:prstGeom>
          <a:solidFill>
            <a:srgbClr val="EBF2FA"/>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0790" y="2075688"/>
            <a:ext cx="694944" cy="219456"/>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8E44AD"/>
                </a:solidFill>
                <a:latin typeface="Carlito"/>
              </a:rPr>
              <a:t>CUSUM</a:t>
            </a:r>
          </a:p>
        </p:txBody>
      </p:sp>
      <p:cxnSp>
        <p:nvCxnSpPr>
          <p:cNvPr id="22" name="Connector 21"/>
          <p:cNvCxnSpPr/>
          <p:nvPr/>
        </p:nvCxnSpPr>
        <p:spPr>
          <a:xfrm>
            <a:off x="6668262" y="1965960"/>
            <a:ext cx="0" cy="91440"/>
          </a:xfrm>
          <a:prstGeom prst="line">
            <a:avLst/>
          </a:prstGeom>
          <a:ln w="25400">
            <a:solidFill>
              <a:srgbClr val="8E44AD"/>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211062" y="2377439"/>
            <a:ext cx="914400" cy="2011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9350" y="2386584"/>
            <a:ext cx="877824"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FFFFFF"/>
                </a:solidFill>
                <a:latin typeface="Carlito"/>
              </a:rPr>
              <a:t>seuil → alarme</a:t>
            </a:r>
          </a:p>
        </p:txBody>
      </p:sp>
      <p:cxnSp>
        <p:nvCxnSpPr>
          <p:cNvPr id="25" name="Connector 24"/>
          <p:cNvCxnSpPr/>
          <p:nvPr/>
        </p:nvCxnSpPr>
        <p:spPr>
          <a:xfrm>
            <a:off x="6668262" y="2313432"/>
            <a:ext cx="0" cy="64007"/>
          </a:xfrm>
          <a:prstGeom prst="line">
            <a:avLst/>
          </a:prstGeom>
          <a:ln w="25400">
            <a:solidFill>
              <a:srgbClr val="E080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38912" y="283464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Changement de moyenne :</a:t>
            </a:r>
            <a:r>
              <a:rPr sz="1100" b="0">
                <a:solidFill>
                  <a:srgbClr val="2C3E50"/>
                </a:solidFill>
                <a:latin typeface="Carlito"/>
              </a:rPr>
              <a:t> une projection des rendements devient durablement plus positive ou négative. On suit la fréquence de son signe positif.</a:t>
            </a:r>
          </a:p>
        </p:txBody>
      </p:sp>
      <p:sp>
        <p:nvSpPr>
          <p:cNvPr id="27" name="TextBox 26"/>
          <p:cNvSpPr txBox="1"/>
          <p:nvPr/>
        </p:nvSpPr>
        <p:spPr>
          <a:xfrm>
            <a:off x="438912" y="3265678"/>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Changement de covariance :</a:t>
            </a:r>
            <a:r>
              <a:rPr sz="1100" b="0">
                <a:solidFill>
                  <a:srgbClr val="2C3E50"/>
                </a:solidFill>
                <a:latin typeface="Carlito"/>
              </a:rPr>
              <a:t> les amplitudes ou les relations entre actions changent. On suit une </a:t>
            </a:r>
            <a:r>
              <a:rPr sz="1100" i="1">
                <a:solidFill>
                  <a:srgbClr val="2C3E50"/>
                </a:solidFill>
                <a:latin typeface="Carlito"/>
              </a:rPr>
              <a:t>énergie</a:t>
            </a:r>
            <a:r>
              <a:rPr sz="1100" b="0">
                <a:solidFill>
                  <a:srgbClr val="2C3E50"/>
                </a:solidFill>
                <a:latin typeface="Carlito"/>
              </a:rPr>
              <a:t>, la somme des carrés de projections mises à la même échelle.</a:t>
            </a:r>
          </a:p>
        </p:txBody>
      </p:sp>
      <p:sp>
        <p:nvSpPr>
          <p:cNvPr id="28" name="TextBox 27"/>
          <p:cNvSpPr txBox="1"/>
          <p:nvPr/>
        </p:nvSpPr>
        <p:spPr>
          <a:xfrm>
            <a:off x="438912" y="3696715"/>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Le </a:t>
            </a:r>
            <a:r>
              <a:rPr sz="1100" i="1">
                <a:solidFill>
                  <a:srgbClr val="2C3E50"/>
                </a:solidFill>
                <a:latin typeface="Carlito"/>
              </a:rPr>
              <a:t>CUSUM</a:t>
            </a:r>
            <a:r>
              <a:rPr sz="1100" b="0">
                <a:solidFill>
                  <a:srgbClr val="2C3E50"/>
                </a:solidFill>
                <a:latin typeface="Carlito"/>
              </a:rPr>
              <a:t>, pour </a:t>
            </a:r>
            <a:r>
              <a:rPr sz="1012">
                <a:solidFill>
                  <a:srgbClr val="2C3E50"/>
                </a:solidFill>
                <a:latin typeface="Consolas"/>
              </a:rPr>
              <a:t>cumulative sum</a:t>
            </a:r>
            <a:r>
              <a:rPr sz="1100" b="0">
                <a:solidFill>
                  <a:srgbClr val="2C3E50"/>
                </a:solidFill>
                <a:latin typeface="Carlito"/>
              </a:rPr>
              <a:t>, accumule les écarts et déclenche une alarme au franchissement d'un seuil, selon </a:t>
            </a:r>
            <a:r>
              <a:rPr sz="1100" b="0">
                <a:solidFill>
                  <a:srgbClr val="2C3E50"/>
                </a:solidFill>
                <a:latin typeface="Carlito"/>
                <a:hlinkClick r:id="rId2"/>
              </a:rPr>
              <a:t>Page (1954)</a:t>
            </a:r>
            <a:r>
              <a:rPr sz="1100" b="0">
                <a:solidFill>
                  <a:srgbClr val="2C3E50"/>
                </a:solidFill>
                <a:latin typeface="Carlito"/>
              </a:rPr>
              <a:t>.</a:t>
            </a:r>
          </a:p>
        </p:txBody>
      </p:sp>
      <p:sp>
        <p:nvSpPr>
          <p:cNvPr id="29" name="TextBox 28"/>
          <p:cNvSpPr txBox="1"/>
          <p:nvPr/>
        </p:nvSpPr>
        <p:spPr>
          <a:xfrm>
            <a:off x="438912" y="3967098"/>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Ces mesures sont complémentaires : un signe isolé ne voit pas un changement qui préserve la symétrie ; une énergie agrégée ne voit pas toutes les transformations de covariance.</a:t>
            </a:r>
          </a:p>
        </p:txBody>
      </p:sp>
      <p:sp>
        <p:nvSpPr>
          <p:cNvPr id="30" name="TextBox 29"/>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Comment tester une détection</a:t>
            </a:r>
          </a:p>
        </p:txBody>
      </p:sp>
      <p:sp>
        <p:nvSpPr>
          <p:cNvPr id="4" name="Rectangle 3"/>
          <p:cNvSpPr/>
          <p:nvPr/>
        </p:nvSpPr>
        <p:spPr>
          <a:xfrm>
            <a:off x="7589519" y="64008"/>
            <a:ext cx="128016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89519" y="64008"/>
            <a:ext cx="12801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EXPÉRIENCES</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Une injection connue permet de mesurer le délai</a:t>
            </a:r>
          </a:p>
        </p:txBody>
      </p:sp>
      <p:sp>
        <p:nvSpPr>
          <p:cNvPr id="8" name="TextBox 7"/>
          <p:cNvSpPr txBox="1"/>
          <p:nvPr/>
        </p:nvSpPr>
        <p:spPr>
          <a:xfrm>
            <a:off x="438912" y="1325880"/>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Les changements sont injectés </a:t>
            </a:r>
            <a:r>
              <a:rPr sz="1100" i="1">
                <a:solidFill>
                  <a:srgbClr val="2C3E50"/>
                </a:solidFill>
                <a:latin typeface="Carlito"/>
              </a:rPr>
              <a:t>dans les rendements</a:t>
            </a:r>
            <a:r>
              <a:rPr sz="1100" b="0">
                <a:solidFill>
                  <a:srgbClr val="2C3E50"/>
                </a:solidFill>
                <a:latin typeface="Carlito"/>
              </a:rPr>
              <a:t>, avant toute projection. Les méthodes reçoivent les mêmes observations.</a:t>
            </a:r>
          </a:p>
        </p:txBody>
      </p:sp>
      <p:sp>
        <p:nvSpPr>
          <p:cNvPr id="9" name="TextBox 8"/>
          <p:cNvSpPr txBox="1"/>
          <p:nvPr/>
        </p:nvSpPr>
        <p:spPr>
          <a:xfrm>
            <a:off x="438912" y="1596263"/>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Les données servant à ajuster la représentation et le seuil doivent être distinctes des trajectoires servant à les évaluer.</a:t>
            </a:r>
          </a:p>
        </p:txBody>
      </p:sp>
      <p:graphicFrame>
        <p:nvGraphicFramePr>
          <p:cNvPr id="10" name="Table 9"/>
          <p:cNvGraphicFramePr>
            <a:graphicFrameLocks noGrp="1"/>
          </p:cNvGraphicFramePr>
          <p:nvPr/>
        </p:nvGraphicFramePr>
        <p:xfrm>
          <a:off x="438912" y="1939798"/>
          <a:ext cx="8275320" cy="1170432"/>
        </p:xfrm>
        <a:graphic>
          <a:graphicData uri="http://schemas.openxmlformats.org/drawingml/2006/table">
            <a:tbl>
              <a:tblPr firstRow="1" bandRow="1">
                <a:tableStyleId>{5C22544A-7EE6-4342-B048-85BDC9FD1C3A}</a:tableStyleId>
              </a:tblPr>
              <a:tblGrid>
                <a:gridCol w="2758440"/>
                <a:gridCol w="2758440"/>
                <a:gridCol w="2758440"/>
              </a:tblGrid>
              <a:tr h="292608">
                <a:tc>
                  <a:txBody>
                    <a:bodyPr/>
                    <a:lstStyle/>
                    <a:p>
                      <a:pPr algn="ctr"/>
                      <a:r>
                        <a:rPr sz="1000" b="1">
                          <a:solidFill>
                            <a:srgbClr val="FFFFFF"/>
                          </a:solidFill>
                          <a:latin typeface="Carlito"/>
                        </a:rPr>
                        <a:t>Fond de données</a:t>
                      </a:r>
                    </a:p>
                  </a:txBody>
                  <a:tcPr marL="54864" marR="54864" marT="18288" marB="18288">
                    <a:solidFill>
                      <a:srgbClr val="1B7A8A"/>
                    </a:solidFill>
                  </a:tcPr>
                </a:tc>
                <a:tc>
                  <a:txBody>
                    <a:bodyPr/>
                    <a:lstStyle/>
                    <a:p>
                      <a:pPr algn="ctr"/>
                      <a:r>
                        <a:rPr sz="1000" b="1">
                          <a:solidFill>
                            <a:srgbClr val="FFFFFF"/>
                          </a:solidFill>
                          <a:latin typeface="Carlito"/>
                        </a:rPr>
                        <a:t>Construction</a:t>
                      </a:r>
                    </a:p>
                  </a:txBody>
                  <a:tcPr marL="54864" marR="54864" marT="18288" marB="18288">
                    <a:solidFill>
                      <a:srgbClr val="1B7A8A"/>
                    </a:solidFill>
                  </a:tcPr>
                </a:tc>
                <a:tc>
                  <a:txBody>
                    <a:bodyPr/>
                    <a:lstStyle/>
                    <a:p>
                      <a:pPr algn="ctr"/>
                      <a:r>
                        <a:rPr sz="1000" b="1">
                          <a:solidFill>
                            <a:srgbClr val="FFFFFF"/>
                          </a:solidFill>
                          <a:latin typeface="Carlito"/>
                        </a:rPr>
                        <a:t>Ce que l'essai permet de mesurer</a:t>
                      </a:r>
                    </a:p>
                  </a:txBody>
                  <a:tcPr marL="54864" marR="54864" marT="18288" marB="18288">
                    <a:solidFill>
                      <a:srgbClr val="1B7A8A"/>
                    </a:solidFill>
                  </a:tcPr>
                </a:tc>
              </a:tr>
              <a:tr h="292608">
                <a:tc>
                  <a:txBody>
                    <a:bodyPr/>
                    <a:lstStyle/>
                    <a:p>
                      <a:pPr algn="l"/>
                      <a:r>
                        <a:rPr sz="900" b="0">
                          <a:solidFill>
                            <a:srgbClr val="2C3E50"/>
                          </a:solidFill>
                          <a:latin typeface="Carlito"/>
                        </a:rPr>
                        <a:t>Entièrement simulé</a:t>
                      </a:r>
                    </a:p>
                  </a:txBody>
                  <a:tcPr marL="54864" marR="54864" marT="18288" marB="18288">
                    <a:solidFill>
                      <a:srgbClr val="EBF2FA"/>
                    </a:solidFill>
                  </a:tcPr>
                </a:tc>
                <a:tc>
                  <a:txBody>
                    <a:bodyPr/>
                    <a:lstStyle/>
                    <a:p>
                      <a:pPr algn="ctr"/>
                      <a:r>
                        <a:rPr sz="900" b="0">
                          <a:solidFill>
                            <a:srgbClr val="2C3E50"/>
                          </a:solidFill>
                          <a:latin typeface="Carlito"/>
                        </a:rPr>
                        <a:t>Rendements corrélés, avec volatilité constante ou variable</a:t>
                      </a:r>
                    </a:p>
                  </a:txBody>
                  <a:tcPr marL="54864" marR="54864" marT="18288" marB="18288">
                    <a:solidFill>
                      <a:srgbClr val="EBF2FA"/>
                    </a:solidFill>
                  </a:tcPr>
                </a:tc>
                <a:tc>
                  <a:txBody>
                    <a:bodyPr/>
                    <a:lstStyle/>
                    <a:p>
                      <a:pPr algn="ctr"/>
                      <a:r>
                        <a:rPr sz="900" b="0">
                          <a:solidFill>
                            <a:srgbClr val="2C3E50"/>
                          </a:solidFill>
                          <a:latin typeface="Carlito"/>
                        </a:rPr>
                        <a:t>Fausses alarmes sans changement ; délai après une injection connue</a:t>
                      </a:r>
                    </a:p>
                  </a:txBody>
                  <a:tcPr marL="54864" marR="54864" marT="18288" marB="18288">
                    <a:solidFill>
                      <a:srgbClr val="EBF2FA"/>
                    </a:solidFill>
                  </a:tcPr>
                </a:tc>
              </a:tr>
              <a:tr h="292608">
                <a:tc>
                  <a:txBody>
                    <a:bodyPr/>
                    <a:lstStyle/>
                    <a:p>
                      <a:pPr algn="l"/>
                      <a:r>
                        <a:rPr sz="900" b="0">
                          <a:solidFill>
                            <a:srgbClr val="2C3E50"/>
                          </a:solidFill>
                          <a:latin typeface="Carlito"/>
                        </a:rPr>
                        <a:t>Réel rendu symétrique</a:t>
                      </a:r>
                    </a:p>
                  </a:txBody>
                  <a:tcPr marL="54864" marR="54864" marT="18288" marB="18288">
                    <a:solidFill>
                      <a:srgbClr val="FFFFFF"/>
                    </a:solidFill>
                  </a:tcPr>
                </a:tc>
                <a:tc>
                  <a:txBody>
                    <a:bodyPr/>
                    <a:lstStyle/>
                    <a:p>
                      <a:pPr algn="ctr"/>
                      <a:r>
                        <a:rPr sz="900" b="0">
                          <a:solidFill>
                            <a:srgbClr val="2C3E50"/>
                          </a:solidFill>
                          <a:latin typeface="Carlito"/>
                        </a:rPr>
                        <a:t>Chaque journée entière est multipliée par +1 ou -1, au hasard</a:t>
                      </a:r>
                    </a:p>
                  </a:txBody>
                  <a:tcPr marL="54864" marR="54864" marT="18288" marB="18288">
                    <a:solidFill>
                      <a:srgbClr val="FFFFFF"/>
                    </a:solidFill>
                  </a:tcPr>
                </a:tc>
                <a:tc>
                  <a:txBody>
                    <a:bodyPr/>
                    <a:lstStyle/>
                    <a:p>
                      <a:pPr algn="ctr"/>
                      <a:r>
                        <a:rPr sz="900" b="0">
                          <a:solidFill>
                            <a:srgbClr val="2C3E50"/>
                          </a:solidFill>
                          <a:latin typeface="Carlito"/>
                        </a:rPr>
                        <a:t>Détection sur des amplitudes réelles, sous une symétrie imposée</a:t>
                      </a:r>
                    </a:p>
                  </a:txBody>
                  <a:tcPr marL="54864" marR="54864" marT="18288" marB="18288">
                    <a:solidFill>
                      <a:srgbClr val="FFFFFF"/>
                    </a:solidFill>
                  </a:tcPr>
                </a:tc>
              </a:tr>
              <a:tr h="292608">
                <a:tc>
                  <a:txBody>
                    <a:bodyPr/>
                    <a:lstStyle/>
                    <a:p>
                      <a:pPr algn="l"/>
                      <a:r>
                        <a:rPr sz="900" b="0">
                          <a:solidFill>
                            <a:srgbClr val="2C3E50"/>
                          </a:solidFill>
                          <a:latin typeface="Carlito"/>
                        </a:rPr>
                        <a:t>Réel brut</a:t>
                      </a:r>
                    </a:p>
                  </a:txBody>
                  <a:tcPr marL="54864" marR="54864" marT="18288" marB="18288">
                    <a:solidFill>
                      <a:srgbClr val="EBF2FA"/>
                    </a:solidFill>
                  </a:tcPr>
                </a:tc>
                <a:tc>
                  <a:txBody>
                    <a:bodyPr/>
                    <a:lstStyle/>
                    <a:p>
                      <a:pPr algn="ctr"/>
                      <a:r>
                        <a:rPr sz="900" b="0">
                          <a:solidFill>
                            <a:srgbClr val="2C3E50"/>
                          </a:solidFill>
                          <a:latin typeface="Carlito"/>
                        </a:rPr>
                        <a:t>Rendements tels qu'observés</a:t>
                      </a:r>
                    </a:p>
                  </a:txBody>
                  <a:tcPr marL="54864" marR="54864" marT="18288" marB="18288">
                    <a:solidFill>
                      <a:srgbClr val="EBF2FA"/>
                    </a:solidFill>
                  </a:tcPr>
                </a:tc>
                <a:tc>
                  <a:txBody>
                    <a:bodyPr/>
                    <a:lstStyle/>
                    <a:p>
                      <a:pPr algn="ctr"/>
                      <a:r>
                        <a:rPr sz="900" b="0">
                          <a:solidFill>
                            <a:srgbClr val="2C3E50"/>
                          </a:solidFill>
                          <a:latin typeface="Carlito"/>
                        </a:rPr>
                        <a:t>Diagnostic rétrospectif ; la vraie date de changement reste inconnue</a:t>
                      </a:r>
                    </a:p>
                  </a:txBody>
                  <a:tcPr marL="54864" marR="54864" marT="18288" marB="18288">
                    <a:solidFill>
                      <a:srgbClr val="EBF2FA"/>
                    </a:solidFill>
                  </a:tcPr>
                </a:tc>
              </a:tr>
            </a:tbl>
          </a:graphicData>
        </a:graphic>
      </p:graphicFrame>
      <p:sp>
        <p:nvSpPr>
          <p:cNvPr id="11" name="TextBox 10"/>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Pourquoi la moyenne plafonne</a:t>
            </a:r>
          </a:p>
        </p:txBody>
      </p:sp>
      <p:sp>
        <p:nvSpPr>
          <p:cNvPr id="4" name="Rectangle 3"/>
          <p:cNvSpPr/>
          <p:nvPr/>
        </p:nvSpPr>
        <p:spPr>
          <a:xfrm>
            <a:off x="8001000" y="64008"/>
            <a:ext cx="868680"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1000" y="64008"/>
            <a:ext cx="86868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RAPPEL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La moyenne réduit peu le bruit commun aux actions</a:t>
            </a:r>
          </a:p>
        </p:txBody>
      </p:sp>
      <p:pic>
        <p:nvPicPr>
          <p:cNvPr id="8" name="historical:Fig30:unchanged" descr="Fig30_RealCrossSectional_Escape_UPDATED.png"/>
          <p:cNvPicPr>
            <a:picLocks noChangeAspect="1"/>
          </p:cNvPicPr>
          <p:nvPr/>
        </p:nvPicPr>
        <p:blipFill>
          <a:blip r:embed="rId2"/>
          <a:stretch>
            <a:fillRect/>
          </a:stretch>
        </p:blipFill>
        <p:spPr>
          <a:xfrm>
            <a:off x="384048" y="1325880"/>
            <a:ext cx="5486400" cy="2286000"/>
          </a:xfrm>
          <a:prstGeom prst="rect">
            <a:avLst/>
          </a:prstGeom>
        </p:spPr>
      </p:pic>
      <p:sp>
        <p:nvSpPr>
          <p:cNvPr id="9" name="TextBox 8"/>
          <p:cNvSpPr txBox="1"/>
          <p:nvPr/>
        </p:nvSpPr>
        <p:spPr>
          <a:xfrm>
            <a:off x="6675120" y="1325880"/>
            <a:ext cx="2103120" cy="69748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Si les signes des actions étaient indépendants, leur moyenne annulerait progressivement le bruit.</a:t>
            </a:r>
          </a:p>
        </p:txBody>
      </p:sp>
      <p:sp>
        <p:nvSpPr>
          <p:cNvPr id="10" name="TextBox 9"/>
          <p:cNvSpPr txBox="1"/>
          <p:nvPr/>
        </p:nvSpPr>
        <p:spPr>
          <a:xfrm>
            <a:off x="6675120" y="2078228"/>
            <a:ext cx="2103120" cy="69748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Dans l'expérience historique sur 97 actions, leur corrélation moyenne est proche de </a:t>
            </a:r>
            <a:r>
              <a:rPr sz="1100" i="1">
                <a:solidFill>
                  <a:srgbClr val="2C3E50"/>
                </a:solidFill>
                <a:latin typeface="Carlito"/>
              </a:rPr>
              <a:t>0,26</a:t>
            </a:r>
            <a:r>
              <a:rPr sz="1100" b="0">
                <a:solidFill>
                  <a:srgbClr val="2C3E50"/>
                </a:solidFill>
                <a:latin typeface="Carlito"/>
              </a:rPr>
              <a:t> : une partie du mouvement est commune.</a:t>
            </a:r>
          </a:p>
        </p:txBody>
      </p:sp>
      <p:sp>
        <p:nvSpPr>
          <p:cNvPr id="11" name="TextBox 10"/>
          <p:cNvSpPr txBox="1"/>
          <p:nvPr/>
        </p:nvSpPr>
        <p:spPr>
          <a:xfrm>
            <a:off x="6675120" y="2830576"/>
            <a:ext cx="2103120" cy="1018793"/>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Avec cette corrélation supposée identique entre paires, le gain maximal sur l'</a:t>
            </a:r>
            <a:r>
              <a:rPr sz="1100" i="1">
                <a:solidFill>
                  <a:srgbClr val="2C3E50"/>
                </a:solidFill>
                <a:latin typeface="Carlito"/>
              </a:rPr>
              <a:t>écart-type</a:t>
            </a:r>
            <a:r>
              <a:rPr sz="1100" b="0">
                <a:solidFill>
                  <a:srgbClr val="2C3E50"/>
                </a:solidFill>
                <a:latin typeface="Carlito"/>
              </a:rPr>
              <a:t>, mesure de dispersion, est </a:t>
            </a:r>
            <a:r>
              <a:rPr sz="1100" i="1">
                <a:solidFill>
                  <a:srgbClr val="2C3E50"/>
                </a:solidFill>
                <a:latin typeface="Carlito"/>
              </a:rPr>
              <a:t>1,96</a:t>
            </a:r>
            <a:r>
              <a:rPr sz="1100" b="0">
                <a:solidFill>
                  <a:srgbClr val="2C3E50"/>
                </a:solidFill>
                <a:latin typeface="Carlito"/>
              </a:rPr>
              <a:t>. Le nombre d'actions indépendantes équivalent plafonne à </a:t>
            </a:r>
            <a:r>
              <a:rPr sz="1100" i="1">
                <a:solidFill>
                  <a:srgbClr val="2C3E50"/>
                </a:solidFill>
                <a:latin typeface="Carlito"/>
              </a:rPr>
              <a:t>3,85</a:t>
            </a:r>
            <a:r>
              <a:rPr sz="1100" b="0">
                <a:solidFill>
                  <a:srgbClr val="2C3E50"/>
                </a:solidFill>
                <a:latin typeface="Carlito"/>
              </a:rPr>
              <a:t>.</a:t>
            </a:r>
          </a:p>
        </p:txBody>
      </p:sp>
      <p:sp>
        <p:nvSpPr>
          <p:cNvPr id="12" name="TextBox 11"/>
          <p:cNvSpPr txBox="1"/>
          <p:nvPr/>
        </p:nvSpPr>
        <p:spPr>
          <a:xfrm>
            <a:off x="6675120" y="3904233"/>
            <a:ext cx="2103120" cy="85813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La figure historique montre aussi une réduction du budget de détection proche de </a:t>
            </a:r>
            <a:r>
              <a:rPr sz="1100" i="1">
                <a:solidFill>
                  <a:srgbClr val="2C3E50"/>
                </a:solidFill>
                <a:latin typeface="Carlito"/>
              </a:rPr>
              <a:t>2</a:t>
            </a:r>
            <a:r>
              <a:rPr sz="1100" b="0">
                <a:solidFill>
                  <a:srgbClr val="2C3E50"/>
                </a:solidFill>
                <a:latin typeface="Carlito"/>
              </a:rPr>
              <a:t>. C'est une mesure différente : la formule de variance ne suffit pas à la déduire.</a:t>
            </a:r>
          </a:p>
        </p:txBody>
      </p:sp>
      <p:sp>
        <p:nvSpPr>
          <p:cNvPr id="13" name="Rectangle 12"/>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gain_limite_sur_ecart_type = 1 / sqrt(rho)</a:t>
            </a:r>
          </a:p>
        </p:txBody>
      </p:sp>
      <p:sp>
        <p:nvSpPr>
          <p:cNvPr id="15" name="TextBox 14"/>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L'intuition géométrique de l'ACP</a:t>
            </a:r>
          </a:p>
        </p:txBody>
      </p:sp>
      <p:sp>
        <p:nvSpPr>
          <p:cNvPr id="4" name="Rectangle 3"/>
          <p:cNvSpPr/>
          <p:nvPr/>
        </p:nvSpPr>
        <p:spPr>
          <a:xfrm>
            <a:off x="7955279" y="64008"/>
            <a:ext cx="91440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79"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MÉTHODE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L'ACP observe des mouvements collectifs plutôt que chaque action isolée</a:t>
            </a:r>
          </a:p>
        </p:txBody>
      </p:sp>
      <p:sp>
        <p:nvSpPr>
          <p:cNvPr id="8" name="Oval 7"/>
          <p:cNvSpPr/>
          <p:nvPr/>
        </p:nvSpPr>
        <p:spPr>
          <a:xfrm rot="21000000">
            <a:off x="1124712" y="1828800"/>
            <a:ext cx="2743200" cy="1280160"/>
          </a:xfrm>
          <a:prstGeom prst="ellipse">
            <a:avLst/>
          </a:prstGeom>
          <a:solidFill>
            <a:srgbClr val="FFFFFF"/>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1033271" y="2194560"/>
            <a:ext cx="2926081" cy="54864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502152" y="1965960"/>
            <a:ext cx="1097280" cy="201168"/>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1B7A8A"/>
                </a:solidFill>
                <a:latin typeface="Carlito"/>
              </a:rPr>
              <a:t>mouvement commun</a:t>
            </a:r>
          </a:p>
        </p:txBody>
      </p:sp>
      <p:cxnSp>
        <p:nvCxnSpPr>
          <p:cNvPr id="11" name="Connector 10"/>
          <p:cNvCxnSpPr/>
          <p:nvPr/>
        </p:nvCxnSpPr>
        <p:spPr>
          <a:xfrm>
            <a:off x="1764792" y="1737360"/>
            <a:ext cx="1463040" cy="1463040"/>
          </a:xfrm>
          <a:prstGeom prst="line">
            <a:avLst/>
          </a:prstGeom>
          <a:ln w="25400">
            <a:solidFill>
              <a:srgbClr val="8E44A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33271" y="2971800"/>
            <a:ext cx="1280160" cy="201168"/>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8E44AD"/>
                </a:solidFill>
                <a:latin typeface="Carlito"/>
              </a:rPr>
              <a:t>différences entre actions</a:t>
            </a:r>
          </a:p>
        </p:txBody>
      </p:sp>
      <p:sp>
        <p:nvSpPr>
          <p:cNvPr id="13" name="Oval 12"/>
          <p:cNvSpPr/>
          <p:nvPr/>
        </p:nvSpPr>
        <p:spPr>
          <a:xfrm>
            <a:off x="3008376" y="2157984"/>
            <a:ext cx="73152" cy="73152"/>
          </a:xfrm>
          <a:prstGeom prst="ellipse">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044952" y="2194560"/>
            <a:ext cx="365760" cy="137160"/>
          </a:xfrm>
          <a:prstGeom prst="line">
            <a:avLst/>
          </a:prstGeom>
          <a:ln w="19050">
            <a:solidFill>
              <a:srgbClr val="8A9BB0"/>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84632" y="3383280"/>
            <a:ext cx="4023360"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schéma explicatif</a:t>
            </a:r>
          </a:p>
        </p:txBody>
      </p:sp>
      <p:sp>
        <p:nvSpPr>
          <p:cNvPr id="16" name="TextBox 15"/>
          <p:cNvSpPr txBox="1"/>
          <p:nvPr/>
        </p:nvSpPr>
        <p:spPr>
          <a:xfrm>
            <a:off x="4846320" y="1325880"/>
            <a:ext cx="384048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Une </a:t>
            </a:r>
            <a:r>
              <a:rPr sz="1100" i="1">
                <a:solidFill>
                  <a:srgbClr val="2C3E50"/>
                </a:solidFill>
                <a:latin typeface="Carlito"/>
              </a:rPr>
              <a:t>direction</a:t>
            </a:r>
            <a:r>
              <a:rPr sz="1100" b="0">
                <a:solidFill>
                  <a:srgbClr val="2C3E50"/>
                </a:solidFill>
                <a:latin typeface="Carlito"/>
              </a:rPr>
              <a:t> est une combinaison pondérée des rendements. L'ACP cherche d'abord celle qui varie le plus, puis des directions perpendiculaires.</a:t>
            </a:r>
          </a:p>
        </p:txBody>
      </p:sp>
      <p:sp>
        <p:nvSpPr>
          <p:cNvPr id="17" name="TextBox 16"/>
          <p:cNvSpPr txBox="1"/>
          <p:nvPr/>
        </p:nvSpPr>
        <p:spPr>
          <a:xfrm>
            <a:off x="4846320" y="1917572"/>
            <a:ext cx="384048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La première ressemble souvent au mouvement du marché. Les suivantes décrivent des écarts entre actions : ce sont les </a:t>
            </a:r>
            <a:r>
              <a:rPr sz="1100" i="1">
                <a:solidFill>
                  <a:srgbClr val="2C3E50"/>
                </a:solidFill>
                <a:latin typeface="Carlito"/>
              </a:rPr>
              <a:t>directions résiduelles</a:t>
            </a:r>
            <a:r>
              <a:rPr sz="1100" b="0">
                <a:solidFill>
                  <a:srgbClr val="2C3E50"/>
                </a:solidFill>
                <a:latin typeface="Carlito"/>
              </a:rPr>
              <a:t>.</a:t>
            </a:r>
          </a:p>
        </p:txBody>
      </p:sp>
      <p:sp>
        <p:nvSpPr>
          <p:cNvPr id="18" name="TextBox 17"/>
          <p:cNvSpPr txBox="1"/>
          <p:nvPr/>
        </p:nvSpPr>
        <p:spPr>
          <a:xfrm>
            <a:off x="4846320" y="2509265"/>
            <a:ext cx="384048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Chaque rendement quotidien est projeté sur ces axes, puis divisé par une échelle historique. Cette normalisation, appelée </a:t>
            </a:r>
            <a:r>
              <a:rPr sz="1100" i="1">
                <a:solidFill>
                  <a:srgbClr val="2C3E50"/>
                </a:solidFill>
                <a:latin typeface="Carlito"/>
              </a:rPr>
              <a:t>blanchiment</a:t>
            </a:r>
            <a:r>
              <a:rPr sz="1100" b="0">
                <a:solidFill>
                  <a:srgbClr val="2C3E50"/>
                </a:solidFill>
                <a:latin typeface="Carlito"/>
              </a:rPr>
              <a:t>, rend les scores plus comparables.</a:t>
            </a:r>
          </a:p>
        </p:txBody>
      </p:sp>
      <p:sp>
        <p:nvSpPr>
          <p:cNvPr id="19" name="TextBox 18"/>
          <p:cNvSpPr txBox="1"/>
          <p:nvPr/>
        </p:nvSpPr>
        <p:spPr>
          <a:xfrm>
            <a:off x="4846320" y="3100958"/>
            <a:ext cx="384048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La première direction reste surveillée séparément. Retirer le marché de l'analyse résiduelle ne signifie pas l'ignorer.</a:t>
            </a:r>
          </a:p>
        </p:txBody>
      </p:sp>
      <p:sp>
        <p:nvSpPr>
          <p:cNvPr id="20" name="Rectangle 19"/>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score_k(t) = projection_sur_axe_k(t) / echelle_k</a:t>
            </a:r>
          </a:p>
        </p:txBody>
      </p:sp>
      <p:sp>
        <p:nvSpPr>
          <p:cNvPr id="22" name="TextBox 2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De l'ACP à l'alarme</a:t>
            </a:r>
          </a:p>
        </p:txBody>
      </p:sp>
      <p:sp>
        <p:nvSpPr>
          <p:cNvPr id="4" name="Rectangle 3"/>
          <p:cNvSpPr/>
          <p:nvPr/>
        </p:nvSpPr>
        <p:spPr>
          <a:xfrm>
            <a:off x="7635240" y="64008"/>
            <a:ext cx="1234440" cy="24688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35240" y="64008"/>
            <a:ext cx="123444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IMPLÉMENTÉ</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Les axes sont fixés avant la surveillance</a:t>
            </a:r>
          </a:p>
        </p:txBody>
      </p:sp>
      <p:sp>
        <p:nvSpPr>
          <p:cNvPr id="8" name="Rectangle 7"/>
          <p:cNvSpPr/>
          <p:nvPr/>
        </p:nvSpPr>
        <p:spPr>
          <a:xfrm>
            <a:off x="438912" y="1325880"/>
            <a:ext cx="8275320" cy="384048"/>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1325880"/>
            <a:ext cx="45720" cy="38404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1371600"/>
            <a:ext cx="8001000" cy="292608"/>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1">
                <a:solidFill>
                  <a:srgbClr val="1B7A8A"/>
                </a:solidFill>
                <a:latin typeface="Carlito"/>
              </a:rPr>
              <a:t>calibration : rendements → covariance → axes et échelles → seuils</a:t>
            </a:r>
          </a:p>
        </p:txBody>
      </p:sp>
      <p:sp>
        <p:nvSpPr>
          <p:cNvPr id="11" name="Rectangle 10"/>
          <p:cNvSpPr/>
          <p:nvPr/>
        </p:nvSpPr>
        <p:spPr>
          <a:xfrm>
            <a:off x="438912" y="1828800"/>
            <a:ext cx="8275320" cy="384048"/>
          </a:xfrm>
          <a:prstGeom prst="rect">
            <a:avLst/>
          </a:prstGeom>
          <a:solidFill>
            <a:srgbClr val="E8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1828800"/>
            <a:ext cx="45720" cy="38404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 y="1874519"/>
            <a:ext cx="8001000" cy="292608"/>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980B9"/>
                </a:solidFill>
                <a:latin typeface="Carlito"/>
              </a:rPr>
              <a:t>surveillance : rendements du jour → projections figées → signes / énergie → alarme</a:t>
            </a:r>
          </a:p>
        </p:txBody>
      </p:sp>
      <p:sp>
        <p:nvSpPr>
          <p:cNvPr id="14" name="Rectangle 13"/>
          <p:cNvSpPr/>
          <p:nvPr/>
        </p:nvSpPr>
        <p:spPr>
          <a:xfrm>
            <a:off x="4302252" y="1709928"/>
            <a:ext cx="548640" cy="146304"/>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0540" y="1709928"/>
            <a:ext cx="512064" cy="146304"/>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FFFFFF"/>
                </a:solidFill>
                <a:latin typeface="Carlito"/>
              </a:rPr>
              <a:t>figé</a:t>
            </a:r>
          </a:p>
        </p:txBody>
      </p:sp>
      <p:sp>
        <p:nvSpPr>
          <p:cNvPr id="16" name="TextBox 15"/>
          <p:cNvSpPr txBox="1"/>
          <p:nvPr/>
        </p:nvSpPr>
        <p:spPr>
          <a:xfrm>
            <a:off x="438912" y="2697480"/>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Ajuster.</a:t>
            </a:r>
            <a:r>
              <a:rPr sz="1100" b="0">
                <a:solidFill>
                  <a:srgbClr val="2C3E50"/>
                </a:solidFill>
                <a:latin typeface="Carlito"/>
              </a:rPr>
              <a:t> Estimer comment les actions varient ensemble avec la covariance stabilisée de </a:t>
            </a:r>
            <a:r>
              <a:rPr sz="1100" b="0">
                <a:solidFill>
                  <a:srgbClr val="2C3E50"/>
                </a:solidFill>
                <a:latin typeface="Carlito"/>
                <a:hlinkClick r:id="rId2"/>
              </a:rPr>
              <a:t>Ledoit et Wolf (2004)</a:t>
            </a:r>
            <a:r>
              <a:rPr sz="1100" b="0">
                <a:solidFill>
                  <a:srgbClr val="2C3E50"/>
                </a:solidFill>
                <a:latin typeface="Carlito"/>
              </a:rPr>
              <a:t>, puis fixer les axes et leurs échelles.</a:t>
            </a:r>
          </a:p>
        </p:txBody>
      </p:sp>
      <p:sp>
        <p:nvSpPr>
          <p:cNvPr id="17" name="TextBox 16"/>
          <p:cNvSpPr txBox="1"/>
          <p:nvPr/>
        </p:nvSpPr>
        <p:spPr>
          <a:xfrm>
            <a:off x="438912" y="2967863"/>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Observer.</a:t>
            </a:r>
            <a:r>
              <a:rPr sz="1100" b="0">
                <a:solidFill>
                  <a:srgbClr val="2C3E50"/>
                </a:solidFill>
                <a:latin typeface="Carlito"/>
              </a:rPr>
              <a:t> Chaque nouveau jour, projeter les rendements avec ces mêmes paramètres ; transmettre les signes ou l'énergie au détecteur.</a:t>
            </a:r>
          </a:p>
        </p:txBody>
      </p:sp>
      <p:sp>
        <p:nvSpPr>
          <p:cNvPr id="18" name="TextBox 17"/>
          <p:cNvSpPr txBox="1"/>
          <p:nvPr/>
        </p:nvSpPr>
        <p:spPr>
          <a:xfrm>
            <a:off x="438912" y="3238246"/>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Régler le risque.</a:t>
            </a:r>
            <a:r>
              <a:rPr sz="1100" b="0">
                <a:solidFill>
                  <a:srgbClr val="2C3E50"/>
                </a:solidFill>
                <a:latin typeface="Carlito"/>
              </a:rPr>
              <a:t> Ici, la cible est la probabilité d'</a:t>
            </a:r>
            <a:r>
              <a:rPr sz="1100" i="1">
                <a:solidFill>
                  <a:srgbClr val="2C3E50"/>
                </a:solidFill>
                <a:latin typeface="Carlito"/>
              </a:rPr>
              <a:t>au moins une fausse alarme sur une durée fixée</a:t>
            </a:r>
            <a:r>
              <a:rPr sz="1100" b="0">
                <a:solidFill>
                  <a:srgbClr val="2C3E50"/>
                </a:solidFill>
                <a:latin typeface="Carlito"/>
              </a:rPr>
              <a:t>. Elle diffère du temps moyen avant fausse alarme.</a:t>
            </a:r>
          </a:p>
        </p:txBody>
      </p:sp>
      <p:sp>
        <p:nvSpPr>
          <p:cNvPr id="19" name="TextBox 18"/>
          <p:cNvSpPr txBox="1"/>
          <p:nvPr/>
        </p:nvSpPr>
        <p:spPr>
          <a:xfrm>
            <a:off x="438912" y="3669284"/>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Pour combiner plusieurs directions, on peut moyenner des </a:t>
            </a:r>
            <a:r>
              <a:rPr sz="1100" i="1">
                <a:solidFill>
                  <a:srgbClr val="2C3E50"/>
                </a:solidFill>
                <a:latin typeface="Carlito"/>
              </a:rPr>
              <a:t>accumulateurs de preuve</a:t>
            </a:r>
            <a:r>
              <a:rPr sz="1100" b="0">
                <a:solidFill>
                  <a:srgbClr val="2C3E50"/>
                </a:solidFill>
                <a:latin typeface="Carlito"/>
              </a:rPr>
              <a:t>, des statistiques construites pour contrôler ce risque sous leurs hypothèses, selon </a:t>
            </a:r>
            <a:r>
              <a:rPr sz="1100" b="0">
                <a:solidFill>
                  <a:srgbClr val="2C3E50"/>
                </a:solidFill>
                <a:latin typeface="Carlito"/>
                <a:hlinkClick r:id="rId3"/>
              </a:rPr>
              <a:t>Shin, Ramdas et Rinaldo (2024)</a:t>
            </a:r>
            <a:r>
              <a:rPr sz="1100" b="0">
                <a:solidFill>
                  <a:srgbClr val="2C3E50"/>
                </a:solidFill>
                <a:latin typeface="Carlito"/>
              </a:rPr>
              <a:t>.</a:t>
            </a:r>
          </a:p>
        </p:txBody>
      </p:sp>
      <p:sp>
        <p:nvSpPr>
          <p:cNvPr id="20" name="TextBox 19"/>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Les dimensions effectivement obtenues</a:t>
            </a:r>
          </a:p>
        </p:txBody>
      </p:sp>
      <p:sp>
        <p:nvSpPr>
          <p:cNvPr id="4" name="Rectangle 3"/>
          <p:cNvSpPr/>
          <p:nvPr/>
        </p:nvSpPr>
        <p:spPr>
          <a:xfrm>
            <a:off x="8046719" y="64008"/>
            <a:ext cx="822960" cy="246888"/>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MESURÉ</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Six et onze scores : un réglage de variance, pas un optimum de détection</a:t>
            </a:r>
          </a:p>
        </p:txBody>
      </p:sp>
      <p:sp>
        <p:nvSpPr>
          <p:cNvPr id="8" name="TextBox 7"/>
          <p:cNvSpPr txBox="1"/>
          <p:nvPr/>
        </p:nvSpPr>
        <p:spPr>
          <a:xfrm>
            <a:off x="438912" y="132588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Le nombre d'axes est choisi avec un seuil de bruit inspiré de </a:t>
            </a:r>
            <a:r>
              <a:rPr sz="1100" b="0">
                <a:solidFill>
                  <a:srgbClr val="2C3E50"/>
                </a:solidFill>
                <a:latin typeface="Carlito"/>
                <a:hlinkClick r:id="rId2"/>
              </a:rPr>
              <a:t>Marčenko et Pastur (1967)</a:t>
            </a:r>
            <a:r>
              <a:rPr sz="1100" b="0">
                <a:solidFill>
                  <a:srgbClr val="2C3E50"/>
                </a:solidFill>
                <a:latin typeface="Carlito"/>
              </a:rPr>
              <a:t> : on retient les variations collectives qui dépassent ce repère.</a:t>
            </a:r>
          </a:p>
        </p:txBody>
      </p:sp>
      <p:sp>
        <p:nvSpPr>
          <p:cNvPr id="9" name="TextBox 8"/>
          <p:cNvSpPr txBox="1"/>
          <p:nvPr/>
        </p:nvSpPr>
        <p:spPr>
          <a:xfrm>
            <a:off x="438912" y="1756918"/>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Cette règle utilise la </a:t>
            </a:r>
            <a:r>
              <a:rPr sz="1100" i="1">
                <a:solidFill>
                  <a:srgbClr val="2C3E50"/>
                </a:solidFill>
                <a:latin typeface="Carlito"/>
              </a:rPr>
              <a:t>corrélation empirique</a:t>
            </a:r>
            <a:r>
              <a:rPr sz="1100" b="0">
                <a:solidFill>
                  <a:srgbClr val="2C3E50"/>
                </a:solidFill>
                <a:latin typeface="Carlito"/>
              </a:rPr>
              <a:t> ; les axes sont ensuite calculés sur la </a:t>
            </a:r>
            <a:r>
              <a:rPr sz="1100" i="1">
                <a:solidFill>
                  <a:srgbClr val="2C3E50"/>
                </a:solidFill>
                <a:latin typeface="Carlito"/>
              </a:rPr>
              <a:t>covariance stabilisée</a:t>
            </a:r>
            <a:r>
              <a:rPr sz="1100" b="0">
                <a:solidFill>
                  <a:srgbClr val="2C3E50"/>
                </a:solidFill>
                <a:latin typeface="Carlito"/>
              </a:rPr>
              <a:t>. La première mesure des relations sans unité, la seconde conserve les échelles des rendements.</a:t>
            </a:r>
          </a:p>
        </p:txBody>
      </p:sp>
      <p:sp>
        <p:nvSpPr>
          <p:cNvPr id="10" name="TextBox 9"/>
          <p:cNvSpPr txBox="1"/>
          <p:nvPr/>
        </p:nvSpPr>
        <p:spPr>
          <a:xfrm>
            <a:off x="438912" y="2187956"/>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Ces nombres décrivent un ajustement historique. Ils ne disent pas quelles directions porteront un changement futur.</a:t>
            </a:r>
          </a:p>
        </p:txBody>
      </p:sp>
      <p:graphicFrame>
        <p:nvGraphicFramePr>
          <p:cNvPr id="11" name="Table 10"/>
          <p:cNvGraphicFramePr>
            <a:graphicFrameLocks noGrp="1"/>
          </p:cNvGraphicFramePr>
          <p:nvPr/>
        </p:nvGraphicFramePr>
        <p:xfrm>
          <a:off x="438912" y="2531491"/>
          <a:ext cx="8275320" cy="877824"/>
        </p:xfrm>
        <a:graphic>
          <a:graphicData uri="http://schemas.openxmlformats.org/drawingml/2006/table">
            <a:tbl>
              <a:tblPr firstRow="1" bandRow="1">
                <a:tableStyleId>{5C22544A-7EE6-4342-B048-85BDC9FD1C3A}</a:tableStyleId>
              </a:tblPr>
              <a:tblGrid>
                <a:gridCol w="2068830"/>
                <a:gridCol w="2068830"/>
                <a:gridCol w="2068830"/>
                <a:gridCol w="2068830"/>
              </a:tblGrid>
              <a:tr h="292608">
                <a:tc>
                  <a:txBody>
                    <a:bodyPr/>
                    <a:lstStyle/>
                    <a:p>
                      <a:pPr algn="ctr"/>
                      <a:r>
                        <a:rPr sz="1000" b="1">
                          <a:solidFill>
                            <a:srgbClr val="FFFFFF"/>
                          </a:solidFill>
                          <a:latin typeface="Carlito"/>
                        </a:rPr>
                        <a:t>Panel</a:t>
                      </a:r>
                    </a:p>
                  </a:txBody>
                  <a:tcPr marL="54864" marR="54864" marT="18288" marB="18288">
                    <a:solidFill>
                      <a:srgbClr val="1B7A8A"/>
                    </a:solidFill>
                  </a:tcPr>
                </a:tc>
                <a:tc>
                  <a:txBody>
                    <a:bodyPr/>
                    <a:lstStyle/>
                    <a:p>
                      <a:pPr algn="ctr"/>
                      <a:r>
                        <a:rPr sz="1000" b="1">
                          <a:solidFill>
                            <a:srgbClr val="FFFFFF"/>
                          </a:solidFill>
                          <a:latin typeface="Carlito"/>
                        </a:rPr>
                        <a:t>Direction principale</a:t>
                      </a:r>
                    </a:p>
                  </a:txBody>
                  <a:tcPr marL="54864" marR="54864" marT="18288" marB="18288">
                    <a:solidFill>
                      <a:srgbClr val="1B7A8A"/>
                    </a:solidFill>
                  </a:tcPr>
                </a:tc>
                <a:tc>
                  <a:txBody>
                    <a:bodyPr/>
                    <a:lstStyle/>
                    <a:p>
                      <a:pPr algn="ctr"/>
                      <a:r>
                        <a:rPr sz="1000" b="1">
                          <a:solidFill>
                            <a:srgbClr val="FFFFFF"/>
                          </a:solidFill>
                          <a:latin typeface="Carlito"/>
                        </a:rPr>
                        <a:t>Directions résiduelles</a:t>
                      </a:r>
                    </a:p>
                  </a:txBody>
                  <a:tcPr marL="54864" marR="54864" marT="18288" marB="18288">
                    <a:solidFill>
                      <a:srgbClr val="1B7A8A"/>
                    </a:solidFill>
                  </a:tcPr>
                </a:tc>
                <a:tc>
                  <a:txBody>
                    <a:bodyPr/>
                    <a:lstStyle/>
                    <a:p>
                      <a:pPr algn="ctr"/>
                      <a:r>
                        <a:rPr sz="1000" b="1">
                          <a:solidFill>
                            <a:srgbClr val="FFFFFF"/>
                          </a:solidFill>
                          <a:latin typeface="Carlito"/>
                        </a:rPr>
                        <a:t>Total</a:t>
                      </a:r>
                    </a:p>
                  </a:txBody>
                  <a:tcPr marL="54864" marR="54864" marT="18288" marB="18288">
                    <a:solidFill>
                      <a:srgbClr val="1B7A8A"/>
                    </a:solidFill>
                  </a:tcPr>
                </a:tc>
              </a:tr>
              <a:tr h="292608">
                <a:tc>
                  <a:txBody>
                    <a:bodyPr/>
                    <a:lstStyle/>
                    <a:p>
                      <a:pPr algn="l"/>
                      <a:r>
                        <a:rPr sz="900" b="0">
                          <a:solidFill>
                            <a:srgbClr val="2C3E50"/>
                          </a:solidFill>
                          <a:latin typeface="Carlito"/>
                        </a:rPr>
                        <a:t>97 actions</a:t>
                      </a:r>
                    </a:p>
                  </a:txBody>
                  <a:tcPr marL="54864" marR="54864" marT="18288" marB="18288">
                    <a:solidFill>
                      <a:srgbClr val="EBF2FA"/>
                    </a:solidFill>
                  </a:tcPr>
                </a:tc>
                <a:tc>
                  <a:txBody>
                    <a:bodyPr/>
                    <a:lstStyle/>
                    <a:p>
                      <a:pPr algn="ctr"/>
                      <a:r>
                        <a:rPr sz="900" b="0">
                          <a:solidFill>
                            <a:srgbClr val="2C3E50"/>
                          </a:solidFill>
                          <a:latin typeface="Carlito"/>
                        </a:rPr>
                        <a:t>1</a:t>
                      </a:r>
                    </a:p>
                  </a:txBody>
                  <a:tcPr marL="54864" marR="54864" marT="18288" marB="18288">
                    <a:solidFill>
                      <a:srgbClr val="EBF2FA"/>
                    </a:solidFill>
                  </a:tcPr>
                </a:tc>
                <a:tc>
                  <a:txBody>
                    <a:bodyPr/>
                    <a:lstStyle/>
                    <a:p>
                      <a:pPr algn="ctr"/>
                      <a:r>
                        <a:rPr sz="900" b="0">
                          <a:solidFill>
                            <a:srgbClr val="2C3E50"/>
                          </a:solidFill>
                          <a:latin typeface="Carlito"/>
                        </a:rPr>
                        <a:t>5</a:t>
                      </a:r>
                    </a:p>
                  </a:txBody>
                  <a:tcPr marL="54864" marR="54864" marT="18288" marB="18288">
                    <a:solidFill>
                      <a:srgbClr val="EBF2FA"/>
                    </a:solidFill>
                  </a:tcPr>
                </a:tc>
                <a:tc>
                  <a:txBody>
                    <a:bodyPr/>
                    <a:lstStyle/>
                    <a:p>
                      <a:pPr algn="ctr"/>
                      <a:r>
                        <a:rPr sz="900" i="1">
                          <a:solidFill>
                            <a:srgbClr val="2C3E50"/>
                          </a:solidFill>
                          <a:latin typeface="Carlito"/>
                        </a:rPr>
                        <a:t>6</a:t>
                      </a:r>
                    </a:p>
                  </a:txBody>
                  <a:tcPr marL="54864" marR="54864" marT="18288" marB="18288">
                    <a:solidFill>
                      <a:srgbClr val="EBF2FA"/>
                    </a:solidFill>
                  </a:tcPr>
                </a:tc>
              </a:tr>
              <a:tr h="292608">
                <a:tc>
                  <a:txBody>
                    <a:bodyPr/>
                    <a:lstStyle/>
                    <a:p>
                      <a:pPr algn="l"/>
                      <a:r>
                        <a:rPr sz="900" b="0">
                          <a:solidFill>
                            <a:srgbClr val="2C3E50"/>
                          </a:solidFill>
                          <a:latin typeface="Carlito"/>
                        </a:rPr>
                        <a:t>239 actions</a:t>
                      </a:r>
                    </a:p>
                  </a:txBody>
                  <a:tcPr marL="54864" marR="54864" marT="18288" marB="18288">
                    <a:solidFill>
                      <a:srgbClr val="FFFFFF"/>
                    </a:solidFill>
                  </a:tcPr>
                </a:tc>
                <a:tc>
                  <a:txBody>
                    <a:bodyPr/>
                    <a:lstStyle/>
                    <a:p>
                      <a:pPr algn="ctr"/>
                      <a:r>
                        <a:rPr sz="900" b="0">
                          <a:solidFill>
                            <a:srgbClr val="2C3E50"/>
                          </a:solidFill>
                          <a:latin typeface="Carlito"/>
                        </a:rPr>
                        <a:t>1</a:t>
                      </a:r>
                    </a:p>
                  </a:txBody>
                  <a:tcPr marL="54864" marR="54864" marT="18288" marB="18288">
                    <a:solidFill>
                      <a:srgbClr val="FFFFFF"/>
                    </a:solidFill>
                  </a:tcPr>
                </a:tc>
                <a:tc>
                  <a:txBody>
                    <a:bodyPr/>
                    <a:lstStyle/>
                    <a:p>
                      <a:pPr algn="ctr"/>
                      <a:r>
                        <a:rPr sz="900" b="0">
                          <a:solidFill>
                            <a:srgbClr val="2C3E50"/>
                          </a:solidFill>
                          <a:latin typeface="Carlito"/>
                        </a:rPr>
                        <a:t>10</a:t>
                      </a:r>
                    </a:p>
                  </a:txBody>
                  <a:tcPr marL="54864" marR="54864" marT="18288" marB="18288">
                    <a:solidFill>
                      <a:srgbClr val="FFFFFF"/>
                    </a:solidFill>
                  </a:tcPr>
                </a:tc>
                <a:tc>
                  <a:txBody>
                    <a:bodyPr/>
                    <a:lstStyle/>
                    <a:p>
                      <a:pPr algn="ctr"/>
                      <a:r>
                        <a:rPr sz="900" i="1">
                          <a:solidFill>
                            <a:srgbClr val="2C3E50"/>
                          </a:solidFill>
                          <a:latin typeface="Carlito"/>
                        </a:rPr>
                        <a:t>11</a:t>
                      </a:r>
                    </a:p>
                  </a:txBody>
                  <a:tcPr marL="54864" marR="54864" marT="18288" marB="18288">
                    <a:solidFill>
                      <a:srgbClr val="FFFFFF"/>
                    </a:solidFill>
                  </a:tcPr>
                </a:tc>
              </a:tr>
            </a:tbl>
          </a:graphicData>
        </a:graphic>
      </p:graphicFrame>
      <p:sp>
        <p:nvSpPr>
          <p:cNvPr id="12" name="Rectangle 11"/>
          <p:cNvSpPr/>
          <p:nvPr/>
        </p:nvSpPr>
        <p:spPr>
          <a:xfrm>
            <a:off x="6583680" y="1325880"/>
            <a:ext cx="2194560" cy="2011680"/>
          </a:xfrm>
          <a:prstGeom prst="rect">
            <a:avLst/>
          </a:prstGeom>
          <a:solidFill>
            <a:srgbClr val="FFFFFF"/>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353312"/>
            <a:ext cx="2103120" cy="201168"/>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schéma, pas spectre mesuré</a:t>
            </a:r>
          </a:p>
        </p:txBody>
      </p:sp>
      <p:sp>
        <p:nvSpPr>
          <p:cNvPr id="14" name="Rectangle 13"/>
          <p:cNvSpPr/>
          <p:nvPr/>
        </p:nvSpPr>
        <p:spPr>
          <a:xfrm>
            <a:off x="6720840" y="1851660"/>
            <a:ext cx="246888" cy="116586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40880" y="2263140"/>
            <a:ext cx="246888" cy="75438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2537460"/>
            <a:ext cx="246888" cy="48006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0" y="2715768"/>
            <a:ext cx="246888" cy="301752"/>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01000" y="2811780"/>
            <a:ext cx="246888" cy="20574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21040" y="2880360"/>
            <a:ext cx="246888" cy="13716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6675120" y="2852928"/>
            <a:ext cx="2011680" cy="0"/>
          </a:xfrm>
          <a:prstGeom prst="line">
            <a:avLst/>
          </a:prstGeom>
          <a:ln w="19050">
            <a:solidFill>
              <a:srgbClr val="E08000"/>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629400" y="3063240"/>
            <a:ext cx="2103120" cy="182880"/>
          </a:xfrm>
          <a:prstGeom prst="rect">
            <a:avLst/>
          </a:prstGeom>
          <a:noFill/>
        </p:spPr>
        <p:txBody>
          <a:bodyPr wrap="square" lIns="45720" rIns="45720" tIns="13716" bIns="13716" anchor="t">
            <a:spAutoFit/>
          </a:bodyPr>
          <a:lstStyle/>
          <a:p>
            <a:pPr algn="ctr">
              <a:lnSpc>
                <a:spcPts val="804"/>
              </a:lnSpc>
              <a:spcAft>
                <a:spcPts val="0"/>
              </a:spcAft>
            </a:pPr>
            <a:r>
              <a:rPr sz="700" b="0" i="0">
                <a:solidFill>
                  <a:srgbClr val="2C3E50"/>
                </a:solidFill>
                <a:latin typeface="Carlito"/>
              </a:rPr>
              <a:t/>
            </a:r>
            <a:r>
              <a:rPr sz="700" b="0">
                <a:solidFill>
                  <a:srgbClr val="E08000"/>
                </a:solidFill>
                <a:latin typeface="Carlito"/>
              </a:rPr>
              <a:t>repère de bruit</a:t>
            </a:r>
          </a:p>
        </p:txBody>
      </p:sp>
      <p:sp>
        <p:nvSpPr>
          <p:cNvPr id="22" name="TextBox 2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Variance et information ne sont pas la même chose</a:t>
            </a:r>
          </a:p>
        </p:txBody>
      </p:sp>
      <p:sp>
        <p:nvSpPr>
          <p:cNvPr id="4" name="Rectangle 3"/>
          <p:cNvSpPr/>
          <p:nvPr/>
        </p:nvSpPr>
        <p:spPr>
          <a:xfrm>
            <a:off x="7955279" y="64008"/>
            <a:ext cx="91440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79"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THÉORIE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Une direction utile porte un changement fort relativement à son bruit</a:t>
            </a:r>
          </a:p>
        </p:txBody>
      </p:sp>
      <p:sp>
        <p:nvSpPr>
          <p:cNvPr id="8" name="Oval 7"/>
          <p:cNvSpPr/>
          <p:nvPr/>
        </p:nvSpPr>
        <p:spPr>
          <a:xfrm rot="21000000">
            <a:off x="1124712" y="1828800"/>
            <a:ext cx="2743200" cy="1280160"/>
          </a:xfrm>
          <a:prstGeom prst="ellipse">
            <a:avLst/>
          </a:prstGeom>
          <a:solidFill>
            <a:srgbClr val="FFFFFF"/>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1124712" y="2286000"/>
            <a:ext cx="2743200" cy="365760"/>
          </a:xfrm>
          <a:prstGeom prst="line">
            <a:avLst/>
          </a:prstGeom>
          <a:ln w="25400">
            <a:solidFill>
              <a:srgbClr val="8A9BB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216152" y="2743200"/>
            <a:ext cx="1188720" cy="182880"/>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5D6D7E"/>
                </a:solidFill>
                <a:latin typeface="Carlito"/>
              </a:rPr>
              <a:t>axe bruyant</a:t>
            </a:r>
          </a:p>
        </p:txBody>
      </p:sp>
      <p:cxnSp>
        <p:nvCxnSpPr>
          <p:cNvPr id="11" name="Connector 10"/>
          <p:cNvCxnSpPr/>
          <p:nvPr/>
        </p:nvCxnSpPr>
        <p:spPr>
          <a:xfrm>
            <a:off x="1764792" y="1737360"/>
            <a:ext cx="1463040" cy="146304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70632" y="1691640"/>
            <a:ext cx="1188720" cy="182880"/>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1B7A8A"/>
                </a:solidFill>
                <a:latin typeface="Carlito"/>
              </a:rPr>
              <a:t>axe calme</a:t>
            </a:r>
          </a:p>
        </p:txBody>
      </p:sp>
      <p:cxnSp>
        <p:nvCxnSpPr>
          <p:cNvPr id="13" name="Connector 12"/>
          <p:cNvCxnSpPr/>
          <p:nvPr/>
        </p:nvCxnSpPr>
        <p:spPr>
          <a:xfrm>
            <a:off x="1764792" y="2468880"/>
            <a:ext cx="548640" cy="0"/>
          </a:xfrm>
          <a:prstGeom prst="line">
            <a:avLst/>
          </a:prstGeom>
          <a:ln w="38100">
            <a:solidFill>
              <a:srgbClr val="C0392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901952" y="2240280"/>
            <a:ext cx="365760" cy="182880"/>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1">
                <a:solidFill>
                  <a:srgbClr val="C0392B"/>
                </a:solidFill>
                <a:latin typeface="Carlito"/>
              </a:rPr>
              <a:t>Δ</a:t>
            </a:r>
          </a:p>
        </p:txBody>
      </p:sp>
      <p:cxnSp>
        <p:nvCxnSpPr>
          <p:cNvPr id="15" name="Connector 14"/>
          <p:cNvCxnSpPr/>
          <p:nvPr/>
        </p:nvCxnSpPr>
        <p:spPr>
          <a:xfrm>
            <a:off x="2770632" y="2468880"/>
            <a:ext cx="548640" cy="0"/>
          </a:xfrm>
          <a:prstGeom prst="line">
            <a:avLst/>
          </a:prstGeom>
          <a:ln w="38100">
            <a:solidFill>
              <a:srgbClr val="27AE6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907791" y="2240280"/>
            <a:ext cx="365760" cy="182880"/>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1">
                <a:solidFill>
                  <a:srgbClr val="27AE60"/>
                </a:solidFill>
                <a:latin typeface="Carlito"/>
              </a:rPr>
              <a:t>Δ</a:t>
            </a:r>
          </a:p>
        </p:txBody>
      </p:sp>
      <p:sp>
        <p:nvSpPr>
          <p:cNvPr id="17" name="TextBox 16"/>
          <p:cNvSpPr txBox="1"/>
          <p:nvPr/>
        </p:nvSpPr>
        <p:spPr>
          <a:xfrm>
            <a:off x="484632" y="3383280"/>
            <a:ext cx="4023360"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intuition géométrique, pas estimation financière</a:t>
            </a:r>
          </a:p>
        </p:txBody>
      </p:sp>
      <p:sp>
        <p:nvSpPr>
          <p:cNvPr id="18" name="TextBox 17"/>
          <p:cNvSpPr txBox="1"/>
          <p:nvPr/>
        </p:nvSpPr>
        <p:spPr>
          <a:xfrm>
            <a:off x="4846320" y="1325880"/>
            <a:ext cx="384048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La </a:t>
            </a:r>
            <a:r>
              <a:rPr sz="1100" i="1">
                <a:solidFill>
                  <a:srgbClr val="2C3E50"/>
                </a:solidFill>
                <a:latin typeface="Carlito"/>
              </a:rPr>
              <a:t>divergence de Kullback–Leibler (KL)</a:t>
            </a:r>
            <a:r>
              <a:rPr sz="1100" b="0">
                <a:solidFill>
                  <a:srgbClr val="2C3E50"/>
                </a:solidFill>
                <a:latin typeface="Carlito"/>
              </a:rPr>
              <a:t> mesure combien les observations distinguent, en moyenne, la loi après changement de celle d'avant.</a:t>
            </a:r>
          </a:p>
        </p:txBody>
      </p:sp>
      <p:sp>
        <p:nvSpPr>
          <p:cNvPr id="19" name="TextBox 18"/>
          <p:cNvSpPr txBox="1"/>
          <p:nvPr/>
        </p:nvSpPr>
        <p:spPr>
          <a:xfrm>
            <a:off x="4846320" y="1917572"/>
            <a:ext cx="384048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Dans un modèle </a:t>
            </a:r>
            <a:r>
              <a:rPr sz="1100" i="1">
                <a:solidFill>
                  <a:srgbClr val="2C3E50"/>
                </a:solidFill>
                <a:latin typeface="Carlito"/>
              </a:rPr>
              <a:t>gaussien</a:t>
            </a:r>
            <a:r>
              <a:rPr sz="1100" b="0">
                <a:solidFill>
                  <a:srgbClr val="2C3E50"/>
                </a:solidFill>
                <a:latin typeface="Carlito"/>
              </a:rPr>
              <a:t>, dont les projections suivent des lois en cloche, l'information d'un axe augmente avec le déplacement de moyenne au carré, et diminue avec sa variance.</a:t>
            </a:r>
          </a:p>
        </p:txBody>
      </p:sp>
      <p:sp>
        <p:nvSpPr>
          <p:cNvPr id="20" name="TextBox 19"/>
          <p:cNvSpPr txBox="1"/>
          <p:nvPr/>
        </p:nvSpPr>
        <p:spPr>
          <a:xfrm>
            <a:off x="4846320" y="2509265"/>
            <a:ext cx="3840480" cy="69748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Selon l'inégalité de traitement des données présentée par </a:t>
            </a:r>
            <a:r>
              <a:rPr sz="1100" b="0">
                <a:solidFill>
                  <a:srgbClr val="2C3E50"/>
                </a:solidFill>
                <a:latin typeface="Carlito"/>
                <a:hlinkClick r:id="rId2"/>
              </a:rPr>
              <a:t>Cover et Thomas (2006)</a:t>
            </a:r>
            <a:r>
              <a:rPr sz="1100" b="0">
                <a:solidFill>
                  <a:srgbClr val="2C3E50"/>
                </a:solidFill>
                <a:latin typeface="Carlito"/>
              </a:rPr>
              <a:t>, transformer les mêmes observations ne crée pas d'information. L'enjeu est de </a:t>
            </a:r>
            <a:r>
              <a:rPr sz="1100" i="1">
                <a:solidFill>
                  <a:srgbClr val="2C3E50"/>
                </a:solidFill>
                <a:latin typeface="Carlito"/>
              </a:rPr>
              <a:t>concentrer celle que le détecteur peut exploiter</a:t>
            </a:r>
            <a:r>
              <a:rPr sz="1100" b="0">
                <a:solidFill>
                  <a:srgbClr val="2C3E50"/>
                </a:solidFill>
                <a:latin typeface="Carlito"/>
              </a:rPr>
              <a:t>.</a:t>
            </a:r>
          </a:p>
        </p:txBody>
      </p:sp>
      <p:sp>
        <p:nvSpPr>
          <p:cNvPr id="21" name="TextBox 20"/>
          <p:cNvSpPr txBox="1"/>
          <p:nvPr/>
        </p:nvSpPr>
        <p:spPr>
          <a:xfrm>
            <a:off x="4846320" y="3261614"/>
            <a:ext cx="3840480" cy="536828"/>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Le profil complet d'information par axe et par changement reste à mesurer. Rien n'établit que les 6 ou 11 axes retenus soient les meilleurs pour détecter.</a:t>
            </a:r>
          </a:p>
        </p:txBody>
      </p:sp>
      <p:sp>
        <p:nvSpPr>
          <p:cNvPr id="22" name="Rectangle 21"/>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information_axe = deplacement_moyen^2 / (2 * variance_axe)</a:t>
            </a:r>
          </a:p>
        </p:txBody>
      </p:sp>
      <p:sp>
        <p:nvSpPr>
          <p:cNvPr id="24" name="TextBox 23"/>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La garantie des signes et sa limite</a:t>
            </a:r>
          </a:p>
        </p:txBody>
      </p:sp>
      <p:sp>
        <p:nvSpPr>
          <p:cNvPr id="4" name="Rectangle 3"/>
          <p:cNvSpPr/>
          <p:nvPr/>
        </p:nvSpPr>
        <p:spPr>
          <a:xfrm>
            <a:off x="7772400" y="64008"/>
            <a:ext cx="109728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0" y="64008"/>
            <a:ext cx="109728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RÉSULTATS</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La symétrie donne une garantie ; les données brutes peuvent la violer</a:t>
            </a:r>
          </a:p>
        </p:txBody>
      </p:sp>
      <p:sp>
        <p:nvSpPr>
          <p:cNvPr id="8" name="TextBox 7"/>
          <p:cNvSpPr txBox="1"/>
          <p:nvPr/>
        </p:nvSpPr>
        <p:spPr>
          <a:xfrm>
            <a:off x="438912" y="132588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Symétrie conditionnelle :</a:t>
            </a:r>
            <a:r>
              <a:rPr sz="1100" b="0">
                <a:solidFill>
                  <a:srgbClr val="2C3E50"/>
                </a:solidFill>
                <a:latin typeface="Carlito"/>
              </a:rPr>
              <a:t> sachant le passé, les rendements et leurs opposés ont la même loi. Une projection </a:t>
            </a:r>
            <a:r>
              <a:rPr sz="1100" i="1">
                <a:solidFill>
                  <a:srgbClr val="2C3E50"/>
                </a:solidFill>
                <a:latin typeface="Carlito"/>
              </a:rPr>
              <a:t>impaire</a:t>
            </a:r>
            <a:r>
              <a:rPr sz="1100" b="0">
                <a:solidFill>
                  <a:srgbClr val="2C3E50"/>
                </a:solidFill>
                <a:latin typeface="Carlito"/>
              </a:rPr>
              <a:t>, qui s'inverse avec eux, donne des signes équilibrés et indépendants dans le temps ; les zéros sont tirés à pile ou face.</a:t>
            </a:r>
          </a:p>
        </p:txBody>
      </p:sp>
      <p:sp>
        <p:nvSpPr>
          <p:cNvPr id="9" name="TextBox 8"/>
          <p:cNvSpPr txBox="1"/>
          <p:nvPr/>
        </p:nvSpPr>
        <p:spPr>
          <a:xfrm>
            <a:off x="438912" y="1756918"/>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Plusieurs projections des données brutes échouent aux diagnostics de symétrie : </a:t>
            </a:r>
            <a:r>
              <a:rPr sz="1100" i="1">
                <a:solidFill>
                  <a:srgbClr val="2C3E50"/>
                </a:solidFill>
                <a:latin typeface="Carlito"/>
              </a:rPr>
              <a:t>la garantie ne s'y applique pas</a:t>
            </a:r>
            <a:r>
              <a:rPr sz="1100" b="0">
                <a:solidFill>
                  <a:srgbClr val="2C3E50"/>
                </a:solidFill>
                <a:latin typeface="Carlito"/>
              </a:rPr>
              <a:t>.</a:t>
            </a:r>
          </a:p>
        </p:txBody>
      </p:sp>
      <p:graphicFrame>
        <p:nvGraphicFramePr>
          <p:cNvPr id="10" name="Table 9"/>
          <p:cNvGraphicFramePr>
            <a:graphicFrameLocks noGrp="1"/>
          </p:cNvGraphicFramePr>
          <p:nvPr/>
        </p:nvGraphicFramePr>
        <p:xfrm>
          <a:off x="438912" y="2100453"/>
          <a:ext cx="8275320" cy="1170432"/>
        </p:xfrm>
        <a:graphic>
          <a:graphicData uri="http://schemas.openxmlformats.org/drawingml/2006/table">
            <a:tbl>
              <a:tblPr firstRow="1" bandRow="1">
                <a:tableStyleId>{5C22544A-7EE6-4342-B048-85BDC9FD1C3A}</a:tableStyleId>
              </a:tblPr>
              <a:tblGrid>
                <a:gridCol w="2758440"/>
                <a:gridCol w="2758440"/>
                <a:gridCol w="2758440"/>
              </a:tblGrid>
              <a:tr h="292608">
                <a:tc>
                  <a:txBody>
                    <a:bodyPr/>
                    <a:lstStyle/>
                    <a:p>
                      <a:pPr algn="ctr"/>
                      <a:r>
                        <a:rPr sz="1000" b="1">
                          <a:solidFill>
                            <a:srgbClr val="FFFFFF"/>
                          </a:solidFill>
                          <a:latin typeface="Carlito"/>
                        </a:rPr>
                        <a:t>Essai sur 750 jours</a:t>
                      </a:r>
                    </a:p>
                  </a:txBody>
                  <a:tcPr marL="54864" marR="54864" marT="18288" marB="18288">
                    <a:solidFill>
                      <a:srgbClr val="1B7A8A"/>
                    </a:solidFill>
                  </a:tcPr>
                </a:tc>
                <a:tc>
                  <a:txBody>
                    <a:bodyPr/>
                    <a:lstStyle/>
                    <a:p>
                      <a:pPr algn="ctr"/>
                      <a:r>
                        <a:rPr sz="1000" b="1">
                          <a:solidFill>
                            <a:srgbClr val="FFFFFF"/>
                          </a:solidFill>
                          <a:latin typeface="Carlito"/>
                        </a:rPr>
                        <a:t>Taux d'au moins une alarme</a:t>
                      </a:r>
                    </a:p>
                  </a:txBody>
                  <a:tcPr marL="54864" marR="54864" marT="18288" marB="18288">
                    <a:solidFill>
                      <a:srgbClr val="1B7A8A"/>
                    </a:solidFill>
                  </a:tcPr>
                </a:tc>
                <a:tc>
                  <a:txBody>
                    <a:bodyPr/>
                    <a:lstStyle/>
                    <a:p>
                      <a:pPr algn="ctr"/>
                      <a:r>
                        <a:rPr sz="1000" b="1">
                          <a:solidFill>
                            <a:srgbClr val="FFFFFF"/>
                          </a:solidFill>
                          <a:latin typeface="Carlito"/>
                        </a:rPr>
                        <a:t>Lecture</a:t>
                      </a:r>
                    </a:p>
                  </a:txBody>
                  <a:tcPr marL="54864" marR="54864" marT="18288" marB="18288">
                    <a:solidFill>
                      <a:srgbClr val="1B7A8A"/>
                    </a:solidFill>
                  </a:tcPr>
                </a:tc>
              </a:tr>
              <a:tr h="292608">
                <a:tc>
                  <a:txBody>
                    <a:bodyPr/>
                    <a:lstStyle/>
                    <a:p>
                      <a:pPr algn="l"/>
                      <a:r>
                        <a:rPr sz="900" b="0">
                          <a:solidFill>
                            <a:srgbClr val="2C3E50"/>
                          </a:solidFill>
                          <a:latin typeface="Carlito"/>
                        </a:rPr>
                        <a:t>317 configurations sous symétrie</a:t>
                      </a:r>
                    </a:p>
                  </a:txBody>
                  <a:tcPr marL="54864" marR="54864" marT="18288" marB="18288">
                    <a:solidFill>
                      <a:srgbClr val="EBF2FA"/>
                    </a:solidFill>
                  </a:tcPr>
                </a:tc>
                <a:tc>
                  <a:txBody>
                    <a:bodyPr/>
                    <a:lstStyle/>
                    <a:p>
                      <a:pPr algn="ctr"/>
                      <a:r>
                        <a:rPr sz="900" i="1">
                          <a:solidFill>
                            <a:srgbClr val="2C3E50"/>
                          </a:solidFill>
                          <a:latin typeface="Carlito"/>
                        </a:rPr>
                        <a:t>4,425 %</a:t>
                      </a:r>
                      <a:r>
                        <a:rPr sz="900" b="0">
                          <a:solidFill>
                            <a:srgbClr val="2C3E50"/>
                          </a:solidFill>
                          <a:latin typeface="Carlito"/>
                        </a:rPr>
                        <a:t> en moyenne ; niveau calculé </a:t>
                      </a:r>
                      <a:r>
                        <a:rPr sz="900" i="1">
                          <a:solidFill>
                            <a:srgbClr val="2C3E50"/>
                          </a:solidFill>
                          <a:latin typeface="Carlito"/>
                        </a:rPr>
                        <a:t>4,395 %</a:t>
                      </a:r>
                    </a:p>
                  </a:txBody>
                  <a:tcPr marL="54864" marR="54864" marT="18288" marB="18288">
                    <a:solidFill>
                      <a:srgbClr val="EBF2FA"/>
                    </a:solidFill>
                  </a:tcPr>
                </a:tc>
                <a:tc>
                  <a:txBody>
                    <a:bodyPr/>
                    <a:lstStyle/>
                    <a:p>
                      <a:pPr algn="ctr"/>
                      <a:r>
                        <a:rPr sz="900" b="0">
                          <a:solidFill>
                            <a:srgbClr val="2C3E50"/>
                          </a:solidFill>
                          <a:latin typeface="Carlito"/>
                        </a:rPr>
                        <a:t>Accord moyen, pas une preuve</a:t>
                      </a:r>
                    </a:p>
                  </a:txBody>
                  <a:tcPr marL="54864" marR="54864" marT="18288" marB="18288">
                    <a:solidFill>
                      <a:srgbClr val="EBF2FA"/>
                    </a:solidFill>
                  </a:tcPr>
                </a:tc>
              </a:tr>
              <a:tr h="292608">
                <a:tc>
                  <a:txBody>
                    <a:bodyPr/>
                    <a:lstStyle/>
                    <a:p>
                      <a:pPr algn="l"/>
                      <a:r>
                        <a:rPr sz="900" b="0">
                          <a:solidFill>
                            <a:srgbClr val="2C3E50"/>
                          </a:solidFill>
                          <a:latin typeface="Carlito"/>
                        </a:rPr>
                        <a:t>Choc asymétrique / contrôle symétrique apparié</a:t>
                      </a:r>
                    </a:p>
                  </a:txBody>
                  <a:tcPr marL="54864" marR="54864" marT="18288" marB="18288">
                    <a:solidFill>
                      <a:srgbClr val="FFFFFF"/>
                    </a:solidFill>
                  </a:tcPr>
                </a:tc>
                <a:tc>
                  <a:txBody>
                    <a:bodyPr/>
                    <a:lstStyle/>
                    <a:p>
                      <a:pPr algn="ctr"/>
                      <a:r>
                        <a:rPr sz="900" i="1">
                          <a:solidFill>
                            <a:srgbClr val="2C3E50"/>
                          </a:solidFill>
                          <a:latin typeface="Carlito"/>
                        </a:rPr>
                        <a:t>39,15 % / 4,45 %</a:t>
                      </a:r>
                    </a:p>
                  </a:txBody>
                  <a:tcPr marL="54864" marR="54864" marT="18288" marB="18288">
                    <a:solidFill>
                      <a:srgbClr val="FFFFFF"/>
                    </a:solidFill>
                  </a:tcPr>
                </a:tc>
                <a:tc>
                  <a:txBody>
                    <a:bodyPr/>
                    <a:lstStyle/>
                    <a:p>
                      <a:pPr algn="ctr"/>
                      <a:r>
                        <a:rPr sz="900" b="0">
                          <a:solidFill>
                            <a:srgbClr val="2C3E50"/>
                          </a:solidFill>
                          <a:latin typeface="Carlito"/>
                        </a:rPr>
                        <a:t>La garantie ne couvre pas l'asymétrie</a:t>
                      </a:r>
                    </a:p>
                  </a:txBody>
                  <a:tcPr marL="54864" marR="54864" marT="18288" marB="18288">
                    <a:solidFill>
                      <a:srgbClr val="FFFFFF"/>
                    </a:solidFill>
                  </a:tcPr>
                </a:tc>
              </a:tr>
              <a:tr h="292608">
                <a:tc>
                  <a:txBody>
                    <a:bodyPr/>
                    <a:lstStyle/>
                    <a:p>
                      <a:pPr algn="l"/>
                      <a:r>
                        <a:rPr sz="900" b="0">
                          <a:solidFill>
                            <a:srgbClr val="2C3E50"/>
                          </a:solidFill>
                          <a:latin typeface="Carlito"/>
                        </a:rPr>
                        <a:t>Fréquence positive estimée, sur fonds symétriques</a:t>
                      </a:r>
                    </a:p>
                  </a:txBody>
                  <a:tcPr marL="54864" marR="54864" marT="18288" marB="18288">
                    <a:solidFill>
                      <a:srgbClr val="EBF2FA"/>
                    </a:solidFill>
                  </a:tcPr>
                </a:tc>
                <a:tc>
                  <a:txBody>
                    <a:bodyPr/>
                    <a:lstStyle/>
                    <a:p>
                      <a:pPr algn="ctr"/>
                      <a:r>
                        <a:rPr sz="900" i="1">
                          <a:solidFill>
                            <a:srgbClr val="2C3E50"/>
                          </a:solidFill>
                          <a:latin typeface="Carlito"/>
                        </a:rPr>
                        <a:t>5,9–7,75 %</a:t>
                      </a:r>
                    </a:p>
                  </a:txBody>
                  <a:tcPr marL="54864" marR="54864" marT="18288" marB="18288">
                    <a:solidFill>
                      <a:srgbClr val="EBF2FA"/>
                    </a:solidFill>
                  </a:tcPr>
                </a:tc>
                <a:tc>
                  <a:txBody>
                    <a:bodyPr/>
                    <a:lstStyle/>
                    <a:p>
                      <a:pPr algn="ctr"/>
                      <a:r>
                        <a:rPr sz="900" b="0">
                          <a:solidFill>
                            <a:srgbClr val="2C3E50"/>
                          </a:solidFill>
                          <a:latin typeface="Carlito"/>
                        </a:rPr>
                        <a:t>Corriger la fréquence ne conserve pas la calibration exacte</a:t>
                      </a:r>
                    </a:p>
                  </a:txBody>
                  <a:tcPr marL="54864" marR="54864" marT="18288" marB="18288">
                    <a:solidFill>
                      <a:srgbClr val="EBF2FA"/>
                    </a:solidFill>
                  </a:tcPr>
                </a:tc>
              </a:tr>
            </a:tbl>
          </a:graphicData>
        </a:graphic>
      </p:graphicFrame>
      <p:sp>
        <p:nvSpPr>
          <p:cNvPr id="11" name="TextBox 10"/>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Ce que montrent les rotations de covariance</a:t>
            </a:r>
          </a:p>
        </p:txBody>
      </p:sp>
      <p:sp>
        <p:nvSpPr>
          <p:cNvPr id="4" name="Rectangle 3"/>
          <p:cNvSpPr/>
          <p:nvPr/>
        </p:nvSpPr>
        <p:spPr>
          <a:xfrm>
            <a:off x="7772400" y="64008"/>
            <a:ext cx="109728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0" y="64008"/>
            <a:ext cx="109728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RÉSULTATS</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Une forte différence de délai peut venir du comparateur choisi</a:t>
            </a:r>
          </a:p>
        </p:txBody>
      </p:sp>
      <p:sp>
        <p:nvSpPr>
          <p:cNvPr id="8" name="TextBox 7"/>
          <p:cNvSpPr txBox="1"/>
          <p:nvPr/>
        </p:nvSpPr>
        <p:spPr>
          <a:xfrm>
            <a:off x="438912" y="132588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Essai synthétique :</a:t>
            </a:r>
            <a:r>
              <a:rPr sz="1100" b="0">
                <a:solidFill>
                  <a:srgbClr val="2C3E50"/>
                </a:solidFill>
                <a:latin typeface="Carlito"/>
              </a:rPr>
              <a:t> tourner la covariance à moyenne nulle. Comparer l'énergie résiduelle ACP au carré d'un indice donnant le même poids à chaque action.</a:t>
            </a:r>
          </a:p>
        </p:txBody>
      </p:sp>
      <p:sp>
        <p:nvSpPr>
          <p:cNvPr id="9" name="TextBox 8"/>
          <p:cNvSpPr txBox="1"/>
          <p:nvPr/>
        </p:nvSpPr>
        <p:spPr>
          <a:xfrm>
            <a:off x="438912" y="1756918"/>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Délai restreint :</a:t>
            </a:r>
            <a:r>
              <a:rPr sz="1100" b="0">
                <a:solidFill>
                  <a:srgbClr val="2C3E50"/>
                </a:solidFill>
                <a:latin typeface="Carlito"/>
              </a:rPr>
              <a:t> jours jusqu'à l'alarme, jour d'alarme inclus ; 250 jours en l'absence d'alarme avant cet horizon.</a:t>
            </a:r>
          </a:p>
        </p:txBody>
      </p:sp>
      <p:sp>
        <p:nvSpPr>
          <p:cNvPr id="10" name="TextBox 9"/>
          <p:cNvSpPr txBox="1"/>
          <p:nvPr/>
        </p:nvSpPr>
        <p:spPr>
          <a:xfrm>
            <a:off x="438912" y="202730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Limite décisive :</a:t>
            </a:r>
            <a:r>
              <a:rPr sz="1100" b="0">
                <a:solidFill>
                  <a:srgbClr val="2C3E50"/>
                </a:solidFill>
                <a:latin typeface="Carlito"/>
              </a:rPr>
              <a:t> la première rotation réduit la variance de l'indice, dont le détecteur cherche seulement une hausse. Ce comparateur défavorable interdit de généraliser les grands rapports.</a:t>
            </a:r>
          </a:p>
        </p:txBody>
      </p:sp>
      <p:graphicFrame>
        <p:nvGraphicFramePr>
          <p:cNvPr id="11" name="Table 10"/>
          <p:cNvGraphicFramePr>
            <a:graphicFrameLocks noGrp="1"/>
          </p:cNvGraphicFramePr>
          <p:nvPr/>
        </p:nvGraphicFramePr>
        <p:xfrm>
          <a:off x="438912" y="2531491"/>
          <a:ext cx="8275320" cy="1170432"/>
        </p:xfrm>
        <a:graphic>
          <a:graphicData uri="http://schemas.openxmlformats.org/drawingml/2006/table">
            <a:tbl>
              <a:tblPr firstRow="1" bandRow="1">
                <a:tableStyleId>{5C22544A-7EE6-4342-B048-85BDC9FD1C3A}</a:tableStyleId>
              </a:tblPr>
              <a:tblGrid>
                <a:gridCol w="2758440"/>
                <a:gridCol w="2758440"/>
                <a:gridCol w="2758440"/>
              </a:tblGrid>
              <a:tr h="292608">
                <a:tc>
                  <a:txBody>
                    <a:bodyPr/>
                    <a:lstStyle/>
                    <a:p>
                      <a:pPr algn="ctr"/>
                      <a:r>
                        <a:rPr sz="1000" b="1">
                          <a:solidFill>
                            <a:srgbClr val="FFFFFF"/>
                          </a:solidFill>
                          <a:latin typeface="Carlito"/>
                        </a:rPr>
                        <a:t>Changement injecté</a:t>
                      </a:r>
                    </a:p>
                  </a:txBody>
                  <a:tcPr marL="54864" marR="54864" marT="18288" marB="18288">
                    <a:solidFill>
                      <a:srgbClr val="1B7A8A"/>
                    </a:solidFill>
                  </a:tcPr>
                </a:tc>
                <a:tc>
                  <a:txBody>
                    <a:bodyPr/>
                    <a:lstStyle/>
                    <a:p>
                      <a:pPr algn="ctr"/>
                      <a:r>
                        <a:rPr sz="1000" b="1">
                          <a:solidFill>
                            <a:srgbClr val="FFFFFF"/>
                          </a:solidFill>
                          <a:latin typeface="Carlito"/>
                        </a:rPr>
                        <a:t>Rapport des délais restreints, référence / ACP</a:t>
                      </a:r>
                    </a:p>
                  </a:txBody>
                  <a:tcPr marL="54864" marR="54864" marT="18288" marB="18288">
                    <a:solidFill>
                      <a:srgbClr val="1B7A8A"/>
                    </a:solidFill>
                  </a:tcPr>
                </a:tc>
                <a:tc>
                  <a:txBody>
                    <a:bodyPr/>
                    <a:lstStyle/>
                    <a:p>
                      <a:pPr algn="ctr"/>
                      <a:r>
                        <a:rPr sz="1000" b="1">
                          <a:solidFill>
                            <a:srgbClr val="FFFFFF"/>
                          </a:solidFill>
                          <a:latin typeface="Carlito"/>
                        </a:rPr>
                        <a:t>Conclusion</a:t>
                      </a:r>
                    </a:p>
                  </a:txBody>
                  <a:tcPr marL="54864" marR="54864" marT="18288" marB="18288">
                    <a:solidFill>
                      <a:srgbClr val="1B7A8A"/>
                    </a:solidFill>
                  </a:tcPr>
                </a:tc>
              </a:tr>
              <a:tr h="292608">
                <a:tc>
                  <a:txBody>
                    <a:bodyPr/>
                    <a:lstStyle/>
                    <a:p>
                      <a:pPr algn="l"/>
                      <a:r>
                        <a:rPr sz="900" b="0">
                          <a:solidFill>
                            <a:srgbClr val="2C3E50"/>
                          </a:solidFill>
                          <a:latin typeface="Carlito"/>
                        </a:rPr>
                        <a:t>Rotation marché–deuxième axe ; un axe résiduel</a:t>
                      </a:r>
                    </a:p>
                  </a:txBody>
                  <a:tcPr marL="54864" marR="54864" marT="18288" marB="18288">
                    <a:solidFill>
                      <a:srgbClr val="EBF2FA"/>
                    </a:solidFill>
                  </a:tcPr>
                </a:tc>
                <a:tc>
                  <a:txBody>
                    <a:bodyPr/>
                    <a:lstStyle/>
                    <a:p>
                      <a:pPr algn="ctr"/>
                      <a:r>
                        <a:rPr sz="900" i="1">
                          <a:solidFill>
                            <a:srgbClr val="2C3E50"/>
                          </a:solidFill>
                          <a:latin typeface="Carlito"/>
                        </a:rPr>
                        <a:t>14,6 à 105</a:t>
                      </a:r>
                    </a:p>
                  </a:txBody>
                  <a:tcPr marL="54864" marR="54864" marT="18288" marB="18288">
                    <a:solidFill>
                      <a:srgbClr val="EBF2FA"/>
                    </a:solidFill>
                  </a:tcPr>
                </a:tc>
                <a:tc>
                  <a:txBody>
                    <a:bodyPr/>
                    <a:lstStyle/>
                    <a:p>
                      <a:pPr algn="ctr"/>
                      <a:r>
                        <a:rPr sz="900" b="0">
                          <a:solidFill>
                            <a:srgbClr val="2C3E50"/>
                          </a:solidFill>
                          <a:latin typeface="Carlito"/>
                        </a:rPr>
                        <a:t>Contraste exploratoire</a:t>
                      </a:r>
                    </a:p>
                  </a:txBody>
                  <a:tcPr marL="54864" marR="54864" marT="18288" marB="18288">
                    <a:solidFill>
                      <a:srgbClr val="EBF2FA"/>
                    </a:solidFill>
                  </a:tcPr>
                </a:tc>
              </a:tr>
              <a:tr h="292608">
                <a:tc>
                  <a:txBody>
                    <a:bodyPr/>
                    <a:lstStyle/>
                    <a:p>
                      <a:pPr algn="l"/>
                      <a:r>
                        <a:rPr sz="900" b="0">
                          <a:solidFill>
                            <a:srgbClr val="2C3E50"/>
                          </a:solidFill>
                          <a:latin typeface="Carlito"/>
                        </a:rPr>
                        <a:t>Rotation deuxième–troisième axe</a:t>
                      </a:r>
                    </a:p>
                  </a:txBody>
                  <a:tcPr marL="54864" marR="54864" marT="18288" marB="18288">
                    <a:solidFill>
                      <a:srgbClr val="FFFFFF"/>
                    </a:solidFill>
                  </a:tcPr>
                </a:tc>
                <a:tc>
                  <a:txBody>
                    <a:bodyPr/>
                    <a:lstStyle/>
                    <a:p>
                      <a:pPr algn="ctr"/>
                      <a:r>
                        <a:rPr sz="900" b="0">
                          <a:solidFill>
                            <a:srgbClr val="2C3E50"/>
                          </a:solidFill>
                          <a:latin typeface="Carlito"/>
                        </a:rPr>
                        <a:t>Pas de détection au-delà du niveau sans changement</a:t>
                      </a:r>
                    </a:p>
                  </a:txBody>
                  <a:tcPr marL="54864" marR="54864" marT="18288" marB="18288">
                    <a:solidFill>
                      <a:srgbClr val="FFFFFF"/>
                    </a:solidFill>
                  </a:tcPr>
                </a:tc>
                <a:tc>
                  <a:txBody>
                    <a:bodyPr/>
                    <a:lstStyle/>
                    <a:p>
                      <a:pPr algn="ctr"/>
                      <a:r>
                        <a:rPr sz="900" b="0">
                          <a:solidFill>
                            <a:srgbClr val="2C3E50"/>
                          </a:solidFill>
                          <a:latin typeface="Carlito"/>
                        </a:rPr>
                        <a:t>Pas d'avantage établi</a:t>
                      </a:r>
                    </a:p>
                  </a:txBody>
                  <a:tcPr marL="54864" marR="54864" marT="18288" marB="18288">
                    <a:solidFill>
                      <a:srgbClr val="FFFFFF"/>
                    </a:solidFill>
                  </a:tcPr>
                </a:tc>
              </a:tr>
              <a:tr h="292608">
                <a:tc>
                  <a:txBody>
                    <a:bodyPr/>
                    <a:lstStyle/>
                    <a:p>
                      <a:pPr algn="l"/>
                      <a:r>
                        <a:rPr sz="900" b="0">
                          <a:solidFill>
                            <a:srgbClr val="2C3E50"/>
                          </a:solidFill>
                          <a:latin typeface="Carlito"/>
                        </a:rPr>
                        <a:t>Déformation des axes deux à quatre</a:t>
                      </a:r>
                    </a:p>
                  </a:txBody>
                  <a:tcPr marL="54864" marR="54864" marT="18288" marB="18288">
                    <a:solidFill>
                      <a:srgbClr val="EBF2FA"/>
                    </a:solidFill>
                  </a:tcPr>
                </a:tc>
                <a:tc>
                  <a:txBody>
                    <a:bodyPr/>
                    <a:lstStyle/>
                    <a:p>
                      <a:pPr algn="ctr"/>
                      <a:r>
                        <a:rPr sz="900" i="1">
                          <a:solidFill>
                            <a:srgbClr val="2C3E50"/>
                          </a:solidFill>
                          <a:latin typeface="Carlito"/>
                        </a:rPr>
                        <a:t>1,03 à 1,16</a:t>
                      </a:r>
                    </a:p>
                  </a:txBody>
                  <a:tcPr marL="54864" marR="54864" marT="18288" marB="18288">
                    <a:solidFill>
                      <a:srgbClr val="EBF2FA"/>
                    </a:solidFill>
                  </a:tcPr>
                </a:tc>
                <a:tc>
                  <a:txBody>
                    <a:bodyPr/>
                    <a:lstStyle/>
                    <a:p>
                      <a:pPr algn="ctr"/>
                      <a:r>
                        <a:rPr sz="900" b="0">
                          <a:solidFill>
                            <a:srgbClr val="2C3E50"/>
                          </a:solidFill>
                          <a:latin typeface="Carlito"/>
                        </a:rPr>
                        <a:t>Résultat non concluant</a:t>
                      </a:r>
                    </a:p>
                  </a:txBody>
                  <a:tcPr marL="54864" marR="54864" marT="18288" marB="18288">
                    <a:solidFill>
                      <a:srgbClr val="EBF2FA"/>
                    </a:solidFill>
                  </a:tcPr>
                </a:tc>
              </a:tr>
            </a:tbl>
          </a:graphicData>
        </a:graphic>
      </p:graphicFrame>
      <p:sp>
        <p:nvSpPr>
          <p:cNvPr id="12" name="Oval 11"/>
          <p:cNvSpPr/>
          <p:nvPr/>
        </p:nvSpPr>
        <p:spPr>
          <a:xfrm rot="1800000">
            <a:off x="6492240" y="2697479"/>
            <a:ext cx="1828800" cy="822960"/>
          </a:xfrm>
          <a:prstGeom prst="ellipse">
            <a:avLst/>
          </a:prstGeom>
          <a:solidFill>
            <a:srgbClr val="FFFFFF"/>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6217920" y="3108960"/>
            <a:ext cx="2377440"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38160" y="2971800"/>
            <a:ext cx="914400" cy="182880"/>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0">
                <a:solidFill>
                  <a:srgbClr val="1B7A8A"/>
                </a:solidFill>
                <a:latin typeface="Carlito"/>
              </a:rPr>
              <a:t>indice fixe</a:t>
            </a:r>
          </a:p>
        </p:txBody>
      </p:sp>
      <p:sp>
        <p:nvSpPr>
          <p:cNvPr id="15" name="TextBox 14"/>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Une référence sans réseau</a:t>
            </a:r>
          </a:p>
        </p:txBody>
      </p:sp>
      <p:sp>
        <p:nvSpPr>
          <p:cNvPr id="4" name="Rectangle 3"/>
          <p:cNvSpPr/>
          <p:nvPr/>
        </p:nvSpPr>
        <p:spPr>
          <a:xfrm>
            <a:off x="7635240" y="64008"/>
            <a:ext cx="1234440" cy="24688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35240" y="64008"/>
            <a:ext cx="123444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IMPLÉMENTÉ</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Retirer le marché et comparer la direction du mouvement résiduel</a:t>
            </a:r>
          </a:p>
        </p:txBody>
      </p:sp>
      <p:sp>
        <p:nvSpPr>
          <p:cNvPr id="8" name="Rectangle 7"/>
          <p:cNvSpPr/>
          <p:nvPr/>
        </p:nvSpPr>
        <p:spPr>
          <a:xfrm>
            <a:off x="438912" y="1325880"/>
            <a:ext cx="2712720" cy="109728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1371600"/>
            <a:ext cx="2621280" cy="22860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1B7A8A"/>
                </a:solidFill>
                <a:latin typeface="Carlito"/>
              </a:rPr>
              <a:t>vecteur du jour</a:t>
            </a:r>
          </a:p>
        </p:txBody>
      </p:sp>
      <p:cxnSp>
        <p:nvCxnSpPr>
          <p:cNvPr id="10" name="Connector 9"/>
          <p:cNvCxnSpPr/>
          <p:nvPr/>
        </p:nvCxnSpPr>
        <p:spPr>
          <a:xfrm>
            <a:off x="713232" y="1828800"/>
            <a:ext cx="2164080" cy="182880"/>
          </a:xfrm>
          <a:prstGeom prst="line">
            <a:avLst/>
          </a:prstGeom>
          <a:ln w="38100">
            <a:solidFill>
              <a:srgbClr val="E08000"/>
            </a:solidFill>
          </a:ln>
        </p:spPr>
        <p:style>
          <a:lnRef idx="2">
            <a:schemeClr val="accent1"/>
          </a:lnRef>
          <a:fillRef idx="0">
            <a:schemeClr val="accent1"/>
          </a:fillRef>
          <a:effectRef idx="1">
            <a:schemeClr val="accent1"/>
          </a:effectRef>
          <a:fontRef idx="minor">
            <a:schemeClr val="tx1"/>
          </a:fontRef>
        </p:style>
      </p:cxnSp>
      <p:sp>
        <p:nvSpPr>
          <p:cNvPr id="11" name="Right Arrow 10"/>
          <p:cNvSpPr/>
          <p:nvPr/>
        </p:nvSpPr>
        <p:spPr>
          <a:xfrm>
            <a:off x="3160776" y="1691640"/>
            <a:ext cx="128016" cy="164592"/>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43072" y="1325880"/>
            <a:ext cx="2712720" cy="109728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88792" y="1371600"/>
            <a:ext cx="2621280" cy="22860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1B7A8A"/>
                </a:solidFill>
                <a:latin typeface="Carlito"/>
              </a:rPr>
              <a:t>résidu ⊥ marché</a:t>
            </a:r>
          </a:p>
        </p:txBody>
      </p:sp>
      <p:cxnSp>
        <p:nvCxnSpPr>
          <p:cNvPr id="14" name="Connector 13"/>
          <p:cNvCxnSpPr/>
          <p:nvPr/>
        </p:nvCxnSpPr>
        <p:spPr>
          <a:xfrm>
            <a:off x="4325112" y="1920240"/>
            <a:ext cx="548640" cy="0"/>
          </a:xfrm>
          <a:prstGeom prst="line">
            <a:avLst/>
          </a:prstGeom>
          <a:ln w="38100">
            <a:solidFill>
              <a:srgbClr val="8E44A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599432" y="1645919"/>
            <a:ext cx="0" cy="548641"/>
          </a:xfrm>
          <a:prstGeom prst="line">
            <a:avLst/>
          </a:prstGeom>
          <a:ln w="19050">
            <a:solidFill>
              <a:srgbClr val="8A9BB0"/>
            </a:solidFill>
            <a:prstDash val="dash"/>
          </a:ln>
        </p:spPr>
        <p:style>
          <a:lnRef idx="2">
            <a:schemeClr val="accent1"/>
          </a:lnRef>
          <a:fillRef idx="0">
            <a:schemeClr val="accent1"/>
          </a:fillRef>
          <a:effectRef idx="1">
            <a:schemeClr val="accent1"/>
          </a:effectRef>
          <a:fontRef idx="minor">
            <a:schemeClr val="tx1"/>
          </a:fontRef>
        </p:style>
      </p:cxnSp>
      <p:sp>
        <p:nvSpPr>
          <p:cNvPr id="16" name="Right Arrow 15"/>
          <p:cNvSpPr/>
          <p:nvPr/>
        </p:nvSpPr>
        <p:spPr>
          <a:xfrm>
            <a:off x="5964936" y="1691640"/>
            <a:ext cx="128016" cy="164592"/>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47232" y="1325880"/>
            <a:ext cx="2712720" cy="1097280"/>
          </a:xfrm>
          <a:prstGeom prst="rect">
            <a:avLst/>
          </a:prstGeom>
          <a:solidFill>
            <a:srgbClr val="EBF2FA"/>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2952" y="1371600"/>
            <a:ext cx="2621280" cy="22860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8E44AD"/>
                </a:solidFill>
                <a:latin typeface="Carlito"/>
              </a:rPr>
              <a:t>cercle unité</a:t>
            </a:r>
          </a:p>
        </p:txBody>
      </p:sp>
      <p:sp>
        <p:nvSpPr>
          <p:cNvPr id="19" name="Oval 18"/>
          <p:cNvSpPr/>
          <p:nvPr/>
        </p:nvSpPr>
        <p:spPr>
          <a:xfrm>
            <a:off x="7129272" y="1645919"/>
            <a:ext cx="548640" cy="548640"/>
          </a:xfrm>
          <a:prstGeom prst="ellipse">
            <a:avLst/>
          </a:prstGeom>
          <a:solidFill>
            <a:srgbClr val="FFFFFF"/>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403592" y="1737360"/>
            <a:ext cx="182880" cy="182880"/>
          </a:xfrm>
          <a:prstGeom prst="line">
            <a:avLst/>
          </a:prstGeom>
          <a:ln w="25400">
            <a:solidFill>
              <a:srgbClr val="E080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8912" y="2441448"/>
            <a:ext cx="8275320"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marché surveillé séparément</a:t>
            </a:r>
          </a:p>
        </p:txBody>
      </p:sp>
      <p:sp>
        <p:nvSpPr>
          <p:cNvPr id="22" name="TextBox 21"/>
          <p:cNvSpPr txBox="1"/>
          <p:nvPr/>
        </p:nvSpPr>
        <p:spPr>
          <a:xfrm>
            <a:off x="438912" y="2606040"/>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Retirer la composante commune :</a:t>
            </a:r>
            <a:r>
              <a:rPr sz="1100" b="0">
                <a:solidFill>
                  <a:srgbClr val="2C3E50"/>
                </a:solidFill>
                <a:latin typeface="Carlito"/>
              </a:rPr>
              <a:t> soustraire du rendement quotidien sa projection sur la première direction ACP, fixée en calibration.</a:t>
            </a:r>
          </a:p>
        </p:txBody>
      </p:sp>
      <p:sp>
        <p:nvSpPr>
          <p:cNvPr id="23" name="TextBox 22"/>
          <p:cNvSpPr txBox="1"/>
          <p:nvPr/>
        </p:nvSpPr>
        <p:spPr>
          <a:xfrm>
            <a:off x="438912" y="2876423"/>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Normaliser le résidu :</a:t>
            </a:r>
            <a:r>
              <a:rPr sz="1100" b="0">
                <a:solidFill>
                  <a:srgbClr val="2C3E50"/>
                </a:solidFill>
                <a:latin typeface="Carlito"/>
              </a:rPr>
              <a:t> diviser le vecteur restant par sa longueur. On conserve sa direction entre actions et on retire son amplitude globale ; un résidu nul reste nul.</a:t>
            </a:r>
          </a:p>
        </p:txBody>
      </p:sp>
      <p:sp>
        <p:nvSpPr>
          <p:cNvPr id="24" name="TextBox 23"/>
          <p:cNvSpPr txBox="1"/>
          <p:nvPr/>
        </p:nvSpPr>
        <p:spPr>
          <a:xfrm>
            <a:off x="438912" y="3307461"/>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Point essentiel :</a:t>
            </a:r>
            <a:r>
              <a:rPr sz="1100" b="0">
                <a:solidFill>
                  <a:srgbClr val="2C3E50"/>
                </a:solidFill>
                <a:latin typeface="Carlito"/>
              </a:rPr>
              <a:t> cette division positive ne change pas les signes des projections. Elle ne crée donc aucun gain pour un détecteur qui n'utilise que ces mêmes signes.</a:t>
            </a:r>
          </a:p>
        </p:txBody>
      </p:sp>
      <p:sp>
        <p:nvSpPr>
          <p:cNvPr id="25" name="TextBox 24"/>
          <p:cNvSpPr txBox="1"/>
          <p:nvPr/>
        </p:nvSpPr>
        <p:spPr>
          <a:xfrm>
            <a:off x="438912" y="3738499"/>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La méthode implémentée adapte aussi le poids des observations à l'amplitude des jours </a:t>
            </a:r>
            <a:r>
              <a:rPr sz="1100" i="1">
                <a:solidFill>
                  <a:srgbClr val="2C3E50"/>
                </a:solidFill>
                <a:latin typeface="Carlito"/>
              </a:rPr>
              <a:t>passés</a:t>
            </a:r>
            <a:r>
              <a:rPr sz="1100" b="0">
                <a:solidFill>
                  <a:srgbClr val="2C3E50"/>
                </a:solidFill>
                <a:latin typeface="Carlito"/>
              </a:rPr>
              <a:t>. C'est un mécanisme distinct, à comparer séparément.</a:t>
            </a:r>
          </a:p>
        </p:txBody>
      </p:sp>
      <p:sp>
        <p:nvSpPr>
          <p:cNvPr id="26" name="Rectangle 25"/>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residu = rendements - composante_marche</a:t>
            </a:r>
          </a:p>
        </p:txBody>
      </p:sp>
      <p:sp>
        <p:nvSpPr>
          <p:cNvPr id="28" name="TextBox 2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Deux mécanismes, deux objets</a:t>
            </a:r>
          </a:p>
        </p:txBody>
      </p:sp>
      <p:sp>
        <p:nvSpPr>
          <p:cNvPr id="4" name="Rectangle 3"/>
          <p:cNvSpPr/>
          <p:nvPr/>
        </p:nvSpPr>
        <p:spPr>
          <a:xfrm>
            <a:off x="7452359" y="64008"/>
            <a:ext cx="1417320"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52359" y="64008"/>
            <a:ext cx="141732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CLARIFICATION</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Les deux chiffres proches de 2 ne désignent pas le même gain</a:t>
            </a:r>
          </a:p>
        </p:txBody>
      </p:sp>
      <p:sp>
        <p:nvSpPr>
          <p:cNvPr id="8" name="TextBox 7"/>
          <p:cNvSpPr txBox="1"/>
          <p:nvPr/>
        </p:nvSpPr>
        <p:spPr>
          <a:xfrm>
            <a:off x="438912" y="1325880"/>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Le second calcul compare un modèle qui connaît l'échelle de chaque journée à une référence gaussienne utilisant une covariance moyenne.</a:t>
            </a:r>
          </a:p>
        </p:txBody>
      </p:sp>
      <p:sp>
        <p:nvSpPr>
          <p:cNvPr id="9" name="TextBox 8"/>
          <p:cNvSpPr txBox="1"/>
          <p:nvPr/>
        </p:nvSpPr>
        <p:spPr>
          <a:xfrm>
            <a:off x="438912" y="1596263"/>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Il ne mesure pas un délai divisé par deux</a:t>
            </a:r>
            <a:r>
              <a:rPr sz="1100" b="0">
                <a:solidFill>
                  <a:srgbClr val="2C3E50"/>
                </a:solidFill>
                <a:latin typeface="Carlito"/>
              </a:rPr>
              <a:t>, ni l'information effectivement récupérée par la méthode normalisée ou par JEPA.</a:t>
            </a:r>
          </a:p>
        </p:txBody>
      </p:sp>
      <p:graphicFrame>
        <p:nvGraphicFramePr>
          <p:cNvPr id="10" name="Table 9"/>
          <p:cNvGraphicFramePr>
            <a:graphicFrameLocks noGrp="1"/>
          </p:cNvGraphicFramePr>
          <p:nvPr/>
        </p:nvGraphicFramePr>
        <p:xfrm>
          <a:off x="438912" y="1939798"/>
          <a:ext cx="8275320" cy="877824"/>
        </p:xfrm>
        <a:graphic>
          <a:graphicData uri="http://schemas.openxmlformats.org/drawingml/2006/table">
            <a:tbl>
              <a:tblPr firstRow="1" bandRow="1">
                <a:tableStyleId>{5C22544A-7EE6-4342-B048-85BDC9FD1C3A}</a:tableStyleId>
              </a:tblPr>
              <a:tblGrid>
                <a:gridCol w="2758440"/>
                <a:gridCol w="2758440"/>
                <a:gridCol w="2758440"/>
              </a:tblGrid>
              <a:tr h="292608">
                <a:tc>
                  <a:txBody>
                    <a:bodyPr/>
                    <a:lstStyle/>
                    <a:p>
                      <a:pPr algn="ctr"/>
                      <a:r>
                        <a:rPr sz="1000" b="1">
                          <a:solidFill>
                            <a:srgbClr val="FFFFFF"/>
                          </a:solidFill>
                          <a:latin typeface="Carlito"/>
                        </a:rPr>
                        <a:t>Chiffre</a:t>
                      </a:r>
                    </a:p>
                  </a:txBody>
                  <a:tcPr marL="54864" marR="54864" marT="18288" marB="18288">
                    <a:solidFill>
                      <a:srgbClr val="1B7A8A"/>
                    </a:solidFill>
                  </a:tcPr>
                </a:tc>
                <a:tc>
                  <a:txBody>
                    <a:bodyPr/>
                    <a:lstStyle/>
                    <a:p>
                      <a:pPr algn="ctr"/>
                      <a:r>
                        <a:rPr sz="1000" b="1">
                          <a:solidFill>
                            <a:srgbClr val="FFFFFF"/>
                          </a:solidFill>
                          <a:latin typeface="Carlito"/>
                        </a:rPr>
                        <a:t>Mécanisme</a:t>
                      </a:r>
                    </a:p>
                  </a:txBody>
                  <a:tcPr marL="54864" marR="54864" marT="18288" marB="18288">
                    <a:solidFill>
                      <a:srgbClr val="1B7A8A"/>
                    </a:solidFill>
                  </a:tcPr>
                </a:tc>
                <a:tc>
                  <a:txBody>
                    <a:bodyPr/>
                    <a:lstStyle/>
                    <a:p>
                      <a:pPr algn="ctr"/>
                      <a:r>
                        <a:rPr sz="1000" b="1">
                          <a:solidFill>
                            <a:srgbClr val="FFFFFF"/>
                          </a:solidFill>
                          <a:latin typeface="Carlito"/>
                        </a:rPr>
                        <a:t>Grandeur comparée</a:t>
                      </a:r>
                    </a:p>
                  </a:txBody>
                  <a:tcPr marL="54864" marR="54864" marT="18288" marB="18288">
                    <a:solidFill>
                      <a:srgbClr val="1B7A8A"/>
                    </a:solidFill>
                  </a:tcPr>
                </a:tc>
              </a:tr>
              <a:tr h="292608">
                <a:tc>
                  <a:txBody>
                    <a:bodyPr/>
                    <a:lstStyle/>
                    <a:p>
                      <a:pPr algn="l"/>
                      <a:r>
                        <a:rPr sz="900" i="1">
                          <a:solidFill>
                            <a:srgbClr val="2C3E50"/>
                          </a:solidFill>
                          <a:latin typeface="Carlito"/>
                        </a:rPr>
                        <a:t>1,96</a:t>
                      </a:r>
                    </a:p>
                  </a:txBody>
                  <a:tcPr marL="54864" marR="54864" marT="18288" marB="18288">
                    <a:solidFill>
                      <a:srgbClr val="EBF2FA"/>
                    </a:solidFill>
                  </a:tcPr>
                </a:tc>
                <a:tc>
                  <a:txBody>
                    <a:bodyPr/>
                    <a:lstStyle/>
                    <a:p>
                      <a:pPr algn="ctr"/>
                      <a:r>
                        <a:rPr sz="900" b="0">
                          <a:solidFill>
                            <a:srgbClr val="2C3E50"/>
                          </a:solidFill>
                          <a:latin typeface="Carlito"/>
                        </a:rPr>
                        <a:t>Corrélation entre actions d'une même journée</a:t>
                      </a:r>
                    </a:p>
                  </a:txBody>
                  <a:tcPr marL="54864" marR="54864" marT="18288" marB="18288">
                    <a:solidFill>
                      <a:srgbClr val="EBF2FA"/>
                    </a:solidFill>
                  </a:tcPr>
                </a:tc>
                <a:tc>
                  <a:txBody>
                    <a:bodyPr/>
                    <a:lstStyle/>
                    <a:p>
                      <a:pPr algn="ctr"/>
                      <a:r>
                        <a:rPr sz="900" b="0">
                          <a:solidFill>
                            <a:srgbClr val="2C3E50"/>
                          </a:solidFill>
                          <a:latin typeface="Carlito"/>
                        </a:rPr>
                        <a:t>Réduction maximale de l'écart-type d'une moyenne</a:t>
                      </a:r>
                    </a:p>
                  </a:txBody>
                  <a:tcPr marL="54864" marR="54864" marT="18288" marB="18288">
                    <a:solidFill>
                      <a:srgbClr val="EBF2FA"/>
                    </a:solidFill>
                  </a:tcPr>
                </a:tc>
              </a:tr>
              <a:tr h="292608">
                <a:tc>
                  <a:txBody>
                    <a:bodyPr/>
                    <a:lstStyle/>
                    <a:p>
                      <a:pPr algn="l"/>
                      <a:r>
                        <a:rPr sz="900" i="1">
                          <a:solidFill>
                            <a:srgbClr val="2C3E50"/>
                          </a:solidFill>
                          <a:latin typeface="Carlito"/>
                        </a:rPr>
                        <a:t>1,97 et 2,00</a:t>
                      </a:r>
                    </a:p>
                  </a:txBody>
                  <a:tcPr marL="54864" marR="54864" marT="18288" marB="18288">
                    <a:solidFill>
                      <a:srgbClr val="FFFFFF"/>
                    </a:solidFill>
                  </a:tcPr>
                </a:tc>
                <a:tc>
                  <a:txBody>
                    <a:bodyPr/>
                    <a:lstStyle/>
                    <a:p>
                      <a:pPr algn="ctr"/>
                      <a:r>
                        <a:rPr sz="900" b="0">
                          <a:solidFill>
                            <a:srgbClr val="2C3E50"/>
                          </a:solidFill>
                          <a:latin typeface="Carlito"/>
                        </a:rPr>
                        <a:t>Volatilité variable entre journées, panels de 97 et 239 actions</a:t>
                      </a:r>
                    </a:p>
                  </a:txBody>
                  <a:tcPr marL="54864" marR="54864" marT="18288" marB="18288">
                    <a:solidFill>
                      <a:srgbClr val="FFFFFF"/>
                    </a:solidFill>
                  </a:tcPr>
                </a:tc>
                <a:tc>
                  <a:txBody>
                    <a:bodyPr/>
                    <a:lstStyle/>
                    <a:p>
                      <a:pPr algn="ctr"/>
                      <a:r>
                        <a:rPr sz="900" b="0">
                          <a:solidFill>
                            <a:srgbClr val="2C3E50"/>
                          </a:solidFill>
                          <a:latin typeface="Carlito"/>
                        </a:rPr>
                        <a:t>Rapport de deux expressions d'information sous un modèle de moyenne fixe</a:t>
                      </a:r>
                    </a:p>
                  </a:txBody>
                  <a:tcPr marL="54864" marR="54864" marT="18288" marB="18288">
                    <a:solidFill>
                      <a:srgbClr val="FFFFFF"/>
                    </a:solidFill>
                  </a:tcPr>
                </a:tc>
              </a:tr>
            </a:tbl>
          </a:graphicData>
        </a:graphic>
      </p:graphicFrame>
      <p:sp>
        <p:nvSpPr>
          <p:cNvPr id="11" name="Rectangle 10"/>
          <p:cNvSpPr/>
          <p:nvPr/>
        </p:nvSpPr>
        <p:spPr>
          <a:xfrm>
            <a:off x="438912" y="2954782"/>
            <a:ext cx="4091940" cy="7315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 y="2973070"/>
            <a:ext cx="4000500"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1B7A8A"/>
                </a:solidFill>
                <a:latin typeface="Carlito"/>
              </a:rPr>
              <a:t>actions qui bougent ensemble</a:t>
            </a:r>
          </a:p>
        </p:txBody>
      </p:sp>
      <p:cxnSp>
        <p:nvCxnSpPr>
          <p:cNvPr id="13" name="Connector 12"/>
          <p:cNvCxnSpPr/>
          <p:nvPr/>
        </p:nvCxnSpPr>
        <p:spPr>
          <a:xfrm>
            <a:off x="713232" y="3023362"/>
            <a:ext cx="3543300"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13232" y="3251962"/>
            <a:ext cx="3543300"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13232" y="3480562"/>
            <a:ext cx="3543300"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13232" y="3709162"/>
            <a:ext cx="3543300" cy="0"/>
          </a:xfrm>
          <a:prstGeom prst="line">
            <a:avLst/>
          </a:prstGeom>
          <a:ln w="25400">
            <a:solidFill>
              <a:srgbClr val="1B7A8A"/>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22292" y="2954782"/>
            <a:ext cx="4091940" cy="7315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8012" y="2973070"/>
            <a:ext cx="4000500"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8E44AD"/>
                </a:solidFill>
                <a:latin typeface="Carlito"/>
              </a:rPr>
              <a:t>jours calmes et agités</a:t>
            </a:r>
          </a:p>
        </p:txBody>
      </p:sp>
      <p:cxnSp>
        <p:nvCxnSpPr>
          <p:cNvPr id="19" name="Connector 18"/>
          <p:cNvCxnSpPr/>
          <p:nvPr/>
        </p:nvCxnSpPr>
        <p:spPr>
          <a:xfrm>
            <a:off x="4896612" y="3023362"/>
            <a:ext cx="3543300" cy="0"/>
          </a:xfrm>
          <a:prstGeom prst="line">
            <a:avLst/>
          </a:prstGeom>
          <a:ln w="19050">
            <a:solidFill>
              <a:srgbClr val="8E44A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896612" y="3251962"/>
            <a:ext cx="3543300" cy="0"/>
          </a:xfrm>
          <a:prstGeom prst="line">
            <a:avLst/>
          </a:prstGeom>
          <a:ln w="19050">
            <a:solidFill>
              <a:srgbClr val="8E44A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896612" y="3480562"/>
            <a:ext cx="3543300" cy="0"/>
          </a:xfrm>
          <a:prstGeom prst="line">
            <a:avLst/>
          </a:prstGeom>
          <a:ln w="19050">
            <a:solidFill>
              <a:srgbClr val="8E44A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896612" y="3709162"/>
            <a:ext cx="3543300" cy="0"/>
          </a:xfrm>
          <a:prstGeom prst="line">
            <a:avLst/>
          </a:prstGeom>
          <a:ln w="19050">
            <a:solidFill>
              <a:srgbClr val="8E44AD"/>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eta = moyenne(sigma^2) * moyenne(1/sigma^2) &gt;= 1</a:t>
            </a:r>
          </a:p>
        </p:txBody>
      </p:sp>
      <p:sp>
        <p:nvSpPr>
          <p:cNvPr id="25" name="TextBox 24"/>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Le coût de chercher une direction</a:t>
            </a:r>
          </a:p>
        </p:txBody>
      </p:sp>
      <p:sp>
        <p:nvSpPr>
          <p:cNvPr id="4" name="Rectangle 3"/>
          <p:cNvSpPr/>
          <p:nvPr/>
        </p:nvSpPr>
        <p:spPr>
          <a:xfrm>
            <a:off x="7955279" y="64008"/>
            <a:ext cx="91440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79"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THÉORIE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Moins de directions peut compenser une perte d'information</a:t>
            </a:r>
          </a:p>
        </p:txBody>
      </p:sp>
      <p:sp>
        <p:nvSpPr>
          <p:cNvPr id="8" name="Rectangle 7"/>
          <p:cNvSpPr/>
          <p:nvPr/>
        </p:nvSpPr>
        <p:spPr>
          <a:xfrm>
            <a:off x="438912" y="1325880"/>
            <a:ext cx="4091940" cy="11887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1325880"/>
            <a:ext cx="45720" cy="11887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1399032"/>
            <a:ext cx="3863340" cy="256032"/>
          </a:xfrm>
          <a:prstGeom prst="rect">
            <a:avLst/>
          </a:prstGeom>
          <a:noFill/>
        </p:spPr>
        <p:txBody>
          <a:bodyPr wrap="square" lIns="45720" rIns="45720" tIns="13716" bIns="13716" anchor="t">
            <a:spAutoFit/>
          </a:bodyPr>
          <a:lstStyle/>
          <a:p>
            <a:pPr algn="l">
              <a:lnSpc>
                <a:spcPts val="1495"/>
              </a:lnSpc>
              <a:spcAft>
                <a:spcPts val="0"/>
              </a:spcAft>
            </a:pPr>
            <a:r>
              <a:rPr sz="1300" b="0" i="0">
                <a:solidFill>
                  <a:srgbClr val="2C3E50"/>
                </a:solidFill>
                <a:latin typeface="Carlito"/>
              </a:rPr>
              <a:t/>
            </a:r>
            <a:r>
              <a:rPr sz="1300" b="1">
                <a:solidFill>
                  <a:srgbClr val="1B7A8A"/>
                </a:solidFill>
                <a:latin typeface="Carlito"/>
              </a:rPr>
              <a:t>4 directions</a:t>
            </a:r>
          </a:p>
        </p:txBody>
      </p:sp>
      <p:sp>
        <p:nvSpPr>
          <p:cNvPr id="11" name="TextBox 10"/>
          <p:cNvSpPr txBox="1"/>
          <p:nvPr/>
        </p:nvSpPr>
        <p:spPr>
          <a:xfrm>
            <a:off x="576072" y="1709928"/>
            <a:ext cx="3863340" cy="411480"/>
          </a:xfrm>
          <a:prstGeom prst="rect">
            <a:avLst/>
          </a:prstGeom>
          <a:noFill/>
        </p:spPr>
        <p:txBody>
          <a:bodyPr wrap="square" lIns="45720" rIns="45720" tIns="13716" bIns="13716" anchor="t">
            <a:spAutoFit/>
          </a:bodyPr>
          <a:lstStyle/>
          <a:p>
            <a:pPr algn="ctr">
              <a:lnSpc>
                <a:spcPts val="2070"/>
              </a:lnSpc>
              <a:spcAft>
                <a:spcPts val="0"/>
              </a:spcAft>
            </a:pPr>
            <a:r>
              <a:rPr sz="1800" b="0" i="0">
                <a:solidFill>
                  <a:srgbClr val="2C3E50"/>
                </a:solidFill>
                <a:latin typeface="Carlito"/>
              </a:rPr>
              <a:t/>
            </a:r>
            <a:r>
              <a:rPr sz="1800" b="1">
                <a:solidFill>
                  <a:srgbClr val="1B7A8A"/>
                </a:solidFill>
                <a:latin typeface="Carlito"/>
              </a:rPr>
              <a:t>coût 1,57</a:t>
            </a:r>
          </a:p>
        </p:txBody>
      </p:sp>
      <p:sp>
        <p:nvSpPr>
          <p:cNvPr id="12" name="Rectangle 11"/>
          <p:cNvSpPr/>
          <p:nvPr/>
        </p:nvSpPr>
        <p:spPr>
          <a:xfrm>
            <a:off x="4622292" y="1325880"/>
            <a:ext cx="4091940" cy="11887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2292" y="1325880"/>
            <a:ext cx="45720" cy="11887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9452" y="1399032"/>
            <a:ext cx="3863340" cy="256032"/>
          </a:xfrm>
          <a:prstGeom prst="rect">
            <a:avLst/>
          </a:prstGeom>
          <a:noFill/>
        </p:spPr>
        <p:txBody>
          <a:bodyPr wrap="square" lIns="45720" rIns="45720" tIns="13716" bIns="13716" anchor="t">
            <a:spAutoFit/>
          </a:bodyPr>
          <a:lstStyle/>
          <a:p>
            <a:pPr algn="l">
              <a:lnSpc>
                <a:spcPts val="1495"/>
              </a:lnSpc>
              <a:spcAft>
                <a:spcPts val="0"/>
              </a:spcAft>
            </a:pPr>
            <a:r>
              <a:rPr sz="1300" b="0" i="0">
                <a:solidFill>
                  <a:srgbClr val="2C3E50"/>
                </a:solidFill>
                <a:latin typeface="Carlito"/>
              </a:rPr>
              <a:t/>
            </a:r>
            <a:r>
              <a:rPr sz="1300" b="1">
                <a:solidFill>
                  <a:srgbClr val="2980B9"/>
                </a:solidFill>
                <a:latin typeface="Carlito"/>
              </a:rPr>
              <a:t>500 directions</a:t>
            </a:r>
          </a:p>
        </p:txBody>
      </p:sp>
      <p:sp>
        <p:nvSpPr>
          <p:cNvPr id="15" name="TextBox 14"/>
          <p:cNvSpPr txBox="1"/>
          <p:nvPr/>
        </p:nvSpPr>
        <p:spPr>
          <a:xfrm>
            <a:off x="4759452" y="1709928"/>
            <a:ext cx="3863340" cy="411480"/>
          </a:xfrm>
          <a:prstGeom prst="rect">
            <a:avLst/>
          </a:prstGeom>
          <a:noFill/>
        </p:spPr>
        <p:txBody>
          <a:bodyPr wrap="square" lIns="45720" rIns="45720" tIns="13716" bIns="13716" anchor="t">
            <a:spAutoFit/>
          </a:bodyPr>
          <a:lstStyle/>
          <a:p>
            <a:pPr algn="ctr">
              <a:lnSpc>
                <a:spcPts val="2070"/>
              </a:lnSpc>
              <a:spcAft>
                <a:spcPts val="0"/>
              </a:spcAft>
            </a:pPr>
            <a:r>
              <a:rPr sz="1800" b="0" i="0">
                <a:solidFill>
                  <a:srgbClr val="2C3E50"/>
                </a:solidFill>
                <a:latin typeface="Carlito"/>
              </a:rPr>
              <a:t/>
            </a:r>
            <a:r>
              <a:rPr sz="1800" b="1">
                <a:solidFill>
                  <a:srgbClr val="2980B9"/>
                </a:solidFill>
                <a:latin typeface="Carlito"/>
              </a:rPr>
              <a:t>coût 9,64</a:t>
            </a:r>
          </a:p>
        </p:txBody>
      </p:sp>
      <p:sp>
        <p:nvSpPr>
          <p:cNvPr id="16" name="Rectangle 15"/>
          <p:cNvSpPr/>
          <p:nvPr/>
        </p:nvSpPr>
        <p:spPr>
          <a:xfrm>
            <a:off x="3387852" y="2532888"/>
            <a:ext cx="2377440" cy="228600"/>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06140" y="2542032"/>
            <a:ext cx="2340864" cy="210312"/>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conserver &gt; 16,3 % de l'information</a:t>
            </a:r>
          </a:p>
        </p:txBody>
      </p:sp>
      <p:sp>
        <p:nvSpPr>
          <p:cNvPr id="18" name="TextBox 17"/>
          <p:cNvSpPr txBox="1"/>
          <p:nvPr/>
        </p:nvSpPr>
        <p:spPr>
          <a:xfrm>
            <a:off x="438912" y="2788920"/>
            <a:ext cx="8275320"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calcul théorique ; pas résultat financier</a:t>
            </a:r>
          </a:p>
        </p:txBody>
      </p:sp>
      <p:sp>
        <p:nvSpPr>
          <p:cNvPr id="19" name="TextBox 18"/>
          <p:cNvSpPr txBox="1"/>
          <p:nvPr/>
        </p:nvSpPr>
        <p:spPr>
          <a:xfrm>
            <a:off x="438912" y="269748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Si la direction du changement est inconnue, un </a:t>
            </a:r>
            <a:r>
              <a:rPr sz="1100" i="1">
                <a:solidFill>
                  <a:srgbClr val="2C3E50"/>
                </a:solidFill>
                <a:latin typeface="Carlito"/>
              </a:rPr>
              <a:t>mélange</a:t>
            </a:r>
            <a:r>
              <a:rPr sz="1100" b="0">
                <a:solidFill>
                  <a:srgbClr val="2C3E50"/>
                </a:solidFill>
                <a:latin typeface="Carlito"/>
              </a:rPr>
              <a:t> moyenne les preuves de plusieurs directions candidates. Ce mot désigne la construction du détecteur.</a:t>
            </a:r>
          </a:p>
        </p:txBody>
      </p:sp>
      <p:sp>
        <p:nvSpPr>
          <p:cNvPr id="20" name="TextBox 19"/>
          <p:cNvSpPr txBox="1"/>
          <p:nvPr/>
        </p:nvSpPr>
        <p:spPr>
          <a:xfrm>
            <a:off x="438912" y="3128518"/>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Dans un modèle gaussien indépendant, de covariance identité — variances un et covariances nulles — un mélange idéal donne un coût de </a:t>
            </a:r>
            <a:r>
              <a:rPr sz="1100" i="1">
                <a:solidFill>
                  <a:srgbClr val="2C3E50"/>
                </a:solidFill>
                <a:latin typeface="Carlito"/>
              </a:rPr>
              <a:t>1,57</a:t>
            </a:r>
            <a:r>
              <a:rPr sz="1100" b="0">
                <a:solidFill>
                  <a:srgbClr val="2C3E50"/>
                </a:solidFill>
                <a:latin typeface="Carlito"/>
              </a:rPr>
              <a:t> pour 4 directions et </a:t>
            </a:r>
            <a:r>
              <a:rPr sz="1100" i="1">
                <a:solidFill>
                  <a:srgbClr val="2C3E50"/>
                </a:solidFill>
                <a:latin typeface="Carlito"/>
              </a:rPr>
              <a:t>9,64</a:t>
            </a:r>
            <a:r>
              <a:rPr sz="1100" b="0">
                <a:solidFill>
                  <a:srgbClr val="2C3E50"/>
                </a:solidFill>
                <a:latin typeface="Carlito"/>
              </a:rPr>
              <a:t> pour 500, à seuil de preuve 504.</a:t>
            </a:r>
          </a:p>
        </p:txBody>
      </p:sp>
      <p:sp>
        <p:nvSpPr>
          <p:cNvPr id="21" name="TextBox 20"/>
          <p:cNvSpPr txBox="1"/>
          <p:nvPr/>
        </p:nvSpPr>
        <p:spPr>
          <a:xfrm>
            <a:off x="438912" y="3559556"/>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Quatre directions sont préférables aux 500 si elles conservent plus de </a:t>
            </a:r>
            <a:r>
              <a:rPr sz="1100" i="1">
                <a:solidFill>
                  <a:srgbClr val="2C3E50"/>
                </a:solidFill>
                <a:latin typeface="Carlito"/>
              </a:rPr>
              <a:t>16,3 %</a:t>
            </a:r>
            <a:r>
              <a:rPr sz="1100" b="0">
                <a:solidFill>
                  <a:srgbClr val="2C3E50"/>
                </a:solidFill>
                <a:latin typeface="Carlito"/>
              </a:rPr>
              <a:t> de l'information, </a:t>
            </a:r>
            <a:r>
              <a:rPr sz="1100" i="1">
                <a:solidFill>
                  <a:srgbClr val="2C3E50"/>
                </a:solidFill>
                <a:latin typeface="Carlito"/>
              </a:rPr>
              <a:t>dans ce calcul et avec une largeur de mélange adaptée au changement</a:t>
            </a:r>
            <a:r>
              <a:rPr sz="1100" b="0">
                <a:solidFill>
                  <a:srgbClr val="2C3E50"/>
                </a:solidFill>
                <a:latin typeface="Carlito"/>
              </a:rPr>
              <a:t>.</a:t>
            </a:r>
          </a:p>
        </p:txBody>
      </p:sp>
      <p:sp>
        <p:nvSpPr>
          <p:cNvPr id="22" name="TextBox 21"/>
          <p:cNvSpPr txBox="1"/>
          <p:nvPr/>
        </p:nvSpPr>
        <p:spPr>
          <a:xfrm>
            <a:off x="438912" y="3990594"/>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Ces coûts sont des budgets d'information approchés. </a:t>
            </a:r>
            <a:r>
              <a:rPr sz="1100" i="1">
                <a:solidFill>
                  <a:srgbClr val="2C3E50"/>
                </a:solidFill>
                <a:latin typeface="Carlito"/>
              </a:rPr>
              <a:t>Ils ne sont pas des délais moyens d'alarme.</a:t>
            </a:r>
            <a:r>
              <a:rPr sz="1100" b="0">
                <a:solidFill>
                  <a:srgbClr val="2C3E50"/>
                </a:solidFill>
                <a:latin typeface="Carlito"/>
              </a:rPr>
              <a:t> L'approximation de diffusion remplace les pas quotidiens par un mouvement aléatoire continu pour calculer ces temps, dans le cadre de </a:t>
            </a:r>
            <a:r>
              <a:rPr sz="1100" b="0">
                <a:solidFill>
                  <a:srgbClr val="2C3E50"/>
                </a:solidFill>
                <a:latin typeface="Carlito"/>
                <a:hlinkClick r:id="rId2"/>
              </a:rPr>
              <a:t>Taylor (1975)</a:t>
            </a:r>
            <a:r>
              <a:rPr sz="1100" b="0">
                <a:solidFill>
                  <a:srgbClr val="2C3E50"/>
                </a:solidFill>
                <a:latin typeface="Carlito"/>
              </a:rPr>
              <a:t>.</a:t>
            </a:r>
          </a:p>
        </p:txBody>
      </p:sp>
      <p:sp>
        <p:nvSpPr>
          <p:cNvPr id="23" name="Rectangle 22"/>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efficacite(d) = information_conservee(d) / cout(d)</a:t>
            </a:r>
          </a:p>
        </p:txBody>
      </p:sp>
      <p:sp>
        <p:nvSpPr>
          <p:cNvPr id="25" name="TextBox 24"/>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Choisir la dimension sans annoncer un optimum fictif</a:t>
            </a:r>
          </a:p>
        </p:txBody>
      </p:sp>
      <p:sp>
        <p:nvSpPr>
          <p:cNvPr id="4" name="Rectangle 3"/>
          <p:cNvSpPr/>
          <p:nvPr/>
        </p:nvSpPr>
        <p:spPr>
          <a:xfrm>
            <a:off x="7955279" y="64008"/>
            <a:ext cx="91440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79"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THÉORIE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Garder un axe si l'information ajoutée justifie son coût</a:t>
            </a:r>
          </a:p>
        </p:txBody>
      </p:sp>
      <p:sp>
        <p:nvSpPr>
          <p:cNvPr id="8" name="Rectangle 7"/>
          <p:cNvSpPr/>
          <p:nvPr/>
        </p:nvSpPr>
        <p:spPr>
          <a:xfrm>
            <a:off x="438912" y="1325880"/>
            <a:ext cx="4091940" cy="11887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1353312"/>
            <a:ext cx="4000500"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1B7A8A"/>
                </a:solidFill>
                <a:latin typeface="Carlito"/>
              </a:rPr>
              <a:t>changement porté par le 1er axe</a:t>
            </a:r>
          </a:p>
        </p:txBody>
      </p:sp>
      <p:cxnSp>
        <p:nvCxnSpPr>
          <p:cNvPr id="10" name="Connector 9"/>
          <p:cNvCxnSpPr/>
          <p:nvPr/>
        </p:nvCxnSpPr>
        <p:spPr>
          <a:xfrm>
            <a:off x="621792" y="1645919"/>
            <a:ext cx="3726180" cy="0"/>
          </a:xfrm>
          <a:prstGeom prst="line">
            <a:avLst/>
          </a:prstGeom>
          <a:ln w="12700">
            <a:solidFill>
              <a:srgbClr val="8A9BB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21792" y="1645919"/>
            <a:ext cx="3726180" cy="0"/>
          </a:xfrm>
          <a:prstGeom prst="line">
            <a:avLst/>
          </a:prstGeom>
          <a:ln w="38100">
            <a:solidFill>
              <a:srgbClr val="1B7A8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21792" y="1810511"/>
            <a:ext cx="3726180" cy="0"/>
          </a:xfrm>
          <a:prstGeom prst="line">
            <a:avLst/>
          </a:prstGeom>
          <a:ln w="12700">
            <a:solidFill>
              <a:srgbClr val="8A9BB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21792" y="1975103"/>
            <a:ext cx="3726180" cy="0"/>
          </a:xfrm>
          <a:prstGeom prst="line">
            <a:avLst/>
          </a:prstGeom>
          <a:ln w="12700">
            <a:solidFill>
              <a:srgbClr val="8A9BB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21792" y="2139696"/>
            <a:ext cx="3726180" cy="0"/>
          </a:xfrm>
          <a:prstGeom prst="line">
            <a:avLst/>
          </a:prstGeom>
          <a:ln w="12700">
            <a:solidFill>
              <a:srgbClr val="8A9BB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21792" y="2304287"/>
            <a:ext cx="3726180" cy="0"/>
          </a:xfrm>
          <a:prstGeom prst="line">
            <a:avLst/>
          </a:prstGeom>
          <a:ln w="12700">
            <a:solidFill>
              <a:srgbClr val="8A9BB0"/>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22292" y="1325880"/>
            <a:ext cx="4091940" cy="118872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8012" y="1353312"/>
            <a:ext cx="4000500" cy="201168"/>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8E44AD"/>
                </a:solidFill>
                <a:latin typeface="Carlito"/>
              </a:rPr>
              <a:t>changement porté par un axe tardif</a:t>
            </a:r>
          </a:p>
        </p:txBody>
      </p:sp>
      <p:cxnSp>
        <p:nvCxnSpPr>
          <p:cNvPr id="18" name="Connector 17"/>
          <p:cNvCxnSpPr/>
          <p:nvPr/>
        </p:nvCxnSpPr>
        <p:spPr>
          <a:xfrm>
            <a:off x="4805172" y="1645919"/>
            <a:ext cx="3726180" cy="0"/>
          </a:xfrm>
          <a:prstGeom prst="line">
            <a:avLst/>
          </a:prstGeom>
          <a:ln w="12700">
            <a:solidFill>
              <a:srgbClr val="8A9BB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805172" y="1810511"/>
            <a:ext cx="3726180" cy="0"/>
          </a:xfrm>
          <a:prstGeom prst="line">
            <a:avLst/>
          </a:prstGeom>
          <a:ln w="12700">
            <a:solidFill>
              <a:srgbClr val="8A9BB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805172" y="1975103"/>
            <a:ext cx="3726180" cy="0"/>
          </a:xfrm>
          <a:prstGeom prst="line">
            <a:avLst/>
          </a:prstGeom>
          <a:ln w="12700">
            <a:solidFill>
              <a:srgbClr val="8A9BB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805172" y="2139696"/>
            <a:ext cx="3726180" cy="0"/>
          </a:xfrm>
          <a:prstGeom prst="line">
            <a:avLst/>
          </a:prstGeom>
          <a:ln w="12700">
            <a:solidFill>
              <a:srgbClr val="8A9BB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805172" y="2139696"/>
            <a:ext cx="3726180" cy="0"/>
          </a:xfrm>
          <a:prstGeom prst="line">
            <a:avLst/>
          </a:prstGeom>
          <a:ln w="38100">
            <a:solidFill>
              <a:srgbClr val="8E44A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805172" y="2304287"/>
            <a:ext cx="3726180" cy="0"/>
          </a:xfrm>
          <a:prstGeom prst="line">
            <a:avLst/>
          </a:prstGeom>
          <a:ln w="12700">
            <a:solidFill>
              <a:srgbClr val="8A9BB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8912" y="2697480"/>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La </a:t>
            </a:r>
            <a:r>
              <a:rPr sz="1100" i="1">
                <a:solidFill>
                  <a:srgbClr val="2C3E50"/>
                </a:solidFill>
                <a:latin typeface="Carlito"/>
              </a:rPr>
              <a:t>dimension optimale</a:t>
            </a:r>
            <a:r>
              <a:rPr sz="1100" b="0">
                <a:solidFill>
                  <a:srgbClr val="2C3E50"/>
                </a:solidFill>
                <a:latin typeface="Carlito"/>
              </a:rPr>
              <a:t>, notée </a:t>
            </a:r>
            <a:r>
              <a:rPr sz="1100" b="0">
                <a:solidFill>
                  <a:srgbClr val="2C3E50"/>
                </a:solidFill>
                <a:latin typeface="Carlito"/>
              </a:rPr>
              <a:t>, maximise le rapport information conservée / coût du détecteur.</a:t>
            </a:r>
          </a:p>
        </p:txBody>
      </p:sp>
      <p:sp>
        <p:nvSpPr>
          <p:cNvPr id="25" name="TextBox 24"/>
          <p:cNvSpPr txBox="1"/>
          <p:nvPr/>
        </p:nvSpPr>
        <p:spPr>
          <a:xfrm>
            <a:off x="438912" y="2967863"/>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Ajouter une direction aide si l'augmentation relative d'information dépasse l'augmentation relative du coût. Si l'apport de chaque axe diminue et que le coût ajouté reste constant, ce critère situe l'optimum ; la preuve est en annexe.</a:t>
            </a:r>
          </a:p>
        </p:txBody>
      </p:sp>
      <p:sp>
        <p:nvSpPr>
          <p:cNvPr id="26" name="TextBox 25"/>
          <p:cNvSpPr txBox="1"/>
          <p:nvPr/>
        </p:nvSpPr>
        <p:spPr>
          <a:xfrm>
            <a:off x="438912" y="3398901"/>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Aucune plage optimale n'est établie sur les données.</a:t>
            </a:r>
            <a:r>
              <a:rPr sz="1100" b="0">
                <a:solidFill>
                  <a:srgbClr val="2C3E50"/>
                </a:solidFill>
                <a:latin typeface="Carlito"/>
              </a:rPr>
              <a:t> Les tailles 2, 4, 8 et 16 sont des candidates à comparer, pas un résultat.</a:t>
            </a:r>
          </a:p>
        </p:txBody>
      </p:sp>
      <p:sp>
        <p:nvSpPr>
          <p:cNvPr id="27" name="TextBox 26"/>
          <p:cNvSpPr txBox="1"/>
          <p:nvPr/>
        </p:nvSpPr>
        <p:spPr>
          <a:xfrm>
            <a:off x="438912" y="3669284"/>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Avec une liste finie de directions candidates, le coût dépend aussi de leur </a:t>
            </a:r>
            <a:r>
              <a:rPr sz="1100" i="1">
                <a:solidFill>
                  <a:srgbClr val="2C3E50"/>
                </a:solidFill>
                <a:latin typeface="Carlito"/>
              </a:rPr>
              <a:t>alignement</a:t>
            </a:r>
            <a:r>
              <a:rPr sz="1100" b="0">
                <a:solidFill>
                  <a:srgbClr val="2C3E50"/>
                </a:solidFill>
                <a:latin typeface="Carlito"/>
              </a:rPr>
              <a:t>, c'est-à-dire de l'angle avec le changement. Augmenter leur nombre coûte ; mieux les orienter peut compenser.</a:t>
            </a:r>
          </a:p>
        </p:txBody>
      </p:sp>
      <p:sp>
        <p:nvSpPr>
          <p:cNvPr id="28" name="TextBox 2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Ce que JEPA doit apprendre</a:t>
            </a:r>
          </a:p>
        </p:txBody>
      </p:sp>
      <p:sp>
        <p:nvSpPr>
          <p:cNvPr id="4" name="Rectangle 3"/>
          <p:cNvSpPr/>
          <p:nvPr/>
        </p:nvSpPr>
        <p:spPr>
          <a:xfrm>
            <a:off x="7818119" y="64008"/>
            <a:ext cx="1051560"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18119" y="64008"/>
            <a:ext cx="10515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À TESTER</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Prédire des représentations pour apprendre les relations entre actions</a:t>
            </a:r>
          </a:p>
        </p:txBody>
      </p:sp>
      <p:sp>
        <p:nvSpPr>
          <p:cNvPr id="8" name="Rectangle 7"/>
          <p:cNvSpPr/>
          <p:nvPr/>
        </p:nvSpPr>
        <p:spPr>
          <a:xfrm>
            <a:off x="530352" y="1463039"/>
            <a:ext cx="2011680" cy="82296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508760"/>
            <a:ext cx="1920240" cy="27432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1B7A8A"/>
                </a:solidFill>
                <a:latin typeface="Carlito"/>
              </a:rPr>
              <a:t>actions visibles</a:t>
            </a:r>
          </a:p>
        </p:txBody>
      </p:sp>
      <p:sp>
        <p:nvSpPr>
          <p:cNvPr id="10" name="TextBox 9"/>
          <p:cNvSpPr txBox="1"/>
          <p:nvPr/>
        </p:nvSpPr>
        <p:spPr>
          <a:xfrm>
            <a:off x="576072" y="1828800"/>
            <a:ext cx="1920240" cy="365760"/>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0">
                <a:solidFill>
                  <a:srgbClr val="5D6D7E"/>
                </a:solidFill>
                <a:latin typeface="Carlito"/>
              </a:rPr>
              <a:t>rendement +</a:t>
            </a:r>
          </a:p>
          <a:p>
            <a:pPr algn="ctr">
              <a:lnSpc>
                <a:spcPts val="1035"/>
              </a:lnSpc>
              <a:spcAft>
                <a:spcPts val="0"/>
              </a:spcAft>
            </a:pPr>
            <a:r>
              <a:rPr sz="900" b="0">
                <a:solidFill>
                  <a:srgbClr val="5D6D7E"/>
                </a:solidFill>
                <a:latin typeface="Carlito"/>
              </a:rPr>
              <a:t>caractéristiques</a:t>
            </a:r>
          </a:p>
        </p:txBody>
      </p:sp>
      <p:sp>
        <p:nvSpPr>
          <p:cNvPr id="11" name="Right Arrow 10"/>
          <p:cNvSpPr/>
          <p:nvPr/>
        </p:nvSpPr>
        <p:spPr>
          <a:xfrm>
            <a:off x="2587752" y="1783080"/>
            <a:ext cx="274320" cy="182880"/>
          </a:xfrm>
          <a:prstGeom prst="rightArrow">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07792" y="1463039"/>
            <a:ext cx="2011680" cy="822960"/>
          </a:xfrm>
          <a:prstGeom prst="rect">
            <a:avLst/>
          </a:prstGeom>
          <a:solidFill>
            <a:srgbClr val="FFF8F0"/>
          </a:solidFill>
          <a:ln>
            <a:solidFill>
              <a:srgbClr val="2980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53512" y="1508760"/>
            <a:ext cx="1920240" cy="27432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2980B9"/>
                </a:solidFill>
                <a:latin typeface="Carlito"/>
              </a:rPr>
              <a:t>réseau de contexte</a:t>
            </a:r>
          </a:p>
        </p:txBody>
      </p:sp>
      <p:sp>
        <p:nvSpPr>
          <p:cNvPr id="14" name="TextBox 13"/>
          <p:cNvSpPr txBox="1"/>
          <p:nvPr/>
        </p:nvSpPr>
        <p:spPr>
          <a:xfrm>
            <a:off x="2953512" y="1828800"/>
            <a:ext cx="1920240" cy="365760"/>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0">
                <a:solidFill>
                  <a:srgbClr val="5D6D7E"/>
                </a:solidFill>
                <a:latin typeface="Carlito"/>
              </a:rPr>
              <a:t>attention</a:t>
            </a:r>
          </a:p>
          <a:p>
            <a:pPr algn="ctr">
              <a:lnSpc>
                <a:spcPts val="1035"/>
              </a:lnSpc>
              <a:spcAft>
                <a:spcPts val="0"/>
              </a:spcAft>
            </a:pPr>
            <a:r>
              <a:rPr sz="900" b="0">
                <a:solidFill>
                  <a:srgbClr val="5D6D7E"/>
                </a:solidFill>
                <a:latin typeface="Carlito"/>
              </a:rPr>
              <a:t>pondération</a:t>
            </a:r>
          </a:p>
        </p:txBody>
      </p:sp>
      <p:sp>
        <p:nvSpPr>
          <p:cNvPr id="15" name="Right Arrow 14"/>
          <p:cNvSpPr/>
          <p:nvPr/>
        </p:nvSpPr>
        <p:spPr>
          <a:xfrm>
            <a:off x="4965192" y="1783080"/>
            <a:ext cx="274320" cy="182880"/>
          </a:xfrm>
          <a:prstGeom prst="rightArrow">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85231" y="1463039"/>
            <a:ext cx="2011680" cy="822960"/>
          </a:xfrm>
          <a:prstGeom prst="rect">
            <a:avLst/>
          </a:prstGeom>
          <a:solidFill>
            <a:srgbClr val="EBF2FA"/>
          </a:solidFill>
          <a:ln>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30952" y="1508760"/>
            <a:ext cx="1920240" cy="27432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8E44AD"/>
                </a:solidFill>
                <a:latin typeface="Carlito"/>
              </a:rPr>
              <a:t>représentation prédite</a:t>
            </a:r>
          </a:p>
        </p:txBody>
      </p:sp>
      <p:sp>
        <p:nvSpPr>
          <p:cNvPr id="18" name="Rectangle 17"/>
          <p:cNvSpPr/>
          <p:nvPr/>
        </p:nvSpPr>
        <p:spPr>
          <a:xfrm>
            <a:off x="7342631" y="1463039"/>
            <a:ext cx="1280160" cy="822960"/>
          </a:xfrm>
          <a:prstGeom prst="rect">
            <a:avLst/>
          </a:prstGeom>
          <a:solidFill>
            <a:srgbClr val="FFF0F0"/>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70064" y="1508760"/>
            <a:ext cx="1225296" cy="274320"/>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C0392B"/>
                </a:solidFill>
                <a:latin typeface="Carlito"/>
              </a:rPr>
              <a:t>actions cachées</a:t>
            </a:r>
          </a:p>
        </p:txBody>
      </p:sp>
      <p:sp>
        <p:nvSpPr>
          <p:cNvPr id="20" name="TextBox 19"/>
          <p:cNvSpPr txBox="1"/>
          <p:nvPr/>
        </p:nvSpPr>
        <p:spPr>
          <a:xfrm>
            <a:off x="7370064" y="1828800"/>
            <a:ext cx="1225296" cy="36576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5D6D7E"/>
                </a:solidFill>
                <a:latin typeface="Carlito"/>
              </a:rPr>
              <a:t>réseau cible</a:t>
            </a:r>
          </a:p>
          <a:p>
            <a:pPr algn="ctr">
              <a:lnSpc>
                <a:spcPts val="919"/>
              </a:lnSpc>
              <a:spcAft>
                <a:spcPts val="0"/>
              </a:spcAft>
            </a:pPr>
            <a:r>
              <a:rPr sz="800" b="0">
                <a:solidFill>
                  <a:srgbClr val="5D6D7E"/>
                </a:solidFill>
                <a:latin typeface="Carlito"/>
              </a:rPr>
              <a:t>(représentation cible)</a:t>
            </a:r>
          </a:p>
        </p:txBody>
      </p:sp>
      <p:cxnSp>
        <p:nvCxnSpPr>
          <p:cNvPr id="21" name="Connector 20"/>
          <p:cNvCxnSpPr/>
          <p:nvPr/>
        </p:nvCxnSpPr>
        <p:spPr>
          <a:xfrm>
            <a:off x="6382512" y="2286000"/>
            <a:ext cx="914400" cy="0"/>
          </a:xfrm>
          <a:prstGeom prst="line">
            <a:avLst/>
          </a:prstGeom>
          <a:ln w="25400">
            <a:solidFill>
              <a:srgbClr val="E08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742431" y="2313432"/>
            <a:ext cx="1828800" cy="201168"/>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E08000"/>
                </a:solidFill>
                <a:latin typeface="Carlito"/>
              </a:rPr>
              <a:t>écart à réduire (entraînement)</a:t>
            </a:r>
          </a:p>
        </p:txBody>
      </p:sp>
      <p:sp>
        <p:nvSpPr>
          <p:cNvPr id="23" name="TextBox 22"/>
          <p:cNvSpPr txBox="1"/>
          <p:nvPr/>
        </p:nvSpPr>
        <p:spPr>
          <a:xfrm>
            <a:off x="438912" y="2715768"/>
            <a:ext cx="8275320"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architecture proposée</a:t>
            </a:r>
          </a:p>
        </p:txBody>
      </p:sp>
      <p:sp>
        <p:nvSpPr>
          <p:cNvPr id="24" name="TextBox 23"/>
          <p:cNvSpPr txBox="1"/>
          <p:nvPr/>
        </p:nvSpPr>
        <p:spPr>
          <a:xfrm>
            <a:off x="438912" y="283464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Chaque action fournit au réseau son rendement et ses caractéristiques connues. Un mécanisme d'</a:t>
            </a:r>
            <a:r>
              <a:rPr sz="1100" i="1">
                <a:solidFill>
                  <a:srgbClr val="2C3E50"/>
                </a:solidFill>
                <a:latin typeface="Carlito"/>
              </a:rPr>
              <a:t>attention</a:t>
            </a:r>
            <a:r>
              <a:rPr sz="1100" b="0">
                <a:solidFill>
                  <a:srgbClr val="2C3E50"/>
                </a:solidFill>
                <a:latin typeface="Carlito"/>
              </a:rPr>
              <a:t> pondère les autres actions pour construire sa représentation.</a:t>
            </a:r>
          </a:p>
        </p:txBody>
      </p:sp>
      <p:sp>
        <p:nvSpPr>
          <p:cNvPr id="25" name="TextBox 24"/>
          <p:cNvSpPr txBox="1"/>
          <p:nvPr/>
        </p:nvSpPr>
        <p:spPr>
          <a:xfrm>
            <a:off x="438912" y="3265678"/>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Le réseau prédit la représentation d'actions cachées à partir des actions visibles. Il apprend ainsi sans étiquette de « vraie dérive ».</a:t>
            </a:r>
          </a:p>
        </p:txBody>
      </p:sp>
      <p:sp>
        <p:nvSpPr>
          <p:cNvPr id="26" name="TextBox 25"/>
          <p:cNvSpPr txBox="1"/>
          <p:nvPr/>
        </p:nvSpPr>
        <p:spPr>
          <a:xfrm>
            <a:off x="438912" y="3536061"/>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hlinkClick r:id="rId2"/>
              </a:rPr>
              <a:t>Thimonier et al. (2025)</a:t>
            </a:r>
            <a:r>
              <a:rPr sz="1100" b="0">
                <a:solidFill>
                  <a:srgbClr val="2C3E50"/>
                </a:solidFill>
                <a:latin typeface="Carlito"/>
              </a:rPr>
              <a:t> étudient cette prédiction de représentations sur données tabulaires. L'appliquer aux actions d'une journée pour détecter des changements reste </a:t>
            </a:r>
            <a:r>
              <a:rPr sz="1100" i="1">
                <a:solidFill>
                  <a:srgbClr val="2C3E50"/>
                </a:solidFill>
                <a:latin typeface="Carlito"/>
              </a:rPr>
              <a:t>notre hypothèse à tester</a:t>
            </a:r>
            <a:r>
              <a:rPr sz="1100" b="0">
                <a:solidFill>
                  <a:srgbClr val="2C3E50"/>
                </a:solidFill>
                <a:latin typeface="Carlito"/>
              </a:rPr>
              <a:t>.</a:t>
            </a:r>
          </a:p>
        </p:txBody>
      </p:sp>
      <p:sp>
        <p:nvSpPr>
          <p:cNvPr id="27" name="TextBox 26"/>
          <p:cNvSpPr txBox="1"/>
          <p:nvPr/>
        </p:nvSpPr>
        <p:spPr>
          <a:xfrm>
            <a:off x="438912" y="3967099"/>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État actuel :</a:t>
            </a:r>
            <a:r>
              <a:rPr sz="1100" b="0">
                <a:solidFill>
                  <a:srgbClr val="2C3E50"/>
                </a:solidFill>
                <a:latin typeface="Carlito"/>
              </a:rPr>
              <a:t> conception disponible ; aucune performance de détection d'un JEPA entraîné établie par les éléments vérifiés.</a:t>
            </a:r>
          </a:p>
        </p:txBody>
      </p:sp>
      <p:sp>
        <p:nvSpPr>
          <p:cNvPr id="28" name="TextBox 27"/>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Une tâche masquée sans fuite</a:t>
            </a:r>
          </a:p>
        </p:txBody>
      </p:sp>
      <p:sp>
        <p:nvSpPr>
          <p:cNvPr id="4" name="Rectangle 3"/>
          <p:cNvSpPr/>
          <p:nvPr/>
        </p:nvSpPr>
        <p:spPr>
          <a:xfrm>
            <a:off x="7772400" y="64008"/>
            <a:ext cx="109728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0" y="64008"/>
            <a:ext cx="109728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CONCEPTION</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Les rendements cachés ne doivent pas entrer dans le contexte</a:t>
            </a:r>
          </a:p>
        </p:txBody>
      </p:sp>
      <p:sp>
        <p:nvSpPr>
          <p:cNvPr id="8" name="TextBox 7"/>
          <p:cNvSpPr txBox="1"/>
          <p:nvPr/>
        </p:nvSpPr>
        <p:spPr>
          <a:xfrm>
            <a:off x="438912" y="1325880"/>
            <a:ext cx="914400" cy="201168"/>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1">
                <a:solidFill>
                  <a:srgbClr val="2C3E50"/>
                </a:solidFill>
                <a:latin typeface="Carlito"/>
              </a:rPr>
              <a:t>jour t</a:t>
            </a:r>
          </a:p>
        </p:txBody>
      </p:sp>
      <p:sp>
        <p:nvSpPr>
          <p:cNvPr id="9" name="Rectangle 8"/>
          <p:cNvSpPr/>
          <p:nvPr/>
        </p:nvSpPr>
        <p:spPr>
          <a:xfrm>
            <a:off x="987552" y="1554480"/>
            <a:ext cx="933831" cy="36576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581912"/>
            <a:ext cx="915543"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1B7A8A"/>
                </a:solidFill>
                <a:latin typeface="Carlito"/>
              </a:rPr>
              <a:t>action 1</a:t>
            </a:r>
          </a:p>
        </p:txBody>
      </p:sp>
      <p:cxnSp>
        <p:nvCxnSpPr>
          <p:cNvPr id="11" name="Connector 10"/>
          <p:cNvCxnSpPr/>
          <p:nvPr/>
        </p:nvCxnSpPr>
        <p:spPr>
          <a:xfrm>
            <a:off x="1481899" y="1920240"/>
            <a:ext cx="3094673" cy="182880"/>
          </a:xfrm>
          <a:prstGeom prst="line">
            <a:avLst/>
          </a:prstGeom>
          <a:ln w="12700">
            <a:solidFill>
              <a:srgbClr val="E0800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1976247" y="1554480"/>
            <a:ext cx="933831" cy="36576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85390" y="1581912"/>
            <a:ext cx="915543"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1B7A8A"/>
                </a:solidFill>
                <a:latin typeface="Carlito"/>
              </a:rPr>
              <a:t>action 2</a:t>
            </a:r>
          </a:p>
        </p:txBody>
      </p:sp>
      <p:cxnSp>
        <p:nvCxnSpPr>
          <p:cNvPr id="14" name="Connector 13"/>
          <p:cNvCxnSpPr/>
          <p:nvPr/>
        </p:nvCxnSpPr>
        <p:spPr>
          <a:xfrm>
            <a:off x="2470594" y="1920240"/>
            <a:ext cx="2105978" cy="182880"/>
          </a:xfrm>
          <a:prstGeom prst="line">
            <a:avLst/>
          </a:prstGeom>
          <a:ln w="12700">
            <a:solidFill>
              <a:srgbClr val="E0800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964942" y="1554480"/>
            <a:ext cx="933831" cy="365760"/>
          </a:xfrm>
          <a:prstGeom prst="rect">
            <a:avLst/>
          </a:prstGeom>
          <a:solidFill>
            <a:srgbClr val="FFF0F0"/>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4086" y="1581912"/>
            <a:ext cx="915543"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masquée</a:t>
            </a:r>
          </a:p>
        </p:txBody>
      </p:sp>
      <p:sp>
        <p:nvSpPr>
          <p:cNvPr id="17" name="Rectangle 16"/>
          <p:cNvSpPr/>
          <p:nvPr/>
        </p:nvSpPr>
        <p:spPr>
          <a:xfrm>
            <a:off x="3953637" y="1554480"/>
            <a:ext cx="933831" cy="36576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2781" y="1581912"/>
            <a:ext cx="915543"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1B7A8A"/>
                </a:solidFill>
                <a:latin typeface="Carlito"/>
              </a:rPr>
              <a:t>action 4</a:t>
            </a:r>
          </a:p>
        </p:txBody>
      </p:sp>
      <p:cxnSp>
        <p:nvCxnSpPr>
          <p:cNvPr id="19" name="Connector 18"/>
          <p:cNvCxnSpPr/>
          <p:nvPr/>
        </p:nvCxnSpPr>
        <p:spPr>
          <a:xfrm>
            <a:off x="4447984" y="1920240"/>
            <a:ext cx="128588" cy="182880"/>
          </a:xfrm>
          <a:prstGeom prst="line">
            <a:avLst/>
          </a:prstGeom>
          <a:ln w="12700">
            <a:solidFill>
              <a:srgbClr val="E08000"/>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942332" y="1554480"/>
            <a:ext cx="933831" cy="365760"/>
          </a:xfrm>
          <a:prstGeom prst="rect">
            <a:avLst/>
          </a:prstGeom>
          <a:solidFill>
            <a:srgbClr val="FFF0F0"/>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51476" y="1581912"/>
            <a:ext cx="915543"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masquée</a:t>
            </a:r>
          </a:p>
        </p:txBody>
      </p:sp>
      <p:sp>
        <p:nvSpPr>
          <p:cNvPr id="22" name="Rectangle 21"/>
          <p:cNvSpPr/>
          <p:nvPr/>
        </p:nvSpPr>
        <p:spPr>
          <a:xfrm>
            <a:off x="5931027" y="1554480"/>
            <a:ext cx="933831" cy="36576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0171" y="1581912"/>
            <a:ext cx="915543"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1B7A8A"/>
                </a:solidFill>
                <a:latin typeface="Carlito"/>
              </a:rPr>
              <a:t>action 6</a:t>
            </a:r>
          </a:p>
        </p:txBody>
      </p:sp>
      <p:cxnSp>
        <p:nvCxnSpPr>
          <p:cNvPr id="24" name="Connector 23"/>
          <p:cNvCxnSpPr/>
          <p:nvPr/>
        </p:nvCxnSpPr>
        <p:spPr>
          <a:xfrm flipH="1">
            <a:off x="4576572" y="1920240"/>
            <a:ext cx="1848802" cy="182880"/>
          </a:xfrm>
          <a:prstGeom prst="line">
            <a:avLst/>
          </a:prstGeom>
          <a:ln w="12700">
            <a:solidFill>
              <a:srgbClr val="E08000"/>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919722" y="1554480"/>
            <a:ext cx="933831" cy="365760"/>
          </a:xfrm>
          <a:prstGeom prst="rect">
            <a:avLst/>
          </a:prstGeom>
          <a:solidFill>
            <a:srgbClr val="FFF0F0"/>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28866" y="1581912"/>
            <a:ext cx="915543"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masquée</a:t>
            </a:r>
          </a:p>
        </p:txBody>
      </p:sp>
      <p:sp>
        <p:nvSpPr>
          <p:cNvPr id="27" name="Rectangle 26"/>
          <p:cNvSpPr/>
          <p:nvPr/>
        </p:nvSpPr>
        <p:spPr>
          <a:xfrm>
            <a:off x="7908417" y="1554480"/>
            <a:ext cx="933831" cy="365760"/>
          </a:xfrm>
          <a:prstGeom prst="rect">
            <a:avLst/>
          </a:prstGeom>
          <a:solidFill>
            <a:srgbClr val="EBF2FA"/>
          </a:solidFill>
          <a:ln>
            <a:solidFill>
              <a:srgbClr val="1B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7561" y="1581912"/>
            <a:ext cx="915543" cy="310896"/>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0">
                <a:solidFill>
                  <a:srgbClr val="1B7A8A"/>
                </a:solidFill>
                <a:latin typeface="Carlito"/>
              </a:rPr>
              <a:t>action 8</a:t>
            </a:r>
          </a:p>
        </p:txBody>
      </p:sp>
      <p:cxnSp>
        <p:nvCxnSpPr>
          <p:cNvPr id="29" name="Connector 28"/>
          <p:cNvCxnSpPr/>
          <p:nvPr/>
        </p:nvCxnSpPr>
        <p:spPr>
          <a:xfrm flipH="1">
            <a:off x="4576572" y="1920240"/>
            <a:ext cx="3826192" cy="182880"/>
          </a:xfrm>
          <a:prstGeom prst="line">
            <a:avLst/>
          </a:prstGeom>
          <a:ln w="12700">
            <a:solidFill>
              <a:srgbClr val="E0800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87552" y="2103120"/>
            <a:ext cx="7726680" cy="201168"/>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E08000"/>
                </a:solidFill>
                <a:latin typeface="Carlito"/>
              </a:rPr>
              <a:t>flèches depuis les cases visibles uniquement vers le contexte</a:t>
            </a:r>
          </a:p>
        </p:txBody>
      </p:sp>
      <p:sp>
        <p:nvSpPr>
          <p:cNvPr id="31" name="TextBox 30"/>
          <p:cNvSpPr txBox="1"/>
          <p:nvPr/>
        </p:nvSpPr>
        <p:spPr>
          <a:xfrm>
            <a:off x="438912" y="2532888"/>
            <a:ext cx="8275320" cy="182880"/>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masquer → préparer les entrées visibles → prédire</a:t>
            </a:r>
          </a:p>
        </p:txBody>
      </p:sp>
      <p:sp>
        <p:nvSpPr>
          <p:cNvPr id="32" name="TextBox 31"/>
          <p:cNvSpPr txBox="1"/>
          <p:nvPr/>
        </p:nvSpPr>
        <p:spPr>
          <a:xfrm>
            <a:off x="438912" y="269748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À une même date</a:t>
            </a:r>
            <a:r>
              <a:rPr sz="1100" b="0">
                <a:solidFill>
                  <a:srgbClr val="2C3E50"/>
                </a:solidFill>
                <a:latin typeface="Carlito"/>
              </a:rPr>
              <a:t>, cacher 30 à 50 % des rendements d'actions ; conserver les caractéristiques déjà connues. Les autres actions servent de contexte.</a:t>
            </a:r>
          </a:p>
        </p:txBody>
      </p:sp>
      <p:sp>
        <p:nvSpPr>
          <p:cNvPr id="33" name="TextBox 32"/>
          <p:cNvSpPr txBox="1"/>
          <p:nvPr/>
        </p:nvSpPr>
        <p:spPr>
          <a:xfrm>
            <a:off x="438912" y="3128518"/>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Piège :</a:t>
            </a:r>
            <a:r>
              <a:rPr sz="1100" b="0">
                <a:solidFill>
                  <a:srgbClr val="2C3E50"/>
                </a:solidFill>
                <a:latin typeface="Carlito"/>
              </a:rPr>
              <a:t> calculer d'abord la moyenne de toutes les actions, puis masquer certaines actions. Cette moyenne contient déjà une partie de ce qu'il fallait cacher.</a:t>
            </a:r>
          </a:p>
        </p:txBody>
      </p:sp>
      <p:sp>
        <p:nvSpPr>
          <p:cNvPr id="34" name="TextBox 33"/>
          <p:cNvSpPr txBox="1"/>
          <p:nvPr/>
        </p:nvSpPr>
        <p:spPr>
          <a:xfrm>
            <a:off x="438912" y="3559556"/>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Solution proposée :</a:t>
            </a:r>
            <a:r>
              <a:rPr sz="1100" b="0">
                <a:solidFill>
                  <a:srgbClr val="2C3E50"/>
                </a:solidFill>
                <a:latin typeface="Carlito"/>
              </a:rPr>
              <a:t> construire le contexte sur les seules actions visibles, ou ne pas retirer le marché avant cette tâche.</a:t>
            </a:r>
          </a:p>
        </p:txBody>
      </p:sp>
      <p:sp>
        <p:nvSpPr>
          <p:cNvPr id="35" name="TextBox 34"/>
          <p:cNvSpPr txBox="1"/>
          <p:nvPr/>
        </p:nvSpPr>
        <p:spPr>
          <a:xfrm>
            <a:off x="438912" y="3829938"/>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La prédiction du lendemain est une variante distincte. La méthode principale apprend les relations </a:t>
            </a:r>
            <a:r>
              <a:rPr sz="1100" i="1">
                <a:solidFill>
                  <a:srgbClr val="2C3E50"/>
                </a:solidFill>
                <a:latin typeface="Carlito"/>
              </a:rPr>
              <a:t>entre actions d'une même journée</a:t>
            </a:r>
            <a:r>
              <a:rPr sz="1100" b="0">
                <a:solidFill>
                  <a:srgbClr val="2C3E50"/>
                </a:solidFill>
                <a:latin typeface="Carlito"/>
              </a:rPr>
              <a:t>.</a:t>
            </a:r>
          </a:p>
        </p:txBody>
      </p:sp>
      <p:sp>
        <p:nvSpPr>
          <p:cNvPr id="36" name="TextBox 35"/>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Évaluer le réseau</a:t>
            </a:r>
          </a:p>
        </p:txBody>
      </p:sp>
      <p:sp>
        <p:nvSpPr>
          <p:cNvPr id="4" name="Rectangle 3"/>
          <p:cNvSpPr/>
          <p:nvPr/>
        </p:nvSpPr>
        <p:spPr>
          <a:xfrm>
            <a:off x="7818119" y="64008"/>
            <a:ext cx="1051560"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18119" y="64008"/>
            <a:ext cx="10515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À TESTER</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Un réseau utile doit conserver le changement et battre les références simples</a:t>
            </a:r>
          </a:p>
        </p:txBody>
      </p:sp>
      <p:sp>
        <p:nvSpPr>
          <p:cNvPr id="8" name="Rectangle 7"/>
          <p:cNvSpPr/>
          <p:nvPr/>
        </p:nvSpPr>
        <p:spPr>
          <a:xfrm>
            <a:off x="438912" y="1325880"/>
            <a:ext cx="1636776" cy="36576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71600"/>
            <a:ext cx="1600200" cy="27432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FFFFFF"/>
                </a:solidFill>
                <a:latin typeface="Carlito"/>
              </a:rPr>
              <a:t>apprendre</a:t>
            </a:r>
          </a:p>
        </p:txBody>
      </p:sp>
      <p:sp>
        <p:nvSpPr>
          <p:cNvPr id="10" name="Right Arrow 9"/>
          <p:cNvSpPr/>
          <p:nvPr/>
        </p:nvSpPr>
        <p:spPr>
          <a:xfrm>
            <a:off x="2075688" y="1417320"/>
            <a:ext cx="91440" cy="137160"/>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12264" y="1325880"/>
            <a:ext cx="1636776" cy="36576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30552" y="1371600"/>
            <a:ext cx="1600200" cy="27432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FFFFFF"/>
                </a:solidFill>
                <a:latin typeface="Carlito"/>
              </a:rPr>
              <a:t>choisir</a:t>
            </a:r>
          </a:p>
        </p:txBody>
      </p:sp>
      <p:sp>
        <p:nvSpPr>
          <p:cNvPr id="13" name="Right Arrow 12"/>
          <p:cNvSpPr/>
          <p:nvPr/>
        </p:nvSpPr>
        <p:spPr>
          <a:xfrm>
            <a:off x="3749039" y="1417320"/>
            <a:ext cx="91440" cy="137160"/>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85616" y="1325880"/>
            <a:ext cx="1636776" cy="36576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03904" y="1371600"/>
            <a:ext cx="1600200" cy="27432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FFFFFF"/>
                </a:solidFill>
                <a:latin typeface="Carlito"/>
              </a:rPr>
              <a:t>calibrer</a:t>
            </a:r>
          </a:p>
        </p:txBody>
      </p:sp>
      <p:sp>
        <p:nvSpPr>
          <p:cNvPr id="16" name="Right Arrow 15"/>
          <p:cNvSpPr/>
          <p:nvPr/>
        </p:nvSpPr>
        <p:spPr>
          <a:xfrm>
            <a:off x="5422392" y="1417320"/>
            <a:ext cx="91440" cy="137160"/>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58968" y="1325880"/>
            <a:ext cx="1636776" cy="365760"/>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77256" y="1371600"/>
            <a:ext cx="1600200" cy="27432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FFFFFF"/>
                </a:solidFill>
                <a:latin typeface="Carlito"/>
              </a:rPr>
              <a:t>figer</a:t>
            </a:r>
          </a:p>
        </p:txBody>
      </p:sp>
      <p:sp>
        <p:nvSpPr>
          <p:cNvPr id="19" name="Right Arrow 18"/>
          <p:cNvSpPr/>
          <p:nvPr/>
        </p:nvSpPr>
        <p:spPr>
          <a:xfrm>
            <a:off x="7095744" y="1417320"/>
            <a:ext cx="91440" cy="137160"/>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0" y="1325880"/>
            <a:ext cx="1636776" cy="365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50608" y="1371600"/>
            <a:ext cx="1600200" cy="274320"/>
          </a:xfrm>
          <a:prstGeom prst="rect">
            <a:avLst/>
          </a:prstGeom>
          <a:noFill/>
        </p:spPr>
        <p:txBody>
          <a:bodyPr wrap="square" lIns="45720" rIns="45720" tIns="13716" bIns="13716" anchor="t">
            <a:spAutoFit/>
          </a:bodyPr>
          <a:lstStyle/>
          <a:p>
            <a:pPr algn="ctr">
              <a:lnSpc>
                <a:spcPts val="1150"/>
              </a:lnSpc>
              <a:spcAft>
                <a:spcPts val="0"/>
              </a:spcAft>
            </a:pPr>
            <a:r>
              <a:rPr sz="1000" b="0" i="0">
                <a:solidFill>
                  <a:srgbClr val="2C3E50"/>
                </a:solidFill>
                <a:latin typeface="Carlito"/>
              </a:rPr>
              <a:t/>
            </a:r>
            <a:r>
              <a:rPr sz="1000" b="1">
                <a:solidFill>
                  <a:srgbClr val="FFFFFF"/>
                </a:solidFill>
                <a:latin typeface="Carlito"/>
              </a:rPr>
              <a:t>surveiller</a:t>
            </a:r>
          </a:p>
        </p:txBody>
      </p:sp>
      <p:sp>
        <p:nvSpPr>
          <p:cNvPr id="22" name="TextBox 21"/>
          <p:cNvSpPr txBox="1"/>
          <p:nvPr/>
        </p:nvSpPr>
        <p:spPr>
          <a:xfrm>
            <a:off x="5404104" y="1783080"/>
            <a:ext cx="3310128" cy="228600"/>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0">
                <a:solidFill>
                  <a:srgbClr val="5D6D7E"/>
                </a:solidFill>
                <a:latin typeface="Carlito"/>
              </a:rPr>
              <a:t>signes (impair)  |  énergie (pair)</a:t>
            </a:r>
          </a:p>
        </p:txBody>
      </p:sp>
      <p:sp>
        <p:nvSpPr>
          <p:cNvPr id="23" name="TextBox 22"/>
          <p:cNvSpPr txBox="1"/>
          <p:nvPr/>
        </p:nvSpPr>
        <p:spPr>
          <a:xfrm>
            <a:off x="438912" y="2057400"/>
            <a:ext cx="8275320" cy="201168"/>
          </a:xfrm>
          <a:prstGeom prst="rect">
            <a:avLst/>
          </a:prstGeom>
          <a:noFill/>
        </p:spPr>
        <p:txBody>
          <a:bodyPr wrap="square" lIns="45720" rIns="45720" tIns="13716" bIns="13716" anchor="t">
            <a:spAutoFit/>
          </a:bodyPr>
          <a:lstStyle/>
          <a:p>
            <a:pPr algn="ctr">
              <a:lnSpc>
                <a:spcPts val="919"/>
              </a:lnSpc>
              <a:spcAft>
                <a:spcPts val="0"/>
              </a:spcAft>
            </a:pPr>
            <a:r>
              <a:rPr sz="800" b="0" i="0">
                <a:solidFill>
                  <a:srgbClr val="2C3E50"/>
                </a:solidFill>
                <a:latin typeface="Carlito"/>
              </a:rPr>
              <a:t/>
            </a:r>
            <a:r>
              <a:rPr sz="800" b="1">
                <a:solidFill>
                  <a:srgbClr val="8A9BB0"/>
                </a:solidFill>
                <a:latin typeface="Carlito"/>
              </a:rPr>
              <a:t>ACP et normalisation sur lignes parallèles, mêmes données</a:t>
            </a:r>
          </a:p>
        </p:txBody>
      </p:sp>
      <p:sp>
        <p:nvSpPr>
          <p:cNvPr id="24" name="TextBox 23"/>
          <p:cNvSpPr txBox="1"/>
          <p:nvPr/>
        </p:nvSpPr>
        <p:spPr>
          <a:xfrm>
            <a:off x="438912" y="269748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Pendant l'apprentissage :</a:t>
            </a:r>
            <a:r>
              <a:rPr sz="1100" b="0">
                <a:solidFill>
                  <a:srgbClr val="2C3E50"/>
                </a:solidFill>
                <a:latin typeface="Carlito"/>
              </a:rPr>
              <a:t> vérifier que les représentations varient. La pénalité de variance de </a:t>
            </a:r>
            <a:r>
              <a:rPr sz="1100" b="0">
                <a:solidFill>
                  <a:srgbClr val="2C3E50"/>
                </a:solidFill>
                <a:latin typeface="Carlito"/>
                <a:hlinkClick r:id="rId2"/>
              </a:rPr>
              <a:t>Bardes, Ponce et LeCun (2022)</a:t>
            </a:r>
            <a:r>
              <a:rPr sz="1100" b="0">
                <a:solidFill>
                  <a:srgbClr val="2C3E50"/>
                </a:solidFill>
                <a:latin typeface="Carlito"/>
              </a:rPr>
              <a:t> vise à éviter des sorties constantes ; elle ne garantit pas de conserver la dérive.</a:t>
            </a:r>
          </a:p>
        </p:txBody>
      </p:sp>
      <p:sp>
        <p:nvSpPr>
          <p:cNvPr id="25" name="TextBox 24"/>
          <p:cNvSpPr txBox="1"/>
          <p:nvPr/>
        </p:nvSpPr>
        <p:spPr>
          <a:xfrm>
            <a:off x="438912" y="3128518"/>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Avant le test :</a:t>
            </a:r>
            <a:r>
              <a:rPr sz="1100" b="0">
                <a:solidFill>
                  <a:srgbClr val="2C3E50"/>
                </a:solidFill>
                <a:latin typeface="Carlito"/>
              </a:rPr>
              <a:t> choisir la taille et la variante, puis régler les seuils sur des données distinctes. Figer le réseau et les transformations.</a:t>
            </a:r>
          </a:p>
        </p:txBody>
      </p:sp>
      <p:sp>
        <p:nvSpPr>
          <p:cNvPr id="26" name="TextBox 25"/>
          <p:cNvSpPr txBox="1"/>
          <p:nvPr/>
        </p:nvSpPr>
        <p:spPr>
          <a:xfrm>
            <a:off x="438912" y="3398901"/>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En surveillance :</a:t>
            </a:r>
            <a:r>
              <a:rPr sz="1100" b="0">
                <a:solidFill>
                  <a:srgbClr val="2C3E50"/>
                </a:solidFill>
                <a:latin typeface="Carlito"/>
              </a:rPr>
              <a:t> une sortie impaire change de signe quand les rendements sont inversés ; une sortie paire reste identique. Elles alimentent respectivement les statistiques de signe et d'énergie.</a:t>
            </a:r>
          </a:p>
        </p:txBody>
      </p:sp>
      <p:sp>
        <p:nvSpPr>
          <p:cNvPr id="27" name="TextBox 26"/>
          <p:cNvSpPr txBox="1"/>
          <p:nvPr/>
        </p:nvSpPr>
        <p:spPr>
          <a:xfrm>
            <a:off x="438912" y="3829938"/>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Comparer d'abord à l'ACP et à la normalisation sans réseau. Une ACP guidée par caractéristiques, selon </a:t>
            </a:r>
            <a:r>
              <a:rPr sz="1100" b="0">
                <a:solidFill>
                  <a:srgbClr val="2C3E50"/>
                </a:solidFill>
                <a:latin typeface="Carlito"/>
                <a:hlinkClick r:id="rId3"/>
              </a:rPr>
              <a:t>Kelly, Pruitt et Su (2019)</a:t>
            </a:r>
            <a:r>
              <a:rPr sz="1100" b="0">
                <a:solidFill>
                  <a:srgbClr val="2C3E50"/>
                </a:solidFill>
                <a:latin typeface="Carlito"/>
              </a:rPr>
              <a:t>, est une comparaison supplémentaire à réaliser.</a:t>
            </a:r>
          </a:p>
        </p:txBody>
      </p:sp>
      <p:sp>
        <p:nvSpPr>
          <p:cNvPr id="28" name="Rectangle 2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impaire(r) = [g(r) - g(-r)] / 2</a:t>
            </a:r>
          </a:p>
        </p:txBody>
      </p:sp>
      <p:sp>
        <p:nvSpPr>
          <p:cNvPr id="30" name="TextBox 29"/>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La prochaine comparaison décisive</a:t>
            </a:r>
          </a:p>
        </p:txBody>
      </p:sp>
      <p:sp>
        <p:nvSpPr>
          <p:cNvPr id="4" name="Rectangle 3"/>
          <p:cNvSpPr/>
          <p:nvPr/>
        </p:nvSpPr>
        <p:spPr>
          <a:xfrm>
            <a:off x="7086599" y="64008"/>
            <a:ext cx="1783080" cy="24688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86599" y="64008"/>
            <a:ext cx="178308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PROCHAINES ÉTAPES</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Mesurer le gain sans déplacer le risque de fausse alarme</a:t>
            </a:r>
          </a:p>
        </p:txBody>
      </p:sp>
      <p:sp>
        <p:nvSpPr>
          <p:cNvPr id="8" name="TextBox 7"/>
          <p:cNvSpPr txBox="1"/>
          <p:nvPr/>
        </p:nvSpPr>
        <p:spPr>
          <a:xfrm>
            <a:off x="438912" y="1325880"/>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Règle proposée :</a:t>
            </a:r>
            <a:r>
              <a:rPr sz="1100" b="0">
                <a:solidFill>
                  <a:srgbClr val="2C3E50"/>
                </a:solidFill>
                <a:latin typeface="Carlito"/>
              </a:rPr>
              <a:t> un rapport de délais d'au moins </a:t>
            </a:r>
            <a:r>
              <a:rPr sz="1100" i="1">
                <a:solidFill>
                  <a:srgbClr val="2C3E50"/>
                </a:solidFill>
                <a:latin typeface="Carlito"/>
              </a:rPr>
              <a:t>1,25</a:t>
            </a:r>
            <a:r>
              <a:rPr sz="1100" b="0">
                <a:solidFill>
                  <a:srgbClr val="2C3E50"/>
                </a:solidFill>
                <a:latin typeface="Carlito"/>
              </a:rPr>
              <a:t>, sur au moins deux familles de changements : moyenne, moyenne liée aux caractéristiques, ou covariance.</a:t>
            </a:r>
          </a:p>
        </p:txBody>
      </p:sp>
      <p:sp>
        <p:nvSpPr>
          <p:cNvPr id="9" name="TextBox 8"/>
          <p:cNvSpPr txBox="1"/>
          <p:nvPr/>
        </p:nvSpPr>
        <p:spPr>
          <a:xfrm>
            <a:off x="438912" y="1756918"/>
            <a:ext cx="8275320" cy="376174"/>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b="0">
                <a:solidFill>
                  <a:srgbClr val="2C3E50"/>
                </a:solidFill>
                <a:latin typeface="Carlito"/>
              </a:rPr>
              <a:t>L'</a:t>
            </a:r>
            <a:r>
              <a:rPr sz="1100" i="1">
                <a:solidFill>
                  <a:srgbClr val="2C3E50"/>
                </a:solidFill>
                <a:latin typeface="Carlito"/>
              </a:rPr>
              <a:t>intervalle de confiance à 95 %</a:t>
            </a:r>
            <a:r>
              <a:rPr sz="1100" b="0">
                <a:solidFill>
                  <a:srgbClr val="2C3E50"/>
                </a:solidFill>
                <a:latin typeface="Carlito"/>
              </a:rPr>
              <a:t>, qui quantifie l'incertitude d'échantillonnage, doit rester entièrement au-dessus de 1 après prise en compte des comparaisons multiples.</a:t>
            </a:r>
          </a:p>
        </p:txBody>
      </p:sp>
      <p:sp>
        <p:nvSpPr>
          <p:cNvPr id="10" name="TextBox 9"/>
          <p:cNvSpPr txBox="1"/>
          <p:nvPr/>
        </p:nvSpPr>
        <p:spPr>
          <a:xfrm>
            <a:off x="438912" y="2187956"/>
            <a:ext cx="8275320" cy="215519"/>
          </a:xfrm>
          <a:prstGeom prst="rect">
            <a:avLst/>
          </a:prstGeom>
          <a:noFill/>
        </p:spPr>
        <p:txBody>
          <a:bodyPr wrap="square" lIns="45720" rIns="45720" tIns="13716" bIns="13716" anchor="t">
            <a:spAutoFit/>
          </a:bodyPr>
          <a:lstStyle/>
          <a:p>
            <a:pPr algn="l">
              <a:lnSpc>
                <a:spcPts val="1264"/>
              </a:lnSpc>
              <a:spcAft>
                <a:spcPts val="0"/>
              </a:spcAft>
            </a:pPr>
            <a:r>
              <a:rPr sz="1100" b="0" i="0">
                <a:solidFill>
                  <a:srgbClr val="2C3E50"/>
                </a:solidFill>
                <a:latin typeface="Carlito"/>
              </a:rPr>
              <a:t/>
            </a:r>
            <a:r>
              <a:rPr sz="1100" i="1">
                <a:solidFill>
                  <a:srgbClr val="2C3E50"/>
                </a:solidFill>
                <a:latin typeface="Carlito"/>
              </a:rPr>
              <a:t>Décision :</a:t>
            </a:r>
            <a:r>
              <a:rPr sz="1100" b="0">
                <a:solidFill>
                  <a:srgbClr val="2C3E50"/>
                </a:solidFill>
                <a:latin typeface="Carlito"/>
              </a:rPr>
              <a:t> conserver la méthode la plus convaincante à risque comparable, même si elle ne comporte aucun réseau.</a:t>
            </a:r>
          </a:p>
        </p:txBody>
      </p:sp>
      <p:graphicFrame>
        <p:nvGraphicFramePr>
          <p:cNvPr id="11" name="Table 10"/>
          <p:cNvGraphicFramePr>
            <a:graphicFrameLocks noGrp="1"/>
          </p:cNvGraphicFramePr>
          <p:nvPr/>
        </p:nvGraphicFramePr>
        <p:xfrm>
          <a:off x="438912" y="2531491"/>
          <a:ext cx="8275320" cy="1463040"/>
        </p:xfrm>
        <a:graphic>
          <a:graphicData uri="http://schemas.openxmlformats.org/drawingml/2006/table">
            <a:tbl>
              <a:tblPr firstRow="1" bandRow="1">
                <a:tableStyleId>{5C22544A-7EE6-4342-B048-85BDC9FD1C3A}</a:tableStyleId>
              </a:tblPr>
              <a:tblGrid>
                <a:gridCol w="4137660"/>
                <a:gridCol w="4137660"/>
              </a:tblGrid>
              <a:tr h="292608">
                <a:tc>
                  <a:txBody>
                    <a:bodyPr/>
                    <a:lstStyle/>
                    <a:p>
                      <a:pPr algn="ctr"/>
                      <a:r>
                        <a:rPr sz="1000" b="1">
                          <a:solidFill>
                            <a:srgbClr val="FFFFFF"/>
                          </a:solidFill>
                          <a:latin typeface="Carlito"/>
                        </a:rPr>
                        <a:t>Travail</a:t>
                      </a:r>
                    </a:p>
                  </a:txBody>
                  <a:tcPr marL="54864" marR="54864" marT="18288" marB="18288">
                    <a:solidFill>
                      <a:srgbClr val="1B7A8A"/>
                    </a:solidFill>
                  </a:tcPr>
                </a:tc>
                <a:tc>
                  <a:txBody>
                    <a:bodyPr/>
                    <a:lstStyle/>
                    <a:p>
                      <a:pPr algn="ctr"/>
                      <a:r>
                        <a:rPr sz="1000" b="1">
                          <a:solidFill>
                            <a:srgbClr val="FFFFFF"/>
                          </a:solidFill>
                          <a:latin typeface="Carlito"/>
                        </a:rPr>
                        <a:t>Mesure attendue</a:t>
                      </a:r>
                    </a:p>
                  </a:txBody>
                  <a:tcPr marL="54864" marR="54864" marT="18288" marB="18288">
                    <a:solidFill>
                      <a:srgbClr val="1B7A8A"/>
                    </a:solidFill>
                  </a:tcPr>
                </a:tc>
              </a:tr>
              <a:tr h="292608">
                <a:tc>
                  <a:txBody>
                    <a:bodyPr/>
                    <a:lstStyle/>
                    <a:p>
                      <a:pPr algn="l"/>
                      <a:r>
                        <a:rPr sz="900" b="0">
                          <a:solidFill>
                            <a:srgbClr val="2C3E50"/>
                          </a:solidFill>
                          <a:latin typeface="Carlito"/>
                        </a:rPr>
                        <a:t>Identifier les directions utiles</a:t>
                      </a:r>
                    </a:p>
                  </a:txBody>
                  <a:tcPr marL="54864" marR="54864" marT="18288" marB="18288">
                    <a:solidFill>
                      <a:srgbClr val="EBF2FA"/>
                    </a:solidFill>
                  </a:tcPr>
                </a:tc>
                <a:tc>
                  <a:txBody>
                    <a:bodyPr/>
                    <a:lstStyle/>
                    <a:p>
                      <a:pPr algn="ctr"/>
                      <a:r>
                        <a:rPr sz="900" b="0">
                          <a:solidFill>
                            <a:srgbClr val="2C3E50"/>
                          </a:solidFill>
                          <a:latin typeface="Carlito"/>
                        </a:rPr>
                        <a:t>Information par axe et information cumulée</a:t>
                      </a:r>
                    </a:p>
                  </a:txBody>
                  <a:tcPr marL="54864" marR="54864" marT="18288" marB="18288">
                    <a:solidFill>
                      <a:srgbClr val="EBF2FA"/>
                    </a:solidFill>
                  </a:tcPr>
                </a:tc>
              </a:tr>
              <a:tr h="292608">
                <a:tc>
                  <a:txBody>
                    <a:bodyPr/>
                    <a:lstStyle/>
                    <a:p>
                      <a:pPr algn="l"/>
                      <a:r>
                        <a:rPr sz="900" b="0">
                          <a:solidFill>
                            <a:srgbClr val="2C3E50"/>
                          </a:solidFill>
                          <a:latin typeface="Carlito"/>
                        </a:rPr>
                        <a:t>Vérifier les seuils</a:t>
                      </a:r>
                    </a:p>
                  </a:txBody>
                  <a:tcPr marL="54864" marR="54864" marT="18288" marB="18288">
                    <a:solidFill>
                      <a:srgbClr val="FFFFFF"/>
                    </a:solidFill>
                  </a:tcPr>
                </a:tc>
                <a:tc>
                  <a:txBody>
                    <a:bodyPr/>
                    <a:lstStyle/>
                    <a:p>
                      <a:pPr algn="ctr"/>
                      <a:r>
                        <a:rPr sz="900" b="0">
                          <a:solidFill>
                            <a:srgbClr val="2C3E50"/>
                          </a:solidFill>
                          <a:latin typeface="Carlito"/>
                        </a:rPr>
                        <a:t>Probabilité d'au moins une fausse alarme, sur le même horizon</a:t>
                      </a:r>
                    </a:p>
                  </a:txBody>
                  <a:tcPr marL="54864" marR="54864" marT="18288" marB="18288">
                    <a:solidFill>
                      <a:srgbClr val="FFFFFF"/>
                    </a:solidFill>
                  </a:tcPr>
                </a:tc>
              </a:tr>
              <a:tr h="292608">
                <a:tc>
                  <a:txBody>
                    <a:bodyPr/>
                    <a:lstStyle/>
                    <a:p>
                      <a:pPr algn="l"/>
                      <a:r>
                        <a:rPr sz="900" b="0">
                          <a:solidFill>
                            <a:srgbClr val="2C3E50"/>
                          </a:solidFill>
                          <a:latin typeface="Carlito"/>
                        </a:rPr>
                        <a:t>Entraîner JEPA</a:t>
                      </a:r>
                    </a:p>
                  </a:txBody>
                  <a:tcPr marL="54864" marR="54864" marT="18288" marB="18288">
                    <a:solidFill>
                      <a:srgbClr val="EBF2FA"/>
                    </a:solidFill>
                  </a:tcPr>
                </a:tc>
                <a:tc>
                  <a:txBody>
                    <a:bodyPr/>
                    <a:lstStyle/>
                    <a:p>
                      <a:pPr algn="ctr"/>
                      <a:r>
                        <a:rPr sz="900" b="0">
                          <a:solidFill>
                            <a:srgbClr val="2C3E50"/>
                          </a:solidFill>
                          <a:latin typeface="Carlito"/>
                        </a:rPr>
                        <a:t>Représentations non constantes et changement conservé</a:t>
                      </a:r>
                    </a:p>
                  </a:txBody>
                  <a:tcPr marL="54864" marR="54864" marT="18288" marB="18288">
                    <a:solidFill>
                      <a:srgbClr val="EBF2FA"/>
                    </a:solidFill>
                  </a:tcPr>
                </a:tc>
              </a:tr>
              <a:tr h="292608">
                <a:tc>
                  <a:txBody>
                    <a:bodyPr/>
                    <a:lstStyle/>
                    <a:p>
                      <a:pPr algn="l"/>
                      <a:r>
                        <a:rPr sz="900" b="0">
                          <a:solidFill>
                            <a:srgbClr val="2C3E50"/>
                          </a:solidFill>
                          <a:latin typeface="Carlito"/>
                        </a:rPr>
                        <a:t>Comparer les méthodes</a:t>
                      </a:r>
                    </a:p>
                  </a:txBody>
                  <a:tcPr marL="54864" marR="54864" marT="18288" marB="18288">
                    <a:solidFill>
                      <a:srgbClr val="FFFFFF"/>
                    </a:solidFill>
                  </a:tcPr>
                </a:tc>
                <a:tc>
                  <a:txBody>
                    <a:bodyPr/>
                    <a:lstStyle/>
                    <a:p>
                      <a:pPr algn="ctr"/>
                      <a:r>
                        <a:rPr sz="900" b="0">
                          <a:solidFill>
                            <a:srgbClr val="2C3E50"/>
                          </a:solidFill>
                          <a:latin typeface="Carlito"/>
                        </a:rPr>
                        <a:t>Délai plafonné, probabilité de détection et incertitude</a:t>
                      </a:r>
                    </a:p>
                  </a:txBody>
                  <a:tcPr marL="54864" marR="54864" marT="18288" marB="18288">
                    <a:solidFill>
                      <a:srgbClr val="FFFFFF"/>
                    </a:solidFill>
                  </a:tcPr>
                </a:tc>
              </a:tr>
            </a:tbl>
          </a:graphicData>
        </a:graphic>
      </p:graphicFrame>
      <p:sp>
        <p:nvSpPr>
          <p:cNvPr id="12" name="Rectangle 11"/>
          <p:cNvSpPr/>
          <p:nvPr/>
        </p:nvSpPr>
        <p:spPr>
          <a:xfrm>
            <a:off x="438912" y="4131691"/>
            <a:ext cx="2712720" cy="274320"/>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 y="4149979"/>
            <a:ext cx="2657856" cy="237744"/>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risque comparable</a:t>
            </a:r>
          </a:p>
        </p:txBody>
      </p:sp>
      <p:sp>
        <p:nvSpPr>
          <p:cNvPr id="14" name="Right Arrow 13"/>
          <p:cNvSpPr/>
          <p:nvPr/>
        </p:nvSpPr>
        <p:spPr>
          <a:xfrm>
            <a:off x="3160776" y="4186555"/>
            <a:ext cx="128016" cy="164592"/>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43072" y="4131691"/>
            <a:ext cx="2712720" cy="274320"/>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70504" y="4149979"/>
            <a:ext cx="2657856" cy="237744"/>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gain et incertitude</a:t>
            </a:r>
          </a:p>
        </p:txBody>
      </p:sp>
      <p:sp>
        <p:nvSpPr>
          <p:cNvPr id="17" name="Right Arrow 16"/>
          <p:cNvSpPr/>
          <p:nvPr/>
        </p:nvSpPr>
        <p:spPr>
          <a:xfrm>
            <a:off x="5964936" y="4186555"/>
            <a:ext cx="128016" cy="164592"/>
          </a:xfrm>
          <a:prstGeom prst="rightArrow">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47232" y="4131691"/>
            <a:ext cx="2712720" cy="274320"/>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74664" y="4149979"/>
            <a:ext cx="2657856" cy="237744"/>
          </a:xfrm>
          <a:prstGeom prst="rect">
            <a:avLst/>
          </a:prstGeom>
          <a:noFill/>
        </p:spPr>
        <p:txBody>
          <a:bodyPr wrap="square" lIns="45720" rIns="45720" tIns="13716" bIns="13716" anchor="t">
            <a:spAutoFit/>
          </a:bodyPr>
          <a:lstStyle/>
          <a:p>
            <a:pPr algn="ctr">
              <a:lnSpc>
                <a:spcPts val="1035"/>
              </a:lnSpc>
              <a:spcAft>
                <a:spcPts val="0"/>
              </a:spcAft>
            </a:pPr>
            <a:r>
              <a:rPr sz="900" b="0" i="0">
                <a:solidFill>
                  <a:srgbClr val="2C3E50"/>
                </a:solidFill>
                <a:latin typeface="Carlito"/>
              </a:rPr>
              <a:t/>
            </a:r>
            <a:r>
              <a:rPr sz="900" b="1">
                <a:solidFill>
                  <a:srgbClr val="FFFFFF"/>
                </a:solidFill>
                <a:latin typeface="Carlito"/>
              </a:rPr>
              <a:t>méthode retenue</a:t>
            </a:r>
          </a:p>
        </p:txBody>
      </p:sp>
      <p:sp>
        <p:nvSpPr>
          <p:cNvPr id="20" name="Rectangle 19"/>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22192"/>
            <a:ext cx="8183879" cy="8595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G_H = moyenne[min(T_reference,H)] / moyenne[min(T_methode,H)]</a:t>
            </a:r>
          </a:p>
        </p:txBody>
      </p:sp>
      <p:sp>
        <p:nvSpPr>
          <p:cNvPr id="22" name="TextBox 2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Variance d'une moyenne corrélée</a:t>
            </a:r>
          </a:p>
        </p:txBody>
      </p:sp>
      <p:sp>
        <p:nvSpPr>
          <p:cNvPr id="4" name="Rectangle 3"/>
          <p:cNvSpPr/>
          <p:nvPr/>
        </p:nvSpPr>
        <p:spPr>
          <a:xfrm>
            <a:off x="8046719" y="64008"/>
            <a:ext cx="82296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1 — Dériver le plafond de la moyenne</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 7.</a:t>
            </a:r>
            <a:r>
              <a:rPr sz="1000" b="0">
                <a:solidFill>
                  <a:srgbClr val="2C3E50"/>
                </a:solidFill>
                <a:latin typeface="Carlito"/>
              </a:rPr>
              <a:t> Considérer K signaux de même variance </a:t>
            </a:r>
            <a:r>
              <a:rPr sz="1000" b="0">
                <a:solidFill>
                  <a:srgbClr val="2C3E50"/>
                </a:solidFill>
                <a:latin typeface="Carlito"/>
              </a:rPr>
              <a:t>, avec une corrélation commune </a:t>
            </a:r>
            <a:r>
              <a:rPr sz="1000" b="0">
                <a:solidFill>
                  <a:srgbClr val="2C3E50"/>
                </a:solidFill>
                <a:latin typeface="Carlito"/>
              </a:rPr>
              <a:t> strictement comprise entre zéro et un.</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La variance de leur somme comporte K variances individuelles et K(K-1) covariances. Diviser par K au calcul de la moyenne divise sa variance par K au carré.</a:t>
            </a:r>
          </a:p>
        </p:txBody>
      </p:sp>
      <p:sp>
        <p:nvSpPr>
          <p:cNvPr id="12" name="TextBox 11"/>
          <p:cNvSpPr txBox="1"/>
          <p:nvPr/>
        </p:nvSpPr>
        <p:spPr>
          <a:xfrm>
            <a:off x="402336" y="211124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Définir le </a:t>
            </a:r>
            <a:r>
              <a:rPr sz="1000" i="1">
                <a:solidFill>
                  <a:srgbClr val="2C3E50"/>
                </a:solidFill>
                <a:latin typeface="Carlito"/>
              </a:rPr>
              <a:t>nombre indépendant équivalent</a:t>
            </a:r>
            <a:r>
              <a:rPr sz="1000" b="0">
                <a:solidFill>
                  <a:srgbClr val="2C3E50"/>
                </a:solidFill>
                <a:latin typeface="Carlito"/>
              </a:rPr>
              <a:t> </a:t>
            </a:r>
            <a:r>
              <a:rPr sz="1000" b="0">
                <a:solidFill>
                  <a:srgbClr val="2C3E50"/>
                </a:solidFill>
                <a:latin typeface="Carlito"/>
              </a:rPr>
              <a:t> en égalant cette variance à celle d'une moyenne de signaux indépendants de même variance.</a:t>
            </a:r>
          </a:p>
        </p:txBody>
      </p:sp>
      <p:sp>
        <p:nvSpPr>
          <p:cNvPr id="13" name="TextBox 12"/>
          <p:cNvSpPr txBox="1"/>
          <p:nvPr/>
        </p:nvSpPr>
        <p:spPr>
          <a:xfrm>
            <a:off x="402336" y="250393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Le rapport des écarts-types, signal individuel / moyenne, vaut la racine de K_eff. Quand K augmente sans limite, on retrouve les plafonds 3,85 et 1,96 pour rho proche de 0,26.</a:t>
            </a:r>
          </a:p>
        </p:txBody>
      </p:sp>
      <p:sp>
        <p:nvSpPr>
          <p:cNvPr id="14" name="Rectangle 13"/>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6" name="TextBox 15"/>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Var(m) = s²[ρ + (1-ρ)/K]</a:t>
            </a:r>
          </a:p>
          <a:p>
            <a:pPr algn="l">
              <a:lnSpc>
                <a:spcPts val="1035"/>
              </a:lnSpc>
              <a:spcAft>
                <a:spcPts val="0"/>
              </a:spcAft>
            </a:pPr>
          </a:p>
          <a:p>
            <a:pPr algn="l">
              <a:lnSpc>
                <a:spcPts val="1035"/>
              </a:lnSpc>
              <a:spcAft>
                <a:spcPts val="0"/>
              </a:spcAft>
            </a:pPr>
            <a:r>
              <a:rPr sz="900" b="0">
                <a:solidFill>
                  <a:srgbClr val="2D3748"/>
                </a:solidFill>
                <a:latin typeface="Carlito"/>
              </a:rPr>
              <a:t>K_eff = K/[1+(K-1)ρ]</a:t>
            </a:r>
          </a:p>
          <a:p>
            <a:pPr algn="l">
              <a:lnSpc>
                <a:spcPts val="1035"/>
              </a:lnSpc>
              <a:spcAft>
                <a:spcPts val="0"/>
              </a:spcAft>
            </a:pPr>
          </a:p>
          <a:p>
            <a:pPr algn="l">
              <a:lnSpc>
                <a:spcPts val="1035"/>
              </a:lnSpc>
              <a:spcAft>
                <a:spcPts val="0"/>
              </a:spcAft>
            </a:pPr>
            <a:r>
              <a:rPr sz="900" b="0">
                <a:solidFill>
                  <a:srgbClr val="2D3748"/>
                </a:solidFill>
                <a:latin typeface="Carlito"/>
              </a:rPr>
              <a:t>lim K_eff = 1/ρ</a:t>
            </a:r>
          </a:p>
          <a:p>
            <a:pPr algn="l">
              <a:lnSpc>
                <a:spcPts val="1035"/>
              </a:lnSpc>
              <a:spcAft>
                <a:spcPts val="0"/>
              </a:spcAft>
            </a:pPr>
            <a:r>
              <a:rPr sz="900" b="0">
                <a:solidFill>
                  <a:srgbClr val="2D3748"/>
                </a:solidFill>
                <a:latin typeface="Carlito"/>
              </a:rPr>
              <a:t>lim gain = 1/√ρ</a:t>
            </a:r>
          </a:p>
          <a:p>
            <a:pPr algn="l">
              <a:lnSpc>
                <a:spcPts val="1035"/>
              </a:lnSpc>
              <a:spcAft>
                <a:spcPts val="0"/>
              </a:spcAft>
            </a:pPr>
          </a:p>
          <a:p>
            <a:pPr algn="l">
              <a:lnSpc>
                <a:spcPts val="1035"/>
              </a:lnSpc>
              <a:spcAft>
                <a:spcPts val="0"/>
              </a:spcAft>
            </a:pPr>
            <a:r>
              <a:rPr sz="900" b="0">
                <a:solidFill>
                  <a:srgbClr val="2D3748"/>
                </a:solidFill>
                <a:latin typeface="Carlito"/>
              </a:rPr>
              <a:t>ρ ≈ 0,26 → 1,96</a:t>
            </a:r>
          </a:p>
        </p:txBody>
      </p:sp>
      <p:sp>
        <p:nvSpPr>
          <p:cNvPr id="17" name="Rectangle 16"/>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Var(m) = [K*s^2 + K*(K-1)*rho*s^2]/K^2 = s^2*[rho + (1-rho)/K]</a:t>
            </a:r>
          </a:p>
        </p:txBody>
      </p:sp>
      <p:sp>
        <p:nvSpPr>
          <p:cNvPr id="19" name="TextBox 18"/>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K_eff = K/[1+(K-1)*rho] ; limite(K_eff) = 1/rho ; limite(gain_ecart_type) = 1/sqrt(rho)</a:t>
            </a:r>
          </a:p>
        </p:txBody>
      </p:sp>
      <p:sp>
        <p:nvSpPr>
          <p:cNvPr id="20" name="TextBox 19"/>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Information par axe et perte par projection</a:t>
            </a:r>
          </a:p>
        </p:txBody>
      </p:sp>
      <p:sp>
        <p:nvSpPr>
          <p:cNvPr id="4" name="Rectangle 3"/>
          <p:cNvSpPr/>
          <p:nvPr/>
        </p:nvSpPr>
        <p:spPr>
          <a:xfrm>
            <a:off x="8046719" y="64008"/>
            <a:ext cx="82296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2 — La KL d'un déplacement gaussien</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diapositives 11 et 17.</a:t>
            </a:r>
            <a:r>
              <a:rPr sz="1000" b="0">
                <a:solidFill>
                  <a:srgbClr val="2C3E50"/>
                </a:solidFill>
                <a:latin typeface="Carlito"/>
              </a:rPr>
              <a:t> Avant le changement, le vecteur r suit une loi gaussienne de moyenne nulle et de covariance Sigma ; après, sa moyenne devient Delta. Sigma est connue, inchangée et définie positive : sa variance est positive dans toute direction non nulle.</a:t>
            </a:r>
          </a:p>
        </p:txBody>
      </p:sp>
      <p:sp>
        <p:nvSpPr>
          <p:cNvPr id="11" name="TextBox 10"/>
          <p:cNvSpPr txBox="1"/>
          <p:nvPr/>
        </p:nvSpPr>
        <p:spPr>
          <a:xfrm>
            <a:off x="402336" y="1864614"/>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Ses axes propres </a:t>
            </a:r>
            <a:r>
              <a:rPr sz="1000" b="0">
                <a:solidFill>
                  <a:srgbClr val="2C3E50"/>
                </a:solidFill>
                <a:latin typeface="Carlito"/>
              </a:rPr>
              <a:t> sont perpendiculaires et de longueur un. La projection </a:t>
            </a:r>
            <a:r>
              <a:rPr sz="1000" b="0">
                <a:solidFill>
                  <a:srgbClr val="2C3E50"/>
                </a:solidFill>
                <a:latin typeface="Carlito"/>
              </a:rPr>
              <a:t> a variance </a:t>
            </a:r>
            <a:r>
              <a:rPr sz="1000" b="0">
                <a:solidFill>
                  <a:srgbClr val="2C3E50"/>
                </a:solidFill>
                <a:latin typeface="Carlito"/>
              </a:rPr>
              <a:t> et déplacement </a:t>
            </a:r>
            <a:r>
              <a:rPr sz="1000" b="0">
                <a:solidFill>
                  <a:srgbClr val="2C3E50"/>
                </a:solidFill>
                <a:latin typeface="Carlito"/>
              </a:rPr>
              <a:t>.</a:t>
            </a:r>
          </a:p>
        </p:txBody>
      </p:sp>
      <p:sp>
        <p:nvSpPr>
          <p:cNvPr id="12" name="TextBox 11"/>
          <p:cNvSpPr txBox="1"/>
          <p:nvPr/>
        </p:nvSpPr>
        <p:spPr>
          <a:xfrm>
            <a:off x="402336" y="225729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Soustraire les logarithmes des densités après et avant changement donne le log-rapport ci-dessous. Son espérance après changement, où la moyenne de y_k vaut delta_k, donne I_k.</a:t>
            </a:r>
          </a:p>
        </p:txBody>
      </p:sp>
      <p:sp>
        <p:nvSpPr>
          <p:cNvPr id="13" name="TextBox 12"/>
          <p:cNvSpPr txBox="1"/>
          <p:nvPr/>
        </p:nvSpPr>
        <p:spPr>
          <a:xfrm>
            <a:off x="402336" y="264998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Dans cette base propre et sous ce modèle gaussien, les projections sont indépendantes. Le log-rapport conjoint est une somme : les informations s'ajoutent.</a:t>
            </a:r>
          </a:p>
        </p:txBody>
      </p:sp>
      <p:sp>
        <p:nvSpPr>
          <p:cNvPr id="14" name="TextBox 13"/>
          <p:cNvSpPr txBox="1"/>
          <p:nvPr/>
        </p:nvSpPr>
        <p:spPr>
          <a:xfrm>
            <a:off x="402336" y="3042666"/>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une transformation quelconque des mêmes observations, la décomposition de KL en information conservée et information conditionnelle perdue donne l'inégalité de </a:t>
            </a:r>
            <a:r>
              <a:rPr sz="1000" b="0">
                <a:solidFill>
                  <a:srgbClr val="2C3E50"/>
                </a:solidFill>
                <a:latin typeface="Carlito"/>
                <a:hlinkClick r:id="rId2"/>
              </a:rPr>
              <a:t>Cover et Thomas (2006)</a:t>
            </a:r>
            <a:r>
              <a:rPr sz="1000" b="0">
                <a:solidFill>
                  <a:srgbClr val="2C3E50"/>
                </a:solidFill>
                <a:latin typeface="Carlito"/>
              </a:rPr>
              <a:t>, puisque le terme perdu est positif ou nul.</a:t>
            </a:r>
          </a:p>
        </p:txBody>
      </p:sp>
      <p:sp>
        <p:nvSpPr>
          <p:cNvPr id="15" name="Rectangle 14"/>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7" name="TextBox 16"/>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I_k = δ_k²/(2λ_k)</a:t>
            </a:r>
          </a:p>
          <a:p>
            <a:pPr algn="l">
              <a:lnSpc>
                <a:spcPts val="1035"/>
              </a:lnSpc>
              <a:spcAft>
                <a:spcPts val="0"/>
              </a:spcAft>
            </a:pPr>
          </a:p>
          <a:p>
            <a:pPr algn="l">
              <a:lnSpc>
                <a:spcPts val="1035"/>
              </a:lnSpc>
              <a:spcAft>
                <a:spcPts val="0"/>
              </a:spcAft>
            </a:pPr>
            <a:r>
              <a:rPr sz="900" b="0">
                <a:solidFill>
                  <a:srgbClr val="2D3748"/>
                </a:solidFill>
                <a:latin typeface="Carlito"/>
              </a:rPr>
              <a:t>I(d) = Σ I_k</a:t>
            </a:r>
          </a:p>
          <a:p>
            <a:pPr algn="l">
              <a:lnSpc>
                <a:spcPts val="1035"/>
              </a:lnSpc>
              <a:spcAft>
                <a:spcPts val="0"/>
              </a:spcAft>
            </a:pPr>
          </a:p>
          <a:p>
            <a:pPr algn="l">
              <a:lnSpc>
                <a:spcPts val="1035"/>
              </a:lnSpc>
              <a:spcAft>
                <a:spcPts val="0"/>
              </a:spcAft>
            </a:pPr>
            <a:r>
              <a:rPr sz="900" b="0">
                <a:solidFill>
                  <a:srgbClr val="2D3748"/>
                </a:solidFill>
                <a:latin typeface="Carlito"/>
              </a:rPr>
              <a:t>KL(P₁,P₀) ≥ KL(P₁_Z,P₀_Z)</a:t>
            </a:r>
          </a:p>
          <a:p>
            <a:pPr algn="l">
              <a:lnSpc>
                <a:spcPts val="1035"/>
              </a:lnSpc>
              <a:spcAft>
                <a:spcPts val="0"/>
              </a:spcAft>
            </a:pPr>
            <a:r>
              <a:rPr sz="900" b="0">
                <a:solidFill>
                  <a:srgbClr val="2D3748"/>
                </a:solidFill>
                <a:latin typeface="Carlito"/>
              </a:rPr>
              <a:t>(DPI)</a:t>
            </a:r>
          </a:p>
        </p:txBody>
      </p:sp>
      <p:sp>
        <p:nvSpPr>
          <p:cNvPr id="18" name="Rectangle 1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y_k = v_k' * r ; delta_k = v_k' * Delta ; ell_k = delta_k*y_k/lambda_k - delta_k^2/(2*lambda_k)</a:t>
            </a:r>
          </a:p>
        </p:txBody>
      </p:sp>
      <p:sp>
        <p:nvSpPr>
          <p:cNvPr id="20" name="TextBox 19"/>
          <p:cNvSpPr txBox="1"/>
          <p:nvPr/>
        </p:nvSpPr>
        <p:spPr>
          <a:xfrm>
            <a:off x="457200" y="41269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I_k = E_apres[ell_k] = delta_k^2/(2*lambda_k) ; I(d) = somme(k=1..d, I_k)</a:t>
            </a:r>
          </a:p>
        </p:txBody>
      </p:sp>
      <p:sp>
        <p:nvSpPr>
          <p:cNvPr id="21" name="TextBox 20"/>
          <p:cNvSpPr txBox="1"/>
          <p:nvPr/>
        </p:nvSpPr>
        <p:spPr>
          <a:xfrm>
            <a:off x="457200" y="44317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KL(P1_X,P0_X) = KL(P1_Z,P0_Z) + E_P1_Z[KL(P1_X_sachant_Z,P0_X_sachant_Z)] &gt;= KL(P1_Z,P0_Z)</a:t>
            </a:r>
          </a:p>
        </p:txBody>
      </p:sp>
      <p:sp>
        <p:nvSpPr>
          <p:cNvPr id="22" name="TextBox 2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Le potentiel lié à la volatilité</a:t>
            </a:r>
          </a:p>
        </p:txBody>
      </p:sp>
      <p:sp>
        <p:nvSpPr>
          <p:cNvPr id="4" name="Rectangle 3"/>
          <p:cNvSpPr/>
          <p:nvPr/>
        </p:nvSpPr>
        <p:spPr>
          <a:xfrm>
            <a:off x="8046719" y="64008"/>
            <a:ext cx="82296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3 — Comparer une information conditionnelle à une référence statique</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 15.</a:t>
            </a:r>
            <a:r>
              <a:rPr sz="1000" b="0">
                <a:solidFill>
                  <a:srgbClr val="2C3E50"/>
                </a:solidFill>
                <a:latin typeface="Carlito"/>
              </a:rPr>
              <a:t> Supposer un déplacement de moyenne fixe Delta et une covariance conditionnelle </a:t>
            </a:r>
            <a:r>
              <a:rPr sz="1000" b="0">
                <a:solidFill>
                  <a:srgbClr val="2C3E50"/>
                </a:solidFill>
                <a:latin typeface="Carlito"/>
              </a:rPr>
              <a:t>. Sigma_0 est une matrice de forme constante, définie positive ; sigma est une échelle quotidienne strictement positive.</a:t>
            </a:r>
          </a:p>
        </p:txBody>
      </p:sp>
      <p:sp>
        <p:nvSpPr>
          <p:cNvPr id="11" name="TextBox 10"/>
          <p:cNvSpPr txBox="1"/>
          <p:nvPr/>
        </p:nvSpPr>
        <p:spPr>
          <a:xfrm>
            <a:off x="402336" y="1864614"/>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Par le calcul gaussien de l'annexe 2, connaître sigma donne l'information </a:t>
            </a:r>
            <a:r>
              <a:rPr sz="1000" b="0">
                <a:solidFill>
                  <a:srgbClr val="2C3E50"/>
                </a:solidFill>
                <a:latin typeface="Carlito"/>
              </a:rPr>
              <a:t>, où A rassemble les termes constants. Sa moyenne vaut A multiplié par la moyenne de l'inverse de sigma au carré.</a:t>
            </a:r>
          </a:p>
        </p:txBody>
      </p:sp>
      <p:sp>
        <p:nvSpPr>
          <p:cNvPr id="12" name="TextBox 11"/>
          <p:cNvSpPr txBox="1"/>
          <p:nvPr/>
        </p:nvSpPr>
        <p:spPr>
          <a:xfrm>
            <a:off x="402336" y="225729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Remplacer la covariance par sa moyenne dans une </a:t>
            </a:r>
            <a:r>
              <a:rPr sz="1000" i="1">
                <a:solidFill>
                  <a:srgbClr val="2C3E50"/>
                </a:solidFill>
                <a:latin typeface="Carlito"/>
              </a:rPr>
              <a:t>référence gaussienne statique</a:t>
            </a:r>
            <a:r>
              <a:rPr sz="1000" b="0">
                <a:solidFill>
                  <a:srgbClr val="2C3E50"/>
                </a:solidFill>
                <a:latin typeface="Carlito"/>
              </a:rPr>
              <a:t> donne A divisé par la moyenne de sigma au carré. Le quotient des deux expressions est eta.</a:t>
            </a:r>
          </a:p>
        </p:txBody>
      </p:sp>
      <p:sp>
        <p:nvSpPr>
          <p:cNvPr id="13" name="TextBox 12"/>
          <p:cNvSpPr txBox="1"/>
          <p:nvPr/>
        </p:nvSpPr>
        <p:spPr>
          <a:xfrm>
            <a:off x="402336" y="264998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L'inégalité de Cauchy–Schwarz, appliquée à sigma et à son inverse, montre que ce produit est au moins égal à un.</a:t>
            </a:r>
          </a:p>
        </p:txBody>
      </p:sp>
      <p:sp>
        <p:nvSpPr>
          <p:cNvPr id="14" name="TextBox 13"/>
          <p:cNvSpPr txBox="1"/>
          <p:nvPr/>
        </p:nvSpPr>
        <p:spPr>
          <a:xfrm>
            <a:off x="402336" y="3042666"/>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Les estimations 1,97 et 2,00 présentées dans le corps décrivent ce quotient. Elles ne mesurent ni un délai, ni la KL de la vraie loi marginale lorsque la volatilité est mélangée.</a:t>
            </a:r>
          </a:p>
        </p:txBody>
      </p:sp>
      <p:sp>
        <p:nvSpPr>
          <p:cNvPr id="15" name="Rectangle 14"/>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7" name="TextBox 16"/>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I_cond = A·E[1/σ²]</a:t>
            </a:r>
          </a:p>
          <a:p>
            <a:pPr algn="l">
              <a:lnSpc>
                <a:spcPts val="1035"/>
              </a:lnSpc>
              <a:spcAft>
                <a:spcPts val="0"/>
              </a:spcAft>
            </a:pPr>
            <a:r>
              <a:rPr sz="900" b="0">
                <a:solidFill>
                  <a:srgbClr val="2D3748"/>
                </a:solidFill>
                <a:latin typeface="Carlito"/>
              </a:rPr>
              <a:t>I_ref  = A/E[σ²]</a:t>
            </a:r>
          </a:p>
          <a:p>
            <a:pPr algn="l">
              <a:lnSpc>
                <a:spcPts val="1035"/>
              </a:lnSpc>
              <a:spcAft>
                <a:spcPts val="0"/>
              </a:spcAft>
            </a:pPr>
          </a:p>
          <a:p>
            <a:pPr algn="l">
              <a:lnSpc>
                <a:spcPts val="1035"/>
              </a:lnSpc>
              <a:spcAft>
                <a:spcPts val="0"/>
              </a:spcAft>
            </a:pPr>
            <a:r>
              <a:rPr sz="900" b="0">
                <a:solidFill>
                  <a:srgbClr val="2D3748"/>
                </a:solidFill>
                <a:latin typeface="Carlito"/>
              </a:rPr>
              <a:t>η = E[σ²]·E[1/σ²] ≥ 1</a:t>
            </a:r>
          </a:p>
          <a:p>
            <a:pPr algn="l">
              <a:lnSpc>
                <a:spcPts val="1035"/>
              </a:lnSpc>
              <a:spcAft>
                <a:spcPts val="0"/>
              </a:spcAft>
            </a:pPr>
            <a:r>
              <a:rPr sz="900" b="0">
                <a:solidFill>
                  <a:srgbClr val="2D3748"/>
                </a:solidFill>
                <a:latin typeface="Carlito"/>
              </a:rPr>
              <a:t>(Cauchy-Schwarz)</a:t>
            </a:r>
          </a:p>
          <a:p>
            <a:pPr algn="l">
              <a:lnSpc>
                <a:spcPts val="1035"/>
              </a:lnSpc>
              <a:spcAft>
                <a:spcPts val="0"/>
              </a:spcAft>
            </a:pPr>
          </a:p>
          <a:p>
            <a:pPr algn="l">
              <a:lnSpc>
                <a:spcPts val="1035"/>
              </a:lnSpc>
              <a:spcAft>
                <a:spcPts val="0"/>
              </a:spcAft>
            </a:pPr>
            <a:r>
              <a:rPr sz="900" b="0">
                <a:solidFill>
                  <a:srgbClr val="2D3748"/>
                </a:solidFill>
                <a:latin typeface="Carlito"/>
              </a:rPr>
              <a:t>estimations : 1,97 et 2,00</a:t>
            </a:r>
          </a:p>
        </p:txBody>
      </p:sp>
      <p:sp>
        <p:nvSpPr>
          <p:cNvPr id="18" name="Rectangle 1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A = Delta' * Sigma_0^(-1) * Delta / 2 ; I_conditionnelle = A*E[1/sigma^2] ; I_reference = A/E[sigma^2]</a:t>
            </a:r>
          </a:p>
        </p:txBody>
      </p:sp>
      <p:sp>
        <p:nvSpPr>
          <p:cNvPr id="20" name="TextBox 19"/>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eta = I_conditionnelle/I_reference = E[sigma^2]*E[1/sigma^2] &gt;= (E[sigma*(1/sigma)])^2 = 1</a:t>
            </a:r>
          </a:p>
        </p:txBody>
      </p:sp>
      <p:sp>
        <p:nvSpPr>
          <p:cNvPr id="21" name="TextBox 20"/>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Intégrer un mélange de directions</a:t>
            </a:r>
          </a:p>
        </p:txBody>
      </p:sp>
      <p:sp>
        <p:nvSpPr>
          <p:cNvPr id="4" name="Rectangle 3"/>
          <p:cNvSpPr/>
          <p:nvPr/>
        </p:nvSpPr>
        <p:spPr>
          <a:xfrm>
            <a:off x="8046719" y="64008"/>
            <a:ext cx="82296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4 — Calcul exact de la preuve mélangée</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 16.</a:t>
            </a:r>
            <a:r>
              <a:rPr sz="1000" b="0">
                <a:solidFill>
                  <a:srgbClr val="2C3E50"/>
                </a:solidFill>
                <a:latin typeface="Carlito"/>
              </a:rPr>
              <a:t> Les observations z_t sont des vecteurs gaussiens indépendants de dimension d, de covariance identité. Leur moyenne est nulle avant le changement, puis vaut theta.</a:t>
            </a:r>
          </a:p>
        </p:txBody>
      </p:sp>
      <p:sp>
        <p:nvSpPr>
          <p:cNvPr id="11" name="TextBox 10"/>
          <p:cNvSpPr txBox="1"/>
          <p:nvPr/>
        </p:nvSpPr>
        <p:spPr>
          <a:xfrm>
            <a:off x="402336" y="1718563"/>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Définir S_n comme la somme des n observations depuis le changement. Pour une moyenne candidate u, le rapport de vraisemblance, densité alternative divisée par densité de référence, vaut l'exponentielle ci-dessous.</a:t>
            </a:r>
          </a:p>
        </p:txBody>
      </p:sp>
      <p:sp>
        <p:nvSpPr>
          <p:cNvPr id="12" name="TextBox 11"/>
          <p:cNvSpPr txBox="1"/>
          <p:nvPr/>
        </p:nvSpPr>
        <p:spPr>
          <a:xfrm>
            <a:off x="402336" y="225729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Mélanger les candidats selon une loi gaussienne de moyenne nulle et de covariance </a:t>
            </a:r>
            <a:r>
              <a:rPr sz="1000" b="0">
                <a:solidFill>
                  <a:srgbClr val="2C3E50"/>
                </a:solidFill>
                <a:latin typeface="Carlito"/>
              </a:rPr>
              <a:t>, où Id est la matrice identité et s une largeur positive fixée.</a:t>
            </a:r>
          </a:p>
        </p:txBody>
      </p:sp>
      <p:sp>
        <p:nvSpPr>
          <p:cNvPr id="13" name="TextBox 12"/>
          <p:cNvSpPr txBox="1"/>
          <p:nvPr/>
        </p:nvSpPr>
        <p:spPr>
          <a:xfrm>
            <a:off x="402336" y="2649982"/>
            <a:ext cx="5303520" cy="2009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Multiplier par la densité du candidat, puis compléter le carré en u. Poser </a:t>
            </a:r>
            <a:r>
              <a:rPr sz="1000" b="0">
                <a:solidFill>
                  <a:srgbClr val="2C3E50"/>
                </a:solidFill>
                <a:latin typeface="Carlito"/>
              </a:rPr>
              <a:t>.</a:t>
            </a:r>
          </a:p>
        </p:txBody>
      </p:sp>
      <p:sp>
        <p:nvSpPr>
          <p:cNvPr id="14" name="TextBox 13"/>
          <p:cNvSpPr txBox="1"/>
          <p:nvPr/>
        </p:nvSpPr>
        <p:spPr>
          <a:xfrm>
            <a:off x="402336" y="2896616"/>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L'intégrale du terme gaussien centré vaut </a:t>
            </a:r>
            <a:r>
              <a:rPr sz="1000" b="0">
                <a:solidFill>
                  <a:srgbClr val="2C3E50"/>
                </a:solidFill>
                <a:latin typeface="Carlito"/>
              </a:rPr>
              <a:t>. Le produit avec la constante de densité du mélange donne le facteur de dimension annoncé.</a:t>
            </a:r>
          </a:p>
        </p:txBody>
      </p:sp>
      <p:sp>
        <p:nvSpPr>
          <p:cNvPr id="15" name="Rectangle 14"/>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7" name="TextBox 16"/>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L_n = ∫ exp(u'S_n - n‖u‖²/2) dΠ(u)</a:t>
            </a:r>
          </a:p>
          <a:p>
            <a:pPr algn="l">
              <a:lnSpc>
                <a:spcPts val="1035"/>
              </a:lnSpc>
              <a:spcAft>
                <a:spcPts val="0"/>
              </a:spcAft>
            </a:pPr>
          </a:p>
          <a:p>
            <a:pPr algn="l">
              <a:lnSpc>
                <a:spcPts val="1035"/>
              </a:lnSpc>
              <a:spcAft>
                <a:spcPts val="0"/>
              </a:spcAft>
            </a:pPr>
            <a:r>
              <a:rPr sz="900" b="0">
                <a:solidFill>
                  <a:srgbClr val="2D3748"/>
                </a:solidFill>
                <a:latin typeface="Carlito"/>
              </a:rPr>
              <a:t>complétion du carré</a:t>
            </a:r>
          </a:p>
          <a:p>
            <a:pPr algn="l">
              <a:lnSpc>
                <a:spcPts val="1035"/>
              </a:lnSpc>
              <a:spcAft>
                <a:spcPts val="0"/>
              </a:spcAft>
            </a:pPr>
            <a:r>
              <a:rPr sz="900" b="0">
                <a:solidFill>
                  <a:srgbClr val="2D3748"/>
                </a:solidFill>
                <a:latin typeface="Carlito"/>
              </a:rPr>
              <a:t>intégrale gaussienne</a:t>
            </a:r>
          </a:p>
          <a:p>
            <a:pPr algn="l">
              <a:lnSpc>
                <a:spcPts val="1035"/>
              </a:lnSpc>
              <a:spcAft>
                <a:spcPts val="0"/>
              </a:spcAft>
            </a:pPr>
          </a:p>
          <a:p>
            <a:pPr algn="l">
              <a:lnSpc>
                <a:spcPts val="1035"/>
              </a:lnSpc>
              <a:spcAft>
                <a:spcPts val="0"/>
              </a:spcAft>
            </a:pPr>
            <a:r>
              <a:rPr sz="900" b="0">
                <a:solidFill>
                  <a:srgbClr val="2D3748"/>
                </a:solidFill>
                <a:latin typeface="Carlito"/>
              </a:rPr>
              <a:t>facteur (1+ns²)^(-d/2)</a:t>
            </a:r>
          </a:p>
        </p:txBody>
      </p:sp>
      <p:sp>
        <p:nvSpPr>
          <p:cNvPr id="18" name="Rectangle 1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S_n = somme(t=1..n, z_t) ; L_n = integrale exp(u'*S_n - n*norme(u)^2/2) dPi(u)</a:t>
            </a:r>
          </a:p>
        </p:txBody>
      </p:sp>
      <p:sp>
        <p:nvSpPr>
          <p:cNvPr id="20" name="TextBox 19"/>
          <p:cNvSpPr txBox="1"/>
          <p:nvPr/>
        </p:nvSpPr>
        <p:spPr>
          <a:xfrm>
            <a:off x="457200" y="41269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u'*S_n - a*norme(u)^2/2 = -a*norme(u-S_n/a)^2/2 + norme(S_n)^2/(2*a)</a:t>
            </a:r>
          </a:p>
        </p:txBody>
      </p:sp>
      <p:sp>
        <p:nvSpPr>
          <p:cNvPr id="21" name="TextBox 20"/>
          <p:cNvSpPr txBox="1"/>
          <p:nvPr/>
        </p:nvSpPr>
        <p:spPr>
          <a:xfrm>
            <a:off x="457200" y="44317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L_n = (1+n*s^2)^(-d/2) * exp[s^2*norme(S_n)^2 / (2*(1+n*s^2))]</a:t>
            </a:r>
          </a:p>
        </p:txBody>
      </p:sp>
      <p:sp>
        <p:nvSpPr>
          <p:cNvPr id="22" name="TextBox 2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Du mélange au budget</a:t>
            </a:r>
          </a:p>
        </p:txBody>
      </p:sp>
      <p:sp>
        <p:nvSpPr>
          <p:cNvPr id="4" name="Rectangle 3"/>
          <p:cNvSpPr/>
          <p:nvPr/>
        </p:nvSpPr>
        <p:spPr>
          <a:xfrm>
            <a:off x="8046719" y="64008"/>
            <a:ext cx="82296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5 — Dériver les coûts 1,57 et 9,64</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 16.</a:t>
            </a:r>
            <a:r>
              <a:rPr sz="1000" b="0">
                <a:solidFill>
                  <a:srgbClr val="2C3E50"/>
                </a:solidFill>
                <a:latin typeface="Carlito"/>
              </a:rPr>
              <a:t> Définir l'information quotidienne </a:t>
            </a:r>
            <a:r>
              <a:rPr sz="1000" b="0">
                <a:solidFill>
                  <a:srgbClr val="2C3E50"/>
                </a:solidFill>
                <a:latin typeface="Carlito"/>
              </a:rPr>
              <a:t> et l'information accumulée </a:t>
            </a:r>
            <a:r>
              <a:rPr sz="1000" b="0">
                <a:solidFill>
                  <a:srgbClr val="2C3E50"/>
                </a:solidFill>
                <a:latin typeface="Carlito"/>
              </a:rPr>
              <a:t>.</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Sous le changement, S_n a moyenne n*theta et covariance n fois l'identité. L'espérance de sa norme au carré est la norme de sa moyenne au carré, plus la somme des variances.</a:t>
            </a:r>
          </a:p>
        </p:txBody>
      </p:sp>
      <p:sp>
        <p:nvSpPr>
          <p:cNvPr id="12" name="TextBox 11"/>
          <p:cNvSpPr txBox="1"/>
          <p:nvPr/>
        </p:nvSpPr>
        <p:spPr>
          <a:xfrm>
            <a:off x="402336" y="211124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Dans l'expression de l'annexe 4, choisir la largeur idéale </a:t>
            </a:r>
            <a:r>
              <a:rPr sz="1000" b="0">
                <a:solidFill>
                  <a:srgbClr val="2C3E50"/>
                </a:solidFill>
                <a:latin typeface="Carlito"/>
              </a:rPr>
              <a:t>. Le terme quadratique moyen se simplifie exactement en x.</a:t>
            </a:r>
          </a:p>
        </p:txBody>
      </p:sp>
      <p:sp>
        <p:nvSpPr>
          <p:cNvPr id="13" name="TextBox 12"/>
          <p:cNvSpPr txBox="1"/>
          <p:nvPr/>
        </p:nvSpPr>
        <p:spPr>
          <a:xfrm>
            <a:off x="402336" y="250393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Poser </a:t>
            </a:r>
            <a:r>
              <a:rPr sz="1000" b="0">
                <a:solidFill>
                  <a:srgbClr val="2C3E50"/>
                </a:solidFill>
                <a:latin typeface="Carlito"/>
              </a:rPr>
              <a:t>, où gamma est le seuil de preuve. Résoudre l'équation de l'espérance définit x_d ; ce n'est pas calculer un temps moyen de premier franchissement.</a:t>
            </a:r>
          </a:p>
        </p:txBody>
      </p:sp>
      <p:sp>
        <p:nvSpPr>
          <p:cNvPr id="14" name="TextBox 13"/>
          <p:cNvSpPr txBox="1"/>
          <p:nvPr/>
        </p:nvSpPr>
        <p:spPr>
          <a:xfrm>
            <a:off x="402336" y="2896616"/>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À gamma = 504, les multiplicateurs </a:t>
            </a:r>
            <a:r>
              <a:rPr sz="1000" b="0">
                <a:solidFill>
                  <a:srgbClr val="2C3E50"/>
                </a:solidFill>
                <a:latin typeface="Carlito"/>
              </a:rPr>
              <a:t> sont 1,56958 pour d = 4 et 9,64266 pour d = 500. Comparer les budgets en jours donne la condition de rétention </a:t>
            </a:r>
            <a:r>
              <a:rPr sz="1000" i="1">
                <a:solidFill>
                  <a:srgbClr val="2C3E50"/>
                </a:solidFill>
                <a:latin typeface="Carlito"/>
              </a:rPr>
              <a:t>supérieure à 16,3 %</a:t>
            </a:r>
            <a:r>
              <a:rPr sz="1000" b="0">
                <a:solidFill>
                  <a:srgbClr val="2C3E50"/>
                </a:solidFill>
                <a:latin typeface="Carlito"/>
              </a:rPr>
              <a:t>, déjà présentée.</a:t>
            </a:r>
          </a:p>
        </p:txBody>
      </p:sp>
      <p:sp>
        <p:nvSpPr>
          <p:cNvPr id="15" name="Rectangle 14"/>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7" name="TextBox 16"/>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E[ln L_n] = x - (d/2)ln(1+2x/d)</a:t>
            </a:r>
          </a:p>
          <a:p>
            <a:pPr algn="l">
              <a:lnSpc>
                <a:spcPts val="1035"/>
              </a:lnSpc>
              <a:spcAft>
                <a:spcPts val="0"/>
              </a:spcAft>
            </a:pPr>
          </a:p>
          <a:p>
            <a:pPr algn="l">
              <a:lnSpc>
                <a:spcPts val="1035"/>
              </a:lnSpc>
              <a:spcAft>
                <a:spcPts val="0"/>
              </a:spcAft>
            </a:pPr>
            <a:r>
              <a:rPr sz="900" b="0">
                <a:solidFill>
                  <a:srgbClr val="2D3748"/>
                </a:solidFill>
                <a:latin typeface="Carlito"/>
              </a:rPr>
              <a:t>x_d - (d/2)ln(1+2x_d/d) = A</a:t>
            </a:r>
          </a:p>
          <a:p>
            <a:pPr algn="l">
              <a:lnSpc>
                <a:spcPts val="1035"/>
              </a:lnSpc>
              <a:spcAft>
                <a:spcPts val="0"/>
              </a:spcAft>
            </a:pPr>
          </a:p>
          <a:p>
            <a:pPr algn="l">
              <a:lnSpc>
                <a:spcPts val="1035"/>
              </a:lnSpc>
              <a:spcAft>
                <a:spcPts val="0"/>
              </a:spcAft>
            </a:pPr>
            <a:r>
              <a:rPr sz="900" b="0">
                <a:solidFill>
                  <a:srgbClr val="2D3748"/>
                </a:solidFill>
                <a:latin typeface="Carlito"/>
              </a:rPr>
              <a:t>d=4:  x/A = 1,57</a:t>
            </a:r>
          </a:p>
          <a:p>
            <a:pPr algn="l">
              <a:lnSpc>
                <a:spcPts val="1035"/>
              </a:lnSpc>
              <a:spcAft>
                <a:spcPts val="0"/>
              </a:spcAft>
            </a:pPr>
            <a:r>
              <a:rPr sz="900" b="0">
                <a:solidFill>
                  <a:srgbClr val="2D3748"/>
                </a:solidFill>
                <a:latin typeface="Carlito"/>
              </a:rPr>
              <a:t>d=500: x/A = 9,64</a:t>
            </a:r>
          </a:p>
          <a:p>
            <a:pPr algn="l">
              <a:lnSpc>
                <a:spcPts val="1035"/>
              </a:lnSpc>
              <a:spcAft>
                <a:spcPts val="0"/>
              </a:spcAft>
            </a:pPr>
          </a:p>
          <a:p>
            <a:pPr algn="l">
              <a:lnSpc>
                <a:spcPts val="1035"/>
              </a:lnSpc>
              <a:spcAft>
                <a:spcPts val="0"/>
              </a:spcAft>
            </a:pPr>
            <a:r>
              <a:rPr sz="900" b="0">
                <a:solidFill>
                  <a:srgbClr val="2D3748"/>
                </a:solidFill>
                <a:latin typeface="Carlito"/>
              </a:rPr>
              <a:t>rétention &gt; 16,3 %</a:t>
            </a:r>
          </a:p>
        </p:txBody>
      </p:sp>
      <p:sp>
        <p:nvSpPr>
          <p:cNvPr id="18" name="Rectangle 1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E[norme(S_n)^2] = 2*n^2*I + n*d ; E[ln(L_n)] = -(d/2)*ln(1+n*s^2) + s^2*(2*n^2*I+n*d)/(2*(1+n*s^2))</a:t>
            </a:r>
          </a:p>
        </p:txBody>
      </p:sp>
      <p:sp>
        <p:nvSpPr>
          <p:cNvPr id="20" name="TextBox 19"/>
          <p:cNvSpPr txBox="1"/>
          <p:nvPr/>
        </p:nvSpPr>
        <p:spPr>
          <a:xfrm>
            <a:off x="457200" y="41269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E[ln(L_n)] = x - (d/2)*ln(1+2*x/d) ; x_d - (d/2)*ln(1+2*x_d/d) = A</a:t>
            </a:r>
          </a:p>
        </p:txBody>
      </p:sp>
      <p:sp>
        <p:nvSpPr>
          <p:cNvPr id="21" name="TextBox 20"/>
          <p:cNvSpPr txBox="1"/>
          <p:nvPr/>
        </p:nvSpPr>
        <p:spPr>
          <a:xfrm>
            <a:off x="457200" y="44317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x_4/I(4) &lt; x_500/I(500) si et seulement si I(4)/I(500) &gt; x_4/x_500 = 0.162775...</a:t>
            </a:r>
          </a:p>
        </p:txBody>
      </p:sp>
      <p:sp>
        <p:nvSpPr>
          <p:cNvPr id="22" name="TextBox 2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Critère de dimension optimale</a:t>
            </a:r>
          </a:p>
        </p:txBody>
      </p:sp>
      <p:sp>
        <p:nvSpPr>
          <p:cNvPr id="4" name="Rectangle 3"/>
          <p:cNvSpPr/>
          <p:nvPr/>
        </p:nvSpPr>
        <p:spPr>
          <a:xfrm>
            <a:off x="8046719" y="64008"/>
            <a:ext cx="82296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PREUVE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6 — Ce que le critère marginal démontre réellement</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 17.</a:t>
            </a:r>
            <a:r>
              <a:rPr sz="1000" b="0">
                <a:solidFill>
                  <a:srgbClr val="2C3E50"/>
                </a:solidFill>
                <a:latin typeface="Carlito"/>
              </a:rPr>
              <a:t> Fixer un ordre de N axes. Noter q_k leur contribution d'information, I(d) leur somme jusqu'à d, et C(d) un coût positif. L'efficacité V(d) est I(d)/C(d).</a:t>
            </a:r>
          </a:p>
        </p:txBody>
      </p:sp>
      <p:sp>
        <p:nvSpPr>
          <p:cNvPr id="11" name="TextBox 10"/>
          <p:cNvSpPr txBox="1"/>
          <p:nvPr/>
        </p:nvSpPr>
        <p:spPr>
          <a:xfrm>
            <a:off x="402336" y="1718563"/>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Soustraire les efficacités aux dimensions d+1 et d donne le critère marginal ci-dessous, sans hypothèse de coût affine.</a:t>
            </a:r>
          </a:p>
        </p:txBody>
      </p:sp>
      <p:sp>
        <p:nvSpPr>
          <p:cNvPr id="12" name="TextBox 11"/>
          <p:cNvSpPr txBox="1"/>
          <p:nvPr/>
        </p:nvSpPr>
        <p:spPr>
          <a:xfrm>
            <a:off x="402336" y="211124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étudier un optimum global, supposer des q_k strictement décroissants et positifs ou nuls, et un coût </a:t>
            </a:r>
            <a:r>
              <a:rPr sz="1000" b="0">
                <a:solidFill>
                  <a:srgbClr val="2C3E50"/>
                </a:solidFill>
                <a:latin typeface="Carlito"/>
              </a:rPr>
              <a:t> : a est le coût fixe, c le coût par axe, tous deux strictement positifs.</a:t>
            </a:r>
          </a:p>
        </p:txBody>
      </p:sp>
      <p:sp>
        <p:nvSpPr>
          <p:cNvPr id="13" name="TextBox 12"/>
          <p:cNvSpPr txBox="1"/>
          <p:nvPr/>
        </p:nvSpPr>
        <p:spPr>
          <a:xfrm>
            <a:off x="402336" y="250393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Le signe de l'accroissement est celui de H_d. Sa différence à l'étape suivante est strictement négative : les accroissements changent de signe au plus une fois.</a:t>
            </a:r>
          </a:p>
        </p:txBody>
      </p:sp>
      <p:sp>
        <p:nvSpPr>
          <p:cNvPr id="14" name="TextBox 13"/>
          <p:cNvSpPr txBox="1"/>
          <p:nvPr/>
        </p:nvSpPr>
        <p:spPr>
          <a:xfrm>
            <a:off x="402336" y="2896616"/>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Le maximum est donc au premier d où H_d devient négatif, ou à une extrémité. Si H_d vaut exactement zéro, deux dimensions voisines sont ex aequo. </a:t>
            </a:r>
            <a:r>
              <a:rPr sz="1000" i="1">
                <a:solidFill>
                  <a:srgbClr val="2C3E50"/>
                </a:solidFill>
                <a:latin typeface="Carlito"/>
              </a:rPr>
              <a:t>Aucun intervalle numérique pour d* n'en découle sans hypothèses supplémentaires.</a:t>
            </a:r>
          </a:p>
        </p:txBody>
      </p:sp>
      <p:sp>
        <p:nvSpPr>
          <p:cNvPr id="15" name="Rectangle 14"/>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7" name="TextBox 16"/>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V(d+1)-V(d) = [q_{d+1}C(d) - I(d)(C(d+1)-C(d))]</a:t>
            </a:r>
          </a:p>
          <a:p>
            <a:pPr algn="l">
              <a:lnSpc>
                <a:spcPts val="1035"/>
              </a:lnSpc>
              <a:spcAft>
                <a:spcPts val="0"/>
              </a:spcAft>
            </a:pPr>
            <a:r>
              <a:rPr sz="900" b="0">
                <a:solidFill>
                  <a:srgbClr val="2D3748"/>
                </a:solidFill>
                <a:latin typeface="Carlito"/>
              </a:rPr>
              <a:t>/ [C(d)C(d+1)]</a:t>
            </a:r>
          </a:p>
          <a:p>
            <a:pPr algn="l">
              <a:lnSpc>
                <a:spcPts val="1035"/>
              </a:lnSpc>
              <a:spcAft>
                <a:spcPts val="0"/>
              </a:spcAft>
            </a:pPr>
          </a:p>
          <a:p>
            <a:pPr algn="l">
              <a:lnSpc>
                <a:spcPts val="1035"/>
              </a:lnSpc>
              <a:spcAft>
                <a:spcPts val="0"/>
              </a:spcAft>
            </a:pPr>
            <a:r>
              <a:rPr sz="900" b="0">
                <a:solidFill>
                  <a:srgbClr val="2D3748"/>
                </a:solidFill>
                <a:latin typeface="Carlito"/>
              </a:rPr>
              <a:t>H_d = q_{d+1}C(d) - c·I(d)</a:t>
            </a:r>
          </a:p>
          <a:p>
            <a:pPr algn="l">
              <a:lnSpc>
                <a:spcPts val="1035"/>
              </a:lnSpc>
              <a:spcAft>
                <a:spcPts val="0"/>
              </a:spcAft>
            </a:pPr>
          </a:p>
          <a:p>
            <a:pPr algn="l">
              <a:lnSpc>
                <a:spcPts val="1035"/>
              </a:lnSpc>
              <a:spcAft>
                <a:spcPts val="0"/>
              </a:spcAft>
            </a:pPr>
            <a:r>
              <a:rPr sz="900" b="0">
                <a:solidFill>
                  <a:srgbClr val="2D3748"/>
                </a:solidFill>
                <a:latin typeface="Carlito"/>
              </a:rPr>
              <a:t>H_{d+1} - H_d &lt; 0</a:t>
            </a:r>
          </a:p>
          <a:p>
            <a:pPr algn="l">
              <a:lnSpc>
                <a:spcPts val="1035"/>
              </a:lnSpc>
              <a:spcAft>
                <a:spcPts val="0"/>
              </a:spcAft>
            </a:pPr>
            <a:r>
              <a:rPr sz="900" b="0">
                <a:solidFill>
                  <a:srgbClr val="2D3748"/>
                </a:solidFill>
                <a:latin typeface="Carlito"/>
              </a:rPr>
              <a:t>(une seule traversée de zéro)</a:t>
            </a:r>
          </a:p>
        </p:txBody>
      </p:sp>
      <p:sp>
        <p:nvSpPr>
          <p:cNvPr id="18" name="Rectangle 1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V(d+1)-V(d) = [q_(d+1)*C(d) - I(d)*(C(d+1)-C(d))]/[C(d)*C(d+1)]</a:t>
            </a:r>
          </a:p>
        </p:txBody>
      </p:sp>
      <p:sp>
        <p:nvSpPr>
          <p:cNvPr id="20" name="TextBox 19"/>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H_d = q_(d+1)*C(d) - c*I(d) ; H_(d+1)-H_d = [q_(d+2)-q_(d+1)]*C(d+1) &lt; 0</a:t>
            </a:r>
          </a:p>
        </p:txBody>
      </p:sp>
      <p:sp>
        <p:nvSpPr>
          <p:cNvPr id="21" name="TextBox 20"/>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Exactitude des signes</a:t>
            </a:r>
          </a:p>
        </p:txBody>
      </p:sp>
      <p:sp>
        <p:nvSpPr>
          <p:cNvPr id="4" name="Rectangle 3"/>
          <p:cNvSpPr/>
          <p:nvPr/>
        </p:nvSpPr>
        <p:spPr>
          <a:xfrm>
            <a:off x="8046719" y="64008"/>
            <a:ext cx="822960" cy="246888"/>
          </a:xfrm>
          <a:prstGeom prst="rect">
            <a:avLst/>
          </a:prstGeom>
          <a:solidFill>
            <a:srgbClr val="298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PREUVE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7 — De la symétrie conditionnelle à une suite de pièces équilibrées</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 12.</a:t>
            </a:r>
            <a:r>
              <a:rPr sz="1000" b="0">
                <a:solidFill>
                  <a:srgbClr val="2C3E50"/>
                </a:solidFill>
                <a:latin typeface="Carlito"/>
              </a:rPr>
              <a:t> F_(t-1) désigne toute l'information disponible avant le jour t. Sous la loi sans changement, r_t et son opposé ont la même loi conditionnelle sachant ce passé.</a:t>
            </a:r>
          </a:p>
        </p:txBody>
      </p:sp>
      <p:sp>
        <p:nvSpPr>
          <p:cNvPr id="11" name="TextBox 10"/>
          <p:cNvSpPr txBox="1"/>
          <p:nvPr/>
        </p:nvSpPr>
        <p:spPr>
          <a:xfrm>
            <a:off x="402336" y="1718563"/>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Une fonction g choisie à partir du passé est </a:t>
            </a:r>
            <a:r>
              <a:rPr sz="1000" i="1">
                <a:solidFill>
                  <a:srgbClr val="2C3E50"/>
                </a:solidFill>
                <a:latin typeface="Carlito"/>
              </a:rPr>
              <a:t>impaire</a:t>
            </a:r>
            <a:r>
              <a:rPr sz="1000" b="0">
                <a:solidFill>
                  <a:srgbClr val="2C3E50"/>
                </a:solidFill>
                <a:latin typeface="Carlito"/>
              </a:rPr>
              <a:t> : inverser r inverse g(r). L'inversion échange donc les événements g(r_t) positif et g(r_t) négatif. Le bit b_t code le signe positif par un, le signe négatif par zéro.</a:t>
            </a:r>
          </a:p>
        </p:txBody>
      </p:sp>
      <p:sp>
        <p:nvSpPr>
          <p:cNvPr id="12" name="TextBox 11"/>
          <p:cNvSpPr txBox="1"/>
          <p:nvPr/>
        </p:nvSpPr>
        <p:spPr>
          <a:xfrm>
            <a:off x="402336" y="225729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Noter p_0 la probabilité conditionnelle d'obtenir zéro. Chaque signe strict a probabilité (1-p_0)/2. Un tirage indépendant équilibré aux zéros ajoute p_0/2 : la probabilité du bit b_t égal à un est exactement 1/2.</a:t>
            </a:r>
          </a:p>
        </p:txBody>
      </p:sp>
      <p:sp>
        <p:nvSpPr>
          <p:cNvPr id="13" name="TextBox 12"/>
          <p:cNvSpPr txBox="1"/>
          <p:nvPr/>
        </p:nvSpPr>
        <p:spPr>
          <a:xfrm>
            <a:off x="402336" y="279603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toute séquence fixée de bits, conditionner le dernier bit sur le passé multiplie sa probabilité par 1/2. Répéter l'opération donne la probabilité de la séquence entière.</a:t>
            </a:r>
          </a:p>
        </p:txBody>
      </p:sp>
      <p:sp>
        <p:nvSpPr>
          <p:cNvPr id="14" name="TextBox 13"/>
          <p:cNvSpPr txBox="1"/>
          <p:nvPr/>
        </p:nvSpPr>
        <p:spPr>
          <a:xfrm>
            <a:off x="402336" y="3188716"/>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Cela établit l'indépendance </a:t>
            </a:r>
            <a:r>
              <a:rPr sz="1000" i="1">
                <a:solidFill>
                  <a:srgbClr val="2C3E50"/>
                </a:solidFill>
                <a:latin typeface="Carlito"/>
              </a:rPr>
              <a:t>temporelle de ce flux scalaire</a:t>
            </a:r>
            <a:r>
              <a:rPr sz="1000" b="0">
                <a:solidFill>
                  <a:srgbClr val="2C3E50"/>
                </a:solidFill>
                <a:latin typeface="Carlito"/>
              </a:rPr>
              <a:t>. Cela n'établit ni l'indépendance entre axes, ni la symétrie des rendements bruts.</a:t>
            </a:r>
          </a:p>
        </p:txBody>
      </p:sp>
      <p:sp>
        <p:nvSpPr>
          <p:cNvPr id="15" name="Rectangle 14"/>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7" name="TextBox 16"/>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P[b_t=1 | F_{t-1}]</a:t>
            </a:r>
          </a:p>
          <a:p>
            <a:pPr algn="l">
              <a:lnSpc>
                <a:spcPts val="1035"/>
              </a:lnSpc>
              <a:spcAft>
                <a:spcPts val="0"/>
              </a:spcAft>
            </a:pPr>
            <a:r>
              <a:rPr sz="900" b="0">
                <a:solidFill>
                  <a:srgbClr val="2D3748"/>
                </a:solidFill>
                <a:latin typeface="Carlito"/>
              </a:rPr>
              <a:t>= (1-p₀)/2 + p₀/2</a:t>
            </a:r>
          </a:p>
          <a:p>
            <a:pPr algn="l">
              <a:lnSpc>
                <a:spcPts val="1035"/>
              </a:lnSpc>
              <a:spcAft>
                <a:spcPts val="0"/>
              </a:spcAft>
            </a:pPr>
            <a:r>
              <a:rPr sz="900" b="0">
                <a:solidFill>
                  <a:srgbClr val="2D3748"/>
                </a:solidFill>
                <a:latin typeface="Carlito"/>
              </a:rPr>
              <a:t>= 1/2</a:t>
            </a:r>
          </a:p>
          <a:p>
            <a:pPr algn="l">
              <a:lnSpc>
                <a:spcPts val="1035"/>
              </a:lnSpc>
              <a:spcAft>
                <a:spcPts val="0"/>
              </a:spcAft>
            </a:pPr>
          </a:p>
          <a:p>
            <a:pPr algn="l">
              <a:lnSpc>
                <a:spcPts val="1035"/>
              </a:lnSpc>
              <a:spcAft>
                <a:spcPts val="0"/>
              </a:spcAft>
            </a:pPr>
            <a:r>
              <a:rPr sz="900" b="0">
                <a:solidFill>
                  <a:srgbClr val="2D3748"/>
                </a:solidFill>
                <a:latin typeface="Carlito"/>
              </a:rPr>
              <a:t>P[b₁=c₁,...,b_n=c_n]</a:t>
            </a:r>
          </a:p>
          <a:p>
            <a:pPr algn="l">
              <a:lnSpc>
                <a:spcPts val="1035"/>
              </a:lnSpc>
              <a:spcAft>
                <a:spcPts val="0"/>
              </a:spcAft>
            </a:pPr>
            <a:r>
              <a:rPr sz="900" b="0">
                <a:solidFill>
                  <a:srgbClr val="2D3748"/>
                </a:solidFill>
                <a:latin typeface="Carlito"/>
              </a:rPr>
              <a:t>= 2^{-n}</a:t>
            </a:r>
          </a:p>
          <a:p>
            <a:pPr algn="l">
              <a:lnSpc>
                <a:spcPts val="1035"/>
              </a:lnSpc>
              <a:spcAft>
                <a:spcPts val="0"/>
              </a:spcAft>
            </a:pPr>
          </a:p>
          <a:p>
            <a:pPr algn="l">
              <a:lnSpc>
                <a:spcPts val="1035"/>
              </a:lnSpc>
              <a:spcAft>
                <a:spcPts val="0"/>
              </a:spcAft>
            </a:pPr>
            <a:r>
              <a:rPr sz="900" b="0">
                <a:solidFill>
                  <a:srgbClr val="2D3748"/>
                </a:solidFill>
                <a:latin typeface="Carlito"/>
              </a:rPr>
              <a:t>indépendance temporelle</a:t>
            </a:r>
          </a:p>
          <a:p>
            <a:pPr algn="l">
              <a:lnSpc>
                <a:spcPts val="1035"/>
              </a:lnSpc>
              <a:spcAft>
                <a:spcPts val="0"/>
              </a:spcAft>
            </a:pPr>
            <a:r>
              <a:rPr sz="900" b="0">
                <a:solidFill>
                  <a:srgbClr val="2D3748"/>
                </a:solidFill>
                <a:latin typeface="Carlito"/>
              </a:rPr>
              <a:t>(flux scalaire)</a:t>
            </a:r>
          </a:p>
        </p:txBody>
      </p:sp>
      <p:sp>
        <p:nvSpPr>
          <p:cNvPr id="18" name="Rectangle 1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P[b_t=1 sachant F_(t-1)] = (1-p_0)/2 + p_0/2 = 1/2</a:t>
            </a:r>
          </a:p>
        </p:txBody>
      </p:sp>
      <p:sp>
        <p:nvSpPr>
          <p:cNvPr id="20" name="TextBox 19"/>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P[b_1=c_1,...,b_n=c_n] = P[b_1=c_1,...,b_(n-1)=c_(n-1)]/2 = 2^(-n)</a:t>
            </a:r>
          </a:p>
        </p:txBody>
      </p:sp>
      <p:sp>
        <p:nvSpPr>
          <p:cNvPr id="21" name="TextBox 20"/>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Information d'un changement de covariance</a:t>
            </a:r>
          </a:p>
        </p:txBody>
      </p:sp>
      <p:sp>
        <p:nvSpPr>
          <p:cNvPr id="4" name="Rectangle 3"/>
          <p:cNvSpPr/>
          <p:nvPr/>
        </p:nvSpPr>
        <p:spPr>
          <a:xfrm>
            <a:off x="8046719" y="64008"/>
            <a:ext cx="82296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8 — Une moyenne nulle n'implique pas une loi inchangée</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diapositives 5 et 13.</a:t>
            </a:r>
            <a:r>
              <a:rPr sz="1000" b="0">
                <a:solidFill>
                  <a:srgbClr val="2C3E50"/>
                </a:solidFill>
                <a:latin typeface="Carlito"/>
              </a:rPr>
              <a:t> Considérer deux lois gaussiennes de moyenne nulle, de covariances Sigma_0 avant changement et Sigma_1 après. Les matrices sont définies positives et portent sur N rendements.</a:t>
            </a:r>
          </a:p>
        </p:txBody>
      </p:sp>
      <p:sp>
        <p:nvSpPr>
          <p:cNvPr id="11" name="TextBox 10"/>
          <p:cNvSpPr txBox="1"/>
          <p:nvPr/>
        </p:nvSpPr>
        <p:spPr>
          <a:xfrm>
            <a:off x="402336" y="1864614"/>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Le logarithme d'une densité gaussienne contient un terme de déterminant et un terme quadratique. Soustraire les deux log-densités donne ell(r).</a:t>
            </a:r>
          </a:p>
        </p:txBody>
      </p:sp>
      <p:sp>
        <p:nvSpPr>
          <p:cNvPr id="12" name="TextBox 11"/>
          <p:cNvSpPr txBox="1"/>
          <p:nvPr/>
        </p:nvSpPr>
        <p:spPr>
          <a:xfrm>
            <a:off x="402336" y="225729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Sous la loi après changement, la moyenne de r*r' est Sigma_1. L'espérance d'une forme quadratique est donc la trace de sa matrice multipliée par Sigma_1 ; la </a:t>
            </a:r>
            <a:r>
              <a:rPr sz="1000" i="1">
                <a:solidFill>
                  <a:srgbClr val="2C3E50"/>
                </a:solidFill>
                <a:latin typeface="Carlito"/>
              </a:rPr>
              <a:t>trace</a:t>
            </a:r>
            <a:r>
              <a:rPr sz="1000" b="0">
                <a:solidFill>
                  <a:srgbClr val="2C3E50"/>
                </a:solidFill>
                <a:latin typeface="Carlito"/>
              </a:rPr>
              <a:t> est la somme des éléments diagonaux.</a:t>
            </a:r>
          </a:p>
        </p:txBody>
      </p:sp>
      <p:sp>
        <p:nvSpPr>
          <p:cNvPr id="13" name="TextBox 12"/>
          <p:cNvSpPr txBox="1"/>
          <p:nvPr/>
        </p:nvSpPr>
        <p:spPr>
          <a:xfrm>
            <a:off x="402336" y="279603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En prenant l'espérance de ell, on obtient la KL. Pour une rotation orthogonale R, les déterminants sont égaux ; si la covariance change effectivement, l'information peut être non nulle.</a:t>
            </a:r>
          </a:p>
        </p:txBody>
      </p:sp>
      <p:sp>
        <p:nvSpPr>
          <p:cNvPr id="14" name="TextBox 13"/>
          <p:cNvSpPr txBox="1"/>
          <p:nvPr/>
        </p:nvSpPr>
        <p:spPr>
          <a:xfrm>
            <a:off x="402336" y="3188716"/>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Cette information concerne le vecteur entier. Une projection fixe peut voir sa variance baisser ; un détecteur de hausse d'énergie peut alors manquer le changement.</a:t>
            </a:r>
          </a:p>
        </p:txBody>
      </p:sp>
      <p:sp>
        <p:nvSpPr>
          <p:cNvPr id="15" name="Rectangle 14"/>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7" name="TextBox 16"/>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ℓ(r) = [ln(det Σ₀/det Σ₁)</a:t>
            </a:r>
          </a:p>
          <a:p>
            <a:pPr algn="l">
              <a:lnSpc>
                <a:spcPts val="1035"/>
              </a:lnSpc>
              <a:spcAft>
                <a:spcPts val="0"/>
              </a:spcAft>
            </a:pPr>
            <a:r>
              <a:rPr sz="900" b="0">
                <a:solidFill>
                  <a:srgbClr val="2D3748"/>
                </a:solidFill>
                <a:latin typeface="Carlito"/>
              </a:rPr>
              <a:t>  + r'(Σ₀⁻¹-Σ₁⁻¹)r] / 2</a:t>
            </a:r>
          </a:p>
          <a:p>
            <a:pPr algn="l">
              <a:lnSpc>
                <a:spcPts val="1035"/>
              </a:lnSpc>
              <a:spcAft>
                <a:spcPts val="0"/>
              </a:spcAft>
            </a:pPr>
          </a:p>
          <a:p>
            <a:pPr algn="l">
              <a:lnSpc>
                <a:spcPts val="1035"/>
              </a:lnSpc>
              <a:spcAft>
                <a:spcPts val="0"/>
              </a:spcAft>
            </a:pPr>
            <a:r>
              <a:rPr sz="900" b="0">
                <a:solidFill>
                  <a:srgbClr val="2D3748"/>
                </a:solidFill>
                <a:latin typeface="Carlito"/>
              </a:rPr>
              <a:t>I = [tr(Σ₀⁻¹Σ₁) - ln det(Σ₀⁻¹Σ₁) - N] / 2</a:t>
            </a:r>
          </a:p>
          <a:p>
            <a:pPr algn="l">
              <a:lnSpc>
                <a:spcPts val="1035"/>
              </a:lnSpc>
              <a:spcAft>
                <a:spcPts val="0"/>
              </a:spcAft>
            </a:pPr>
          </a:p>
          <a:p>
            <a:pPr algn="l">
              <a:lnSpc>
                <a:spcPts val="1035"/>
              </a:lnSpc>
              <a:spcAft>
                <a:spcPts val="0"/>
              </a:spcAft>
            </a:pPr>
            <a:r>
              <a:rPr sz="900" b="0">
                <a:solidFill>
                  <a:srgbClr val="2D3748"/>
                </a:solidFill>
                <a:latin typeface="Carlito"/>
              </a:rPr>
              <a:t>rotation : det inchangé</a:t>
            </a:r>
          </a:p>
        </p:txBody>
      </p:sp>
      <p:sp>
        <p:nvSpPr>
          <p:cNvPr id="18" name="Rectangle 1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ell(r) = [ln(det(Sigma_0)/det(Sigma_1)) + r'*(Sigma_0^(-1)-Sigma_1^(-1))*r]/2</a:t>
            </a:r>
          </a:p>
        </p:txBody>
      </p:sp>
      <p:sp>
        <p:nvSpPr>
          <p:cNvPr id="20" name="TextBox 19"/>
          <p:cNvSpPr txBox="1"/>
          <p:nvPr/>
        </p:nvSpPr>
        <p:spPr>
          <a:xfrm>
            <a:off x="457200" y="41269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E_1[r'*B*r] = trace(B*Sigma_1) ; KL = [trace(Sigma_0^(-1)*Sigma_1)-ln(det(Sigma_0^(-1)*Sigma_1))-N]/2</a:t>
            </a:r>
          </a:p>
        </p:txBody>
      </p:sp>
      <p:sp>
        <p:nvSpPr>
          <p:cNvPr id="21" name="TextBox 20"/>
          <p:cNvSpPr txBox="1"/>
          <p:nvPr/>
        </p:nvSpPr>
        <p:spPr>
          <a:xfrm>
            <a:off x="457200" y="44317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Sigma_1 = R*Sigma_0*R' ; R'*R = Id ; det(Sigma_1) = det(Sigma_0)</a:t>
            </a:r>
          </a:p>
        </p:txBody>
      </p:sp>
      <p:sp>
        <p:nvSpPr>
          <p:cNvPr id="22" name="TextBox 2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Construction de la tâche JEPA</a:t>
            </a:r>
          </a:p>
        </p:txBody>
      </p:sp>
      <p:sp>
        <p:nvSpPr>
          <p:cNvPr id="4" name="Rectangle 3"/>
          <p:cNvSpPr/>
          <p:nvPr/>
        </p:nvSpPr>
        <p:spPr>
          <a:xfrm>
            <a:off x="7955279" y="64008"/>
            <a:ext cx="91440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79" y="64008"/>
            <a:ext cx="91440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MÉTHODE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9 — Séparer le contexte, la cible et la surveillance</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diapositives 18 à 20.</a:t>
            </a:r>
            <a:r>
              <a:rPr sz="1000" b="0">
                <a:solidFill>
                  <a:srgbClr val="2C3E50"/>
                </a:solidFill>
                <a:latin typeface="Carlito"/>
              </a:rPr>
              <a:t> Séparer les actions d'une journée en un ensemble visible V et un ensemble masqué M, sans intersection. Le contexte reçoit les rendements visibles et les caractéristiques connues ; la cible est calculée séparément.</a:t>
            </a:r>
          </a:p>
        </p:txBody>
      </p:sp>
      <p:sp>
        <p:nvSpPr>
          <p:cNvPr id="11" name="TextBox 10"/>
          <p:cNvSpPr txBox="1"/>
          <p:nvPr/>
        </p:nvSpPr>
        <p:spPr>
          <a:xfrm>
            <a:off x="402336" y="1864614"/>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Si la moyenne des N rendements est soustraite avant le masquage, modifier un rendement caché modifie chaque résidu visible. La dépendance à la cible existe donc même après avoir supprimé sa case.</a:t>
            </a:r>
          </a:p>
        </p:txBody>
      </p:sp>
      <p:sp>
        <p:nvSpPr>
          <p:cNvPr id="12" name="TextBox 11"/>
          <p:cNvSpPr txBox="1"/>
          <p:nvPr/>
        </p:nvSpPr>
        <p:spPr>
          <a:xfrm>
            <a:off x="402336" y="24033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Option sans neutralisation préalable : aucun rendement caché n'intervient dans les entrées visibles. Option avec neutralisation : estimer le mouvement commun uniquement sur V et appliquer cette estimation pour préparer la tâche.</a:t>
            </a:r>
          </a:p>
        </p:txBody>
      </p:sp>
      <p:sp>
        <p:nvSpPr>
          <p:cNvPr id="13" name="TextBox 12"/>
          <p:cNvSpPr txBox="1"/>
          <p:nvPr/>
        </p:nvSpPr>
        <p:spPr>
          <a:xfrm>
            <a:off x="402336" y="2942082"/>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Le réseau cible suit une </a:t>
            </a:r>
            <a:r>
              <a:rPr sz="1000" i="1">
                <a:solidFill>
                  <a:srgbClr val="2C3E50"/>
                </a:solidFill>
                <a:latin typeface="Carlito"/>
              </a:rPr>
              <a:t>moyenne mobile exponentielle</a:t>
            </a:r>
            <a:r>
              <a:rPr sz="1000" b="0">
                <a:solidFill>
                  <a:srgbClr val="2C3E50"/>
                </a:solidFill>
                <a:latin typeface="Carlito"/>
              </a:rPr>
              <a:t> des paramètres du contexte : un poids fixe combine son ancien état et les paramètres récents. Les cibles restent hors des entrées et du chemin de mise à jour directe par l'erreur.</a:t>
            </a:r>
          </a:p>
        </p:txBody>
      </p:sp>
      <p:sp>
        <p:nvSpPr>
          <p:cNvPr id="14" name="TextBox 13"/>
          <p:cNvSpPr txBox="1"/>
          <p:nvPr/>
        </p:nvSpPr>
        <p:spPr>
          <a:xfrm>
            <a:off x="402336" y="3480816"/>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La conception comporte deux à quatre couches d'attention, une largeur interne de 64 et quatre groupes de pondération, appelés têtes d'attention. Ces choix sont des paramètres proposés ; les coordonnées finalement surveillées sont choisies séparément.</a:t>
            </a:r>
          </a:p>
        </p:txBody>
      </p:sp>
      <p:sp>
        <p:nvSpPr>
          <p:cNvPr id="15" name="Rectangle 14"/>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7" name="TextBox 16"/>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m_visible = (1/|V|) Σ_{i∈V} r_i</a:t>
            </a:r>
          </a:p>
          <a:p>
            <a:pPr algn="l">
              <a:lnSpc>
                <a:spcPts val="1035"/>
              </a:lnSpc>
              <a:spcAft>
                <a:spcPts val="0"/>
              </a:spcAft>
            </a:pPr>
          </a:p>
          <a:p>
            <a:pPr algn="l">
              <a:lnSpc>
                <a:spcPts val="1035"/>
              </a:lnSpc>
              <a:spcAft>
                <a:spcPts val="0"/>
              </a:spcAft>
            </a:pPr>
            <a:r>
              <a:rPr sz="900" b="0">
                <a:solidFill>
                  <a:srgbClr val="2D3748"/>
                </a:solidFill>
                <a:latin typeface="Carlito"/>
              </a:rPr>
              <a:t>fuite si moyenne sur TOUTES</a:t>
            </a:r>
          </a:p>
          <a:p>
            <a:pPr algn="l">
              <a:lnSpc>
                <a:spcPts val="1035"/>
              </a:lnSpc>
              <a:spcAft>
                <a:spcPts val="0"/>
              </a:spcAft>
            </a:pPr>
            <a:r>
              <a:rPr sz="900" b="0">
                <a:solidFill>
                  <a:srgbClr val="2D3748"/>
                </a:solidFill>
                <a:latin typeface="Carlito"/>
              </a:rPr>
              <a:t>les actions avant masquage</a:t>
            </a:r>
          </a:p>
          <a:p>
            <a:pPr algn="l">
              <a:lnSpc>
                <a:spcPts val="1035"/>
              </a:lnSpc>
              <a:spcAft>
                <a:spcPts val="0"/>
              </a:spcAft>
            </a:pPr>
          </a:p>
          <a:p>
            <a:pPr algn="l">
              <a:lnSpc>
                <a:spcPts val="1035"/>
              </a:lnSpc>
              <a:spcAft>
                <a:spcPts val="0"/>
              </a:spcAft>
            </a:pPr>
            <a:r>
              <a:rPr sz="900" b="0">
                <a:solidFill>
                  <a:srgbClr val="2D3748"/>
                </a:solidFill>
                <a:latin typeface="Carlito"/>
              </a:rPr>
              <a:t>solution : contexte sur V seul</a:t>
            </a:r>
          </a:p>
        </p:txBody>
      </p:sp>
      <p:sp>
        <p:nvSpPr>
          <p:cNvPr id="18" name="Rectangle 1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m_visible(t) = somme(i dans V, r(i,t)) / nombre(V)</a:t>
            </a:r>
          </a:p>
        </p:txBody>
      </p:sp>
      <p:sp>
        <p:nvSpPr>
          <p:cNvPr id="20" name="TextBox 19"/>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r_visible - moyenne_toutes_actions = r_visible - [somme_visible + somme_masquee]/N</a:t>
            </a:r>
          </a:p>
        </p:txBody>
      </p:sp>
      <p:sp>
        <p:nvSpPr>
          <p:cNvPr id="21" name="TextBox 20"/>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Budget et premier franchissement</a:t>
            </a:r>
          </a:p>
        </p:txBody>
      </p:sp>
      <p:sp>
        <p:nvSpPr>
          <p:cNvPr id="4" name="Rectangle 3"/>
          <p:cNvSpPr/>
          <p:nvPr/>
        </p:nvSpPr>
        <p:spPr>
          <a:xfrm>
            <a:off x="8046719" y="64008"/>
            <a:ext cx="82296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10 — Ce que calcule l'approximation de diffusion</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diapositives 9 et 16.</a:t>
            </a:r>
            <a:r>
              <a:rPr sz="1000" b="0">
                <a:solidFill>
                  <a:srgbClr val="2C3E50"/>
                </a:solidFill>
                <a:latin typeface="Carlito"/>
              </a:rPr>
              <a:t> Dans le modèle gaussien à covariance identité, le log-rapport quotidien ell vaut theta'*z moins I, avec </a:t>
            </a:r>
            <a:r>
              <a:rPr sz="1000" b="0">
                <a:solidFill>
                  <a:srgbClr val="2C3E50"/>
                </a:solidFill>
                <a:latin typeface="Carlito"/>
              </a:rPr>
              <a:t>. Sa moyenne est -I avant changement, +I après ; sa variance est 2I dans les deux cas.</a:t>
            </a:r>
          </a:p>
        </p:txBody>
      </p:sp>
      <p:sp>
        <p:nvSpPr>
          <p:cNvPr id="11" name="TextBox 10"/>
          <p:cNvSpPr txBox="1"/>
          <p:nvPr/>
        </p:nvSpPr>
        <p:spPr>
          <a:xfrm>
            <a:off x="402336" y="1864614"/>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Remplacer cette marche quotidienne par une diffusion revient à utiliser des incréments continus de mêmes moyenne et variance. Le CUSUM correspond à la diffusion réfléchie à zéro, arrêtée au seuil h positif.</a:t>
            </a:r>
          </a:p>
        </p:txBody>
      </p:sp>
      <p:sp>
        <p:nvSpPr>
          <p:cNvPr id="12" name="TextBox 11"/>
          <p:cNvSpPr txBox="1"/>
          <p:nvPr/>
        </p:nvSpPr>
        <p:spPr>
          <a:xfrm>
            <a:off x="402336" y="24033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Noter v_mu(y) le temps moyen restant jusqu'au seuil en partant de y, pour une dérive mu égale à -I ou +I. L'équation des temps de sortie donne l'équation différentielle ci-dessous ; réflexion et arrêt imposent ses conditions aux bords.</a:t>
            </a:r>
          </a:p>
        </p:txBody>
      </p:sp>
      <p:sp>
        <p:nvSpPr>
          <p:cNvPr id="13" name="TextBox 12"/>
          <p:cNvSpPr txBox="1"/>
          <p:nvPr/>
        </p:nvSpPr>
        <p:spPr>
          <a:xfrm>
            <a:off x="402336" y="294208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Intégrer une fois avec la dérivée nulle à zéro, puis une seconde fois avec la valeur nulle au seuil, donne les deux temps moyens. C'est le cadre brownien de </a:t>
            </a:r>
            <a:r>
              <a:rPr sz="1000" b="0">
                <a:solidFill>
                  <a:srgbClr val="2C3E50"/>
                </a:solidFill>
                <a:latin typeface="Carlito"/>
                <a:hlinkClick r:id="rId2"/>
              </a:rPr>
              <a:t>Taylor (1975)</a:t>
            </a:r>
            <a:r>
              <a:rPr sz="1000" b="0">
                <a:solidFill>
                  <a:srgbClr val="2C3E50"/>
                </a:solidFill>
                <a:latin typeface="Carlito"/>
              </a:rPr>
              <a:t>.</a:t>
            </a:r>
          </a:p>
        </p:txBody>
      </p:sp>
      <p:sp>
        <p:nvSpPr>
          <p:cNvPr id="14" name="TextBox 13"/>
          <p:cNvSpPr txBox="1"/>
          <p:nvPr/>
        </p:nvSpPr>
        <p:spPr>
          <a:xfrm>
            <a:off x="402336" y="3334766"/>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Portée :</a:t>
            </a:r>
            <a:r>
              <a:rPr sz="1000" b="0">
                <a:solidFill>
                  <a:srgbClr val="2C3E50"/>
                </a:solidFill>
                <a:latin typeface="Carlito"/>
              </a:rPr>
              <a:t> les formules sont exactes pour cette diffusion, approchées pour des observations quotidiennes. Fixer un temps moyen avant fausse alarme, fixer un seuil de preuve et fixer un risque à horizon donné sont trois réglages distincts.</a:t>
            </a:r>
          </a:p>
        </p:txBody>
      </p:sp>
      <p:sp>
        <p:nvSpPr>
          <p:cNvPr id="15" name="Rectangle 14"/>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7" name="TextBox 16"/>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I·v'' + μ·v' = -1</a:t>
            </a:r>
          </a:p>
          <a:p>
            <a:pPr algn="l">
              <a:lnSpc>
                <a:spcPts val="1035"/>
              </a:lnSpc>
              <a:spcAft>
                <a:spcPts val="0"/>
              </a:spcAft>
            </a:pPr>
            <a:r>
              <a:rPr sz="900" b="0">
                <a:solidFill>
                  <a:srgbClr val="2D3748"/>
                </a:solidFill>
                <a:latin typeface="Carlito"/>
              </a:rPr>
              <a:t>v'(0)=0, v(h)=0</a:t>
            </a:r>
          </a:p>
          <a:p>
            <a:pPr algn="l">
              <a:lnSpc>
                <a:spcPts val="1035"/>
              </a:lnSpc>
              <a:spcAft>
                <a:spcPts val="0"/>
              </a:spcAft>
            </a:pPr>
          </a:p>
          <a:p>
            <a:pPr algn="l">
              <a:lnSpc>
                <a:spcPts val="1035"/>
              </a:lnSpc>
              <a:spcAft>
                <a:spcPts val="0"/>
              </a:spcAft>
            </a:pPr>
            <a:r>
              <a:rPr sz="900" b="0">
                <a:solidFill>
                  <a:srgbClr val="2D3748"/>
                </a:solidFill>
                <a:latin typeface="Carlito"/>
              </a:rPr>
              <a:t>v_{-I}(0) = [eʰ-h-1]/I</a:t>
            </a:r>
          </a:p>
          <a:p>
            <a:pPr algn="l">
              <a:lnSpc>
                <a:spcPts val="1035"/>
              </a:lnSpc>
              <a:spcAft>
                <a:spcPts val="0"/>
              </a:spcAft>
            </a:pPr>
            <a:r>
              <a:rPr sz="900" b="0">
                <a:solidFill>
                  <a:srgbClr val="2D3748"/>
                </a:solidFill>
                <a:latin typeface="Carlito"/>
              </a:rPr>
              <a:t>(temps avant fausse alarme)</a:t>
            </a:r>
          </a:p>
          <a:p>
            <a:pPr algn="l">
              <a:lnSpc>
                <a:spcPts val="1035"/>
              </a:lnSpc>
              <a:spcAft>
                <a:spcPts val="0"/>
              </a:spcAft>
            </a:pPr>
          </a:p>
          <a:p>
            <a:pPr algn="l">
              <a:lnSpc>
                <a:spcPts val="1035"/>
              </a:lnSpc>
              <a:spcAft>
                <a:spcPts val="0"/>
              </a:spcAft>
            </a:pPr>
            <a:r>
              <a:rPr sz="900" b="0">
                <a:solidFill>
                  <a:srgbClr val="2D3748"/>
                </a:solidFill>
                <a:latin typeface="Carlito"/>
              </a:rPr>
              <a:t>v_I(0) = [h-1+e^{-h}]/I</a:t>
            </a:r>
          </a:p>
          <a:p>
            <a:pPr algn="l">
              <a:lnSpc>
                <a:spcPts val="1035"/>
              </a:lnSpc>
              <a:spcAft>
                <a:spcPts val="0"/>
              </a:spcAft>
            </a:pPr>
            <a:r>
              <a:rPr sz="900" b="0">
                <a:solidFill>
                  <a:srgbClr val="2D3748"/>
                </a:solidFill>
                <a:latin typeface="Carlito"/>
              </a:rPr>
              <a:t>(délai après changement)</a:t>
            </a:r>
          </a:p>
        </p:txBody>
      </p:sp>
      <p:sp>
        <p:nvSpPr>
          <p:cNvPr id="18" name="Rectangle 1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I*v_mu''(y) + mu*v_mu'(y) = -1 ; v_mu'(0) = 0 ; v_mu(h) = 0</a:t>
            </a:r>
          </a:p>
        </p:txBody>
      </p:sp>
      <p:sp>
        <p:nvSpPr>
          <p:cNvPr id="20" name="TextBox 19"/>
          <p:cNvSpPr txBox="1"/>
          <p:nvPr/>
        </p:nvSpPr>
        <p:spPr>
          <a:xfrm>
            <a:off x="457200" y="41269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v_-I'(y) = [1-exp(y)]/I ; v_+I'(y) = [exp(-y)-1]/I</a:t>
            </a:r>
          </a:p>
        </p:txBody>
      </p:sp>
      <p:sp>
        <p:nvSpPr>
          <p:cNvPr id="21" name="TextBox 20"/>
          <p:cNvSpPr txBox="1"/>
          <p:nvPr/>
        </p:nvSpPr>
        <p:spPr>
          <a:xfrm>
            <a:off x="457200" y="44317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temps_avant_fausse_alarme = [exp(h)-h-1]/I ; delai_apres_changement = [h-1+exp(-h)]/I</a:t>
            </a:r>
          </a:p>
        </p:txBody>
      </p:sp>
      <p:sp>
        <p:nvSpPr>
          <p:cNvPr id="22" name="TextBox 2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Absorption d'un changement</a:t>
            </a:r>
          </a:p>
        </p:txBody>
      </p:sp>
      <p:sp>
        <p:nvSpPr>
          <p:cNvPr id="4" name="Rectangle 3"/>
          <p:cNvSpPr/>
          <p:nvPr/>
        </p:nvSpPr>
        <p:spPr>
          <a:xfrm>
            <a:off x="8046719" y="64008"/>
            <a:ext cx="82296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PREUVE</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11 — Quand l'adaptation efface l'information disponible</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6390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 4.</a:t>
            </a:r>
            <a:r>
              <a:rPr sz="1000" b="0">
                <a:solidFill>
                  <a:srgbClr val="2C3E50"/>
                </a:solidFill>
                <a:latin typeface="Carlito"/>
              </a:rPr>
              <a:t> Modèle : observations gaussiennes indépendantes, covariance identité, moyenne après changement </a:t>
            </a:r>
            <a:r>
              <a:rPr sz="1000" b="0">
                <a:solidFill>
                  <a:srgbClr val="2C3E50"/>
                </a:solidFill>
                <a:latin typeface="Carlito"/>
              </a:rPr>
              <a:t>. Le vecteur theta est le déplacement initial non nul ; tau_a est un temps d'adaptation positif ; I_0, l'information du premier jour, vaut la moitié de la longueur de theta au carré.</a:t>
            </a:r>
          </a:p>
        </p:txBody>
      </p:sp>
      <p:sp>
        <p:nvSpPr>
          <p:cNvPr id="11" name="TextBox 10"/>
          <p:cNvSpPr txBox="1"/>
          <p:nvPr/>
        </p:nvSpPr>
        <p:spPr>
          <a:xfrm>
            <a:off x="402336" y="2010664"/>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L'information décroît comme le carré de la moyenne. Sa somme discrète est une série géométrique finie. Dans l'approximation continue, son intégrale jusqu'à t donne B(t).</a:t>
            </a:r>
          </a:p>
        </p:txBody>
      </p:sp>
      <p:sp>
        <p:nvSpPr>
          <p:cNvPr id="12" name="TextBox 11"/>
          <p:cNvSpPr txBox="1"/>
          <p:nvPr/>
        </p:nvSpPr>
        <p:spPr>
          <a:xfrm>
            <a:off x="402336" y="2403348"/>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Avec un seuil logarithmique A positif, poser </a:t>
            </a:r>
            <a:r>
              <a:rPr sz="1000" b="0">
                <a:solidFill>
                  <a:srgbClr val="2C3E50"/>
                </a:solidFill>
                <a:latin typeface="Carlito"/>
              </a:rPr>
              <a:t>. Résoudre B(t)=A donne le délai du modèle de croissance moyenne si tau_a dépasse 2*tau_0 ; à égalité, le seuil n'est approché qu'à l'infini ; en dessous, il n'est pas atteint par cette croissance moyenne.</a:t>
            </a:r>
          </a:p>
        </p:txBody>
      </p:sp>
      <p:sp>
        <p:nvSpPr>
          <p:cNvPr id="13" name="TextBox 12"/>
          <p:cNvSpPr txBox="1"/>
          <p:nvPr/>
        </p:nvSpPr>
        <p:spPr>
          <a:xfrm>
            <a:off x="402336" y="2942082"/>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Énoncé probabiliste distinct :</a:t>
            </a:r>
            <a:r>
              <a:rPr sz="1000" b="0">
                <a:solidFill>
                  <a:srgbClr val="2C3E50"/>
                </a:solidFill>
                <a:latin typeface="Carlito"/>
              </a:rPr>
              <a:t> si le budget discret total B est inférieur à A, une preuve Q non négative, d'espérance conditionnelle non croissante sous la loi sans changement, initialisée au plus à un au début du changement, a une probabilité strictement positive de ne jamais franchir exp(A).</a:t>
            </a:r>
          </a:p>
        </p:txBody>
      </p:sp>
      <p:sp>
        <p:nvSpPr>
          <p:cNvPr id="14" name="TextBox 13"/>
          <p:cNvSpPr txBox="1"/>
          <p:nvPr/>
        </p:nvSpPr>
        <p:spPr>
          <a:xfrm>
            <a:off x="402336" y="3480816"/>
            <a:ext cx="5303520" cy="785113"/>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Preuve par contradiction : supposer le temps de franchissement T fini presque sûrement. Le logarithme du rapport de vraisemblance Lambda a moyenne arrêtée au plus B ; sa partie centrée a une variance totale finie. Le quotient de la preuve par Lambda a une espérance arrêtée au plus un. La concavité du logarithme donne alors une espérance du log de la preuve au plus B, alors qu'au franchissement elle est au moins A.</a:t>
            </a:r>
          </a:p>
        </p:txBody>
      </p:sp>
      <p:sp>
        <p:nvSpPr>
          <p:cNvPr id="15" name="Rectangle 14"/>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7" name="TextBox 16"/>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I_t = I₀·exp(-2(t-1)/τ_a)</a:t>
            </a:r>
          </a:p>
          <a:p>
            <a:pPr algn="l">
              <a:lnSpc>
                <a:spcPts val="1035"/>
              </a:lnSpc>
              <a:spcAft>
                <a:spcPts val="0"/>
              </a:spcAft>
            </a:pPr>
          </a:p>
          <a:p>
            <a:pPr algn="l">
              <a:lnSpc>
                <a:spcPts val="1035"/>
              </a:lnSpc>
              <a:spcAft>
                <a:spcPts val="0"/>
              </a:spcAft>
            </a:pPr>
            <a:r>
              <a:rPr sz="900" b="0">
                <a:solidFill>
                  <a:srgbClr val="2D3748"/>
                </a:solidFill>
                <a:latin typeface="Carlito"/>
              </a:rPr>
              <a:t>B = Σ I_t = I₀/[1-e^{-2/τ_a}]</a:t>
            </a:r>
          </a:p>
          <a:p>
            <a:pPr algn="l">
              <a:lnSpc>
                <a:spcPts val="1035"/>
              </a:lnSpc>
              <a:spcAft>
                <a:spcPts val="0"/>
              </a:spcAft>
            </a:pPr>
          </a:p>
          <a:p>
            <a:pPr algn="l">
              <a:lnSpc>
                <a:spcPts val="1035"/>
              </a:lnSpc>
              <a:spcAft>
                <a:spcPts val="0"/>
              </a:spcAft>
            </a:pPr>
            <a:r>
              <a:rPr sz="900" b="0">
                <a:solidFill>
                  <a:srgbClr val="2D3748"/>
                </a:solidFill>
                <a:latin typeface="Carlito"/>
              </a:rPr>
              <a:t>si B &lt; A : probabilité &gt; 0</a:t>
            </a:r>
          </a:p>
          <a:p>
            <a:pPr algn="l">
              <a:lnSpc>
                <a:spcPts val="1035"/>
              </a:lnSpc>
              <a:spcAft>
                <a:spcPts val="0"/>
              </a:spcAft>
            </a:pPr>
            <a:r>
              <a:rPr sz="900" b="0">
                <a:solidFill>
                  <a:srgbClr val="2D3748"/>
                </a:solidFill>
                <a:latin typeface="Carlito"/>
              </a:rPr>
              <a:t>de ne jamais franchir e^A</a:t>
            </a:r>
          </a:p>
          <a:p>
            <a:pPr algn="l">
              <a:lnSpc>
                <a:spcPts val="1035"/>
              </a:lnSpc>
              <a:spcAft>
                <a:spcPts val="0"/>
              </a:spcAft>
            </a:pPr>
          </a:p>
          <a:p>
            <a:pPr algn="l">
              <a:lnSpc>
                <a:spcPts val="1035"/>
              </a:lnSpc>
              <a:spcAft>
                <a:spcPts val="0"/>
              </a:spcAft>
            </a:pPr>
            <a:r>
              <a:rPr sz="900" b="0">
                <a:solidFill>
                  <a:srgbClr val="2D3748"/>
                </a:solidFill>
                <a:latin typeface="Carlito"/>
              </a:rPr>
              <a:t>modèle théorique ;</a:t>
            </a:r>
          </a:p>
          <a:p>
            <a:pPr algn="l">
              <a:lnSpc>
                <a:spcPts val="1035"/>
              </a:lnSpc>
              <a:spcAft>
                <a:spcPts val="0"/>
              </a:spcAft>
            </a:pPr>
            <a:r>
              <a:rPr sz="900" b="0">
                <a:solidFill>
                  <a:srgbClr val="2D3748"/>
                </a:solidFill>
                <a:latin typeface="Carlito"/>
              </a:rPr>
              <a:t>pas expérience JEPA</a:t>
            </a:r>
          </a:p>
        </p:txBody>
      </p:sp>
      <p:sp>
        <p:nvSpPr>
          <p:cNvPr id="18" name="Rectangle 1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I_t = I_0*exp(-2*(t-1)/tau_a) ; B = somme(t&gt;=1,I_t) = I_0/[1-exp(-2/tau_a)]</a:t>
            </a:r>
          </a:p>
        </p:txBody>
      </p:sp>
      <p:sp>
        <p:nvSpPr>
          <p:cNvPr id="20" name="TextBox 19"/>
          <p:cNvSpPr txBox="1"/>
          <p:nvPr/>
        </p:nvSpPr>
        <p:spPr>
          <a:xfrm>
            <a:off x="457200" y="41269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B(t) = I_0*tau_a*[1-exp(-2*t/tau_a)]/2 ; t = -(tau_a/2)*ln(1-2*tau_0/tau_a)</a:t>
            </a:r>
          </a:p>
        </p:txBody>
      </p:sp>
      <p:sp>
        <p:nvSpPr>
          <p:cNvPr id="21" name="TextBox 20"/>
          <p:cNvSpPr txBox="1"/>
          <p:nvPr/>
        </p:nvSpPr>
        <p:spPr>
          <a:xfrm>
            <a:off x="457200" y="4431792"/>
            <a:ext cx="8183879" cy="249935"/>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A &lt;= E_1[ln(Q_T)] = E_1[ln(Q_T/Lambda_T)] + E_1[ln(Lambda_T)] &lt;= B &lt; A</a:t>
            </a:r>
          </a:p>
        </p:txBody>
      </p:sp>
      <p:sp>
        <p:nvSpPr>
          <p:cNvPr id="22" name="TextBox 21"/>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30352"/>
          </a:xfrm>
          <a:prstGeom prst="rect">
            <a:avLst/>
          </a:prstGeom>
          <a:solidFill>
            <a:srgbClr val="1B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6720840" cy="457200"/>
          </a:xfrm>
          <a:prstGeom prst="rect">
            <a:avLst/>
          </a:prstGeom>
          <a:noFill/>
        </p:spPr>
        <p:txBody>
          <a:bodyPr wrap="square" lIns="45720" rIns="45720" tIns="18288" bIns="18288" anchor="ctr">
            <a:spAutoFit/>
          </a:bodyPr>
          <a:lstStyle/>
          <a:p>
            <a:pPr algn="l"/>
            <a:r>
              <a:rPr sz="1700" b="1" i="0">
                <a:solidFill>
                  <a:srgbClr val="FFFFFF"/>
                </a:solidFill>
                <a:latin typeface="Carlito"/>
              </a:rPr>
              <a:t>Nombre et orientation des directions candidates</a:t>
            </a:r>
          </a:p>
        </p:txBody>
      </p:sp>
      <p:sp>
        <p:nvSpPr>
          <p:cNvPr id="4" name="Rectangle 3"/>
          <p:cNvSpPr/>
          <p:nvPr/>
        </p:nvSpPr>
        <p:spPr>
          <a:xfrm>
            <a:off x="8046719" y="64008"/>
            <a:ext cx="822960" cy="24688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9" y="64008"/>
            <a:ext cx="822960" cy="246888"/>
          </a:xfrm>
          <a:prstGeom prst="rect">
            <a:avLst/>
          </a:prstGeom>
          <a:noFill/>
        </p:spPr>
        <p:txBody>
          <a:bodyPr wrap="square" lIns="45720" rIns="45720" tIns="18288" bIns="18288" anchor="ctr">
            <a:spAutoFit/>
          </a:bodyPr>
          <a:lstStyle/>
          <a:p>
            <a:pPr algn="ctr"/>
            <a:r>
              <a:rPr sz="800" b="1" i="0">
                <a:solidFill>
                  <a:srgbClr val="FFFFFF"/>
                </a:solidFill>
                <a:latin typeface="Carlito"/>
              </a:rPr>
              <a:t>CALCUL</a:t>
            </a:r>
          </a:p>
        </p:txBody>
      </p:sp>
      <p:sp>
        <p:nvSpPr>
          <p:cNvPr id="6" name="Rectangle 5"/>
          <p:cNvSpPr/>
          <p:nvPr/>
        </p:nvSpPr>
        <p:spPr>
          <a:xfrm>
            <a:off x="384048" y="722376"/>
            <a:ext cx="50292" cy="429768"/>
          </a:xfrm>
          <a:prstGeom prst="rect">
            <a:avLst/>
          </a:prstGeom>
          <a:solidFill>
            <a:srgbClr val="E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76656"/>
            <a:ext cx="8156448" cy="566928"/>
          </a:xfrm>
          <a:prstGeom prst="rect">
            <a:avLst/>
          </a:prstGeom>
          <a:noFill/>
        </p:spPr>
        <p:txBody>
          <a:bodyPr wrap="square" lIns="45720" rIns="45720" tIns="13716" bIns="13716" anchor="t">
            <a:spAutoFit/>
          </a:bodyPr>
          <a:lstStyle/>
          <a:p>
            <a:pPr algn="l">
              <a:lnSpc>
                <a:spcPts val="2070"/>
              </a:lnSpc>
              <a:spcAft>
                <a:spcPts val="0"/>
              </a:spcAft>
            </a:pPr>
            <a:r>
              <a:rPr sz="1800" b="0" i="0">
                <a:solidFill>
                  <a:srgbClr val="2C3E50"/>
                </a:solidFill>
                <a:latin typeface="Carlito"/>
              </a:rPr>
              <a:t/>
            </a:r>
            <a:r>
              <a:rPr sz="1800" b="1">
                <a:solidFill>
                  <a:srgbClr val="2C3E50"/>
                </a:solidFill>
                <a:latin typeface="Carlito"/>
              </a:rPr>
              <a:t>Annexe 12 — Une liste de directions paie un coût de nombre et d'alignement</a:t>
            </a:r>
          </a:p>
        </p:txBody>
      </p:sp>
      <p:sp>
        <p:nvSpPr>
          <p:cNvPr id="8" name="Rectangle 7"/>
          <p:cNvSpPr/>
          <p:nvPr/>
        </p:nvSpPr>
        <p:spPr>
          <a:xfrm>
            <a:off x="0" y="4919472"/>
            <a:ext cx="9144000" cy="219456"/>
          </a:xfrm>
          <a:prstGeom prst="rect">
            <a:avLst/>
          </a:prstGeom>
          <a:solidFill>
            <a:srgbClr val="8A9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919472"/>
            <a:ext cx="2743200" cy="219456"/>
          </a:xfrm>
          <a:prstGeom prst="rect">
            <a:avLst/>
          </a:prstGeom>
          <a:noFill/>
        </p:spPr>
        <p:txBody>
          <a:bodyPr wrap="square" lIns="45720" rIns="45720" tIns="13716" bIns="13716" anchor="t">
            <a:spAutoFit/>
          </a:bodyPr>
          <a:lstStyle/>
          <a:p>
            <a:pPr algn="l">
              <a:lnSpc>
                <a:spcPts val="919"/>
              </a:lnSpc>
              <a:spcAft>
                <a:spcPts val="0"/>
              </a:spcAft>
            </a:pPr>
            <a:r>
              <a:rPr sz="800" b="0" i="0">
                <a:solidFill>
                  <a:srgbClr val="2C3E50"/>
                </a:solidFill>
                <a:latin typeface="Carlito"/>
              </a:rPr>
              <a:t/>
            </a:r>
            <a:r>
              <a:rPr sz="800" b="1">
                <a:solidFill>
                  <a:srgbClr val="FFFFFF"/>
                </a:solidFill>
                <a:latin typeface="Carlito"/>
              </a:rPr>
              <a:t>ANNEXE</a:t>
            </a:r>
          </a:p>
        </p:txBody>
      </p:sp>
      <p:sp>
        <p:nvSpPr>
          <p:cNvPr id="10" name="TextBox 9"/>
          <p:cNvSpPr txBox="1"/>
          <p:nvPr/>
        </p:nvSpPr>
        <p:spPr>
          <a:xfrm>
            <a:off x="402336" y="1325880"/>
            <a:ext cx="5303520" cy="49301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i="1">
                <a:solidFill>
                  <a:srgbClr val="2C3E50"/>
                </a:solidFill>
                <a:latin typeface="Carlito"/>
              </a:rPr>
              <a:t>Rattachement : diapositive 17.</a:t>
            </a:r>
            <a:r>
              <a:rPr sz="1000" b="0">
                <a:solidFill>
                  <a:srgbClr val="2C3E50"/>
                </a:solidFill>
                <a:latin typeface="Carlito"/>
              </a:rPr>
              <a:t> Considérer K directions unitaires fixées avant les observations. Chaque direction définit un rapport de vraisemblance L_j ; leur moyenne L reste une preuve valide sous la loi sans changement.</a:t>
            </a:r>
          </a:p>
        </p:txBody>
      </p:sp>
      <p:sp>
        <p:nvSpPr>
          <p:cNvPr id="11" name="TextBox 10"/>
          <p:cNvSpPr txBox="1"/>
          <p:nvPr/>
        </p:nvSpPr>
        <p:spPr>
          <a:xfrm>
            <a:off x="402336" y="1864614"/>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La moyenne est au moins égale à chaque terme divisé par K. Il suffit donc que l'un des rapports atteigne K fois le seuil gamma pour que la moyenne atteigne gamma.</a:t>
            </a:r>
          </a:p>
        </p:txBody>
      </p:sp>
      <p:sp>
        <p:nvSpPr>
          <p:cNvPr id="12" name="TextBox 11"/>
          <p:cNvSpPr txBox="1"/>
          <p:nvPr/>
        </p:nvSpPr>
        <p:spPr>
          <a:xfrm>
            <a:off x="402336" y="2257298"/>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Dans le modèle gaussien de moyenne theta, une projection unitaire u conserve l'information </a:t>
            </a:r>
            <a:r>
              <a:rPr sz="1000" b="0">
                <a:solidFill>
                  <a:srgbClr val="2C3E50"/>
                </a:solidFill>
                <a:latin typeface="Carlito"/>
              </a:rPr>
              <a:t>, où I est l'information complète et angle celui entre u et theta.</a:t>
            </a:r>
          </a:p>
        </p:txBody>
      </p:sp>
      <p:sp>
        <p:nvSpPr>
          <p:cNvPr id="13" name="TextBox 12"/>
          <p:cNvSpPr txBox="1"/>
          <p:nvPr/>
        </p:nvSpPr>
        <p:spPr>
          <a:xfrm>
            <a:off x="402336" y="2649982"/>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Pour un rapport scalaire idéalement ajusté au déplacement projeté, sa croissance logarithmique moyenne a ce taux. Il faut donc le budget A+ln(K), avec A=ln(gamma), au lieu de A.</a:t>
            </a:r>
          </a:p>
        </p:txBody>
      </p:sp>
      <p:sp>
        <p:nvSpPr>
          <p:cNvPr id="14" name="TextBox 13"/>
          <p:cNvSpPr txBox="1"/>
          <p:nvPr/>
        </p:nvSpPr>
        <p:spPr>
          <a:xfrm>
            <a:off x="402336" y="3042666"/>
            <a:ext cx="5303520" cy="346964"/>
          </a:xfrm>
          <a:prstGeom prst="rect">
            <a:avLst/>
          </a:prstGeom>
          <a:noFill/>
        </p:spPr>
        <p:txBody>
          <a:bodyPr wrap="square" lIns="45720" rIns="45720" tIns="13716" bIns="13716" anchor="t">
            <a:spAutoFit/>
          </a:bodyPr>
          <a:lstStyle/>
          <a:p>
            <a:pPr algn="l">
              <a:lnSpc>
                <a:spcPts val="1150"/>
              </a:lnSpc>
              <a:spcAft>
                <a:spcPts val="0"/>
              </a:spcAft>
            </a:pPr>
            <a:r>
              <a:rPr sz="1000" b="0" i="0">
                <a:solidFill>
                  <a:srgbClr val="2C3E50"/>
                </a:solidFill>
                <a:latin typeface="Carlito"/>
              </a:rPr>
              <a:t/>
            </a:r>
            <a:r>
              <a:rPr sz="1000" b="0">
                <a:solidFill>
                  <a:srgbClr val="2C3E50"/>
                </a:solidFill>
                <a:latin typeface="Carlito"/>
              </a:rPr>
              <a:t>Ce calcul fournit une voie suffisante et une approximation de budget. Il ne donne pas une égalité de délais moyens et suppose un candidat bien orienté, avec une amplitude adaptée.</a:t>
            </a:r>
          </a:p>
        </p:txBody>
      </p:sp>
      <p:sp>
        <p:nvSpPr>
          <p:cNvPr id="15" name="Rectangle 14"/>
          <p:cNvSpPr/>
          <p:nvPr/>
        </p:nvSpPr>
        <p:spPr>
          <a:xfrm>
            <a:off x="5925312" y="1335024"/>
            <a:ext cx="2816352" cy="2331720"/>
          </a:xfrm>
          <a:prstGeom prst="rect">
            <a:avLst/>
          </a:prstGeom>
          <a:solidFill>
            <a:srgbClr val="FF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6752" y="1417320"/>
            <a:ext cx="2633472" cy="201168"/>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1">
                <a:solidFill>
                  <a:srgbClr val="E08000"/>
                </a:solidFill>
                <a:latin typeface="Carlito"/>
              </a:rPr>
              <a:t>CALCUL THÉORIQUE</a:t>
            </a:r>
          </a:p>
        </p:txBody>
      </p:sp>
      <p:sp>
        <p:nvSpPr>
          <p:cNvPr id="17" name="TextBox 16"/>
          <p:cNvSpPr txBox="1"/>
          <p:nvPr/>
        </p:nvSpPr>
        <p:spPr>
          <a:xfrm>
            <a:off x="6016752" y="1691640"/>
            <a:ext cx="2633472" cy="1828799"/>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2D3748"/>
                </a:solidFill>
                <a:latin typeface="Carlito"/>
              </a:rPr>
              <a:t>L = (1/K) Σ L_j ≥ L_j/K</a:t>
            </a:r>
          </a:p>
          <a:p>
            <a:pPr algn="l">
              <a:lnSpc>
                <a:spcPts val="1035"/>
              </a:lnSpc>
              <a:spcAft>
                <a:spcPts val="0"/>
              </a:spcAft>
            </a:pPr>
          </a:p>
          <a:p>
            <a:pPr algn="l">
              <a:lnSpc>
                <a:spcPts val="1035"/>
              </a:lnSpc>
              <a:spcAft>
                <a:spcPts val="0"/>
              </a:spcAft>
            </a:pPr>
            <a:r>
              <a:rPr sz="900" b="0">
                <a:solidFill>
                  <a:srgbClr val="2D3748"/>
                </a:solidFill>
                <a:latin typeface="Carlito"/>
              </a:rPr>
              <a:t>L_j ≥ Kγ ⇒ L ≥ γ</a:t>
            </a:r>
          </a:p>
          <a:p>
            <a:pPr algn="l">
              <a:lnSpc>
                <a:spcPts val="1035"/>
              </a:lnSpc>
              <a:spcAft>
                <a:spcPts val="0"/>
              </a:spcAft>
            </a:pPr>
          </a:p>
          <a:p>
            <a:pPr algn="l">
              <a:lnSpc>
                <a:spcPts val="1035"/>
              </a:lnSpc>
              <a:spcAft>
                <a:spcPts val="0"/>
              </a:spcAft>
            </a:pPr>
            <a:r>
              <a:rPr sz="900" b="0">
                <a:solidFill>
                  <a:srgbClr val="2D3748"/>
                </a:solidFill>
                <a:latin typeface="Carlito"/>
              </a:rPr>
              <a:t>I_proj = I·cos²(θ)</a:t>
            </a:r>
          </a:p>
          <a:p>
            <a:pPr algn="l">
              <a:lnSpc>
                <a:spcPts val="1035"/>
              </a:lnSpc>
              <a:spcAft>
                <a:spcPts val="0"/>
              </a:spcAft>
            </a:pPr>
          </a:p>
          <a:p>
            <a:pPr algn="l">
              <a:lnSpc>
                <a:spcPts val="1035"/>
              </a:lnSpc>
              <a:spcAft>
                <a:spcPts val="0"/>
              </a:spcAft>
            </a:pPr>
            <a:r>
              <a:rPr sz="900" b="0">
                <a:solidFill>
                  <a:srgbClr val="2D3748"/>
                </a:solidFill>
                <a:latin typeface="Carlito"/>
              </a:rPr>
              <a:t>budget = [A+ln K] / [I·cos²(θ)]</a:t>
            </a:r>
          </a:p>
        </p:txBody>
      </p:sp>
      <p:sp>
        <p:nvSpPr>
          <p:cNvPr id="18" name="Rectangle 17"/>
          <p:cNvSpPr/>
          <p:nvPr/>
        </p:nvSpPr>
        <p:spPr>
          <a:xfrm>
            <a:off x="365760" y="3794760"/>
            <a:ext cx="8412480" cy="914400"/>
          </a:xfrm>
          <a:prstGeom prst="rect">
            <a:avLst/>
          </a:prstGeom>
          <a:solidFill>
            <a:srgbClr val="EB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L = somme(j=1..K,L_j)/K &gt;= L_j/K ; L_j &gt;= K*gamma implique L &gt;= gamma</a:t>
            </a:r>
          </a:p>
        </p:txBody>
      </p:sp>
      <p:sp>
        <p:nvSpPr>
          <p:cNvPr id="20" name="TextBox 19"/>
          <p:cNvSpPr txBox="1"/>
          <p:nvPr/>
        </p:nvSpPr>
        <p:spPr>
          <a:xfrm>
            <a:off x="457200" y="4279392"/>
            <a:ext cx="8183879" cy="402336"/>
          </a:xfrm>
          <a:prstGeom prst="rect">
            <a:avLst/>
          </a:prstGeom>
          <a:noFill/>
        </p:spPr>
        <p:txBody>
          <a:bodyPr wrap="square" lIns="27432" rIns="27432" tIns="9144" bIns="9144" anchor="t">
            <a:spAutoFit/>
          </a:bodyPr>
          <a:lstStyle/>
          <a:p>
            <a:pPr algn="l">
              <a:lnSpc>
                <a:spcPts val="1200"/>
              </a:lnSpc>
              <a:spcAft>
                <a:spcPts val="0"/>
              </a:spcAft>
            </a:pPr>
            <a:r>
              <a:rPr sz="1000" b="0" i="0">
                <a:solidFill>
                  <a:srgbClr val="2C3E50"/>
                </a:solidFill>
                <a:latin typeface="Consolas"/>
              </a:rPr>
              <a:t/>
            </a:r>
            <a:r>
              <a:rPr sz="1000">
                <a:solidFill>
                  <a:srgbClr val="2D3748"/>
                </a:solidFill>
                <a:latin typeface="Consolas"/>
              </a:rPr>
              <a:t>I_projection = (u'*theta)^2/2 = I*cos(angle)^2 ; budget_jours = [A+ln(K)]/[I*cos(angle)^2]</a:t>
            </a:r>
          </a:p>
        </p:txBody>
      </p:sp>
      <p:sp>
        <p:nvSpPr>
          <p:cNvPr id="21" name="TextBox 20"/>
          <p:cNvSpPr txBox="1"/>
          <p:nvPr/>
        </p:nvSpPr>
        <p:spPr>
          <a:xfrm>
            <a:off x="8046720" y="4800600"/>
            <a:ext cx="914400" cy="219456"/>
          </a:xfrm>
          <a:prstGeom prst="rect">
            <a:avLst/>
          </a:prstGeom>
          <a:noFill/>
        </p:spPr>
        <p:txBody>
          <a:bodyPr wrap="square" lIns="45720" rIns="45720" tIns="13716" bIns="13716" anchor="t">
            <a:spAutoFit/>
          </a:bodyPr>
          <a:lstStyle/>
          <a:p>
            <a:pPr algn="l">
              <a:lnSpc>
                <a:spcPts val="1035"/>
              </a:lnSpc>
              <a:spcAft>
                <a:spcPts val="0"/>
              </a:spcAft>
            </a:pPr>
            <a:r>
              <a:rPr sz="900" b="0" i="0">
                <a:solidFill>
                  <a:srgbClr val="2C3E50"/>
                </a:solidFill>
                <a:latin typeface="Carlito"/>
              </a:rPr>
              <a:t/>
            </a:r>
            <a:r>
              <a:rPr sz="900" b="0">
                <a:solidFill>
                  <a:srgbClr val="5D6D7E"/>
                </a:solidFill>
                <a:latin typeface="Carlito"/>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JEPA-Drift — Point hebdomadaire du 26 octobre 2026 — v3</dc:title>
  <dc:subject>21 diapositives de présentation et 12 annexes de calcul</dc:subject>
  <dc:creator/>
  <cp:keywords/>
  <dc:description>generated using python-pptx</dc:description>
  <cp:lastModifiedBy/>
  <cp:revision>1</cp:revision>
  <dcterms:created xsi:type="dcterms:W3CDTF">2026-10-26T00:00:00Z</dcterms:created>
  <dcterms:modified xsi:type="dcterms:W3CDTF">2026-10-26T00:00:00Z</dcterms:modified>
  <cp:category/>
</cp:coreProperties>
</file>